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</p:sldIdLst>
  <p:sldSz cx="4610100" cy="3460750"/>
  <p:notesSz cx="4610100" cy="3460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5948" y="-13312"/>
            <a:ext cx="332359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4608060" cy="30052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5948" y="-13312"/>
            <a:ext cx="436626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4395" y="1534438"/>
            <a:ext cx="3622675" cy="1767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67297" y="3325931"/>
            <a:ext cx="1270000" cy="153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277352" y="3325931"/>
            <a:ext cx="201929" cy="153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://www.sujitsahu.com/" TargetMode="External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hyperlink" Target="http://www.sujitsahu.com/" TargetMode="External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28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jpg"/><Relationship Id="rId6" Type="http://schemas.openxmlformats.org/officeDocument/2006/relationships/image" Target="../media/image48.png"/><Relationship Id="rId7" Type="http://schemas.openxmlformats.org/officeDocument/2006/relationships/image" Target="../media/image49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jp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9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.png"/><Relationship Id="rId3" Type="http://schemas.openxmlformats.org/officeDocument/2006/relationships/hyperlink" Target="http://www.youtube.com/playlist?list=PL4F9E80BCF687CBA6" TargetMode="External"/><Relationship Id="rId4" Type="http://schemas.openxmlformats.org/officeDocument/2006/relationships/image" Target="../media/image71.png"/><Relationship Id="rId5" Type="http://schemas.openxmlformats.org/officeDocument/2006/relationships/image" Target="../media/image72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4.jpg"/><Relationship Id="rId5" Type="http://schemas.openxmlformats.org/officeDocument/2006/relationships/image" Target="../media/image75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9.png"/><Relationship Id="rId3" Type="http://schemas.openxmlformats.org/officeDocument/2006/relationships/image" Target="../media/image28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4.png"/><Relationship Id="rId3" Type="http://schemas.openxmlformats.org/officeDocument/2006/relationships/image" Target="../media/image85.png"/><Relationship Id="rId4" Type="http://schemas.openxmlformats.org/officeDocument/2006/relationships/image" Target="../media/image86.png"/><Relationship Id="rId5" Type="http://schemas.openxmlformats.org/officeDocument/2006/relationships/image" Target="../media/image87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8.png"/><Relationship Id="rId3" Type="http://schemas.openxmlformats.org/officeDocument/2006/relationships/image" Target="../media/image33.png"/><Relationship Id="rId4" Type="http://schemas.openxmlformats.org/officeDocument/2006/relationships/image" Target="../media/image89.png"/><Relationship Id="rId5" Type="http://schemas.openxmlformats.org/officeDocument/2006/relationships/image" Target="../media/image90.png"/><Relationship Id="rId6" Type="http://schemas.openxmlformats.org/officeDocument/2006/relationships/image" Target="../media/image91.png"/><Relationship Id="rId7" Type="http://schemas.openxmlformats.org/officeDocument/2006/relationships/image" Target="../media/image92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3.png"/><Relationship Id="rId3" Type="http://schemas.openxmlformats.org/officeDocument/2006/relationships/image" Target="../media/image94.png"/><Relationship Id="rId4" Type="http://schemas.openxmlformats.org/officeDocument/2006/relationships/image" Target="../media/image95.png"/><Relationship Id="rId5" Type="http://schemas.openxmlformats.org/officeDocument/2006/relationships/image" Target="../media/image96.png"/><Relationship Id="rId6" Type="http://schemas.openxmlformats.org/officeDocument/2006/relationships/image" Target="../media/image85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7.png"/><Relationship Id="rId3" Type="http://schemas.openxmlformats.org/officeDocument/2006/relationships/image" Target="../media/image98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2.png"/><Relationship Id="rId3" Type="http://schemas.openxmlformats.org/officeDocument/2006/relationships/image" Target="../media/image103.png"/><Relationship Id="rId4" Type="http://schemas.openxmlformats.org/officeDocument/2006/relationships/image" Target="../media/image104.png"/><Relationship Id="rId5" Type="http://schemas.openxmlformats.org/officeDocument/2006/relationships/image" Target="../media/image105.png"/><Relationship Id="rId6" Type="http://schemas.openxmlformats.org/officeDocument/2006/relationships/image" Target="../media/image106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7.png"/><Relationship Id="rId3" Type="http://schemas.openxmlformats.org/officeDocument/2006/relationships/image" Target="../media/image31.png"/><Relationship Id="rId4" Type="http://schemas.openxmlformats.org/officeDocument/2006/relationships/image" Target="../media/image108.png"/><Relationship Id="rId5" Type="http://schemas.openxmlformats.org/officeDocument/2006/relationships/image" Target="../media/image109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0.png"/><Relationship Id="rId3" Type="http://schemas.openxmlformats.org/officeDocument/2006/relationships/image" Target="../media/image84.png"/><Relationship Id="rId4" Type="http://schemas.openxmlformats.org/officeDocument/2006/relationships/image" Target="../media/image111.png"/><Relationship Id="rId5" Type="http://schemas.openxmlformats.org/officeDocument/2006/relationships/image" Target="../media/image61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2.png"/><Relationship Id="rId3" Type="http://schemas.openxmlformats.org/officeDocument/2006/relationships/image" Target="../media/image113.png"/><Relationship Id="rId4" Type="http://schemas.openxmlformats.org/officeDocument/2006/relationships/image" Target="../media/image114.png"/><Relationship Id="rId5" Type="http://schemas.openxmlformats.org/officeDocument/2006/relationships/image" Target="../media/image115.png"/><Relationship Id="rId6" Type="http://schemas.openxmlformats.org/officeDocument/2006/relationships/image" Target="../media/image116.png"/><Relationship Id="rId7" Type="http://schemas.openxmlformats.org/officeDocument/2006/relationships/image" Target="../media/image117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8.png"/><Relationship Id="rId3" Type="http://schemas.openxmlformats.org/officeDocument/2006/relationships/image" Target="../media/image62.png"/><Relationship Id="rId4" Type="http://schemas.openxmlformats.org/officeDocument/2006/relationships/image" Target="../media/image119.png"/><Relationship Id="rId5" Type="http://schemas.openxmlformats.org/officeDocument/2006/relationships/image" Target="../media/image120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121.png"/><Relationship Id="rId4" Type="http://schemas.openxmlformats.org/officeDocument/2006/relationships/image" Target="../media/image122.png"/><Relationship Id="rId5" Type="http://schemas.openxmlformats.org/officeDocument/2006/relationships/image" Target="../media/image123.png"/><Relationship Id="rId6" Type="http://schemas.openxmlformats.org/officeDocument/2006/relationships/image" Target="../media/image124.png"/><Relationship Id="rId7" Type="http://schemas.openxmlformats.org/officeDocument/2006/relationships/image" Target="../media/image125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62.png"/><Relationship Id="rId4" Type="http://schemas.openxmlformats.org/officeDocument/2006/relationships/image" Target="../media/image126.png"/><Relationship Id="rId5" Type="http://schemas.openxmlformats.org/officeDocument/2006/relationships/image" Target="../media/image127.png"/><Relationship Id="rId6" Type="http://schemas.openxmlformats.org/officeDocument/2006/relationships/image" Target="../media/image20.png"/><Relationship Id="rId7" Type="http://schemas.openxmlformats.org/officeDocument/2006/relationships/image" Target="../media/image128.png"/><Relationship Id="rId8" Type="http://schemas.openxmlformats.org/officeDocument/2006/relationships/image" Target="../media/image129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0.png"/><Relationship Id="rId3" Type="http://schemas.openxmlformats.org/officeDocument/2006/relationships/image" Target="../media/image88.png"/><Relationship Id="rId4" Type="http://schemas.openxmlformats.org/officeDocument/2006/relationships/image" Target="../media/image131.png"/><Relationship Id="rId5" Type="http://schemas.openxmlformats.org/officeDocument/2006/relationships/image" Target="../media/image132.png"/><Relationship Id="rId6" Type="http://schemas.openxmlformats.org/officeDocument/2006/relationships/image" Target="../media/image133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4.png"/><Relationship Id="rId3" Type="http://schemas.openxmlformats.org/officeDocument/2006/relationships/image" Target="../media/image50.png"/><Relationship Id="rId4" Type="http://schemas.openxmlformats.org/officeDocument/2006/relationships/image" Target="../media/image67.png"/><Relationship Id="rId5" Type="http://schemas.openxmlformats.org/officeDocument/2006/relationships/image" Target="../media/image135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6.png"/><Relationship Id="rId3" Type="http://schemas.openxmlformats.org/officeDocument/2006/relationships/image" Target="../media/image137.png"/><Relationship Id="rId4" Type="http://schemas.openxmlformats.org/officeDocument/2006/relationships/image" Target="../media/image63.png"/><Relationship Id="rId5" Type="http://schemas.openxmlformats.org/officeDocument/2006/relationships/image" Target="../media/image138.png"/><Relationship Id="rId6" Type="http://schemas.openxmlformats.org/officeDocument/2006/relationships/image" Target="../media/image139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0.png"/><Relationship Id="rId3" Type="http://schemas.openxmlformats.org/officeDocument/2006/relationships/image" Target="../media/image141.png"/><Relationship Id="rId4" Type="http://schemas.openxmlformats.org/officeDocument/2006/relationships/image" Target="../media/image53.png"/><Relationship Id="rId5" Type="http://schemas.openxmlformats.org/officeDocument/2006/relationships/image" Target="../media/image142.png"/><Relationship Id="rId6" Type="http://schemas.openxmlformats.org/officeDocument/2006/relationships/image" Target="../media/image143.png"/><Relationship Id="rId7" Type="http://schemas.openxmlformats.org/officeDocument/2006/relationships/image" Target="../media/image144.pn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5.png"/><Relationship Id="rId3" Type="http://schemas.openxmlformats.org/officeDocument/2006/relationships/image" Target="../media/image146.png"/><Relationship Id="rId4" Type="http://schemas.openxmlformats.org/officeDocument/2006/relationships/image" Target="../media/image147.png"/><Relationship Id="rId5" Type="http://schemas.openxmlformats.org/officeDocument/2006/relationships/image" Target="../media/image148.pn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9.png"/><Relationship Id="rId3" Type="http://schemas.openxmlformats.org/officeDocument/2006/relationships/image" Target="../media/image150.png"/><Relationship Id="rId4" Type="http://schemas.openxmlformats.org/officeDocument/2006/relationships/image" Target="../media/image151.png"/><Relationship Id="rId5" Type="http://schemas.openxmlformats.org/officeDocument/2006/relationships/image" Target="../media/image152.pn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3.png"/><Relationship Id="rId3" Type="http://schemas.openxmlformats.org/officeDocument/2006/relationships/image" Target="../media/image154.png"/><Relationship Id="rId4" Type="http://schemas.openxmlformats.org/officeDocument/2006/relationships/image" Target="../media/image50.png"/><Relationship Id="rId5" Type="http://schemas.openxmlformats.org/officeDocument/2006/relationships/image" Target="../media/image134.png"/><Relationship Id="rId6" Type="http://schemas.openxmlformats.org/officeDocument/2006/relationships/image" Target="../media/image155.png"/><Relationship Id="rId7" Type="http://schemas.openxmlformats.org/officeDocument/2006/relationships/image" Target="../media/image82.pn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6.png"/><Relationship Id="rId3" Type="http://schemas.openxmlformats.org/officeDocument/2006/relationships/image" Target="../media/image157.png"/><Relationship Id="rId4" Type="http://schemas.openxmlformats.org/officeDocument/2006/relationships/image" Target="../media/image158.png"/><Relationship Id="rId5" Type="http://schemas.openxmlformats.org/officeDocument/2006/relationships/image" Target="../media/image159.pn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png"/><Relationship Id="rId3" Type="http://schemas.openxmlformats.org/officeDocument/2006/relationships/image" Target="../media/image161.png"/><Relationship Id="rId4" Type="http://schemas.openxmlformats.org/officeDocument/2006/relationships/image" Target="../media/image162.png"/><Relationship Id="rId5" Type="http://schemas.openxmlformats.org/officeDocument/2006/relationships/image" Target="../media/image163.pn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4.png"/><Relationship Id="rId3" Type="http://schemas.openxmlformats.org/officeDocument/2006/relationships/image" Target="../media/image165.png"/><Relationship Id="rId4" Type="http://schemas.openxmlformats.org/officeDocument/2006/relationships/image" Target="../media/image166.pn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7.png"/><Relationship Id="rId3" Type="http://schemas.openxmlformats.org/officeDocument/2006/relationships/image" Target="../media/image107.png"/><Relationship Id="rId4" Type="http://schemas.openxmlformats.org/officeDocument/2006/relationships/image" Target="../media/image134.png"/><Relationship Id="rId5" Type="http://schemas.openxmlformats.org/officeDocument/2006/relationships/image" Target="../media/image51.pn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68.jp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9.png"/><Relationship Id="rId3" Type="http://schemas.openxmlformats.org/officeDocument/2006/relationships/image" Target="../media/image170.pn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1.png"/><Relationship Id="rId3" Type="http://schemas.openxmlformats.org/officeDocument/2006/relationships/image" Target="../media/image172.png"/><Relationship Id="rId4" Type="http://schemas.openxmlformats.org/officeDocument/2006/relationships/image" Target="../media/image173.png"/><Relationship Id="rId5" Type="http://schemas.openxmlformats.org/officeDocument/2006/relationships/image" Target="../media/image124.pn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4.png"/><Relationship Id="rId3" Type="http://schemas.openxmlformats.org/officeDocument/2006/relationships/image" Target="../media/image175.png"/><Relationship Id="rId4" Type="http://schemas.openxmlformats.org/officeDocument/2006/relationships/image" Target="../media/image176.png"/><Relationship Id="rId5" Type="http://schemas.openxmlformats.org/officeDocument/2006/relationships/image" Target="../media/image165.png"/><Relationship Id="rId6" Type="http://schemas.openxmlformats.org/officeDocument/2006/relationships/image" Target="../media/image177.pn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0.png"/><Relationship Id="rId3" Type="http://schemas.openxmlformats.org/officeDocument/2006/relationships/image" Target="../media/image150.png"/><Relationship Id="rId4" Type="http://schemas.openxmlformats.org/officeDocument/2006/relationships/image" Target="../media/image148.pn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9.png"/><Relationship Id="rId3" Type="http://schemas.openxmlformats.org/officeDocument/2006/relationships/image" Target="../media/image9.png"/><Relationship Id="rId4" Type="http://schemas.openxmlformats.org/officeDocument/2006/relationships/image" Target="../media/image178.pn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3.png"/><Relationship Id="rId3" Type="http://schemas.openxmlformats.org/officeDocument/2006/relationships/image" Target="../media/image179.png"/><Relationship Id="rId4" Type="http://schemas.openxmlformats.org/officeDocument/2006/relationships/image" Target="../media/image180.jpg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1.jpg"/><Relationship Id="rId3" Type="http://schemas.openxmlformats.org/officeDocument/2006/relationships/image" Target="../media/image163.png"/><Relationship Id="rId4" Type="http://schemas.openxmlformats.org/officeDocument/2006/relationships/image" Target="../media/image44.png"/><Relationship Id="rId5" Type="http://schemas.openxmlformats.org/officeDocument/2006/relationships/image" Target="../media/image182.png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3.png"/><Relationship Id="rId3" Type="http://schemas.openxmlformats.org/officeDocument/2006/relationships/image" Target="../media/image124.png"/><Relationship Id="rId4" Type="http://schemas.openxmlformats.org/officeDocument/2006/relationships/image" Target="../media/image184.png"/><Relationship Id="rId5" Type="http://schemas.openxmlformats.org/officeDocument/2006/relationships/image" Target="../media/image185.png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6.jpg"/><Relationship Id="rId3" Type="http://schemas.openxmlformats.org/officeDocument/2006/relationships/image" Target="../media/image187.jpg"/><Relationship Id="rId4" Type="http://schemas.openxmlformats.org/officeDocument/2006/relationships/image" Target="../media/image188.jpg"/><Relationship Id="rId5" Type="http://schemas.openxmlformats.org/officeDocument/2006/relationships/image" Target="../media/image189.jpg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0.png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3.png"/><Relationship Id="rId3" Type="http://schemas.openxmlformats.org/officeDocument/2006/relationships/image" Target="../media/image191.png"/><Relationship Id="rId4" Type="http://schemas.openxmlformats.org/officeDocument/2006/relationships/image" Target="../media/image65.png"/><Relationship Id="rId5" Type="http://schemas.openxmlformats.org/officeDocument/2006/relationships/image" Target="../media/image192.png"/><Relationship Id="rId6" Type="http://schemas.openxmlformats.org/officeDocument/2006/relationships/image" Target="../media/image193.png"/><Relationship Id="rId7" Type="http://schemas.openxmlformats.org/officeDocument/2006/relationships/image" Target="../media/image194.png"/><Relationship Id="rId8" Type="http://schemas.openxmlformats.org/officeDocument/2006/relationships/image" Target="../media/image195.png"/><Relationship Id="rId9" Type="http://schemas.openxmlformats.org/officeDocument/2006/relationships/image" Target="../media/image196.jpg"/><Relationship Id="rId10" Type="http://schemas.openxmlformats.org/officeDocument/2006/relationships/image" Target="../media/image197.jpg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8.png"/><Relationship Id="rId3" Type="http://schemas.openxmlformats.org/officeDocument/2006/relationships/image" Target="../media/image199.png"/><Relationship Id="rId4" Type="http://schemas.openxmlformats.org/officeDocument/2006/relationships/image" Target="../media/image200.png"/><Relationship Id="rId5" Type="http://schemas.openxmlformats.org/officeDocument/2006/relationships/image" Target="../media/image135.png"/><Relationship Id="rId6" Type="http://schemas.openxmlformats.org/officeDocument/2006/relationships/image" Target="../media/image201.jpg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9.png"/><Relationship Id="rId3" Type="http://schemas.openxmlformats.org/officeDocument/2006/relationships/image" Target="../media/image202.png"/><Relationship Id="rId4" Type="http://schemas.openxmlformats.org/officeDocument/2006/relationships/image" Target="../media/image203.png"/><Relationship Id="rId5" Type="http://schemas.openxmlformats.org/officeDocument/2006/relationships/image" Target="../media/image204.png"/><Relationship Id="rId6" Type="http://schemas.openxmlformats.org/officeDocument/2006/relationships/image" Target="../media/image205.png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6.png"/><Relationship Id="rId3" Type="http://schemas.openxmlformats.org/officeDocument/2006/relationships/image" Target="../media/image207.png"/><Relationship Id="rId4" Type="http://schemas.openxmlformats.org/officeDocument/2006/relationships/image" Target="../media/image208.png"/><Relationship Id="rId5" Type="http://schemas.openxmlformats.org/officeDocument/2006/relationships/image" Target="../media/image209.png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128.png"/><Relationship Id="rId4" Type="http://schemas.openxmlformats.org/officeDocument/2006/relationships/image" Target="../media/image35.png"/><Relationship Id="rId5" Type="http://schemas.openxmlformats.org/officeDocument/2006/relationships/image" Target="../media/image211.png"/><Relationship Id="rId6" Type="http://schemas.openxmlformats.org/officeDocument/2006/relationships/image" Target="../media/image212.png"/><Relationship Id="rId7" Type="http://schemas.openxmlformats.org/officeDocument/2006/relationships/image" Target="../media/image213.png"/><Relationship Id="rId8" Type="http://schemas.openxmlformats.org/officeDocument/2006/relationships/image" Target="../media/image21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759" y="78582"/>
            <a:ext cx="3162300" cy="50609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 marR="5080" indent="127000">
              <a:lnSpc>
                <a:spcPts val="1720"/>
              </a:lnSpc>
              <a:spcBef>
                <a:spcPts val="445"/>
              </a:spcBef>
            </a:pPr>
            <a:r>
              <a:rPr dirty="0" sz="1700" b="1">
                <a:solidFill>
                  <a:srgbClr val="003366"/>
                </a:solidFill>
                <a:latin typeface="Arial"/>
                <a:cs typeface="Arial"/>
              </a:rPr>
              <a:t>Introduction</a:t>
            </a:r>
            <a:r>
              <a:rPr dirty="0" sz="1700" spc="40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003366"/>
                </a:solidFill>
                <a:latin typeface="Arial"/>
                <a:cs typeface="Arial"/>
              </a:rPr>
              <a:t>to</a:t>
            </a:r>
            <a:r>
              <a:rPr dirty="0" sz="1700" spc="45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003366"/>
                </a:solidFill>
                <a:latin typeface="Arial"/>
                <a:cs typeface="Arial"/>
              </a:rPr>
              <a:t>Probability</a:t>
            </a:r>
            <a:r>
              <a:rPr dirty="0" sz="1700" spc="45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1700" spc="-50" b="1">
                <a:solidFill>
                  <a:srgbClr val="003366"/>
                </a:solidFill>
                <a:latin typeface="Arial"/>
                <a:cs typeface="Arial"/>
              </a:rPr>
              <a:t>&amp; </a:t>
            </a:r>
            <a:r>
              <a:rPr dirty="0" sz="1700" b="1">
                <a:solidFill>
                  <a:srgbClr val="003366"/>
                </a:solidFill>
                <a:latin typeface="Arial"/>
                <a:cs typeface="Arial"/>
              </a:rPr>
              <a:t>statistics</a:t>
            </a:r>
            <a:r>
              <a:rPr dirty="0" sz="1700" spc="25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003366"/>
                </a:solidFill>
                <a:latin typeface="Arial"/>
                <a:cs typeface="Arial"/>
              </a:rPr>
              <a:t>for</a:t>
            </a:r>
            <a:r>
              <a:rPr dirty="0" sz="1700" spc="25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003366"/>
                </a:solidFill>
                <a:latin typeface="Arial"/>
                <a:cs typeface="Arial"/>
              </a:rPr>
              <a:t>medical</a:t>
            </a:r>
            <a:r>
              <a:rPr dirty="0" sz="1700" spc="25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solidFill>
                  <a:srgbClr val="003366"/>
                </a:solidFill>
                <a:latin typeface="Arial"/>
                <a:cs typeface="Arial"/>
              </a:rPr>
              <a:t>research</a:t>
            </a:r>
            <a:endParaRPr sz="17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494739" y="649500"/>
            <a:ext cx="1618615" cy="4914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solidFill>
                  <a:srgbClr val="0000FF"/>
                </a:solidFill>
                <a:latin typeface="Arial"/>
                <a:cs typeface="Arial"/>
              </a:rPr>
              <a:t>Prof</a:t>
            </a:r>
            <a:r>
              <a:rPr dirty="0" sz="1200" spc="-2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0000FF"/>
                </a:solidFill>
                <a:latin typeface="Arial"/>
                <a:cs typeface="Arial"/>
              </a:rPr>
              <a:t>Sujit</a:t>
            </a:r>
            <a:r>
              <a:rPr dirty="0" sz="1200" spc="-1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0000FF"/>
                </a:solidFill>
                <a:latin typeface="Arial"/>
                <a:cs typeface="Arial"/>
              </a:rPr>
              <a:t>Sahu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10"/>
              </a:spcBef>
            </a:pPr>
            <a:r>
              <a:rPr dirty="0" sz="1100" spc="-10">
                <a:solidFill>
                  <a:srgbClr val="FF0000"/>
                </a:solidFill>
                <a:latin typeface="Arial"/>
                <a:cs typeface="Arial"/>
                <a:hlinkClick r:id="rId2"/>
              </a:rPr>
              <a:t>https://www.sujitsahu.com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0799" y="1327390"/>
            <a:ext cx="1159860" cy="25157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6227" y="1705485"/>
            <a:ext cx="855321" cy="128334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23426" y="1723723"/>
            <a:ext cx="816018" cy="1265106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715505" y="3121004"/>
            <a:ext cx="31775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Arial"/>
                <a:cs typeface="Arial"/>
              </a:rPr>
              <a:t>Royal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Hampshire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County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Hospital,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Winchester,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1/5/2024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08060" cy="27521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Biography</a:t>
            </a:r>
            <a:r>
              <a:rPr dirty="0" spc="50"/>
              <a:t> </a:t>
            </a:r>
            <a:r>
              <a:rPr dirty="0"/>
              <a:t>of</a:t>
            </a:r>
            <a:r>
              <a:rPr dirty="0" spc="55"/>
              <a:t> </a:t>
            </a:r>
            <a:r>
              <a:rPr dirty="0"/>
              <a:t>Sujit</a:t>
            </a:r>
            <a:r>
              <a:rPr dirty="0" spc="55"/>
              <a:t> </a:t>
            </a:r>
            <a:r>
              <a:rPr dirty="0"/>
              <a:t>Sahu</a:t>
            </a:r>
            <a:r>
              <a:rPr dirty="0" spc="55"/>
              <a:t> </a:t>
            </a:r>
            <a:r>
              <a:rPr dirty="0" spc="-10"/>
              <a:t>(</a:t>
            </a:r>
            <a:r>
              <a:rPr dirty="0" spc="-10">
                <a:solidFill>
                  <a:srgbClr val="8E00FF"/>
                </a:solidFill>
                <a:hlinkClick r:id="rId3"/>
              </a:rPr>
              <a:t>https://www.sujitsahu.com</a:t>
            </a:r>
            <a:r>
              <a:rPr dirty="0" spc="-10">
                <a:hlinkClick r:id="rId3"/>
              </a:rPr>
              <a:t>)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598843"/>
            <a:ext cx="76809" cy="7680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24395" y="526947"/>
            <a:ext cx="3606800" cy="244665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236220">
              <a:lnSpc>
                <a:spcPct val="102600"/>
              </a:lnSpc>
              <a:spcBef>
                <a:spcPts val="55"/>
              </a:spcBef>
            </a:pPr>
            <a:r>
              <a:rPr dirty="0" sz="1100" spc="-10">
                <a:latin typeface="Arial"/>
                <a:cs typeface="Arial"/>
              </a:rPr>
              <a:t>Professor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statistics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University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Southampton </a:t>
            </a:r>
            <a:r>
              <a:rPr dirty="0" sz="1100">
                <a:latin typeface="Arial"/>
                <a:cs typeface="Arial"/>
              </a:rPr>
              <a:t>(joined</a:t>
            </a:r>
            <a:r>
              <a:rPr dirty="0" sz="1100" spc="-7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1999).</a:t>
            </a:r>
            <a:endParaRPr sz="1100">
              <a:latin typeface="Arial"/>
              <a:cs typeface="Arial"/>
            </a:endParaRPr>
          </a:p>
          <a:p>
            <a:pPr marL="12700" marR="125095">
              <a:lnSpc>
                <a:spcPct val="102600"/>
              </a:lnSpc>
              <a:spcBef>
                <a:spcPts val="300"/>
              </a:spcBef>
            </a:pPr>
            <a:r>
              <a:rPr dirty="0" sz="1100">
                <a:latin typeface="Arial"/>
                <a:cs typeface="Arial"/>
              </a:rPr>
              <a:t>Sujit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co-</a:t>
            </a:r>
            <a:r>
              <a:rPr dirty="0" sz="1100">
                <a:latin typeface="Arial"/>
                <a:cs typeface="Arial"/>
              </a:rPr>
              <a:t>authored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about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70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research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articles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published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in </a:t>
            </a:r>
            <a:r>
              <a:rPr dirty="0" sz="1100" spc="-10">
                <a:latin typeface="Arial"/>
                <a:cs typeface="Arial"/>
              </a:rPr>
              <a:t>applied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methodological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statistics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journals.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100" spc="-20">
                <a:latin typeface="Arial"/>
                <a:cs typeface="Arial"/>
              </a:rPr>
              <a:t>Recently,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also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published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two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textbooks.</a:t>
            </a:r>
            <a:endParaRPr sz="1100">
              <a:latin typeface="Arial"/>
              <a:cs typeface="Arial"/>
            </a:endParaRPr>
          </a:p>
          <a:p>
            <a:pPr marL="12700" marR="5715">
              <a:lnSpc>
                <a:spcPct val="102600"/>
              </a:lnSpc>
              <a:spcBef>
                <a:spcPts val="595"/>
              </a:spcBef>
            </a:pPr>
            <a:r>
              <a:rPr dirty="0" sz="1100">
                <a:latin typeface="Arial"/>
                <a:cs typeface="Arial"/>
              </a:rPr>
              <a:t>Sujit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also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no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stranger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medicine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medical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science </a:t>
            </a:r>
            <a:r>
              <a:rPr dirty="0" sz="1100">
                <a:latin typeface="Arial"/>
                <a:cs typeface="Arial"/>
              </a:rPr>
              <a:t>as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gracefully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acknowledges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kindness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sincerity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NHS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staff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(in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Winchester,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Southampton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Portsmouth </a:t>
            </a:r>
            <a:r>
              <a:rPr dirty="0" sz="1100">
                <a:latin typeface="Arial"/>
                <a:cs typeface="Arial"/>
              </a:rPr>
              <a:t>hospitals)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who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saved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his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life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on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several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occasions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by </a:t>
            </a:r>
            <a:r>
              <a:rPr dirty="0" sz="1100">
                <a:latin typeface="Arial"/>
                <a:cs typeface="Arial"/>
              </a:rPr>
              <a:t>performing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major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surgeries.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dirty="0" sz="1100">
                <a:latin typeface="Arial"/>
                <a:cs typeface="Arial"/>
              </a:rPr>
              <a:t>Sujit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also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proud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his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daughter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who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obtained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her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MBBS </a:t>
            </a:r>
            <a:r>
              <a:rPr dirty="0" sz="1100">
                <a:latin typeface="Arial"/>
                <a:cs typeface="Arial"/>
              </a:rPr>
              <a:t>degree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from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George’s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now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F1</a:t>
            </a:r>
            <a:r>
              <a:rPr dirty="0" sz="1100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Charing </a:t>
            </a:r>
            <a:r>
              <a:rPr dirty="0" sz="1100">
                <a:latin typeface="Arial"/>
                <a:cs typeface="Arial"/>
              </a:rPr>
              <a:t>Cross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Hospital,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London.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007" y="980960"/>
            <a:ext cx="76809" cy="7680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1007" y="1363065"/>
            <a:ext cx="76809" cy="7680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1007" y="1611058"/>
            <a:ext cx="76809" cy="7680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91007" y="2509380"/>
            <a:ext cx="76809" cy="76809"/>
          </a:xfrm>
          <a:prstGeom prst="rect">
            <a:avLst/>
          </a:prstGeom>
        </p:spPr>
      </p:pic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608195" cy="50800"/>
          </a:xfrm>
          <a:custGeom>
            <a:avLst/>
            <a:gdLst/>
            <a:ahLst/>
            <a:cxnLst/>
            <a:rect l="l" t="t" r="r" b="b"/>
            <a:pathLst>
              <a:path w="4608195" h="50800">
                <a:moveTo>
                  <a:pt x="4608060" y="0"/>
                </a:moveTo>
                <a:lnTo>
                  <a:pt x="0" y="0"/>
                </a:lnTo>
                <a:lnTo>
                  <a:pt x="0" y="50610"/>
                </a:lnTo>
                <a:lnTo>
                  <a:pt x="4608060" y="50610"/>
                </a:lnTo>
                <a:lnTo>
                  <a:pt x="46080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347294" y="384465"/>
            <a:ext cx="3913504" cy="242887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b="1">
                <a:latin typeface="Arial"/>
                <a:cs typeface="Arial"/>
              </a:rPr>
              <a:t>Abstract:</a:t>
            </a:r>
            <a:r>
              <a:rPr dirty="0" sz="1100" spc="35" b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This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part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talk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will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present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several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examples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of </a:t>
            </a:r>
            <a:r>
              <a:rPr dirty="0" sz="1100">
                <a:latin typeface="Arial"/>
                <a:cs typeface="Arial"/>
              </a:rPr>
              <a:t>statistical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ideas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medical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research.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Examples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include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(i) </a:t>
            </a:r>
            <a:r>
              <a:rPr dirty="0" sz="1100">
                <a:latin typeface="Arial"/>
                <a:cs typeface="Arial"/>
              </a:rPr>
              <a:t>success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statistics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exploring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heinous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crime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serial </a:t>
            </a:r>
            <a:r>
              <a:rPr dirty="0" sz="1100">
                <a:latin typeface="Arial"/>
                <a:cs typeface="Arial"/>
              </a:rPr>
              <a:t>killer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British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General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Practitioner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Harold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Shipman,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(ii)</a:t>
            </a:r>
            <a:r>
              <a:rPr dirty="0" sz="1100" spc="50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judgement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issued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Sally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Clark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legal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case,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(iii)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use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the </a:t>
            </a:r>
            <a:r>
              <a:rPr dirty="0" sz="1100" spc="-20">
                <a:latin typeface="Arial"/>
                <a:cs typeface="Arial"/>
              </a:rPr>
              <a:t>Bayes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Theorem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probability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some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medical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decision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making.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talk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will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also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present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general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ideas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statistics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lighter </a:t>
            </a:r>
            <a:r>
              <a:rPr dirty="0" sz="1100">
                <a:latin typeface="Arial"/>
                <a:cs typeface="Arial"/>
              </a:rPr>
              <a:t>settings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designed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cater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general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audience.</a:t>
            </a:r>
            <a:endParaRPr sz="1100">
              <a:latin typeface="Arial"/>
              <a:cs typeface="Arial"/>
            </a:endParaRPr>
          </a:p>
          <a:p>
            <a:pPr marL="12700" marR="27940">
              <a:lnSpc>
                <a:spcPct val="102600"/>
              </a:lnSpc>
            </a:pPr>
            <a:r>
              <a:rPr dirty="0" sz="1100">
                <a:latin typeface="Arial"/>
                <a:cs typeface="Arial"/>
              </a:rPr>
              <a:t>No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previous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mathematical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or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statistical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background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assumed </a:t>
            </a:r>
            <a:r>
              <a:rPr dirty="0" sz="1100">
                <a:latin typeface="Arial"/>
                <a:cs typeface="Arial"/>
              </a:rPr>
              <a:t>as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objective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here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not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teach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difficult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(and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problem </a:t>
            </a:r>
            <a:r>
              <a:rPr dirty="0" sz="1100">
                <a:latin typeface="Arial"/>
                <a:cs typeface="Arial"/>
              </a:rPr>
              <a:t>specific)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statistical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methodologies.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Rather,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talk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aims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to </a:t>
            </a:r>
            <a:r>
              <a:rPr dirty="0" sz="1100">
                <a:latin typeface="Arial"/>
                <a:cs typeface="Arial"/>
              </a:rPr>
              <a:t>generate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interests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awareness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so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readers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can</a:t>
            </a:r>
            <a:endParaRPr sz="1100">
              <a:latin typeface="Arial"/>
              <a:cs typeface="Arial"/>
            </a:endParaRPr>
          </a:p>
          <a:p>
            <a:pPr marL="12700" marR="165735">
              <a:lnSpc>
                <a:spcPct val="102600"/>
              </a:lnSpc>
            </a:pPr>
            <a:r>
              <a:rPr dirty="0" sz="1100" spc="-10">
                <a:latin typeface="Arial"/>
                <a:cs typeface="Arial"/>
              </a:rPr>
              <a:t>self-</a:t>
            </a:r>
            <a:r>
              <a:rPr dirty="0" sz="1100">
                <a:latin typeface="Arial"/>
                <a:cs typeface="Arial"/>
              </a:rPr>
              <a:t>determine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values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statistical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contributions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they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may </a:t>
            </a:r>
            <a:r>
              <a:rPr dirty="0" sz="1100">
                <a:latin typeface="Arial"/>
                <a:cs typeface="Arial"/>
              </a:rPr>
              <a:t>come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across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research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papers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conferences.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67297" y="3320769"/>
            <a:ext cx="127000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b="1">
                <a:latin typeface="Arial"/>
                <a:cs typeface="Arial"/>
              </a:rPr>
              <a:t>Sujit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Sahu:</a:t>
            </a:r>
            <a:r>
              <a:rPr dirty="0" sz="800" spc="30" b="1"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0000FF"/>
                </a:solidFill>
                <a:latin typeface="Arial"/>
                <a:cs typeface="Arial"/>
              </a:rPr>
              <a:t>sujitsahu.com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359030" y="3320769"/>
            <a:ext cx="8191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b="1">
                <a:latin typeface="Arial"/>
                <a:cs typeface="Arial"/>
              </a:rPr>
              <a:t>3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08060" cy="27521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5948" y="-38623"/>
            <a:ext cx="195008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Plan</a:t>
            </a:r>
            <a:r>
              <a:rPr dirty="0" spc="40"/>
              <a:t> </a:t>
            </a:r>
            <a:r>
              <a:rPr dirty="0"/>
              <a:t>of</a:t>
            </a:r>
            <a:r>
              <a:rPr dirty="0" spc="45"/>
              <a:t> </a:t>
            </a:r>
            <a:r>
              <a:rPr dirty="0"/>
              <a:t>the</a:t>
            </a:r>
            <a:r>
              <a:rPr dirty="0" spc="45"/>
              <a:t> </a:t>
            </a:r>
            <a:r>
              <a:rPr dirty="0" spc="-10"/>
              <a:t>presentation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155" y="260172"/>
            <a:ext cx="134416" cy="13441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61556" y="259618"/>
            <a:ext cx="679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24395" y="213023"/>
            <a:ext cx="3521710" cy="100076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00">
                <a:latin typeface="Arial"/>
                <a:cs typeface="Arial"/>
              </a:rPr>
              <a:t>Introduction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nature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statistics:</a:t>
            </a:r>
            <a:endParaRPr sz="1100">
              <a:latin typeface="Arial"/>
              <a:cs typeface="Arial"/>
            </a:endParaRPr>
          </a:p>
          <a:p>
            <a:pPr marL="288290" indent="-131445">
              <a:lnSpc>
                <a:spcPct val="100000"/>
              </a:lnSpc>
              <a:spcBef>
                <a:spcPts val="70"/>
              </a:spcBef>
              <a:buClr>
                <a:srgbClr val="3333B2"/>
              </a:buClr>
              <a:buAutoNum type="romanLcPeriod"/>
              <a:tabLst>
                <a:tab pos="288290" algn="l"/>
              </a:tabLst>
            </a:pPr>
            <a:r>
              <a:rPr dirty="0" sz="1000">
                <a:latin typeface="Arial"/>
                <a:cs typeface="Arial"/>
              </a:rPr>
              <a:t>Definition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of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statistics.</a:t>
            </a:r>
            <a:endParaRPr sz="1000">
              <a:latin typeface="Arial"/>
              <a:cs typeface="Arial"/>
            </a:endParaRPr>
          </a:p>
          <a:p>
            <a:pPr marL="287655" marR="292100" indent="-158750">
              <a:lnSpc>
                <a:spcPct val="100000"/>
              </a:lnSpc>
              <a:spcBef>
                <a:spcPts val="115"/>
              </a:spcBef>
              <a:buClr>
                <a:srgbClr val="3333B2"/>
              </a:buClr>
              <a:buAutoNum type="romanLcPeriod"/>
              <a:tabLst>
                <a:tab pos="289560" algn="l"/>
              </a:tabLst>
            </a:pPr>
            <a:r>
              <a:rPr dirty="0" sz="1000">
                <a:latin typeface="Arial"/>
                <a:cs typeface="Arial"/>
              </a:rPr>
              <a:t>Why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should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bother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learning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statistics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and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statistical 	methods?</a:t>
            </a:r>
            <a:endParaRPr sz="1000">
              <a:latin typeface="Arial"/>
              <a:cs typeface="Arial"/>
            </a:endParaRPr>
          </a:p>
          <a:p>
            <a:pPr marL="287655" marR="5080" indent="-187325">
              <a:lnSpc>
                <a:spcPct val="100000"/>
              </a:lnSpc>
              <a:spcBef>
                <a:spcPts val="110"/>
              </a:spcBef>
              <a:buClr>
                <a:srgbClr val="3333B2"/>
              </a:buClr>
              <a:buAutoNum type="romanLcPeriod"/>
              <a:tabLst>
                <a:tab pos="289560" algn="l"/>
              </a:tabLst>
            </a:pPr>
            <a:r>
              <a:rPr dirty="0" sz="1000">
                <a:latin typeface="Arial"/>
                <a:cs typeface="Arial"/>
              </a:rPr>
              <a:t>Interesting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excerpts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from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book,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0000FF"/>
                </a:solidFill>
                <a:latin typeface="Arial"/>
                <a:cs typeface="Arial"/>
              </a:rPr>
              <a:t>Statistics</a:t>
            </a:r>
            <a:r>
              <a:rPr dirty="0" sz="1000" spc="-15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dirty="0" sz="1000" spc="-20" i="1">
                <a:solidFill>
                  <a:srgbClr val="0000FF"/>
                </a:solidFill>
                <a:latin typeface="Arial"/>
                <a:cs typeface="Arial"/>
              </a:rPr>
              <a:t> Truth </a:t>
            </a:r>
            <a:r>
              <a:rPr dirty="0" sz="1000" spc="-25">
                <a:latin typeface="Arial"/>
                <a:cs typeface="Arial"/>
              </a:rPr>
              <a:t>by </a:t>
            </a:r>
            <a:r>
              <a:rPr dirty="0" sz="1000" spc="-25">
                <a:latin typeface="Arial"/>
                <a:cs typeface="Arial"/>
              </a:rPr>
              <a:t>	</a:t>
            </a:r>
            <a:r>
              <a:rPr dirty="0" sz="1000">
                <a:latin typeface="Arial"/>
                <a:cs typeface="Arial"/>
              </a:rPr>
              <a:t>Prof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C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R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Rao.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8155" y="1334109"/>
            <a:ext cx="134416" cy="134416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461556" y="1333556"/>
            <a:ext cx="679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24395" y="1286961"/>
            <a:ext cx="3515995" cy="142621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00" spc="-10">
                <a:latin typeface="Arial"/>
                <a:cs typeface="Arial"/>
              </a:rPr>
              <a:t>Examples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statistical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ideas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medical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research:</a:t>
            </a:r>
            <a:endParaRPr sz="1100">
              <a:latin typeface="Arial"/>
              <a:cs typeface="Arial"/>
            </a:endParaRPr>
          </a:p>
          <a:p>
            <a:pPr marL="288290" marR="203835" indent="-131445">
              <a:lnSpc>
                <a:spcPct val="100000"/>
              </a:lnSpc>
              <a:spcBef>
                <a:spcPts val="70"/>
              </a:spcBef>
              <a:buClr>
                <a:srgbClr val="3333B2"/>
              </a:buClr>
              <a:buAutoNum type="romanLcPeriod"/>
              <a:tabLst>
                <a:tab pos="289560" algn="l"/>
              </a:tabLst>
            </a:pPr>
            <a:r>
              <a:rPr dirty="0" sz="1000">
                <a:latin typeface="Arial"/>
                <a:cs typeface="Arial"/>
              </a:rPr>
              <a:t>Probability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of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0000"/>
                </a:solidFill>
                <a:latin typeface="Arial"/>
                <a:cs typeface="Arial"/>
              </a:rPr>
              <a:t>disease</a:t>
            </a:r>
            <a:r>
              <a:rPr dirty="0" sz="10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given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00FF"/>
                </a:solidFill>
                <a:latin typeface="Arial"/>
                <a:cs typeface="Arial"/>
              </a:rPr>
              <a:t>symptom</a:t>
            </a:r>
            <a:r>
              <a:rPr dirty="0" sz="1000" spc="-2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using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20">
                <a:latin typeface="Arial"/>
                <a:cs typeface="Arial"/>
              </a:rPr>
              <a:t> Bayes </a:t>
            </a:r>
            <a:r>
              <a:rPr dirty="0" sz="1000" spc="-20">
                <a:latin typeface="Arial"/>
                <a:cs typeface="Arial"/>
              </a:rPr>
              <a:t>	</a:t>
            </a:r>
            <a:r>
              <a:rPr dirty="0" sz="1000" spc="-10">
                <a:latin typeface="Arial"/>
                <a:cs typeface="Arial"/>
              </a:rPr>
              <a:t>theorem.</a:t>
            </a:r>
            <a:endParaRPr sz="1000">
              <a:latin typeface="Arial"/>
              <a:cs typeface="Arial"/>
            </a:endParaRPr>
          </a:p>
          <a:p>
            <a:pPr marL="287655" indent="-158750">
              <a:lnSpc>
                <a:spcPct val="100000"/>
              </a:lnSpc>
              <a:spcBef>
                <a:spcPts val="585"/>
              </a:spcBef>
              <a:buClr>
                <a:srgbClr val="3333B2"/>
              </a:buClr>
              <a:buAutoNum type="romanLcPeriod"/>
              <a:tabLst>
                <a:tab pos="287655" algn="l"/>
              </a:tabLst>
            </a:pPr>
            <a:r>
              <a:rPr dirty="0" sz="1000">
                <a:latin typeface="Arial"/>
                <a:cs typeface="Arial"/>
              </a:rPr>
              <a:t>Winning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national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lottery,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playing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Monty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Hall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game.</a:t>
            </a:r>
            <a:endParaRPr sz="1000">
              <a:latin typeface="Arial"/>
              <a:cs typeface="Arial"/>
            </a:endParaRPr>
          </a:p>
          <a:p>
            <a:pPr marL="288290" indent="-187325">
              <a:lnSpc>
                <a:spcPct val="100000"/>
              </a:lnSpc>
              <a:spcBef>
                <a:spcPts val="595"/>
              </a:spcBef>
              <a:buClr>
                <a:srgbClr val="3333B2"/>
              </a:buClr>
              <a:buAutoNum type="romanLcPeriod"/>
              <a:tabLst>
                <a:tab pos="288290" algn="l"/>
              </a:tabLst>
            </a:pPr>
            <a:r>
              <a:rPr dirty="0" sz="1000">
                <a:latin typeface="Arial"/>
                <a:cs typeface="Arial"/>
              </a:rPr>
              <a:t>Sally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Clark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legal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case:</a:t>
            </a:r>
            <a:r>
              <a:rPr dirty="0" sz="1000" spc="5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Convicted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on</a:t>
            </a:r>
            <a:r>
              <a:rPr dirty="0" sz="1000" spc="-10">
                <a:latin typeface="Arial"/>
                <a:cs typeface="Arial"/>
              </a:rPr>
              <a:t> Statistics?</a:t>
            </a:r>
            <a:endParaRPr sz="1000">
              <a:latin typeface="Arial"/>
              <a:cs typeface="Arial"/>
            </a:endParaRPr>
          </a:p>
          <a:p>
            <a:pPr marL="287655" indent="-184150">
              <a:lnSpc>
                <a:spcPct val="100000"/>
              </a:lnSpc>
              <a:spcBef>
                <a:spcPts val="595"/>
              </a:spcBef>
              <a:buClr>
                <a:srgbClr val="3333B2"/>
              </a:buClr>
              <a:buAutoNum type="romanLcPeriod"/>
              <a:tabLst>
                <a:tab pos="287655" algn="l"/>
              </a:tabLst>
            </a:pPr>
            <a:r>
              <a:rPr dirty="0" sz="1000">
                <a:latin typeface="Arial"/>
                <a:cs typeface="Arial"/>
              </a:rPr>
              <a:t>Statistics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catches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serial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killer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British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GP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Harold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Shipman.</a:t>
            </a:r>
            <a:endParaRPr sz="1000">
              <a:latin typeface="Arial"/>
              <a:cs typeface="Arial"/>
            </a:endParaRPr>
          </a:p>
          <a:p>
            <a:pPr marL="288290" indent="-156210">
              <a:lnSpc>
                <a:spcPct val="100000"/>
              </a:lnSpc>
              <a:spcBef>
                <a:spcPts val="590"/>
              </a:spcBef>
              <a:buClr>
                <a:srgbClr val="3333B2"/>
              </a:buClr>
              <a:buAutoNum type="romanLcPeriod"/>
              <a:tabLst>
                <a:tab pos="288290" algn="l"/>
              </a:tabLst>
            </a:pPr>
            <a:r>
              <a:rPr dirty="0" sz="1000">
                <a:latin typeface="Arial"/>
                <a:cs typeface="Arial"/>
              </a:rPr>
              <a:t>Disease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mapping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of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cancer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rates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in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NHS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health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boards.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8155" y="2853410"/>
            <a:ext cx="134416" cy="134416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461556" y="2852158"/>
            <a:ext cx="679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24395" y="2816477"/>
            <a:ext cx="3262629" cy="36385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Arial"/>
                <a:cs typeface="Arial"/>
              </a:rPr>
              <a:t>Interpreting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Confidence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Intervals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P-Values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using practical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examples:</a:t>
            </a:r>
            <a:r>
              <a:rPr dirty="0" sz="1100" spc="5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National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lottery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taste-test.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8155" y="3318408"/>
            <a:ext cx="134416" cy="134416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461556" y="3317854"/>
            <a:ext cx="679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24395" y="3281475"/>
            <a:ext cx="6953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Arial"/>
                <a:cs typeface="Arial"/>
              </a:rPr>
              <a:t>Discussion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Definition</a:t>
            </a:r>
            <a:r>
              <a:rPr dirty="0" spc="70"/>
              <a:t> </a:t>
            </a:r>
            <a:r>
              <a:rPr dirty="0"/>
              <a:t>of</a:t>
            </a:r>
            <a:r>
              <a:rPr dirty="0" spc="75"/>
              <a:t> </a:t>
            </a:r>
            <a:r>
              <a:rPr dirty="0" spc="-10"/>
              <a:t>statistics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1113167"/>
            <a:ext cx="76809" cy="7680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1409230"/>
            <a:ext cx="76809" cy="7680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1705305"/>
            <a:ext cx="76809" cy="7680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007" y="2001367"/>
            <a:ext cx="76809" cy="7680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2297442"/>
            <a:ext cx="76809" cy="7680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1007" y="2765590"/>
            <a:ext cx="76809" cy="76809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347294" y="314996"/>
            <a:ext cx="3823970" cy="295275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Oxford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English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Dictionary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defines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statistics</a:t>
            </a:r>
            <a:r>
              <a:rPr dirty="0" sz="1100" spc="-40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as: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“</a:t>
            </a:r>
            <a:r>
              <a:rPr dirty="0" sz="1100" spc="-20" i="1">
                <a:latin typeface="Arial"/>
                <a:cs typeface="Arial"/>
              </a:rPr>
              <a:t>The </a:t>
            </a:r>
            <a:r>
              <a:rPr dirty="0" sz="1100" i="1">
                <a:latin typeface="Arial"/>
                <a:cs typeface="Arial"/>
              </a:rPr>
              <a:t>practice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or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science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of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collecting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and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analysing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numerical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spc="-20" i="1">
                <a:latin typeface="Arial"/>
                <a:cs typeface="Arial"/>
              </a:rPr>
              <a:t>data </a:t>
            </a:r>
            <a:r>
              <a:rPr dirty="0" sz="1100" i="1">
                <a:latin typeface="Arial"/>
                <a:cs typeface="Arial"/>
              </a:rPr>
              <a:t>in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large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quantities,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especially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for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the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purpose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of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FF0000"/>
                </a:solidFill>
                <a:latin typeface="Arial"/>
                <a:cs typeface="Arial"/>
              </a:rPr>
              <a:t>inferring </a:t>
            </a:r>
            <a:r>
              <a:rPr dirty="0" sz="1100" i="1">
                <a:solidFill>
                  <a:srgbClr val="FF0000"/>
                </a:solidFill>
                <a:latin typeface="Arial"/>
                <a:cs typeface="Arial"/>
              </a:rPr>
              <a:t>proportions</a:t>
            </a:r>
            <a:r>
              <a:rPr dirty="0" sz="1100" spc="-2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FF0000"/>
                </a:solidFill>
                <a:latin typeface="Arial"/>
                <a:cs typeface="Arial"/>
              </a:rPr>
              <a:t>in</a:t>
            </a:r>
            <a:r>
              <a:rPr dirty="0" sz="1100" spc="-2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dirty="0" sz="1100" spc="-2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FF0000"/>
                </a:solidFill>
                <a:latin typeface="Arial"/>
                <a:cs typeface="Arial"/>
              </a:rPr>
              <a:t>whole</a:t>
            </a:r>
            <a:r>
              <a:rPr dirty="0" sz="1100" spc="-2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FF0000"/>
                </a:solidFill>
                <a:latin typeface="Arial"/>
                <a:cs typeface="Arial"/>
              </a:rPr>
              <a:t>from</a:t>
            </a:r>
            <a:r>
              <a:rPr dirty="0" sz="1100" spc="-2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FF0000"/>
                </a:solidFill>
                <a:latin typeface="Arial"/>
                <a:cs typeface="Arial"/>
              </a:rPr>
              <a:t>those</a:t>
            </a:r>
            <a:r>
              <a:rPr dirty="0" sz="1100" spc="-2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FF0000"/>
                </a:solidFill>
                <a:latin typeface="Arial"/>
                <a:cs typeface="Arial"/>
              </a:rPr>
              <a:t>in</a:t>
            </a:r>
            <a:r>
              <a:rPr dirty="0" sz="1100" spc="-15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dirty="0" sz="1100" spc="-2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FF0000"/>
                </a:solidFill>
                <a:latin typeface="Arial"/>
                <a:cs typeface="Arial"/>
              </a:rPr>
              <a:t>representative</a:t>
            </a:r>
            <a:r>
              <a:rPr dirty="0" sz="1100" spc="-2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FF0000"/>
                </a:solidFill>
                <a:latin typeface="Arial"/>
                <a:cs typeface="Arial"/>
              </a:rPr>
              <a:t>sample</a:t>
            </a:r>
            <a:r>
              <a:rPr dirty="0" sz="1100" spc="-10" i="1">
                <a:latin typeface="Arial"/>
                <a:cs typeface="Arial"/>
              </a:rPr>
              <a:t>.</a:t>
            </a:r>
            <a:r>
              <a:rPr dirty="0" sz="1100" spc="-10">
                <a:latin typeface="Arial"/>
                <a:cs typeface="Arial"/>
              </a:rPr>
              <a:t>”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dirty="0" sz="1100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eating</a:t>
            </a:r>
            <a:r>
              <a:rPr dirty="0" sz="1100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red</a:t>
            </a:r>
            <a:r>
              <a:rPr dirty="0" sz="11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meat</a:t>
            </a:r>
            <a:r>
              <a:rPr dirty="0" sz="1100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harmful</a:t>
            </a:r>
            <a:r>
              <a:rPr dirty="0" sz="1100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11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health</a:t>
            </a:r>
            <a:r>
              <a:rPr dirty="0" sz="1100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1100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causes</a:t>
            </a:r>
            <a:r>
              <a:rPr dirty="0" sz="11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cancer?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10"/>
              </a:spcBef>
            </a:pP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smoking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harmful</a:t>
            </a:r>
            <a:r>
              <a:rPr dirty="0" sz="1100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during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pregnancy?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10"/>
              </a:spcBef>
            </a:pP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dirty="0" sz="1100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11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new</a:t>
            </a:r>
            <a:r>
              <a:rPr dirty="0" sz="11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therapy/treatment</a:t>
            </a:r>
            <a:r>
              <a:rPr dirty="0" sz="11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better</a:t>
            </a:r>
            <a:r>
              <a:rPr dirty="0" sz="11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than</a:t>
            </a:r>
            <a:r>
              <a:rPr dirty="0" sz="11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1100" spc="-20">
                <a:solidFill>
                  <a:srgbClr val="FF0000"/>
                </a:solidFill>
                <a:latin typeface="Arial"/>
                <a:cs typeface="Arial"/>
              </a:rPr>
              <a:t> old?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15"/>
              </a:spcBef>
            </a:pP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Can</a:t>
            </a:r>
            <a:r>
              <a:rPr dirty="0" sz="11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conservatives</a:t>
            </a:r>
            <a:r>
              <a:rPr dirty="0" sz="11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win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11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next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UK</a:t>
            </a:r>
            <a:r>
              <a:rPr dirty="0" sz="11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general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election?</a:t>
            </a:r>
            <a:endParaRPr sz="1100">
              <a:latin typeface="Arial"/>
              <a:cs typeface="Arial"/>
            </a:endParaRPr>
          </a:p>
          <a:p>
            <a:pPr marL="289560" marR="330835">
              <a:lnSpc>
                <a:spcPct val="102600"/>
              </a:lnSpc>
              <a:spcBef>
                <a:spcPts val="975"/>
              </a:spcBef>
            </a:pP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Will</a:t>
            </a:r>
            <a:r>
              <a:rPr dirty="0" sz="1100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11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hospital</a:t>
            </a:r>
            <a:r>
              <a:rPr dirty="0" sz="11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waiting</a:t>
            </a:r>
            <a:r>
              <a:rPr dirty="0" sz="11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list</a:t>
            </a:r>
            <a:r>
              <a:rPr dirty="0" sz="11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get</a:t>
            </a:r>
            <a:r>
              <a:rPr dirty="0" sz="11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shorter</a:t>
            </a:r>
            <a:r>
              <a:rPr dirty="0" sz="11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after</a:t>
            </a:r>
            <a:r>
              <a:rPr dirty="0" sz="11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1100" spc="-20">
                <a:solidFill>
                  <a:srgbClr val="FF0000"/>
                </a:solidFill>
                <a:latin typeface="Arial"/>
                <a:cs typeface="Arial"/>
              </a:rPr>
              <a:t> next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general</a:t>
            </a:r>
            <a:r>
              <a:rPr dirty="0" sz="1100" spc="-7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election?</a:t>
            </a:r>
            <a:endParaRPr sz="1100">
              <a:latin typeface="Arial"/>
              <a:cs typeface="Arial"/>
            </a:endParaRPr>
          </a:p>
          <a:p>
            <a:pPr marL="289560" marR="220979">
              <a:lnSpc>
                <a:spcPct val="102600"/>
              </a:lnSpc>
              <a:spcBef>
                <a:spcPts val="975"/>
              </a:spcBef>
            </a:pP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Will</a:t>
            </a:r>
            <a:r>
              <a:rPr dirty="0" sz="11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pay</a:t>
            </a:r>
            <a:r>
              <a:rPr dirty="0" sz="11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conditions</a:t>
            </a:r>
            <a:r>
              <a:rPr dirty="0" sz="11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improve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11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NHS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junior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doctors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in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1100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near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future?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Why</a:t>
            </a:r>
            <a:r>
              <a:rPr dirty="0" sz="11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isn’t</a:t>
            </a:r>
            <a:r>
              <a:rPr dirty="0" sz="11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it</a:t>
            </a:r>
            <a:r>
              <a:rPr dirty="0" sz="11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easy</a:t>
            </a:r>
            <a:r>
              <a:rPr dirty="0" sz="11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11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decide</a:t>
            </a:r>
            <a:r>
              <a:rPr dirty="0" sz="11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one</a:t>
            </a:r>
            <a:r>
              <a:rPr dirty="0" sz="11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way</a:t>
            </a:r>
            <a:r>
              <a:rPr dirty="0" sz="11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dirty="0" sz="11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11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other?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Uncertainty:</a:t>
            </a:r>
            <a:r>
              <a:rPr dirty="0" spc="204"/>
              <a:t> </a:t>
            </a:r>
            <a:r>
              <a:rPr dirty="0"/>
              <a:t>the</a:t>
            </a:r>
            <a:r>
              <a:rPr dirty="0" spc="90"/>
              <a:t> </a:t>
            </a:r>
            <a:r>
              <a:rPr dirty="0"/>
              <a:t>main</a:t>
            </a:r>
            <a:r>
              <a:rPr dirty="0" spc="90"/>
              <a:t> </a:t>
            </a:r>
            <a:r>
              <a:rPr dirty="0"/>
              <a:t>obstacle</a:t>
            </a:r>
            <a:r>
              <a:rPr dirty="0" spc="90"/>
              <a:t> </a:t>
            </a:r>
            <a:r>
              <a:rPr dirty="0"/>
              <a:t>to</a:t>
            </a:r>
            <a:r>
              <a:rPr dirty="0" spc="90"/>
              <a:t> </a:t>
            </a:r>
            <a:r>
              <a:rPr dirty="0"/>
              <a:t>decision</a:t>
            </a:r>
            <a:r>
              <a:rPr dirty="0" spc="90"/>
              <a:t> </a:t>
            </a:r>
            <a:r>
              <a:rPr dirty="0" spc="-10"/>
              <a:t>making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369354"/>
            <a:ext cx="76809" cy="7680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24395" y="297445"/>
            <a:ext cx="3611879" cy="72136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37465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Arial"/>
                <a:cs typeface="Arial"/>
              </a:rPr>
              <a:t>Uncertainty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means:</a:t>
            </a:r>
            <a:r>
              <a:rPr dirty="0" sz="1100" spc="40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lack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of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one-to-</a:t>
            </a:r>
            <a:r>
              <a:rPr dirty="0" sz="1100" b="1">
                <a:latin typeface="Arial"/>
                <a:cs typeface="Arial"/>
              </a:rPr>
              <a:t>one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correspondence </a:t>
            </a:r>
            <a:r>
              <a:rPr dirty="0" sz="1100" b="1">
                <a:latin typeface="Arial"/>
                <a:cs typeface="Arial"/>
              </a:rPr>
              <a:t>between</a:t>
            </a:r>
            <a:r>
              <a:rPr dirty="0" sz="1100" spc="-5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cause</a:t>
            </a:r>
            <a:r>
              <a:rPr dirty="0" sz="1100" spc="-5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and</a:t>
            </a:r>
            <a:r>
              <a:rPr dirty="0" sz="1100" spc="-5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effect</a:t>
            </a:r>
            <a:r>
              <a:rPr dirty="0" sz="1100" spc="-1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99"/>
              </a:lnSpc>
              <a:spcBef>
                <a:spcPts val="105"/>
              </a:spcBef>
            </a:pP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example,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having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diet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(well-cooked)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red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meat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25">
                <a:latin typeface="Arial"/>
                <a:cs typeface="Arial"/>
              </a:rPr>
              <a:t> not </a:t>
            </a:r>
            <a:r>
              <a:rPr dirty="0" sz="1100">
                <a:latin typeface="Arial"/>
                <a:cs typeface="Arial"/>
              </a:rPr>
              <a:t>going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kill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immediately.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726757"/>
            <a:ext cx="76809" cy="7680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823518" y="1096899"/>
            <a:ext cx="2961005" cy="382905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 marL="40005">
              <a:lnSpc>
                <a:spcPct val="100000"/>
              </a:lnSpc>
              <a:spcBef>
                <a:spcPts val="5"/>
              </a:spcBef>
            </a:pPr>
            <a:r>
              <a:rPr dirty="0" sz="1100" spc="-10" i="1">
                <a:latin typeface="Arial"/>
                <a:cs typeface="Arial"/>
              </a:rPr>
              <a:t>The</a:t>
            </a:r>
            <a:r>
              <a:rPr dirty="0" sz="1100" spc="-55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only</a:t>
            </a:r>
            <a:r>
              <a:rPr dirty="0" sz="1100" spc="-55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trouble</a:t>
            </a:r>
            <a:r>
              <a:rPr dirty="0" sz="1100" spc="-55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with</a:t>
            </a:r>
            <a:r>
              <a:rPr dirty="0" sz="1100" spc="-5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-5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sure</a:t>
            </a:r>
            <a:r>
              <a:rPr dirty="0" sz="1100" spc="-5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thing</a:t>
            </a:r>
            <a:r>
              <a:rPr dirty="0" sz="1100" spc="-5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is</a:t>
            </a:r>
            <a:r>
              <a:rPr dirty="0" sz="1100" spc="-55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uncertainty.</a:t>
            </a:r>
            <a:endParaRPr sz="1100">
              <a:latin typeface="Arial"/>
              <a:cs typeface="Arial"/>
            </a:endParaRPr>
          </a:p>
          <a:p>
            <a:pPr marL="40005">
              <a:lnSpc>
                <a:spcPct val="100000"/>
              </a:lnSpc>
              <a:spcBef>
                <a:spcPts val="35"/>
              </a:spcBef>
            </a:pPr>
            <a:r>
              <a:rPr dirty="0" sz="1100" spc="-10" b="1">
                <a:latin typeface="Arial"/>
                <a:cs typeface="Arial"/>
              </a:rPr>
              <a:t>Uncertainty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is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the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only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certainty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there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is,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spc="-25" b="1">
                <a:latin typeface="Arial"/>
                <a:cs typeface="Arial"/>
              </a:rPr>
              <a:t>..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1606346"/>
            <a:ext cx="76809" cy="76809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/>
              <a:t>It</a:t>
            </a:r>
            <a:r>
              <a:rPr dirty="0" spc="-30"/>
              <a:t> </a:t>
            </a:r>
            <a:r>
              <a:rPr dirty="0"/>
              <a:t>is</a:t>
            </a:r>
            <a:r>
              <a:rPr dirty="0" spc="-30"/>
              <a:t> </a:t>
            </a:r>
            <a:r>
              <a:rPr dirty="0"/>
              <a:t>clear</a:t>
            </a:r>
            <a:r>
              <a:rPr dirty="0" spc="-30"/>
              <a:t> </a:t>
            </a:r>
            <a:r>
              <a:rPr dirty="0"/>
              <a:t>that</a:t>
            </a:r>
            <a:r>
              <a:rPr dirty="0" spc="-30"/>
              <a:t> </a:t>
            </a:r>
            <a:r>
              <a:rPr dirty="0"/>
              <a:t>we</a:t>
            </a:r>
            <a:r>
              <a:rPr dirty="0" spc="-30"/>
              <a:t> </a:t>
            </a:r>
            <a:r>
              <a:rPr dirty="0"/>
              <a:t>may</a:t>
            </a:r>
            <a:r>
              <a:rPr dirty="0" spc="-25"/>
              <a:t> </a:t>
            </a:r>
            <a:r>
              <a:rPr dirty="0" spc="-10"/>
              <a:t>never</a:t>
            </a:r>
            <a:r>
              <a:rPr dirty="0" spc="-3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able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30"/>
              <a:t> </a:t>
            </a:r>
            <a:r>
              <a:rPr dirty="0"/>
              <a:t>get</a:t>
            </a:r>
            <a:r>
              <a:rPr dirty="0" spc="-25"/>
              <a:t> </a:t>
            </a:r>
            <a:r>
              <a:rPr dirty="0"/>
              <a:t>to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/>
              <a:t>bottom</a:t>
            </a:r>
            <a:r>
              <a:rPr dirty="0" spc="-30"/>
              <a:t> </a:t>
            </a:r>
            <a:r>
              <a:rPr dirty="0" spc="-25"/>
              <a:t>of </a:t>
            </a:r>
            <a:r>
              <a:rPr dirty="0"/>
              <a:t>every</a:t>
            </a:r>
            <a:r>
              <a:rPr dirty="0" spc="-35"/>
              <a:t> </a:t>
            </a:r>
            <a:r>
              <a:rPr dirty="0"/>
              <a:t>case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30"/>
              <a:t> </a:t>
            </a:r>
            <a:r>
              <a:rPr dirty="0"/>
              <a:t>learn</a:t>
            </a:r>
            <a:r>
              <a:rPr dirty="0" spc="-30"/>
              <a:t> </a:t>
            </a:r>
            <a:r>
              <a:rPr dirty="0">
                <a:solidFill>
                  <a:srgbClr val="0000FF"/>
                </a:solidFill>
              </a:rPr>
              <a:t>the</a:t>
            </a:r>
            <a:r>
              <a:rPr dirty="0" spc="-3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full</a:t>
            </a:r>
            <a:r>
              <a:rPr dirty="0" spc="-3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truth</a:t>
            </a:r>
            <a:r>
              <a:rPr dirty="0" spc="-30">
                <a:solidFill>
                  <a:srgbClr val="0000FF"/>
                </a:solidFill>
              </a:rPr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so</a:t>
            </a:r>
            <a:r>
              <a:rPr dirty="0" spc="-30"/>
              <a:t> </a:t>
            </a:r>
            <a:r>
              <a:rPr dirty="0"/>
              <a:t>will</a:t>
            </a:r>
            <a:r>
              <a:rPr dirty="0" spc="-35"/>
              <a:t> </a:t>
            </a:r>
            <a:r>
              <a:rPr dirty="0" spc="-10"/>
              <a:t>have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30"/>
              <a:t> </a:t>
            </a:r>
            <a:r>
              <a:rPr dirty="0"/>
              <a:t>make</a:t>
            </a:r>
            <a:r>
              <a:rPr dirty="0" spc="-30"/>
              <a:t> </a:t>
            </a:r>
            <a:r>
              <a:rPr dirty="0" spc="-50"/>
              <a:t>a </a:t>
            </a:r>
            <a:r>
              <a:rPr dirty="0" spc="-10"/>
              <a:t>decision</a:t>
            </a:r>
            <a:r>
              <a:rPr dirty="0" spc="-35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uncertainty;</a:t>
            </a:r>
            <a:r>
              <a:rPr dirty="0" spc="-30"/>
              <a:t> </a:t>
            </a:r>
            <a:r>
              <a:rPr dirty="0">
                <a:solidFill>
                  <a:srgbClr val="FF0000"/>
                </a:solidFill>
              </a:rPr>
              <a:t>thus</a:t>
            </a:r>
            <a:r>
              <a:rPr dirty="0" spc="-35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mistakes</a:t>
            </a:r>
            <a:r>
              <a:rPr dirty="0" spc="-3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cannot</a:t>
            </a:r>
            <a:r>
              <a:rPr dirty="0" spc="-35">
                <a:solidFill>
                  <a:srgbClr val="FF0000"/>
                </a:solidFill>
              </a:rPr>
              <a:t> </a:t>
            </a:r>
            <a:r>
              <a:rPr dirty="0" spc="-25">
                <a:solidFill>
                  <a:srgbClr val="FF0000"/>
                </a:solidFill>
              </a:rPr>
              <a:t>be </a:t>
            </a:r>
            <a:r>
              <a:rPr dirty="0" spc="-10">
                <a:solidFill>
                  <a:srgbClr val="FF0000"/>
                </a:solidFill>
              </a:rPr>
              <a:t>avoided!</a:t>
            </a:r>
          </a:p>
          <a:p>
            <a:pPr marL="12700" marR="40005">
              <a:lnSpc>
                <a:spcPct val="102600"/>
              </a:lnSpc>
              <a:spcBef>
                <a:spcPts val="105"/>
              </a:spcBef>
            </a:pPr>
            <a:r>
              <a:rPr dirty="0"/>
              <a:t>If</a:t>
            </a:r>
            <a:r>
              <a:rPr dirty="0" spc="-30"/>
              <a:t> </a:t>
            </a:r>
            <a:r>
              <a:rPr dirty="0"/>
              <a:t>mistakes</a:t>
            </a:r>
            <a:r>
              <a:rPr dirty="0" spc="-30"/>
              <a:t> </a:t>
            </a:r>
            <a:r>
              <a:rPr dirty="0"/>
              <a:t>cannot</a:t>
            </a:r>
            <a:r>
              <a:rPr dirty="0" spc="-30"/>
              <a:t> </a:t>
            </a:r>
            <a:r>
              <a:rPr dirty="0"/>
              <a:t>be</a:t>
            </a:r>
            <a:r>
              <a:rPr dirty="0" spc="-25"/>
              <a:t> </a:t>
            </a:r>
            <a:r>
              <a:rPr dirty="0" spc="-10"/>
              <a:t>avoided,</a:t>
            </a:r>
            <a:r>
              <a:rPr dirty="0" spc="-30"/>
              <a:t> </a:t>
            </a:r>
            <a:r>
              <a:rPr dirty="0"/>
              <a:t>it</a:t>
            </a:r>
            <a:r>
              <a:rPr dirty="0" spc="-30"/>
              <a:t> </a:t>
            </a:r>
            <a:r>
              <a:rPr dirty="0"/>
              <a:t>is</a:t>
            </a:r>
            <a:r>
              <a:rPr dirty="0" spc="-30"/>
              <a:t> </a:t>
            </a:r>
            <a:r>
              <a:rPr dirty="0"/>
              <a:t>better</a:t>
            </a:r>
            <a:r>
              <a:rPr dirty="0" spc="-25"/>
              <a:t> </a:t>
            </a:r>
            <a:r>
              <a:rPr dirty="0">
                <a:solidFill>
                  <a:srgbClr val="FF0000"/>
                </a:solidFill>
              </a:rPr>
              <a:t>to</a:t>
            </a:r>
            <a:r>
              <a:rPr dirty="0" spc="-3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know</a:t>
            </a:r>
            <a:r>
              <a:rPr dirty="0" spc="-30">
                <a:solidFill>
                  <a:srgbClr val="FF0000"/>
                </a:solidFill>
              </a:rPr>
              <a:t> </a:t>
            </a:r>
            <a:r>
              <a:rPr dirty="0" spc="-25">
                <a:solidFill>
                  <a:srgbClr val="FF0000"/>
                </a:solidFill>
              </a:rPr>
              <a:t>how </a:t>
            </a:r>
            <a:r>
              <a:rPr dirty="0">
                <a:solidFill>
                  <a:srgbClr val="FF0000"/>
                </a:solidFill>
              </a:rPr>
              <a:t>often</a:t>
            </a:r>
            <a:r>
              <a:rPr dirty="0" spc="-4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we</a:t>
            </a:r>
            <a:r>
              <a:rPr dirty="0" spc="-4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make</a:t>
            </a:r>
            <a:r>
              <a:rPr dirty="0" spc="-4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mistakes</a:t>
            </a:r>
            <a:r>
              <a:rPr dirty="0" spc="-40">
                <a:solidFill>
                  <a:srgbClr val="FF0000"/>
                </a:solidFill>
              </a:rPr>
              <a:t> </a:t>
            </a:r>
            <a:r>
              <a:rPr dirty="0"/>
              <a:t>(which</a:t>
            </a:r>
            <a:r>
              <a:rPr dirty="0" spc="-40"/>
              <a:t> </a:t>
            </a:r>
            <a:r>
              <a:rPr dirty="0" spc="-10"/>
              <a:t>provides</a:t>
            </a:r>
            <a:r>
              <a:rPr dirty="0" spc="-40"/>
              <a:t> </a:t>
            </a:r>
            <a:r>
              <a:rPr dirty="0" spc="-10"/>
              <a:t>knowledge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25"/>
              <a:t>the </a:t>
            </a:r>
            <a:r>
              <a:rPr dirty="0"/>
              <a:t>amount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5"/>
              <a:t> </a:t>
            </a:r>
            <a:r>
              <a:rPr dirty="0"/>
              <a:t>uncertainty)</a:t>
            </a:r>
            <a:r>
              <a:rPr dirty="0" spc="-25"/>
              <a:t> </a:t>
            </a:r>
            <a:r>
              <a:rPr dirty="0"/>
              <a:t>by</a:t>
            </a:r>
            <a:r>
              <a:rPr dirty="0" spc="-25"/>
              <a:t> </a:t>
            </a:r>
            <a:r>
              <a:rPr dirty="0" spc="-10"/>
              <a:t>following</a:t>
            </a:r>
            <a:r>
              <a:rPr dirty="0" spc="-25"/>
              <a:t> </a:t>
            </a:r>
            <a:r>
              <a:rPr dirty="0"/>
              <a:t>a</a:t>
            </a:r>
            <a:r>
              <a:rPr dirty="0" spc="-30"/>
              <a:t> </a:t>
            </a:r>
            <a:r>
              <a:rPr dirty="0"/>
              <a:t>particular</a:t>
            </a:r>
            <a:r>
              <a:rPr dirty="0" spc="-25"/>
              <a:t> </a:t>
            </a:r>
            <a:r>
              <a:rPr dirty="0"/>
              <a:t>rule</a:t>
            </a:r>
            <a:r>
              <a:rPr dirty="0" spc="-25"/>
              <a:t> </a:t>
            </a:r>
            <a:r>
              <a:rPr dirty="0" spc="-35"/>
              <a:t>of </a:t>
            </a:r>
            <a:r>
              <a:rPr dirty="0" spc="-10"/>
              <a:t>decision</a:t>
            </a:r>
            <a:r>
              <a:rPr dirty="0" spc="-30"/>
              <a:t> </a:t>
            </a:r>
            <a:r>
              <a:rPr dirty="0"/>
              <a:t>making:</a:t>
            </a:r>
            <a:r>
              <a:rPr dirty="0" spc="40"/>
              <a:t> </a:t>
            </a:r>
            <a:r>
              <a:rPr dirty="0"/>
              <a:t>(a</a:t>
            </a:r>
            <a:r>
              <a:rPr dirty="0" spc="-30"/>
              <a:t> </a:t>
            </a:r>
            <a:r>
              <a:rPr dirty="0"/>
              <a:t>statistical</a:t>
            </a:r>
            <a:r>
              <a:rPr dirty="0" spc="-25"/>
              <a:t> </a:t>
            </a:r>
            <a:r>
              <a:rPr dirty="0" spc="-10"/>
              <a:t>method!)</a:t>
            </a:r>
          </a:p>
          <a:p>
            <a:pPr marL="12700" marR="243840">
              <a:lnSpc>
                <a:spcPct val="102600"/>
              </a:lnSpc>
              <a:spcBef>
                <a:spcPts val="105"/>
              </a:spcBef>
            </a:pPr>
            <a:r>
              <a:rPr dirty="0"/>
              <a:t>Such</a:t>
            </a:r>
            <a:r>
              <a:rPr dirty="0" spc="-35"/>
              <a:t> </a:t>
            </a:r>
            <a:r>
              <a:rPr dirty="0" spc="-10"/>
              <a:t>knowledge</a:t>
            </a:r>
            <a:r>
              <a:rPr dirty="0" spc="-30"/>
              <a:t> </a:t>
            </a:r>
            <a:r>
              <a:rPr dirty="0"/>
              <a:t>could</a:t>
            </a:r>
            <a:r>
              <a:rPr dirty="0" spc="-3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put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30"/>
              <a:t> </a:t>
            </a:r>
            <a:r>
              <a:rPr dirty="0"/>
              <a:t>use</a:t>
            </a:r>
            <a:r>
              <a:rPr dirty="0" spc="-30"/>
              <a:t> </a:t>
            </a:r>
            <a:r>
              <a:rPr dirty="0"/>
              <a:t>in</a:t>
            </a:r>
            <a:r>
              <a:rPr dirty="0" spc="-30"/>
              <a:t> </a:t>
            </a:r>
            <a:r>
              <a:rPr dirty="0"/>
              <a:t>finding</a:t>
            </a:r>
            <a:r>
              <a:rPr dirty="0" spc="-30"/>
              <a:t> </a:t>
            </a:r>
            <a:r>
              <a:rPr dirty="0"/>
              <a:t>a</a:t>
            </a:r>
            <a:r>
              <a:rPr dirty="0" spc="-30"/>
              <a:t> </a:t>
            </a:r>
            <a:r>
              <a:rPr dirty="0"/>
              <a:t>rule</a:t>
            </a:r>
            <a:r>
              <a:rPr dirty="0" spc="-30"/>
              <a:t> </a:t>
            </a:r>
            <a:r>
              <a:rPr dirty="0" spc="-25"/>
              <a:t>of </a:t>
            </a:r>
            <a:r>
              <a:rPr dirty="0" spc="-10"/>
              <a:t>decision</a:t>
            </a:r>
            <a:r>
              <a:rPr dirty="0" spc="-30"/>
              <a:t> </a:t>
            </a:r>
            <a:r>
              <a:rPr dirty="0"/>
              <a:t>making</a:t>
            </a:r>
            <a:r>
              <a:rPr dirty="0" spc="-25"/>
              <a:t> </a:t>
            </a:r>
            <a:r>
              <a:rPr dirty="0"/>
              <a:t>which</a:t>
            </a:r>
            <a:r>
              <a:rPr dirty="0" spc="-30"/>
              <a:t> </a:t>
            </a:r>
            <a:r>
              <a:rPr dirty="0">
                <a:solidFill>
                  <a:srgbClr val="FF0000"/>
                </a:solidFill>
              </a:rPr>
              <a:t>does</a:t>
            </a:r>
            <a:r>
              <a:rPr dirty="0" spc="-25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not</a:t>
            </a:r>
            <a:r>
              <a:rPr dirty="0" spc="-30">
                <a:solidFill>
                  <a:srgbClr val="FF0000"/>
                </a:solidFill>
              </a:rPr>
              <a:t> </a:t>
            </a:r>
            <a:r>
              <a:rPr dirty="0" spc="-10">
                <a:solidFill>
                  <a:srgbClr val="FF0000"/>
                </a:solidFill>
              </a:rPr>
              <a:t>betray</a:t>
            </a:r>
            <a:r>
              <a:rPr dirty="0" spc="-25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us</a:t>
            </a:r>
            <a:r>
              <a:rPr dirty="0" spc="-3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too</a:t>
            </a:r>
            <a:r>
              <a:rPr dirty="0" spc="-25">
                <a:solidFill>
                  <a:srgbClr val="FF0000"/>
                </a:solidFill>
              </a:rPr>
              <a:t> </a:t>
            </a:r>
            <a:r>
              <a:rPr dirty="0" spc="-10">
                <a:solidFill>
                  <a:srgbClr val="FF0000"/>
                </a:solidFill>
              </a:rPr>
              <a:t>often!</a:t>
            </a: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2307907"/>
            <a:ext cx="76809" cy="7680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007" y="3009468"/>
            <a:ext cx="76809" cy="76809"/>
          </a:xfrm>
          <a:prstGeom prst="rect">
            <a:avLst/>
          </a:prstGeom>
        </p:spPr>
      </p:pic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Statistics</a:t>
            </a:r>
            <a:r>
              <a:rPr dirty="0" spc="95"/>
              <a:t> </a:t>
            </a:r>
            <a:r>
              <a:rPr dirty="0"/>
              <a:t>tames</a:t>
            </a:r>
            <a:r>
              <a:rPr dirty="0" spc="100"/>
              <a:t> </a:t>
            </a:r>
            <a:r>
              <a:rPr dirty="0" spc="-10"/>
              <a:t>uncertainty!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456095"/>
            <a:ext cx="76809" cy="7680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24395" y="384186"/>
            <a:ext cx="3463925" cy="116649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spc="-10">
                <a:latin typeface="Arial"/>
                <a:cs typeface="Arial"/>
              </a:rPr>
              <a:t>Everyone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(scientists,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experts)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has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their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full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right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make </a:t>
            </a:r>
            <a:r>
              <a:rPr dirty="0" sz="1100">
                <a:latin typeface="Arial"/>
                <a:cs typeface="Arial"/>
              </a:rPr>
              <a:t>guesses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which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can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wild.</a:t>
            </a:r>
            <a:endParaRPr sz="1100">
              <a:latin typeface="Arial"/>
              <a:cs typeface="Arial"/>
            </a:endParaRPr>
          </a:p>
          <a:p>
            <a:pPr marL="12700" marR="146685">
              <a:lnSpc>
                <a:spcPct val="102699"/>
              </a:lnSpc>
              <a:spcBef>
                <a:spcPts val="300"/>
              </a:spcBef>
            </a:pPr>
            <a:r>
              <a:rPr dirty="0" sz="1100">
                <a:latin typeface="Arial"/>
                <a:cs typeface="Arial"/>
              </a:rPr>
              <a:t>But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remember:</a:t>
            </a:r>
            <a:r>
              <a:rPr dirty="0" sz="1100" spc="40"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1100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guess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dirty="0" sz="1100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cheap,</a:t>
            </a:r>
            <a:r>
              <a:rPr dirty="0" sz="1100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guess</a:t>
            </a:r>
            <a:r>
              <a:rPr dirty="0" sz="1100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wrongly</a:t>
            </a:r>
            <a:r>
              <a:rPr dirty="0" sz="1100" spc="-25">
                <a:solidFill>
                  <a:srgbClr val="FF0000"/>
                </a:solidFill>
                <a:latin typeface="Arial"/>
                <a:cs typeface="Arial"/>
              </a:rPr>
              <a:t> is 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expensive!</a:t>
            </a:r>
            <a:endParaRPr sz="1100">
              <a:latin typeface="Arial"/>
              <a:cs typeface="Arial"/>
            </a:endParaRPr>
          </a:p>
          <a:p>
            <a:pPr marL="12700" marR="274955">
              <a:lnSpc>
                <a:spcPct val="125299"/>
              </a:lnSpc>
            </a:pPr>
            <a:r>
              <a:rPr dirty="0" sz="1100">
                <a:latin typeface="Arial"/>
                <a:cs typeface="Arial"/>
              </a:rPr>
              <a:t>Statistical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methods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allow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evaluate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uncertainty! </a:t>
            </a:r>
            <a:r>
              <a:rPr dirty="0" sz="1100">
                <a:latin typeface="Arial"/>
                <a:cs typeface="Arial"/>
              </a:rPr>
              <a:t>We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have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equation: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838200"/>
            <a:ext cx="76809" cy="7680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1220304"/>
            <a:ext cx="76809" cy="7680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007" y="1430337"/>
            <a:ext cx="76809" cy="76809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396855" y="1674095"/>
            <a:ext cx="886460" cy="397510"/>
          </a:xfrm>
          <a:prstGeom prst="rect">
            <a:avLst/>
          </a:prstGeom>
          <a:ln w="17995">
            <a:solidFill>
              <a:srgbClr val="000000"/>
            </a:solidFill>
          </a:ln>
        </p:spPr>
        <p:txBody>
          <a:bodyPr wrap="square" lIns="0" tIns="2540" rIns="0" bIns="0" rtlCol="0" vert="horz">
            <a:spAutoFit/>
          </a:bodyPr>
          <a:lstStyle/>
          <a:p>
            <a:pPr marL="46355" marR="170815">
              <a:lnSpc>
                <a:spcPct val="102600"/>
              </a:lnSpc>
              <a:spcBef>
                <a:spcPts val="20"/>
              </a:spcBef>
            </a:pP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Uncertain </a:t>
            </a:r>
            <a:r>
              <a:rPr dirty="0" sz="1100" spc="-20">
                <a:latin typeface="Arial"/>
                <a:cs typeface="Arial"/>
              </a:rPr>
              <a:t>knowledge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279067" y="1755938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50">
                <a:latin typeface="Arial"/>
                <a:cs typeface="Arial"/>
              </a:rPr>
              <a:t>+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447044" y="1674133"/>
            <a:ext cx="1714500" cy="396875"/>
          </a:xfrm>
          <a:prstGeom prst="rect">
            <a:avLst/>
          </a:prstGeom>
          <a:ln w="17995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46355" marR="38735">
              <a:lnSpc>
                <a:spcPct val="102600"/>
              </a:lnSpc>
              <a:spcBef>
                <a:spcPts val="30"/>
              </a:spcBef>
            </a:pPr>
            <a:r>
              <a:rPr dirty="0" sz="1100" spc="-20">
                <a:latin typeface="Arial"/>
                <a:cs typeface="Arial"/>
              </a:rPr>
              <a:t>Knowledge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extent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of </a:t>
            </a:r>
            <a:r>
              <a:rPr dirty="0" sz="1100">
                <a:latin typeface="Arial"/>
                <a:cs typeface="Arial"/>
              </a:rPr>
              <a:t>uncertainty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it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157258" y="1755938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50">
                <a:latin typeface="Arial"/>
                <a:cs typeface="Arial"/>
              </a:rPr>
              <a:t>=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325221" y="1674095"/>
            <a:ext cx="886460" cy="397510"/>
          </a:xfrm>
          <a:prstGeom prst="rect">
            <a:avLst/>
          </a:prstGeom>
          <a:ln w="17995">
            <a:solidFill>
              <a:srgbClr val="000000"/>
            </a:solidFill>
          </a:ln>
        </p:spPr>
        <p:txBody>
          <a:bodyPr wrap="square" lIns="0" tIns="2540" rIns="0" bIns="0" rtlCol="0" vert="horz">
            <a:spAutoFit/>
          </a:bodyPr>
          <a:lstStyle/>
          <a:p>
            <a:pPr marL="46355" marR="170815">
              <a:lnSpc>
                <a:spcPct val="102600"/>
              </a:lnSpc>
              <a:spcBef>
                <a:spcPts val="20"/>
              </a:spcBef>
            </a:pPr>
            <a:r>
              <a:rPr dirty="0" sz="1100" spc="-10">
                <a:solidFill>
                  <a:srgbClr val="0000FF"/>
                </a:solidFill>
                <a:latin typeface="Arial"/>
                <a:cs typeface="Arial"/>
              </a:rPr>
              <a:t>Usable </a:t>
            </a:r>
            <a:r>
              <a:rPr dirty="0" sz="1100" spc="-20">
                <a:latin typeface="Arial"/>
                <a:cs typeface="Arial"/>
              </a:rPr>
              <a:t>knowledge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47294" y="2156496"/>
            <a:ext cx="13538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Arial"/>
                <a:cs typeface="Arial"/>
              </a:rPr>
              <a:t>Expressed</a:t>
            </a:r>
            <a:r>
              <a:rPr dirty="0" sz="1100" spc="-6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differently: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95700" y="2472912"/>
            <a:ext cx="886460" cy="224154"/>
          </a:xfrm>
          <a:prstGeom prst="rect">
            <a:avLst/>
          </a:prstGeom>
          <a:ln w="17995">
            <a:solidFill>
              <a:srgbClr val="000000"/>
            </a:solidFill>
          </a:ln>
        </p:spPr>
        <p:txBody>
          <a:bodyPr wrap="square" lIns="0" tIns="6985" rIns="0" bIns="0" rtlCol="0" vert="horz">
            <a:spAutoFit/>
          </a:bodyPr>
          <a:lstStyle/>
          <a:p>
            <a:pPr marL="46355">
              <a:lnSpc>
                <a:spcPct val="100000"/>
              </a:lnSpc>
              <a:spcBef>
                <a:spcPts val="55"/>
              </a:spcBef>
            </a:pP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Noisy</a:t>
            </a:r>
            <a:r>
              <a:rPr dirty="0" sz="1100" spc="-6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FF0000"/>
                </a:solidFill>
                <a:latin typeface="Arial"/>
                <a:cs typeface="Arial"/>
              </a:rPr>
              <a:t>data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519040" y="2485586"/>
            <a:ext cx="1354455" cy="198755"/>
          </a:xfrm>
          <a:prstGeom prst="rect">
            <a:avLst/>
          </a:prstGeom>
          <a:ln w="17995">
            <a:solidFill>
              <a:srgbClr val="000000"/>
            </a:solidFill>
          </a:ln>
        </p:spPr>
        <p:txBody>
          <a:bodyPr wrap="square" lIns="0" tIns="8890" rIns="0" bIns="0" rtlCol="0" vert="horz">
            <a:spAutoFit/>
          </a:bodyPr>
          <a:lstStyle/>
          <a:p>
            <a:pPr marL="46355">
              <a:lnSpc>
                <a:spcPct val="100000"/>
              </a:lnSpc>
              <a:spcBef>
                <a:spcPts val="70"/>
              </a:spcBef>
            </a:pPr>
            <a:r>
              <a:rPr dirty="0" sz="1100">
                <a:solidFill>
                  <a:srgbClr val="8B0030"/>
                </a:solidFill>
                <a:latin typeface="Arial"/>
                <a:cs typeface="Arial"/>
              </a:rPr>
              <a:t>Statistical</a:t>
            </a:r>
            <a:r>
              <a:rPr dirty="0" sz="1100" spc="-55">
                <a:solidFill>
                  <a:srgbClr val="8B003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8B0030"/>
                </a:solidFill>
                <a:latin typeface="Arial"/>
                <a:cs typeface="Arial"/>
              </a:rPr>
              <a:t>methods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377911" y="2468129"/>
            <a:ext cx="15976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503680" algn="l"/>
              </a:tabLst>
            </a:pPr>
            <a:r>
              <a:rPr dirty="0" sz="1100" spc="-50">
                <a:latin typeface="Arial"/>
                <a:cs typeface="Arial"/>
              </a:rPr>
              <a:t>+</a:t>
            </a:r>
            <a:r>
              <a:rPr dirty="0" sz="1100">
                <a:latin typeface="Arial"/>
                <a:cs typeface="Arial"/>
              </a:rPr>
              <a:t>	</a:t>
            </a:r>
            <a:r>
              <a:rPr dirty="0" sz="1100" spc="-50">
                <a:latin typeface="Arial"/>
                <a:cs typeface="Arial"/>
              </a:rPr>
              <a:t>=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010376" y="2485586"/>
            <a:ext cx="1102360" cy="198755"/>
          </a:xfrm>
          <a:prstGeom prst="rect">
            <a:avLst/>
          </a:prstGeom>
          <a:ln w="17995">
            <a:solidFill>
              <a:srgbClr val="000000"/>
            </a:solidFill>
          </a:ln>
        </p:spPr>
        <p:txBody>
          <a:bodyPr wrap="square" lIns="0" tIns="8890" rIns="0" bIns="0" rtlCol="0" vert="horz">
            <a:spAutoFit/>
          </a:bodyPr>
          <a:lstStyle/>
          <a:p>
            <a:pPr marL="46355">
              <a:lnSpc>
                <a:spcPct val="100000"/>
              </a:lnSpc>
              <a:spcBef>
                <a:spcPts val="70"/>
              </a:spcBef>
            </a:pPr>
            <a:r>
              <a:rPr dirty="0" sz="1100">
                <a:solidFill>
                  <a:srgbClr val="0000FF"/>
                </a:solidFill>
                <a:latin typeface="Arial"/>
                <a:cs typeface="Arial"/>
              </a:rPr>
              <a:t>Sound</a:t>
            </a:r>
            <a:r>
              <a:rPr dirty="0" sz="1100" spc="-7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0000FF"/>
                </a:solidFill>
                <a:latin typeface="Arial"/>
                <a:cs typeface="Arial"/>
              </a:rPr>
              <a:t>decision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1007" y="2890812"/>
            <a:ext cx="76809" cy="76809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624395" y="2818903"/>
            <a:ext cx="3610610" cy="36385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Whenever</a:t>
            </a:r>
            <a:r>
              <a:rPr dirty="0" sz="11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we</a:t>
            </a:r>
            <a:r>
              <a:rPr dirty="0" sz="11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have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uncertain</a:t>
            </a:r>
            <a:r>
              <a:rPr dirty="0" sz="11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&amp;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noisy</a:t>
            </a:r>
            <a:r>
              <a:rPr dirty="0" sz="11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data,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we</a:t>
            </a:r>
            <a:r>
              <a:rPr dirty="0" sz="11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need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11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FF0000"/>
                </a:solidFill>
                <a:latin typeface="Arial"/>
                <a:cs typeface="Arial"/>
              </a:rPr>
              <a:t>call </a:t>
            </a:r>
            <a:r>
              <a:rPr dirty="0" sz="1100">
                <a:solidFill>
                  <a:srgbClr val="0000FF"/>
                </a:solidFill>
                <a:latin typeface="Arial"/>
                <a:cs typeface="Arial"/>
              </a:rPr>
              <a:t>an</a:t>
            </a:r>
            <a:r>
              <a:rPr dirty="0" sz="1100" spc="-2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FF"/>
                </a:solidFill>
                <a:latin typeface="Arial"/>
                <a:cs typeface="Arial"/>
              </a:rPr>
              <a:t>uncertainty</a:t>
            </a:r>
            <a:r>
              <a:rPr dirty="0" sz="1100" spc="-2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FF"/>
                </a:solidFill>
                <a:latin typeface="Arial"/>
                <a:cs typeface="Arial"/>
              </a:rPr>
              <a:t>doctor</a:t>
            </a:r>
            <a:r>
              <a:rPr dirty="0" sz="1100">
                <a:latin typeface="Arial"/>
                <a:cs typeface="Arial"/>
              </a:rPr>
              <a:t>,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i.e.,</a:t>
            </a:r>
            <a:r>
              <a:rPr dirty="0" sz="11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dirty="0" sz="1100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statistician.</a:t>
            </a:r>
            <a:endParaRPr sz="110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21" name="object 2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Importance</a:t>
            </a:r>
            <a:r>
              <a:rPr dirty="0" spc="105"/>
              <a:t> </a:t>
            </a:r>
            <a:r>
              <a:rPr dirty="0"/>
              <a:t>of</a:t>
            </a:r>
            <a:r>
              <a:rPr dirty="0" spc="110"/>
              <a:t> </a:t>
            </a:r>
            <a:r>
              <a:rPr dirty="0"/>
              <a:t>calling</a:t>
            </a:r>
            <a:r>
              <a:rPr dirty="0" spc="110"/>
              <a:t> </a:t>
            </a:r>
            <a:r>
              <a:rPr dirty="0"/>
              <a:t>an</a:t>
            </a:r>
            <a:r>
              <a:rPr dirty="0" spc="110"/>
              <a:t> </a:t>
            </a:r>
            <a:r>
              <a:rPr dirty="0"/>
              <a:t>uncertainty</a:t>
            </a:r>
            <a:r>
              <a:rPr dirty="0" spc="105"/>
              <a:t> </a:t>
            </a:r>
            <a:r>
              <a:rPr dirty="0" spc="-10"/>
              <a:t>doctor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374421"/>
            <a:ext cx="76809" cy="7680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24395" y="302512"/>
            <a:ext cx="3600450" cy="30226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365125">
              <a:lnSpc>
                <a:spcPct val="102699"/>
              </a:lnSpc>
              <a:spcBef>
                <a:spcPts val="55"/>
              </a:spcBef>
            </a:pPr>
            <a:r>
              <a:rPr dirty="0" sz="1100" spc="-10">
                <a:latin typeface="Arial"/>
                <a:cs typeface="Arial"/>
              </a:rPr>
              <a:t>Involving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qualified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statistician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early, </a:t>
            </a:r>
            <a:r>
              <a:rPr dirty="0" sz="1100">
                <a:latin typeface="Arial"/>
                <a:cs typeface="Arial"/>
              </a:rPr>
              <a:t>i.e.,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data </a:t>
            </a:r>
            <a:r>
              <a:rPr dirty="0" sz="1100" spc="-10">
                <a:latin typeface="Arial"/>
                <a:cs typeface="Arial"/>
              </a:rPr>
              <a:t>collection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stage,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important.</a:t>
            </a:r>
            <a:endParaRPr sz="1100">
              <a:latin typeface="Arial"/>
              <a:cs typeface="Arial"/>
            </a:endParaRPr>
          </a:p>
          <a:p>
            <a:pPr marL="12700" marR="102870">
              <a:lnSpc>
                <a:spcPct val="102600"/>
              </a:lnSpc>
              <a:spcBef>
                <a:spcPts val="830"/>
              </a:spcBef>
            </a:pPr>
            <a:r>
              <a:rPr dirty="0" sz="1100">
                <a:latin typeface="Arial"/>
                <a:cs typeface="Arial"/>
              </a:rPr>
              <a:t>On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collecting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random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data:</a:t>
            </a:r>
            <a:r>
              <a:rPr dirty="0" sz="1100" spc="4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Man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is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an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orderly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animal.</a:t>
            </a:r>
            <a:r>
              <a:rPr dirty="0" sz="1100" spc="40" i="1">
                <a:latin typeface="Arial"/>
                <a:cs typeface="Arial"/>
              </a:rPr>
              <a:t> </a:t>
            </a:r>
            <a:r>
              <a:rPr dirty="0" sz="1100" spc="-25" i="1">
                <a:latin typeface="Arial"/>
                <a:cs typeface="Arial"/>
              </a:rPr>
              <a:t>He </a:t>
            </a:r>
            <a:r>
              <a:rPr dirty="0" sz="1100" i="1">
                <a:latin typeface="Arial"/>
                <a:cs typeface="Arial"/>
              </a:rPr>
              <a:t>cannot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imitate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the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disorder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of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nature.</a:t>
            </a:r>
            <a:endParaRPr sz="1100">
              <a:latin typeface="Arial"/>
              <a:cs typeface="Arial"/>
            </a:endParaRPr>
          </a:p>
          <a:p>
            <a:pPr marL="12700" marR="132715">
              <a:lnSpc>
                <a:spcPct val="102600"/>
              </a:lnSpc>
              <a:spcBef>
                <a:spcPts val="830"/>
              </a:spcBef>
            </a:pPr>
            <a:r>
              <a:rPr dirty="0" sz="1100" spc="-80" i="1">
                <a:latin typeface="Arial"/>
                <a:cs typeface="Arial"/>
              </a:rPr>
              <a:t>To</a:t>
            </a:r>
            <a:r>
              <a:rPr dirty="0" sz="1100" spc="-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consult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-2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statistician</a:t>
            </a:r>
            <a:r>
              <a:rPr dirty="0" sz="1100" spc="-1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after</a:t>
            </a:r>
            <a:r>
              <a:rPr dirty="0" sz="1100" spc="-1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an</a:t>
            </a:r>
            <a:r>
              <a:rPr dirty="0" sz="1100" spc="-20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experiment</a:t>
            </a:r>
            <a:r>
              <a:rPr dirty="0" sz="1100" spc="-1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is</a:t>
            </a:r>
            <a:r>
              <a:rPr dirty="0" sz="1100" spc="-20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finished</a:t>
            </a:r>
            <a:r>
              <a:rPr dirty="0" sz="1100" spc="-15" i="1">
                <a:latin typeface="Arial"/>
                <a:cs typeface="Arial"/>
              </a:rPr>
              <a:t> </a:t>
            </a:r>
            <a:r>
              <a:rPr dirty="0" sz="1100" spc="-25" i="1">
                <a:latin typeface="Arial"/>
                <a:cs typeface="Arial"/>
              </a:rPr>
              <a:t>is </a:t>
            </a:r>
            <a:r>
              <a:rPr dirty="0" sz="1100" i="1">
                <a:latin typeface="Arial"/>
                <a:cs typeface="Arial"/>
              </a:rPr>
              <a:t>often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merely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to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ask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him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to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conduct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post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mortem </a:t>
            </a:r>
            <a:r>
              <a:rPr dirty="0" sz="1100" i="1">
                <a:latin typeface="Arial"/>
                <a:cs typeface="Arial"/>
              </a:rPr>
              <a:t>examination.</a:t>
            </a:r>
            <a:r>
              <a:rPr dirty="0" sz="1100" spc="1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He</a:t>
            </a:r>
            <a:r>
              <a:rPr dirty="0" sz="1100" spc="-4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can</a:t>
            </a:r>
            <a:r>
              <a:rPr dirty="0" sz="1100" spc="-4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perhaps</a:t>
            </a:r>
            <a:r>
              <a:rPr dirty="0" sz="1100" spc="-4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say</a:t>
            </a:r>
            <a:r>
              <a:rPr dirty="0" sz="1100" spc="-4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what</a:t>
            </a:r>
            <a:r>
              <a:rPr dirty="0" sz="1100" spc="-4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the</a:t>
            </a:r>
            <a:r>
              <a:rPr dirty="0" sz="1100" spc="-40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experiment </a:t>
            </a:r>
            <a:r>
              <a:rPr dirty="0" sz="1100" i="1">
                <a:latin typeface="Arial"/>
                <a:cs typeface="Arial"/>
              </a:rPr>
              <a:t>died</a:t>
            </a:r>
            <a:r>
              <a:rPr dirty="0" sz="1100" spc="-50" i="1">
                <a:latin typeface="Arial"/>
                <a:cs typeface="Arial"/>
              </a:rPr>
              <a:t> </a:t>
            </a:r>
            <a:r>
              <a:rPr dirty="0" sz="1100" spc="-25" i="1">
                <a:latin typeface="Arial"/>
                <a:cs typeface="Arial"/>
              </a:rPr>
              <a:t>of.</a:t>
            </a:r>
            <a:endParaRPr sz="1100">
              <a:latin typeface="Arial"/>
              <a:cs typeface="Arial"/>
            </a:endParaRPr>
          </a:p>
          <a:p>
            <a:pPr marL="12700" marR="58419">
              <a:lnSpc>
                <a:spcPct val="102600"/>
              </a:lnSpc>
              <a:spcBef>
                <a:spcPts val="830"/>
              </a:spcBef>
            </a:pPr>
            <a:r>
              <a:rPr dirty="0" sz="1100" i="1">
                <a:latin typeface="Arial"/>
                <a:cs typeface="Arial"/>
              </a:rPr>
              <a:t>Use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expert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opinions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in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such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way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that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we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stand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to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gain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spc="-25" i="1">
                <a:latin typeface="Arial"/>
                <a:cs typeface="Arial"/>
              </a:rPr>
              <a:t>if </a:t>
            </a:r>
            <a:r>
              <a:rPr dirty="0" sz="1100" i="1">
                <a:latin typeface="Arial"/>
                <a:cs typeface="Arial"/>
              </a:rPr>
              <a:t>they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are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correct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and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do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not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lose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if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they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are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wrong.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830"/>
              </a:spcBef>
            </a:pP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dirty="0" sz="1100" spc="-5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doctor</a:t>
            </a:r>
            <a:r>
              <a:rPr dirty="0" sz="1100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comforting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his</a:t>
            </a:r>
            <a:r>
              <a:rPr dirty="0" sz="1100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patient:</a:t>
            </a:r>
            <a:r>
              <a:rPr dirty="0" sz="1100" spc="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65" i="1">
                <a:latin typeface="Arial"/>
                <a:cs typeface="Arial"/>
              </a:rPr>
              <a:t>You</a:t>
            </a:r>
            <a:r>
              <a:rPr dirty="0" sz="1100" spc="-10" i="1">
                <a:latin typeface="Arial"/>
                <a:cs typeface="Arial"/>
              </a:rPr>
              <a:t> have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very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serious </a:t>
            </a:r>
            <a:r>
              <a:rPr dirty="0" sz="1100" i="1">
                <a:latin typeface="Arial"/>
                <a:cs typeface="Arial"/>
              </a:rPr>
              <a:t>disease.</a:t>
            </a:r>
            <a:r>
              <a:rPr dirty="0" sz="1100" spc="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Of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ten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persons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who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get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this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disease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only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 spc="-25" i="1">
                <a:latin typeface="Arial"/>
                <a:cs typeface="Arial"/>
              </a:rPr>
              <a:t>one </a:t>
            </a:r>
            <a:r>
              <a:rPr dirty="0" sz="1100" i="1">
                <a:latin typeface="Arial"/>
                <a:cs typeface="Arial"/>
              </a:rPr>
              <a:t>survives.</a:t>
            </a:r>
            <a:r>
              <a:rPr dirty="0" sz="1100" spc="2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But</a:t>
            </a:r>
            <a:r>
              <a:rPr dirty="0" sz="1100" spc="-4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do</a:t>
            </a:r>
            <a:r>
              <a:rPr dirty="0" sz="1100" spc="-4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not</a:t>
            </a:r>
            <a:r>
              <a:rPr dirty="0" sz="1100" spc="-4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worry.</a:t>
            </a:r>
            <a:r>
              <a:rPr dirty="0" sz="1100" spc="2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It</a:t>
            </a:r>
            <a:r>
              <a:rPr dirty="0" sz="1100" spc="-4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is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lucky</a:t>
            </a:r>
            <a:r>
              <a:rPr dirty="0" sz="1100" spc="-4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you</a:t>
            </a:r>
            <a:r>
              <a:rPr dirty="0" sz="1100" spc="-4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came</a:t>
            </a:r>
            <a:r>
              <a:rPr dirty="0" sz="1100" spc="-4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to</a:t>
            </a:r>
            <a:r>
              <a:rPr dirty="0" sz="1100" spc="-4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me,</a:t>
            </a:r>
            <a:r>
              <a:rPr dirty="0" sz="1100" spc="-4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for</a:t>
            </a:r>
            <a:r>
              <a:rPr dirty="0" sz="1100" spc="-40" i="1">
                <a:latin typeface="Arial"/>
                <a:cs typeface="Arial"/>
              </a:rPr>
              <a:t> </a:t>
            </a:r>
            <a:r>
              <a:rPr dirty="0" sz="1100" spc="-50" i="1">
                <a:latin typeface="Arial"/>
                <a:cs typeface="Arial"/>
              </a:rPr>
              <a:t>I </a:t>
            </a:r>
            <a:r>
              <a:rPr dirty="0" sz="1100" spc="-10" i="1">
                <a:latin typeface="Arial"/>
                <a:cs typeface="Arial"/>
              </a:rPr>
              <a:t>have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recently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had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nine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patients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with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this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disease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and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 spc="-20" i="1">
                <a:latin typeface="Arial"/>
                <a:cs typeface="Arial"/>
              </a:rPr>
              <a:t>they </a:t>
            </a:r>
            <a:r>
              <a:rPr dirty="0" sz="1100" i="1">
                <a:latin typeface="Arial"/>
                <a:cs typeface="Arial"/>
              </a:rPr>
              <a:t>all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died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of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spc="-25" i="1">
                <a:latin typeface="Arial"/>
                <a:cs typeface="Arial"/>
              </a:rPr>
              <a:t>it.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823950"/>
            <a:ext cx="76809" cy="7680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1273492"/>
            <a:ext cx="76809" cy="7680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007" y="2067179"/>
            <a:ext cx="76809" cy="7680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1007" y="2516708"/>
            <a:ext cx="76809" cy="76809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What</a:t>
            </a:r>
            <a:r>
              <a:rPr dirty="0" spc="60"/>
              <a:t> </a:t>
            </a:r>
            <a:r>
              <a:rPr dirty="0"/>
              <a:t>does</a:t>
            </a:r>
            <a:r>
              <a:rPr dirty="0" spc="60"/>
              <a:t> </a:t>
            </a:r>
            <a:r>
              <a:rPr dirty="0"/>
              <a:t>statistics</a:t>
            </a:r>
            <a:r>
              <a:rPr dirty="0" spc="65"/>
              <a:t> </a:t>
            </a:r>
            <a:r>
              <a:rPr dirty="0"/>
              <a:t>do</a:t>
            </a:r>
            <a:r>
              <a:rPr dirty="0" spc="60"/>
              <a:t> </a:t>
            </a:r>
            <a:r>
              <a:rPr dirty="0"/>
              <a:t>in</a:t>
            </a:r>
            <a:r>
              <a:rPr dirty="0" spc="65"/>
              <a:t> </a:t>
            </a:r>
            <a:r>
              <a:rPr dirty="0" spc="-10"/>
              <a:t>medicine?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691972"/>
            <a:ext cx="76809" cy="7680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1246162"/>
            <a:ext cx="76809" cy="7680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1952167"/>
            <a:ext cx="76809" cy="7680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3031" y="2599728"/>
            <a:ext cx="61874" cy="6187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624395" y="620076"/>
            <a:ext cx="3625850" cy="223393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9398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Arial"/>
                <a:cs typeface="Arial"/>
              </a:rPr>
              <a:t>Principles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design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experiments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are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used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screening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drugs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clinical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trials.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100">
              <a:latin typeface="Arial"/>
              <a:cs typeface="Arial"/>
            </a:endParaRPr>
          </a:p>
          <a:p>
            <a:pPr marL="12700" marR="13970">
              <a:lnSpc>
                <a:spcPct val="102600"/>
              </a:lnSpc>
            </a:pP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information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supplied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large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number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biochemical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other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tests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statistically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assessed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diagnosis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and </a:t>
            </a:r>
            <a:r>
              <a:rPr dirty="0" sz="1100">
                <a:latin typeface="Arial"/>
                <a:cs typeface="Arial"/>
              </a:rPr>
              <a:t>prognosis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disease.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100">
              <a:latin typeface="Arial"/>
              <a:cs typeface="Arial"/>
            </a:endParaRPr>
          </a:p>
          <a:p>
            <a:pPr marL="12700" marR="5080">
              <a:lnSpc>
                <a:spcPts val="1200"/>
              </a:lnSpc>
            </a:pP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application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statistical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techniques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has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made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medical diagnosis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more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objective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by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combining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collective wisdom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best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possible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experts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with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knowledge</a:t>
            </a:r>
            <a:r>
              <a:rPr dirty="0" sz="1100" spc="-25">
                <a:latin typeface="Arial"/>
                <a:cs typeface="Arial"/>
              </a:rPr>
              <a:t> on </a:t>
            </a:r>
            <a:r>
              <a:rPr dirty="0" sz="1100">
                <a:latin typeface="Arial"/>
                <a:cs typeface="Arial"/>
              </a:rPr>
              <a:t>distinctions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between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diseases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indicated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tests.</a:t>
            </a:r>
            <a:endParaRPr sz="1100">
              <a:latin typeface="Arial"/>
              <a:cs typeface="Arial"/>
            </a:endParaRPr>
          </a:p>
          <a:p>
            <a:pPr marL="289560" marR="168275">
              <a:lnSpc>
                <a:spcPct val="100000"/>
              </a:lnSpc>
              <a:spcBef>
                <a:spcPts val="140"/>
              </a:spcBef>
            </a:pPr>
            <a:r>
              <a:rPr dirty="0" sz="1000">
                <a:latin typeface="Arial"/>
                <a:cs typeface="Arial"/>
              </a:rPr>
              <a:t>Re:</a:t>
            </a:r>
            <a:r>
              <a:rPr dirty="0" sz="1000" spc="4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Work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of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NICE,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National</a:t>
            </a:r>
            <a:r>
              <a:rPr dirty="0" sz="1000" spc="-2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Institute</a:t>
            </a:r>
            <a:r>
              <a:rPr dirty="0" sz="1000" spc="-15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for</a:t>
            </a:r>
            <a:r>
              <a:rPr dirty="0" sz="1000" spc="-2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Health</a:t>
            </a:r>
            <a:r>
              <a:rPr dirty="0" sz="1000" spc="-2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and</a:t>
            </a:r>
            <a:r>
              <a:rPr dirty="0" sz="1000" spc="-15" i="1">
                <a:latin typeface="Arial"/>
                <a:cs typeface="Arial"/>
              </a:rPr>
              <a:t> </a:t>
            </a:r>
            <a:r>
              <a:rPr dirty="0" sz="1000" spc="-20" i="1">
                <a:latin typeface="Arial"/>
                <a:cs typeface="Arial"/>
              </a:rPr>
              <a:t>Care </a:t>
            </a:r>
            <a:r>
              <a:rPr dirty="0" sz="1000" spc="-10" i="1">
                <a:latin typeface="Arial"/>
                <a:cs typeface="Arial"/>
              </a:rPr>
              <a:t>Excellence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08060" cy="52827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5948" y="-13312"/>
            <a:ext cx="3672840" cy="471805"/>
          </a:xfrm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 marR="5080">
              <a:lnSpc>
                <a:spcPct val="106700"/>
              </a:lnSpc>
              <a:spcBef>
                <a:spcPts val="20"/>
              </a:spcBef>
            </a:pPr>
            <a:r>
              <a:rPr dirty="0"/>
              <a:t>Why</a:t>
            </a:r>
            <a:r>
              <a:rPr dirty="0" spc="65"/>
              <a:t> </a:t>
            </a:r>
            <a:r>
              <a:rPr dirty="0"/>
              <a:t>should</a:t>
            </a:r>
            <a:r>
              <a:rPr dirty="0" spc="65"/>
              <a:t> </a:t>
            </a:r>
            <a:r>
              <a:rPr dirty="0"/>
              <a:t>a</a:t>
            </a:r>
            <a:r>
              <a:rPr dirty="0" spc="65"/>
              <a:t> </a:t>
            </a:r>
            <a:r>
              <a:rPr dirty="0"/>
              <a:t>young</a:t>
            </a:r>
            <a:r>
              <a:rPr dirty="0" spc="70"/>
              <a:t> </a:t>
            </a:r>
            <a:r>
              <a:rPr dirty="0"/>
              <a:t>person</a:t>
            </a:r>
            <a:r>
              <a:rPr dirty="0" spc="65"/>
              <a:t> </a:t>
            </a:r>
            <a:r>
              <a:rPr dirty="0"/>
              <a:t>study/care</a:t>
            </a:r>
            <a:r>
              <a:rPr dirty="0" spc="65"/>
              <a:t> </a:t>
            </a:r>
            <a:r>
              <a:rPr dirty="0" spc="-10"/>
              <a:t>about statistics?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763485"/>
            <a:ext cx="76809" cy="7680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24395" y="691577"/>
            <a:ext cx="3542665" cy="237045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22225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Arial"/>
                <a:cs typeface="Arial"/>
              </a:rPr>
              <a:t>Studying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statistics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will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equip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learner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with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basic </a:t>
            </a:r>
            <a:r>
              <a:rPr dirty="0" sz="1100">
                <a:latin typeface="Arial"/>
                <a:cs typeface="Arial"/>
              </a:rPr>
              <a:t>skills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data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analysis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doing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science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with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data.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100">
              <a:latin typeface="Arial"/>
              <a:cs typeface="Arial"/>
            </a:endParaRPr>
          </a:p>
          <a:p>
            <a:pPr marL="12700" marR="11430">
              <a:lnSpc>
                <a:spcPct val="102600"/>
              </a:lnSpc>
            </a:pP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decent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level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statistical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knowledge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required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no </a:t>
            </a:r>
            <a:r>
              <a:rPr dirty="0" sz="1100">
                <a:latin typeface="Arial"/>
                <a:cs typeface="Arial"/>
              </a:rPr>
              <a:t>matter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what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branch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mathematics,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engineering,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science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medicine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young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person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will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studying.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100">
              <a:latin typeface="Arial"/>
              <a:cs typeface="Arial"/>
            </a:endParaRPr>
          </a:p>
          <a:p>
            <a:pPr algn="just" marL="12700" marR="17145">
              <a:lnSpc>
                <a:spcPct val="102600"/>
              </a:lnSpc>
            </a:pPr>
            <a:r>
              <a:rPr dirty="0" sz="1100">
                <a:latin typeface="Arial"/>
                <a:cs typeface="Arial"/>
              </a:rPr>
              <a:t>Learning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statistical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theories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gives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maths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students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the </a:t>
            </a:r>
            <a:r>
              <a:rPr dirty="0" sz="1100">
                <a:latin typeface="Arial"/>
                <a:cs typeface="Arial"/>
              </a:rPr>
              <a:t>opportunity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practice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their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deductive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mathematical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skills </a:t>
            </a:r>
            <a:r>
              <a:rPr dirty="0" sz="1100">
                <a:latin typeface="Arial"/>
                <a:cs typeface="Arial"/>
              </a:rPr>
              <a:t>on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real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life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problems.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100">
              <a:latin typeface="Arial"/>
              <a:cs typeface="Arial"/>
            </a:endParaRPr>
          </a:p>
          <a:p>
            <a:pPr algn="just" marL="12700" marR="5080">
              <a:lnSpc>
                <a:spcPct val="102699"/>
              </a:lnSpc>
            </a:pP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this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45">
                <a:latin typeface="Arial"/>
                <a:cs typeface="Arial"/>
              </a:rPr>
              <a:t>way,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Maths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students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will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improve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their </a:t>
            </a:r>
            <a:r>
              <a:rPr dirty="0" sz="1100">
                <a:latin typeface="Arial"/>
                <a:cs typeface="Arial"/>
              </a:rPr>
              <a:t>mathematical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methods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while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studying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statistical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methods.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1317663"/>
            <a:ext cx="76809" cy="7680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007" y="2043925"/>
            <a:ext cx="76809" cy="7680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1007" y="2770174"/>
            <a:ext cx="76809" cy="76809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Why</a:t>
            </a:r>
            <a:r>
              <a:rPr dirty="0" spc="75"/>
              <a:t> </a:t>
            </a:r>
            <a:r>
              <a:rPr dirty="0"/>
              <a:t>should</a:t>
            </a:r>
            <a:r>
              <a:rPr dirty="0" spc="80"/>
              <a:t> </a:t>
            </a:r>
            <a:r>
              <a:rPr dirty="0"/>
              <a:t>a</a:t>
            </a:r>
            <a:r>
              <a:rPr dirty="0" spc="75"/>
              <a:t> </a:t>
            </a:r>
            <a:r>
              <a:rPr dirty="0"/>
              <a:t>doctor/physician</a:t>
            </a:r>
            <a:r>
              <a:rPr dirty="0" spc="80"/>
              <a:t> </a:t>
            </a:r>
            <a:r>
              <a:rPr dirty="0"/>
              <a:t>learn</a:t>
            </a:r>
            <a:r>
              <a:rPr dirty="0" spc="75"/>
              <a:t> </a:t>
            </a:r>
            <a:r>
              <a:rPr dirty="0" spc="-10"/>
              <a:t>stats?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358305"/>
            <a:ext cx="76809" cy="7680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24395" y="286396"/>
            <a:ext cx="3635375" cy="303149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252729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trained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doctors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(juniors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consultants)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an </a:t>
            </a:r>
            <a:r>
              <a:rPr dirty="0" sz="1100" spc="-10">
                <a:latin typeface="Arial"/>
                <a:cs typeface="Arial"/>
              </a:rPr>
              <a:t>essential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tool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needed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publishing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high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quality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journal </a:t>
            </a:r>
            <a:r>
              <a:rPr dirty="0" sz="1100">
                <a:latin typeface="Arial"/>
                <a:cs typeface="Arial"/>
              </a:rPr>
              <a:t>articles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purposes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career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progression.</a:t>
            </a:r>
            <a:endParaRPr sz="1100">
              <a:latin typeface="Arial"/>
              <a:cs typeface="Arial"/>
            </a:endParaRPr>
          </a:p>
          <a:p>
            <a:pPr marL="12700" marR="55880">
              <a:lnSpc>
                <a:spcPct val="102600"/>
              </a:lnSpc>
              <a:spcBef>
                <a:spcPts val="680"/>
              </a:spcBef>
            </a:pP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strong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grasp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statistics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(some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awareness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the </a:t>
            </a:r>
            <a:r>
              <a:rPr dirty="0" sz="1100" spc="-10">
                <a:latin typeface="Arial"/>
                <a:cs typeface="Arial"/>
              </a:rPr>
              <a:t>philosophy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statistics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knowledge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principles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of </a:t>
            </a:r>
            <a:r>
              <a:rPr dirty="0" sz="1100">
                <a:latin typeface="Arial"/>
                <a:cs typeface="Arial"/>
              </a:rPr>
              <a:t>statistical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methods)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necessary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hold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meaningful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and </a:t>
            </a:r>
            <a:r>
              <a:rPr dirty="0" sz="1100" spc="-20">
                <a:latin typeface="Arial"/>
                <a:cs typeface="Arial"/>
              </a:rPr>
              <a:t>enjoyable </a:t>
            </a:r>
            <a:r>
              <a:rPr dirty="0" sz="1100" spc="-10">
                <a:latin typeface="Arial"/>
                <a:cs typeface="Arial"/>
              </a:rPr>
              <a:t>conversations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with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fellow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colleagues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scientific conferences.</a:t>
            </a:r>
            <a:endParaRPr sz="1100">
              <a:latin typeface="Arial"/>
              <a:cs typeface="Arial"/>
            </a:endParaRPr>
          </a:p>
          <a:p>
            <a:pPr marL="12700" marR="159385">
              <a:lnSpc>
                <a:spcPct val="102600"/>
              </a:lnSpc>
              <a:spcBef>
                <a:spcPts val="675"/>
              </a:spcBef>
            </a:pP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such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conversations,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one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does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not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necessarily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need</a:t>
            </a:r>
            <a:r>
              <a:rPr dirty="0" sz="1100" spc="-25">
                <a:latin typeface="Arial"/>
                <a:cs typeface="Arial"/>
              </a:rPr>
              <a:t> to </a:t>
            </a:r>
            <a:r>
              <a:rPr dirty="0" sz="1100">
                <a:latin typeface="Arial"/>
                <a:cs typeface="Arial"/>
              </a:rPr>
              <a:t>know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nitty-</a:t>
            </a:r>
            <a:r>
              <a:rPr dirty="0" sz="1100">
                <a:latin typeface="Arial"/>
                <a:cs typeface="Arial"/>
              </a:rPr>
              <a:t>gritty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details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statistical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techniques </a:t>
            </a:r>
            <a:r>
              <a:rPr dirty="0" sz="1100">
                <a:latin typeface="Arial"/>
                <a:cs typeface="Arial"/>
              </a:rPr>
              <a:t>another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person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has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applied,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but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often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helps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have </a:t>
            </a:r>
            <a:r>
              <a:rPr dirty="0" sz="1100">
                <a:latin typeface="Arial"/>
                <a:cs typeface="Arial"/>
              </a:rPr>
              <a:t>some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basic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knowledge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statistical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methods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(at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least) </a:t>
            </a:r>
            <a:r>
              <a:rPr dirty="0" sz="1100">
                <a:latin typeface="Arial"/>
                <a:cs typeface="Arial"/>
              </a:rPr>
              <a:t>interrogate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raise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further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questions.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680"/>
              </a:spcBef>
            </a:pPr>
            <a:r>
              <a:rPr dirty="0" sz="1100" spc="-45" i="1">
                <a:solidFill>
                  <a:srgbClr val="0000FF"/>
                </a:solidFill>
                <a:latin typeface="Arial"/>
                <a:cs typeface="Arial"/>
              </a:rPr>
              <a:t>“To</a:t>
            </a:r>
            <a:r>
              <a:rPr dirty="0" sz="1100" spc="-30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0000FF"/>
                </a:solidFill>
                <a:latin typeface="Arial"/>
                <a:cs typeface="Arial"/>
              </a:rPr>
              <a:t>understand</a:t>
            </a:r>
            <a:r>
              <a:rPr dirty="0" sz="1100" spc="-60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0000FF"/>
                </a:solidFill>
                <a:latin typeface="Arial"/>
                <a:cs typeface="Arial"/>
              </a:rPr>
              <a:t>God’s</a:t>
            </a:r>
            <a:r>
              <a:rPr dirty="0" sz="1100" spc="-45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0000FF"/>
                </a:solidFill>
                <a:latin typeface="Arial"/>
                <a:cs typeface="Arial"/>
              </a:rPr>
              <a:t>thoughts</a:t>
            </a:r>
            <a:r>
              <a:rPr dirty="0" sz="1100" spc="-45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0000FF"/>
                </a:solidFill>
                <a:latin typeface="Arial"/>
                <a:cs typeface="Arial"/>
              </a:rPr>
              <a:t>we</a:t>
            </a:r>
            <a:r>
              <a:rPr dirty="0" sz="1100" spc="-40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0000FF"/>
                </a:solidFill>
                <a:latin typeface="Arial"/>
                <a:cs typeface="Arial"/>
              </a:rPr>
              <a:t>must</a:t>
            </a:r>
            <a:r>
              <a:rPr dirty="0" sz="1100" spc="-45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0000FF"/>
                </a:solidFill>
                <a:latin typeface="Arial"/>
                <a:cs typeface="Arial"/>
              </a:rPr>
              <a:t>study</a:t>
            </a:r>
            <a:r>
              <a:rPr dirty="0" sz="1100" spc="-45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0000FF"/>
                </a:solidFill>
                <a:latin typeface="Arial"/>
                <a:cs typeface="Arial"/>
              </a:rPr>
              <a:t>statistics,</a:t>
            </a:r>
            <a:r>
              <a:rPr dirty="0" sz="1100" spc="-45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0000FF"/>
                </a:solidFill>
                <a:latin typeface="Arial"/>
                <a:cs typeface="Arial"/>
              </a:rPr>
              <a:t>for </a:t>
            </a:r>
            <a:r>
              <a:rPr dirty="0" sz="1100" i="1">
                <a:solidFill>
                  <a:srgbClr val="0000FF"/>
                </a:solidFill>
                <a:latin typeface="Arial"/>
                <a:cs typeface="Arial"/>
              </a:rPr>
              <a:t>these</a:t>
            </a:r>
            <a:r>
              <a:rPr dirty="0" sz="1100" spc="-30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0000FF"/>
                </a:solidFill>
                <a:latin typeface="Arial"/>
                <a:cs typeface="Arial"/>
              </a:rPr>
              <a:t>are</a:t>
            </a:r>
            <a:r>
              <a:rPr dirty="0" sz="1100" spc="-30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dirty="0" sz="1100" spc="-30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0000FF"/>
                </a:solidFill>
                <a:latin typeface="Arial"/>
                <a:cs typeface="Arial"/>
              </a:rPr>
              <a:t>measures</a:t>
            </a:r>
            <a:r>
              <a:rPr dirty="0" sz="1100" spc="-25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dirty="0" sz="1100" spc="-30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0000FF"/>
                </a:solidFill>
                <a:latin typeface="Arial"/>
                <a:cs typeface="Arial"/>
              </a:rPr>
              <a:t>His</a:t>
            </a:r>
            <a:r>
              <a:rPr dirty="0" sz="1100" spc="-30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0000FF"/>
                </a:solidFill>
                <a:latin typeface="Arial"/>
                <a:cs typeface="Arial"/>
              </a:rPr>
              <a:t>purpose.”</a:t>
            </a:r>
            <a:r>
              <a:rPr dirty="0" sz="1100" spc="35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-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Florence Nightingale</a:t>
            </a:r>
            <a:r>
              <a:rPr dirty="0" sz="1100" spc="-1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960564"/>
            <a:ext cx="76809" cy="7680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1906968"/>
            <a:ext cx="76809" cy="7680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007" y="2853385"/>
            <a:ext cx="76809" cy="76809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08060" cy="27521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What</a:t>
            </a:r>
            <a:r>
              <a:rPr dirty="0" spc="45"/>
              <a:t> </a:t>
            </a:r>
            <a:r>
              <a:rPr dirty="0"/>
              <a:t>is</a:t>
            </a:r>
            <a:r>
              <a:rPr dirty="0" spc="50"/>
              <a:t> </a:t>
            </a:r>
            <a:r>
              <a:rPr dirty="0" spc="-10"/>
              <a:t>statistics?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441426"/>
            <a:ext cx="76809" cy="7680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823531"/>
            <a:ext cx="76809" cy="7680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1799" y="1081760"/>
            <a:ext cx="1328397" cy="2028088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05011" y="1104531"/>
            <a:ext cx="76809" cy="7680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05011" y="2088908"/>
            <a:ext cx="76809" cy="76809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624395" y="369517"/>
            <a:ext cx="3432175" cy="252793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i="1">
                <a:latin typeface="Arial"/>
                <a:cs typeface="Arial"/>
              </a:rPr>
              <a:t>Statistics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is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more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way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of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thinking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or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reasoning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than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spc="-50" i="1">
                <a:latin typeface="Arial"/>
                <a:cs typeface="Arial"/>
              </a:rPr>
              <a:t>a </a:t>
            </a:r>
            <a:r>
              <a:rPr dirty="0" sz="1100" i="1">
                <a:latin typeface="Arial"/>
                <a:cs typeface="Arial"/>
              </a:rPr>
              <a:t>bunch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of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FF0000"/>
                </a:solidFill>
                <a:latin typeface="Arial"/>
                <a:cs typeface="Arial"/>
              </a:rPr>
              <a:t>prescriptions</a:t>
            </a:r>
            <a:r>
              <a:rPr dirty="0" sz="1100" spc="-25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for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beating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data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to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elicit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answers.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100">
                <a:latin typeface="Arial"/>
                <a:cs typeface="Arial"/>
              </a:rPr>
              <a:t>Statistics: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inevitable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instrument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search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truth.</a:t>
            </a:r>
            <a:endParaRPr sz="1100">
              <a:latin typeface="Arial"/>
              <a:cs typeface="Arial"/>
            </a:endParaRPr>
          </a:p>
          <a:p>
            <a:pPr marL="2226310" marR="34925">
              <a:lnSpc>
                <a:spcPct val="102600"/>
              </a:lnSpc>
              <a:spcBef>
                <a:spcPts val="855"/>
              </a:spcBef>
            </a:pPr>
            <a:r>
              <a:rPr dirty="0" sz="1100">
                <a:latin typeface="Arial"/>
                <a:cs typeface="Arial"/>
              </a:rPr>
              <a:t>Statistical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methods </a:t>
            </a:r>
            <a:r>
              <a:rPr dirty="0" sz="1100">
                <a:latin typeface="Arial"/>
                <a:cs typeface="Arial"/>
              </a:rPr>
              <a:t>are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results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of </a:t>
            </a:r>
            <a:r>
              <a:rPr dirty="0" sz="1100" spc="-10">
                <a:latin typeface="Arial"/>
                <a:cs typeface="Arial"/>
              </a:rPr>
              <a:t>dialogues between </a:t>
            </a:r>
            <a:r>
              <a:rPr dirty="0" sz="1100">
                <a:latin typeface="Arial"/>
                <a:cs typeface="Arial"/>
              </a:rPr>
              <a:t>statisticians</a:t>
            </a:r>
            <a:r>
              <a:rPr dirty="0" sz="1100" spc="-6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and </a:t>
            </a:r>
            <a:r>
              <a:rPr dirty="0" sz="1100" spc="-10">
                <a:latin typeface="Arial"/>
                <a:cs typeface="Arial"/>
              </a:rPr>
              <a:t>practitioners.</a:t>
            </a:r>
            <a:endParaRPr sz="1100">
              <a:latin typeface="Arial"/>
              <a:cs typeface="Arial"/>
            </a:endParaRPr>
          </a:p>
          <a:p>
            <a:pPr marL="2226310" marR="92710">
              <a:lnSpc>
                <a:spcPct val="102600"/>
              </a:lnSpc>
              <a:spcBef>
                <a:spcPts val="980"/>
              </a:spcBef>
            </a:pPr>
            <a:r>
              <a:rPr dirty="0" sz="1100">
                <a:latin typeface="Arial"/>
                <a:cs typeface="Arial"/>
              </a:rPr>
              <a:t>Statistics,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here,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is </a:t>
            </a:r>
            <a:r>
              <a:rPr dirty="0" sz="1100">
                <a:latin typeface="Arial"/>
                <a:cs typeface="Arial"/>
              </a:rPr>
              <a:t>not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meant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to </a:t>
            </a:r>
            <a:r>
              <a:rPr dirty="0" sz="1100">
                <a:latin typeface="Arial"/>
                <a:cs typeface="Arial"/>
              </a:rPr>
              <a:t>represent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just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50">
                <a:latin typeface="Arial"/>
                <a:cs typeface="Arial"/>
              </a:rPr>
              <a:t>a </a:t>
            </a:r>
            <a:r>
              <a:rPr dirty="0" sz="1100">
                <a:latin typeface="Arial"/>
                <a:cs typeface="Arial"/>
              </a:rPr>
              <a:t>bunch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numbers </a:t>
            </a:r>
            <a:r>
              <a:rPr dirty="0" sz="1100">
                <a:latin typeface="Arial"/>
                <a:cs typeface="Arial"/>
              </a:rPr>
              <a:t>or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rates!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Excerpts</a:t>
            </a:r>
            <a:r>
              <a:rPr dirty="0" spc="50"/>
              <a:t> </a:t>
            </a:r>
            <a:r>
              <a:rPr dirty="0"/>
              <a:t>from</a:t>
            </a:r>
            <a:r>
              <a:rPr dirty="0" spc="55"/>
              <a:t> </a:t>
            </a:r>
            <a:r>
              <a:rPr dirty="0"/>
              <a:t>‘Statistics</a:t>
            </a:r>
            <a:r>
              <a:rPr dirty="0" spc="50"/>
              <a:t> </a:t>
            </a:r>
            <a:r>
              <a:rPr dirty="0"/>
              <a:t>and</a:t>
            </a:r>
            <a:r>
              <a:rPr dirty="0" spc="55"/>
              <a:t> </a:t>
            </a:r>
            <a:r>
              <a:rPr dirty="0"/>
              <a:t>Truth’</a:t>
            </a:r>
            <a:r>
              <a:rPr dirty="0" spc="60"/>
              <a:t> </a:t>
            </a:r>
            <a:r>
              <a:rPr dirty="0"/>
              <a:t>by</a:t>
            </a:r>
            <a:r>
              <a:rPr dirty="0" spc="55"/>
              <a:t> </a:t>
            </a:r>
            <a:r>
              <a:rPr dirty="0"/>
              <a:t>CR</a:t>
            </a:r>
            <a:r>
              <a:rPr dirty="0" spc="50"/>
              <a:t> </a:t>
            </a:r>
            <a:r>
              <a:rPr dirty="0" spc="-25"/>
              <a:t>Rao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859917"/>
            <a:ext cx="76809" cy="7680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24395" y="788021"/>
            <a:ext cx="3636645" cy="181673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158115">
              <a:lnSpc>
                <a:spcPct val="102600"/>
              </a:lnSpc>
              <a:spcBef>
                <a:spcPts val="55"/>
              </a:spcBef>
            </a:pPr>
            <a:r>
              <a:rPr dirty="0" sz="1100" spc="-10" i="1">
                <a:latin typeface="Arial"/>
                <a:cs typeface="Arial"/>
              </a:rPr>
              <a:t>Scientific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laws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are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not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advanced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by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the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principle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spc="-25" i="1">
                <a:latin typeface="Arial"/>
                <a:cs typeface="Arial"/>
              </a:rPr>
              <a:t>of </a:t>
            </a:r>
            <a:r>
              <a:rPr dirty="0" sz="1100" i="1">
                <a:latin typeface="Arial"/>
                <a:cs typeface="Arial"/>
              </a:rPr>
              <a:t>authority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or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justified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by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faith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or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medieval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philosophy; </a:t>
            </a:r>
            <a:r>
              <a:rPr dirty="0" sz="1100" i="1">
                <a:latin typeface="Arial"/>
                <a:cs typeface="Arial"/>
              </a:rPr>
              <a:t>statistics</a:t>
            </a:r>
            <a:r>
              <a:rPr dirty="0" sz="1100" spc="-4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is</a:t>
            </a:r>
            <a:r>
              <a:rPr dirty="0" sz="1100" spc="-4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the</a:t>
            </a:r>
            <a:r>
              <a:rPr dirty="0" sz="1100" spc="-4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only</a:t>
            </a:r>
            <a:r>
              <a:rPr dirty="0" sz="1100" spc="-4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court</a:t>
            </a:r>
            <a:r>
              <a:rPr dirty="0" sz="1100" spc="-4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of</a:t>
            </a:r>
            <a:r>
              <a:rPr dirty="0" sz="1100" spc="-4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appeal</a:t>
            </a:r>
            <a:r>
              <a:rPr dirty="0" sz="1100" spc="-4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to</a:t>
            </a:r>
            <a:r>
              <a:rPr dirty="0" sz="1100" spc="-4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new</a:t>
            </a:r>
            <a:r>
              <a:rPr dirty="0" sz="1100" spc="-4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knowledge.</a:t>
            </a:r>
            <a:r>
              <a:rPr dirty="0" sz="1100" spc="25" i="1">
                <a:latin typeface="Arial"/>
                <a:cs typeface="Arial"/>
              </a:rPr>
              <a:t> </a:t>
            </a:r>
            <a:r>
              <a:rPr dirty="0" sz="1100" spc="-50">
                <a:latin typeface="Arial"/>
                <a:cs typeface="Arial"/>
              </a:rPr>
              <a:t>–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 spc="-65">
                <a:latin typeface="Arial"/>
                <a:cs typeface="Arial"/>
              </a:rPr>
              <a:t>P.C.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Mahalanobis.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99"/>
              </a:lnSpc>
              <a:spcBef>
                <a:spcPts val="5"/>
              </a:spcBef>
            </a:pPr>
            <a:r>
              <a:rPr dirty="0" sz="1100" i="1">
                <a:latin typeface="Arial"/>
                <a:cs typeface="Arial"/>
              </a:rPr>
              <a:t>Statistical</a:t>
            </a:r>
            <a:r>
              <a:rPr dirty="0" sz="1100" spc="-50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thinking</a:t>
            </a:r>
            <a:r>
              <a:rPr dirty="0" sz="1100" spc="-4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will</a:t>
            </a:r>
            <a:r>
              <a:rPr dirty="0" sz="1100" spc="-5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one</a:t>
            </a:r>
            <a:r>
              <a:rPr dirty="0" sz="1100" spc="-4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day</a:t>
            </a:r>
            <a:r>
              <a:rPr dirty="0" sz="1100" spc="-5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be</a:t>
            </a:r>
            <a:r>
              <a:rPr dirty="0" sz="1100" spc="-4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as</a:t>
            </a:r>
            <a:r>
              <a:rPr dirty="0" sz="1100" spc="-5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necessary</a:t>
            </a:r>
            <a:r>
              <a:rPr dirty="0" sz="1100" spc="-4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for</a:t>
            </a:r>
            <a:r>
              <a:rPr dirty="0" sz="1100" spc="-50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efficient citizenship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as</a:t>
            </a:r>
            <a:r>
              <a:rPr dirty="0" sz="1100" spc="-2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the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ability</a:t>
            </a:r>
            <a:r>
              <a:rPr dirty="0" sz="1100" spc="-2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to</a:t>
            </a:r>
            <a:r>
              <a:rPr dirty="0" sz="1100" spc="-2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read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and</a:t>
            </a:r>
            <a:r>
              <a:rPr dirty="0" sz="1100" spc="-2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write.</a:t>
            </a:r>
            <a:r>
              <a:rPr dirty="0" sz="1100" spc="45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–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H.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G.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Wells.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100">
              <a:latin typeface="Arial"/>
              <a:cs typeface="Arial"/>
            </a:endParaRPr>
          </a:p>
          <a:p>
            <a:pPr marL="12700" marR="518159">
              <a:lnSpc>
                <a:spcPct val="102600"/>
              </a:lnSpc>
              <a:spcBef>
                <a:spcPts val="5"/>
              </a:spcBef>
            </a:pPr>
            <a:r>
              <a:rPr dirty="0" sz="1100">
                <a:latin typeface="Arial"/>
                <a:cs typeface="Arial"/>
              </a:rPr>
              <a:t>“The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more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prosperous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country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is,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better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its </a:t>
            </a:r>
            <a:r>
              <a:rPr dirty="0" sz="1100" spc="-10">
                <a:latin typeface="Arial"/>
                <a:cs typeface="Arial"/>
              </a:rPr>
              <a:t>statistics.”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1758251"/>
            <a:ext cx="76809" cy="7680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2312441"/>
            <a:ext cx="76809" cy="76809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Nature</a:t>
            </a:r>
            <a:r>
              <a:rPr dirty="0" spc="55"/>
              <a:t> </a:t>
            </a:r>
            <a:r>
              <a:rPr dirty="0"/>
              <a:t>of</a:t>
            </a:r>
            <a:r>
              <a:rPr dirty="0" spc="60"/>
              <a:t> </a:t>
            </a:r>
            <a:r>
              <a:rPr dirty="0" spc="-10"/>
              <a:t>statistics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932523"/>
            <a:ext cx="76809" cy="7680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24395" y="860614"/>
            <a:ext cx="3634740" cy="160655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Arial"/>
                <a:cs typeface="Arial"/>
              </a:rPr>
              <a:t>Statistics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peculiar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subject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without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subject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matter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of </a:t>
            </a:r>
            <a:r>
              <a:rPr dirty="0" sz="1100">
                <a:latin typeface="Arial"/>
                <a:cs typeface="Arial"/>
              </a:rPr>
              <a:t>its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own.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seems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exist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thrive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solving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problems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in </a:t>
            </a:r>
            <a:r>
              <a:rPr dirty="0" sz="1100">
                <a:latin typeface="Arial"/>
                <a:cs typeface="Arial"/>
              </a:rPr>
              <a:t>other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areas.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100">
              <a:latin typeface="Arial"/>
              <a:cs typeface="Arial"/>
            </a:endParaRPr>
          </a:p>
          <a:p>
            <a:pPr marL="12700" marR="110489">
              <a:lnSpc>
                <a:spcPct val="102600"/>
              </a:lnSpc>
            </a:pPr>
            <a:r>
              <a:rPr dirty="0" sz="1100" i="1">
                <a:latin typeface="Arial"/>
                <a:cs typeface="Arial"/>
              </a:rPr>
              <a:t>Statistics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is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basically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parasite:</a:t>
            </a:r>
            <a:r>
              <a:rPr dirty="0" sz="1100" spc="3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it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lives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on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the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work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spc="-25" i="1">
                <a:latin typeface="Arial"/>
                <a:cs typeface="Arial"/>
              </a:rPr>
              <a:t>of </a:t>
            </a:r>
            <a:r>
              <a:rPr dirty="0" sz="1100" i="1">
                <a:latin typeface="Arial"/>
                <a:cs typeface="Arial"/>
              </a:rPr>
              <a:t>others.</a:t>
            </a:r>
            <a:r>
              <a:rPr dirty="0" sz="1100" spc="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...</a:t>
            </a:r>
            <a:r>
              <a:rPr dirty="0" sz="1100" spc="3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Some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animals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could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not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digest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their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food.</a:t>
            </a:r>
            <a:r>
              <a:rPr dirty="0" sz="1100" spc="3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So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spc="-25" i="1">
                <a:latin typeface="Arial"/>
                <a:cs typeface="Arial"/>
              </a:rPr>
              <a:t>it </a:t>
            </a:r>
            <a:r>
              <a:rPr dirty="0" sz="1100" i="1">
                <a:latin typeface="Arial"/>
                <a:cs typeface="Arial"/>
              </a:rPr>
              <a:t>is</a:t>
            </a:r>
            <a:r>
              <a:rPr dirty="0" sz="1100" spc="-4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with</a:t>
            </a:r>
            <a:r>
              <a:rPr dirty="0" sz="1100" spc="-4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many</a:t>
            </a:r>
            <a:r>
              <a:rPr dirty="0" sz="1100" spc="-4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fields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of</a:t>
            </a:r>
            <a:r>
              <a:rPr dirty="0" sz="1100" spc="-4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human</a:t>
            </a:r>
            <a:r>
              <a:rPr dirty="0" sz="1100" spc="-40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endeavors,</a:t>
            </a:r>
            <a:r>
              <a:rPr dirty="0" sz="1100" spc="-4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they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may</a:t>
            </a:r>
            <a:r>
              <a:rPr dirty="0" sz="1100" spc="-4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not</a:t>
            </a:r>
            <a:r>
              <a:rPr dirty="0" sz="1100" spc="-40" i="1">
                <a:latin typeface="Arial"/>
                <a:cs typeface="Arial"/>
              </a:rPr>
              <a:t> </a:t>
            </a:r>
            <a:r>
              <a:rPr dirty="0" sz="1100" spc="-25" i="1">
                <a:latin typeface="Arial"/>
                <a:cs typeface="Arial"/>
              </a:rPr>
              <a:t>die </a:t>
            </a:r>
            <a:r>
              <a:rPr dirty="0" sz="1100" i="1">
                <a:latin typeface="Arial"/>
                <a:cs typeface="Arial"/>
              </a:rPr>
              <a:t>but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they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would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certainly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be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lot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weaker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without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statistics. </a:t>
            </a:r>
            <a:r>
              <a:rPr dirty="0" sz="1100">
                <a:latin typeface="Arial"/>
                <a:cs typeface="Arial"/>
              </a:rPr>
              <a:t>–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Leonard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J.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Savage.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1658772"/>
            <a:ext cx="76809" cy="76809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Place</a:t>
            </a:r>
            <a:r>
              <a:rPr dirty="0" spc="60"/>
              <a:t> </a:t>
            </a:r>
            <a:r>
              <a:rPr dirty="0"/>
              <a:t>of</a:t>
            </a:r>
            <a:r>
              <a:rPr dirty="0" spc="60"/>
              <a:t> </a:t>
            </a:r>
            <a:r>
              <a:rPr dirty="0"/>
              <a:t>statistics</a:t>
            </a:r>
            <a:r>
              <a:rPr dirty="0" spc="65"/>
              <a:t> </a:t>
            </a:r>
            <a:r>
              <a:rPr dirty="0"/>
              <a:t>within</a:t>
            </a:r>
            <a:r>
              <a:rPr dirty="0" spc="60"/>
              <a:t> </a:t>
            </a:r>
            <a:r>
              <a:rPr dirty="0"/>
              <a:t>the</a:t>
            </a:r>
            <a:r>
              <a:rPr dirty="0" spc="65"/>
              <a:t> </a:t>
            </a:r>
            <a:r>
              <a:rPr dirty="0"/>
              <a:t>universe</a:t>
            </a:r>
            <a:r>
              <a:rPr dirty="0" spc="60"/>
              <a:t> </a:t>
            </a:r>
            <a:r>
              <a:rPr dirty="0"/>
              <a:t>of</a:t>
            </a:r>
            <a:r>
              <a:rPr dirty="0" spc="60"/>
              <a:t> </a:t>
            </a:r>
            <a:r>
              <a:rPr dirty="0" spc="-10"/>
              <a:t>knowledge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013" y="1177759"/>
            <a:ext cx="76809" cy="7680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013" y="1559864"/>
            <a:ext cx="76809" cy="7680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013" y="2114054"/>
            <a:ext cx="76809" cy="7680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707618" y="385469"/>
            <a:ext cx="3193415" cy="202057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 indent="163195">
              <a:lnSpc>
                <a:spcPct val="102600"/>
              </a:lnSpc>
              <a:spcBef>
                <a:spcPts val="55"/>
              </a:spcBef>
            </a:pPr>
            <a:r>
              <a:rPr dirty="0" sz="1100" b="1">
                <a:latin typeface="Arial"/>
                <a:cs typeface="Arial"/>
              </a:rPr>
              <a:t>“All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FF0000"/>
                </a:solidFill>
                <a:latin typeface="Arial"/>
                <a:cs typeface="Arial"/>
              </a:rPr>
              <a:t>knowledge</a:t>
            </a:r>
            <a:r>
              <a:rPr dirty="0" sz="1100" spc="-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is,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in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final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analysis,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FF0000"/>
                </a:solidFill>
                <a:latin typeface="Arial"/>
                <a:cs typeface="Arial"/>
              </a:rPr>
              <a:t>history</a:t>
            </a:r>
            <a:r>
              <a:rPr dirty="0" sz="1100" spc="-10" b="1">
                <a:latin typeface="Arial"/>
                <a:cs typeface="Arial"/>
              </a:rPr>
              <a:t>.</a:t>
            </a:r>
            <a:r>
              <a:rPr dirty="0" sz="1100" spc="50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All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0000FF"/>
                </a:solidFill>
                <a:latin typeface="Arial"/>
                <a:cs typeface="Arial"/>
              </a:rPr>
              <a:t>sciences</a:t>
            </a:r>
            <a:r>
              <a:rPr dirty="0" sz="1100" spc="-3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are,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in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the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abstract,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0000FF"/>
                </a:solidFill>
                <a:latin typeface="Arial"/>
                <a:cs typeface="Arial"/>
              </a:rPr>
              <a:t>mathematics</a:t>
            </a:r>
            <a:r>
              <a:rPr dirty="0" sz="1100" spc="-10" b="1">
                <a:latin typeface="Arial"/>
                <a:cs typeface="Arial"/>
              </a:rPr>
              <a:t>. </a:t>
            </a:r>
            <a:r>
              <a:rPr dirty="0" sz="1100" b="1">
                <a:latin typeface="Arial"/>
                <a:cs typeface="Arial"/>
              </a:rPr>
              <a:t>All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47F24"/>
                </a:solidFill>
                <a:latin typeface="Arial"/>
                <a:cs typeface="Arial"/>
              </a:rPr>
              <a:t>judgements</a:t>
            </a:r>
            <a:r>
              <a:rPr dirty="0" sz="1100" spc="-30" b="1">
                <a:solidFill>
                  <a:srgbClr val="247F24"/>
                </a:solidFill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are,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in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their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rationale,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247F24"/>
                </a:solidFill>
                <a:latin typeface="Arial"/>
                <a:cs typeface="Arial"/>
              </a:rPr>
              <a:t>statistics</a:t>
            </a:r>
            <a:r>
              <a:rPr dirty="0" sz="1100" spc="-10" b="1">
                <a:latin typeface="Arial"/>
                <a:cs typeface="Arial"/>
              </a:rPr>
              <a:t>.”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100">
              <a:latin typeface="Arial"/>
              <a:cs typeface="Arial"/>
            </a:endParaRPr>
          </a:p>
          <a:p>
            <a:pPr marL="127000" marR="1055370">
              <a:lnSpc>
                <a:spcPct val="102600"/>
              </a:lnSpc>
              <a:spcBef>
                <a:spcPts val="5"/>
              </a:spcBef>
            </a:pPr>
            <a:r>
              <a:rPr dirty="0" sz="1100">
                <a:latin typeface="Arial"/>
                <a:cs typeface="Arial"/>
              </a:rPr>
              <a:t>Statistics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statistical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methods </a:t>
            </a:r>
            <a:r>
              <a:rPr dirty="0" sz="1100">
                <a:latin typeface="Arial"/>
                <a:cs typeface="Arial"/>
              </a:rPr>
              <a:t>bring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Unity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in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Diversity</a:t>
            </a:r>
            <a:r>
              <a:rPr dirty="0" sz="1100" spc="-1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27000" marR="1074420">
              <a:lnSpc>
                <a:spcPct val="102600"/>
              </a:lnSpc>
              <a:spcBef>
                <a:spcPts val="300"/>
              </a:spcBef>
            </a:pPr>
            <a:r>
              <a:rPr dirty="0" sz="1100" spc="-10">
                <a:latin typeface="Arial"/>
                <a:cs typeface="Arial"/>
              </a:rPr>
              <a:t>Diversity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academic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disciplines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sciences,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medical specialisations</a:t>
            </a:r>
            <a:r>
              <a:rPr dirty="0" sz="1100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etc.</a:t>
            </a:r>
            <a:endParaRPr sz="1100">
              <a:latin typeface="Arial"/>
              <a:cs typeface="Arial"/>
            </a:endParaRPr>
          </a:p>
          <a:p>
            <a:pPr marL="127000" marR="909319">
              <a:lnSpc>
                <a:spcPct val="102600"/>
              </a:lnSpc>
              <a:spcBef>
                <a:spcPts val="295"/>
              </a:spcBef>
            </a:pP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motto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Indian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Statistical </a:t>
            </a:r>
            <a:r>
              <a:rPr dirty="0" sz="1100" b="1">
                <a:latin typeface="Arial"/>
                <a:cs typeface="Arial"/>
              </a:rPr>
              <a:t>Institute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(my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alma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mater).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68407" y="1167691"/>
            <a:ext cx="763015" cy="866023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Lies,</a:t>
            </a:r>
            <a:r>
              <a:rPr dirty="0" spc="60"/>
              <a:t> </a:t>
            </a:r>
            <a:r>
              <a:rPr dirty="0"/>
              <a:t>Damned</a:t>
            </a:r>
            <a:r>
              <a:rPr dirty="0" spc="65"/>
              <a:t> </a:t>
            </a:r>
            <a:r>
              <a:rPr dirty="0"/>
              <a:t>Lies</a:t>
            </a:r>
            <a:r>
              <a:rPr dirty="0" spc="65"/>
              <a:t> </a:t>
            </a:r>
            <a:r>
              <a:rPr dirty="0"/>
              <a:t>and</a:t>
            </a:r>
            <a:r>
              <a:rPr dirty="0" spc="65"/>
              <a:t> </a:t>
            </a:r>
            <a:r>
              <a:rPr dirty="0" spc="-10"/>
              <a:t>Statistics?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8004" y="536302"/>
            <a:ext cx="972026" cy="97202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1572895"/>
            <a:ext cx="76809" cy="7680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24395" y="1405582"/>
            <a:ext cx="3563620" cy="167830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100" spc="-65">
                <a:solidFill>
                  <a:srgbClr val="FF0000"/>
                </a:solidFill>
                <a:latin typeface="Arial"/>
                <a:cs typeface="Arial"/>
              </a:rPr>
              <a:t>You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can</a:t>
            </a:r>
            <a:r>
              <a:rPr dirty="0" sz="1100" spc="-4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prove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anything</a:t>
            </a:r>
            <a:r>
              <a:rPr dirty="0" sz="1100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in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statistics!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705"/>
              </a:spcBef>
            </a:pPr>
            <a:r>
              <a:rPr dirty="0" sz="1100" i="1">
                <a:solidFill>
                  <a:srgbClr val="FF0000"/>
                </a:solidFill>
                <a:latin typeface="Arial"/>
                <a:cs typeface="Arial"/>
              </a:rPr>
              <a:t>Statistics</a:t>
            </a:r>
            <a:r>
              <a:rPr dirty="0" sz="1100" spc="-35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dirty="0" sz="1100" spc="-35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FF0000"/>
                </a:solidFill>
                <a:latin typeface="Arial"/>
                <a:cs typeface="Arial"/>
              </a:rPr>
              <a:t>like</a:t>
            </a:r>
            <a:r>
              <a:rPr dirty="0" sz="1100" spc="-3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dirty="0" sz="1100" spc="-35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FF0000"/>
                </a:solidFill>
                <a:latin typeface="Arial"/>
                <a:cs typeface="Arial"/>
              </a:rPr>
              <a:t>bikini</a:t>
            </a:r>
            <a:r>
              <a:rPr dirty="0" sz="1100" spc="-3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FF0000"/>
                </a:solidFill>
                <a:latin typeface="Arial"/>
                <a:cs typeface="Arial"/>
              </a:rPr>
              <a:t>bathing</a:t>
            </a:r>
            <a:r>
              <a:rPr dirty="0" sz="1100" spc="-35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FF0000"/>
                </a:solidFill>
                <a:latin typeface="Arial"/>
                <a:cs typeface="Arial"/>
              </a:rPr>
              <a:t>suit.</a:t>
            </a:r>
            <a:r>
              <a:rPr dirty="0" sz="1100" spc="3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FF0000"/>
                </a:solidFill>
                <a:latin typeface="Arial"/>
                <a:cs typeface="Arial"/>
              </a:rPr>
              <a:t>It</a:t>
            </a:r>
            <a:r>
              <a:rPr dirty="0" sz="1100" spc="-3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FF0000"/>
                </a:solidFill>
                <a:latin typeface="Arial"/>
                <a:cs typeface="Arial"/>
              </a:rPr>
              <a:t>reveals</a:t>
            </a:r>
            <a:r>
              <a:rPr dirty="0" sz="1100" spc="-35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1100" spc="-3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FF0000"/>
                </a:solidFill>
                <a:latin typeface="Arial"/>
                <a:cs typeface="Arial"/>
              </a:rPr>
              <a:t>obvious </a:t>
            </a:r>
            <a:r>
              <a:rPr dirty="0" sz="1100" i="1">
                <a:solidFill>
                  <a:srgbClr val="FF0000"/>
                </a:solidFill>
                <a:latin typeface="Arial"/>
                <a:cs typeface="Arial"/>
              </a:rPr>
              <a:t>but</a:t>
            </a:r>
            <a:r>
              <a:rPr dirty="0" sz="1100" spc="-3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FF0000"/>
                </a:solidFill>
                <a:latin typeface="Arial"/>
                <a:cs typeface="Arial"/>
              </a:rPr>
              <a:t>conceals</a:t>
            </a:r>
            <a:r>
              <a:rPr dirty="0" sz="1100" spc="-25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1100" spc="-25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FF0000"/>
                </a:solidFill>
                <a:latin typeface="Arial"/>
                <a:cs typeface="Arial"/>
              </a:rPr>
              <a:t>vital.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1100">
                <a:solidFill>
                  <a:srgbClr val="0000FF"/>
                </a:solidFill>
                <a:latin typeface="Arial"/>
                <a:cs typeface="Arial"/>
              </a:rPr>
              <a:t>Every</a:t>
            </a:r>
            <a:r>
              <a:rPr dirty="0" sz="1100" spc="-5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FF"/>
                </a:solidFill>
                <a:latin typeface="Arial"/>
                <a:cs typeface="Arial"/>
              </a:rPr>
              <a:t>number</a:t>
            </a:r>
            <a:r>
              <a:rPr dirty="0" sz="1100" spc="-4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FF"/>
                </a:solidFill>
                <a:latin typeface="Arial"/>
                <a:cs typeface="Arial"/>
              </a:rPr>
              <a:t>is</a:t>
            </a:r>
            <a:r>
              <a:rPr dirty="0" sz="1100" spc="-4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FF"/>
                </a:solidFill>
                <a:latin typeface="Arial"/>
                <a:cs typeface="Arial"/>
              </a:rPr>
              <a:t>guilty</a:t>
            </a:r>
            <a:r>
              <a:rPr dirty="0" sz="1100" spc="-5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FF"/>
                </a:solidFill>
                <a:latin typeface="Arial"/>
                <a:cs typeface="Arial"/>
              </a:rPr>
              <a:t>unless</a:t>
            </a:r>
            <a:r>
              <a:rPr dirty="0" sz="1100" spc="-4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0000FF"/>
                </a:solidFill>
                <a:latin typeface="Arial"/>
                <a:cs typeface="Arial"/>
              </a:rPr>
              <a:t>proved</a:t>
            </a:r>
            <a:r>
              <a:rPr dirty="0" sz="1100" spc="-4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0000FF"/>
                </a:solidFill>
                <a:latin typeface="Arial"/>
                <a:cs typeface="Arial"/>
              </a:rPr>
              <a:t>innocent.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1100" i="1">
                <a:latin typeface="Arial"/>
                <a:cs typeface="Arial"/>
              </a:rPr>
              <a:t>I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know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the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 spc="-20" i="1">
                <a:latin typeface="Arial"/>
                <a:cs typeface="Arial"/>
              </a:rPr>
              <a:t>answer,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give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me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statistics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to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substantiate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 spc="-25" i="1">
                <a:latin typeface="Arial"/>
                <a:cs typeface="Arial"/>
              </a:rPr>
              <a:t>it.</a:t>
            </a:r>
            <a:endParaRPr sz="1100">
              <a:latin typeface="Arial"/>
              <a:cs typeface="Arial"/>
            </a:endParaRPr>
          </a:p>
          <a:p>
            <a:pPr marL="12700" marR="128270">
              <a:lnSpc>
                <a:spcPct val="102600"/>
              </a:lnSpc>
              <a:spcBef>
                <a:spcPts val="710"/>
              </a:spcBef>
            </a:pPr>
            <a:r>
              <a:rPr dirty="0" sz="1100" spc="-10">
                <a:solidFill>
                  <a:srgbClr val="0000FF"/>
                </a:solidFill>
                <a:latin typeface="Arial"/>
                <a:cs typeface="Arial"/>
              </a:rPr>
              <a:t>Figures</a:t>
            </a:r>
            <a:r>
              <a:rPr dirty="0" sz="1100" spc="-4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FF"/>
                </a:solidFill>
                <a:latin typeface="Arial"/>
                <a:cs typeface="Arial"/>
              </a:rPr>
              <a:t>won’t</a:t>
            </a:r>
            <a:r>
              <a:rPr dirty="0" sz="1100" spc="-3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FF"/>
                </a:solidFill>
                <a:latin typeface="Arial"/>
                <a:cs typeface="Arial"/>
              </a:rPr>
              <a:t>lie,</a:t>
            </a:r>
            <a:r>
              <a:rPr dirty="0" sz="1100" spc="-3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FF"/>
                </a:solidFill>
                <a:latin typeface="Arial"/>
                <a:cs typeface="Arial"/>
              </a:rPr>
              <a:t>but</a:t>
            </a:r>
            <a:r>
              <a:rPr dirty="0" sz="1100" spc="-4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FF"/>
                </a:solidFill>
                <a:latin typeface="Arial"/>
                <a:cs typeface="Arial"/>
              </a:rPr>
              <a:t>liars</a:t>
            </a:r>
            <a:r>
              <a:rPr dirty="0" sz="1100" spc="-3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FF"/>
                </a:solidFill>
                <a:latin typeface="Arial"/>
                <a:cs typeface="Arial"/>
              </a:rPr>
              <a:t>can</a:t>
            </a:r>
            <a:r>
              <a:rPr dirty="0" sz="1100" spc="-3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FF"/>
                </a:solidFill>
                <a:latin typeface="Arial"/>
                <a:cs typeface="Arial"/>
              </a:rPr>
              <a:t>figure!</a:t>
            </a:r>
            <a:r>
              <a:rPr dirty="0" sz="1100" spc="2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–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General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Charles Grosvenor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1834553"/>
            <a:ext cx="76809" cy="7680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007" y="2268283"/>
            <a:ext cx="76809" cy="7680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1007" y="2529941"/>
            <a:ext cx="76809" cy="7680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1007" y="2791599"/>
            <a:ext cx="76809" cy="76809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Statistics</a:t>
            </a:r>
            <a:r>
              <a:rPr dirty="0" spc="65"/>
              <a:t> </a:t>
            </a:r>
            <a:r>
              <a:rPr dirty="0"/>
              <a:t>is</a:t>
            </a:r>
            <a:r>
              <a:rPr dirty="0" spc="65"/>
              <a:t> </a:t>
            </a:r>
            <a:r>
              <a:rPr dirty="0"/>
              <a:t>an</a:t>
            </a:r>
            <a:r>
              <a:rPr dirty="0" spc="65"/>
              <a:t> </a:t>
            </a:r>
            <a:r>
              <a:rPr dirty="0"/>
              <a:t>inevitable</a:t>
            </a:r>
            <a:r>
              <a:rPr dirty="0" spc="65"/>
              <a:t> </a:t>
            </a:r>
            <a:r>
              <a:rPr dirty="0"/>
              <a:t>instrument</a:t>
            </a:r>
            <a:r>
              <a:rPr dirty="0" spc="65"/>
              <a:t> </a:t>
            </a:r>
            <a:r>
              <a:rPr dirty="0"/>
              <a:t>in</a:t>
            </a:r>
            <a:r>
              <a:rPr dirty="0" spc="65"/>
              <a:t> </a:t>
            </a:r>
            <a:r>
              <a:rPr dirty="0"/>
              <a:t>search</a:t>
            </a:r>
            <a:r>
              <a:rPr dirty="0" spc="65"/>
              <a:t> </a:t>
            </a:r>
            <a:r>
              <a:rPr dirty="0"/>
              <a:t>of</a:t>
            </a:r>
            <a:r>
              <a:rPr dirty="0" spc="70"/>
              <a:t> </a:t>
            </a:r>
            <a:r>
              <a:rPr dirty="0" spc="-10"/>
              <a:t>truth!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389979"/>
            <a:ext cx="76809" cy="7680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944156"/>
            <a:ext cx="76809" cy="7680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1326261"/>
            <a:ext cx="76809" cy="7680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007" y="1880450"/>
            <a:ext cx="76809" cy="7680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1007" y="2262555"/>
            <a:ext cx="76809" cy="7680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1007" y="2988818"/>
            <a:ext cx="76809" cy="76809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48195" y="318070"/>
            <a:ext cx="3776345" cy="296291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88900" marR="480695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1100" spc="-1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FF0000"/>
                </a:solidFill>
                <a:latin typeface="Arial"/>
                <a:cs typeface="Arial"/>
              </a:rPr>
              <a:t>χ</a:t>
            </a:r>
            <a:r>
              <a:rPr dirty="0" baseline="27777" sz="1200">
                <a:solidFill>
                  <a:srgbClr val="FF0000"/>
                </a:solidFill>
                <a:latin typeface="Arial"/>
                <a:cs typeface="Arial"/>
              </a:rPr>
              <a:t>2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-test</a:t>
            </a:r>
            <a:r>
              <a:rPr dirty="0" sz="1100" spc="-1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in</a:t>
            </a:r>
            <a:r>
              <a:rPr dirty="0" sz="1100" spc="-1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statistics</a:t>
            </a:r>
            <a:r>
              <a:rPr dirty="0" sz="1100" spc="-1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dirty="0" sz="1100" spc="-1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one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dirty="0" sz="1100" spc="-1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1100" spc="-1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top</a:t>
            </a:r>
            <a:r>
              <a:rPr dirty="0" sz="1100" spc="-1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20</a:t>
            </a:r>
            <a:r>
              <a:rPr dirty="0" sz="1100" spc="-1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scientific discoveries!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100">
              <a:latin typeface="Arial"/>
              <a:cs typeface="Arial"/>
            </a:endParaRPr>
          </a:p>
          <a:p>
            <a:pPr marL="88265">
              <a:lnSpc>
                <a:spcPct val="100000"/>
              </a:lnSpc>
            </a:pPr>
            <a:r>
              <a:rPr dirty="0" sz="1100">
                <a:latin typeface="Arial"/>
                <a:cs typeface="Arial"/>
              </a:rPr>
              <a:t>Statistical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methods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prove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cigarette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smoking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harmful!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100">
              <a:latin typeface="Arial"/>
              <a:cs typeface="Arial"/>
            </a:endParaRPr>
          </a:p>
          <a:p>
            <a:pPr marL="88265" marR="252729">
              <a:lnSpc>
                <a:spcPct val="102600"/>
              </a:lnSpc>
            </a:pPr>
            <a:r>
              <a:rPr dirty="0" sz="1100" spc="-10" i="1">
                <a:latin typeface="Arial"/>
                <a:cs typeface="Arial"/>
              </a:rPr>
              <a:t>According</a:t>
            </a:r>
            <a:r>
              <a:rPr dirty="0" sz="1100" spc="-4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to</a:t>
            </a:r>
            <a:r>
              <a:rPr dirty="0" sz="1100" spc="-4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statistics,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males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who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remain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unmarried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die </a:t>
            </a:r>
            <a:r>
              <a:rPr dirty="0" sz="1100">
                <a:latin typeface="Arial"/>
                <a:cs typeface="Arial"/>
              </a:rPr>
              <a:t>ten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years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younger.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100">
              <a:latin typeface="Arial"/>
              <a:cs typeface="Arial"/>
            </a:endParaRPr>
          </a:p>
          <a:p>
            <a:pPr marL="88265">
              <a:lnSpc>
                <a:spcPct val="100000"/>
              </a:lnSpc>
            </a:pPr>
            <a:r>
              <a:rPr dirty="0" sz="1100" spc="-10" i="1">
                <a:latin typeface="Arial"/>
                <a:cs typeface="Arial"/>
              </a:rPr>
              <a:t>Statistically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speaking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tall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parents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have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tall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children.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100">
              <a:latin typeface="Arial"/>
              <a:cs typeface="Arial"/>
            </a:endParaRPr>
          </a:p>
          <a:p>
            <a:pPr algn="just" marL="88265" marR="347345">
              <a:lnSpc>
                <a:spcPct val="102600"/>
              </a:lnSpc>
            </a:pP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-4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statistical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survey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has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revealed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tablet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aspirin </a:t>
            </a:r>
            <a:r>
              <a:rPr dirty="0" sz="1100">
                <a:latin typeface="Arial"/>
                <a:cs typeface="Arial"/>
              </a:rPr>
              <a:t>every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alternate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reduces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risk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second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heart attack.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100">
              <a:latin typeface="Arial"/>
              <a:cs typeface="Arial"/>
            </a:endParaRPr>
          </a:p>
          <a:p>
            <a:pPr algn="just" marL="88265" marR="375285">
              <a:lnSpc>
                <a:spcPct val="102600"/>
              </a:lnSpc>
            </a:pPr>
            <a:r>
              <a:rPr dirty="0" sz="1100" i="1">
                <a:latin typeface="Arial"/>
                <a:cs typeface="Arial"/>
              </a:rPr>
              <a:t>Statistics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confirm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intake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500mg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vitamin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50">
                <a:latin typeface="Arial"/>
                <a:cs typeface="Arial"/>
              </a:rPr>
              <a:t>C </a:t>
            </a:r>
            <a:r>
              <a:rPr dirty="0" sz="1100" spc="-10">
                <a:latin typeface="Arial"/>
                <a:cs typeface="Arial"/>
              </a:rPr>
              <a:t>everyday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prolongs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life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by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six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years.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Some</a:t>
            </a:r>
            <a:r>
              <a:rPr dirty="0" spc="75"/>
              <a:t> </a:t>
            </a:r>
            <a:r>
              <a:rPr dirty="0" spc="-10"/>
              <a:t>comments: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986637"/>
            <a:ext cx="76809" cy="7680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24395" y="914729"/>
            <a:ext cx="3869690" cy="147256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25146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Arial"/>
                <a:cs typeface="Arial"/>
              </a:rPr>
              <a:t>We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apply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statistical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methods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whenever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there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uncertainty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complete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enumeration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not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possible.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100">
              <a:latin typeface="Arial"/>
              <a:cs typeface="Arial"/>
            </a:endParaRPr>
          </a:p>
          <a:p>
            <a:pPr marL="12700" marR="238125">
              <a:lnSpc>
                <a:spcPct val="102600"/>
              </a:lnSpc>
            </a:pPr>
            <a:r>
              <a:rPr dirty="0" sz="1100">
                <a:latin typeface="Arial"/>
                <a:cs typeface="Arial"/>
              </a:rPr>
              <a:t>Statistical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knowledge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essential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scientific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career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in </a:t>
            </a:r>
            <a:r>
              <a:rPr dirty="0" sz="1100">
                <a:latin typeface="Arial"/>
                <a:cs typeface="Arial"/>
              </a:rPr>
              <a:t>academia,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healthcare,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industry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government.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</a:pPr>
            <a:r>
              <a:rPr dirty="0" sz="1100" spc="-10">
                <a:latin typeface="Arial"/>
                <a:cs typeface="Arial"/>
              </a:rPr>
              <a:t>Watch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55">
                <a:solidFill>
                  <a:srgbClr val="FF0000"/>
                </a:solidFill>
                <a:latin typeface="Arial"/>
                <a:cs typeface="Arial"/>
              </a:rPr>
              <a:t>YouTube</a:t>
            </a:r>
            <a:r>
              <a:rPr dirty="0" sz="11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video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Joy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of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Statistics</a:t>
            </a:r>
            <a:r>
              <a:rPr dirty="0" sz="1100" spc="-10">
                <a:latin typeface="Arial"/>
                <a:cs typeface="Arial"/>
              </a:rPr>
              <a:t>. </a:t>
            </a:r>
            <a:r>
              <a:rPr dirty="0" sz="1100" spc="-10">
                <a:latin typeface="Arial"/>
                <a:cs typeface="Arial"/>
                <a:hlinkClick r:id="rId3"/>
              </a:rPr>
              <a:t>https://www.youtube.com/playlist?list=PL4F9E80BCF687CBA6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1540814"/>
            <a:ext cx="76809" cy="7680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007" y="2095004"/>
            <a:ext cx="76809" cy="76809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Examples</a:t>
            </a:r>
            <a:r>
              <a:rPr dirty="0" spc="80"/>
              <a:t> </a:t>
            </a:r>
            <a:r>
              <a:rPr dirty="0"/>
              <a:t>of</a:t>
            </a:r>
            <a:r>
              <a:rPr dirty="0" spc="80"/>
              <a:t> </a:t>
            </a:r>
            <a:r>
              <a:rPr dirty="0"/>
              <a:t>Statistical</a:t>
            </a:r>
            <a:r>
              <a:rPr dirty="0" spc="80"/>
              <a:t> </a:t>
            </a:r>
            <a:r>
              <a:rPr dirty="0"/>
              <a:t>ideas</a:t>
            </a:r>
            <a:r>
              <a:rPr dirty="0" spc="80"/>
              <a:t> </a:t>
            </a:r>
            <a:r>
              <a:rPr dirty="0"/>
              <a:t>in</a:t>
            </a:r>
            <a:r>
              <a:rPr dirty="0" spc="80"/>
              <a:t> </a:t>
            </a:r>
            <a:r>
              <a:rPr dirty="0"/>
              <a:t>medical</a:t>
            </a:r>
            <a:r>
              <a:rPr dirty="0" spc="80"/>
              <a:t> </a:t>
            </a:r>
            <a:r>
              <a:rPr dirty="0" spc="-10"/>
              <a:t>research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155" y="331241"/>
            <a:ext cx="134416" cy="13441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61556" y="330687"/>
            <a:ext cx="679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24395" y="294308"/>
            <a:ext cx="3602990" cy="71755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theory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book:</a:t>
            </a:r>
            <a:r>
              <a:rPr dirty="0" sz="1100" spc="4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Introduction</a:t>
            </a:r>
            <a:r>
              <a:rPr dirty="0" sz="1100" spc="-2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to</a:t>
            </a:r>
            <a:r>
              <a:rPr dirty="0" sz="1100" spc="-20" i="1">
                <a:latin typeface="Arial"/>
                <a:cs typeface="Arial"/>
              </a:rPr>
              <a:t> Probability, </a:t>
            </a:r>
            <a:r>
              <a:rPr dirty="0" sz="1100" i="1">
                <a:latin typeface="Arial"/>
                <a:cs typeface="Arial"/>
              </a:rPr>
              <a:t>Statistics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&amp;</a:t>
            </a:r>
            <a:r>
              <a:rPr dirty="0" sz="1100" spc="-2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R</a:t>
            </a:r>
            <a:r>
              <a:rPr dirty="0" sz="1100" spc="-20" i="1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by </a:t>
            </a:r>
            <a:r>
              <a:rPr dirty="0" sz="1100" spc="-10">
                <a:latin typeface="Arial"/>
                <a:cs typeface="Arial"/>
              </a:rPr>
              <a:t>myself.</a:t>
            </a:r>
            <a:endParaRPr sz="1100">
              <a:latin typeface="Arial"/>
              <a:cs typeface="Arial"/>
            </a:endParaRPr>
          </a:p>
          <a:p>
            <a:pPr marL="12700" marR="275590">
              <a:lnSpc>
                <a:spcPct val="102600"/>
              </a:lnSpc>
              <a:spcBef>
                <a:spcPts val="75"/>
              </a:spcBef>
            </a:pP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wonderful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book:</a:t>
            </a:r>
            <a:r>
              <a:rPr dirty="0" sz="1100" spc="4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The</a:t>
            </a:r>
            <a:r>
              <a:rPr dirty="0" sz="1100" spc="-2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Art</a:t>
            </a:r>
            <a:r>
              <a:rPr dirty="0" sz="1100" spc="-2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of</a:t>
            </a:r>
            <a:r>
              <a:rPr dirty="0" sz="1100" spc="-2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Statistics:</a:t>
            </a:r>
            <a:r>
              <a:rPr dirty="0" sz="1100" spc="5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Learning</a:t>
            </a:r>
            <a:r>
              <a:rPr dirty="0" sz="1100" spc="-20" i="1">
                <a:latin typeface="Arial"/>
                <a:cs typeface="Arial"/>
              </a:rPr>
              <a:t> from </a:t>
            </a:r>
            <a:r>
              <a:rPr dirty="0" sz="1100" i="1">
                <a:latin typeface="Arial"/>
                <a:cs typeface="Arial"/>
              </a:rPr>
              <a:t>Data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Sir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David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Spiegelhalter.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155" y="684885"/>
            <a:ext cx="134416" cy="134416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461556" y="684331"/>
            <a:ext cx="679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0092" y="1154731"/>
            <a:ext cx="811656" cy="125834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73997" y="1154991"/>
            <a:ext cx="811835" cy="1322207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Probability</a:t>
            </a:r>
            <a:r>
              <a:rPr dirty="0" spc="135"/>
              <a:t> </a:t>
            </a:r>
            <a:r>
              <a:rPr dirty="0" spc="-10"/>
              <a:t>concepts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599287"/>
            <a:ext cx="76809" cy="7680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1606384"/>
            <a:ext cx="76809" cy="7680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2504719"/>
            <a:ext cx="76809" cy="7680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548195" y="527379"/>
            <a:ext cx="3984625" cy="244157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88900" marR="48133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Arial"/>
                <a:cs typeface="Arial"/>
              </a:rPr>
              <a:t>If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experiment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has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N</a:t>
            </a:r>
            <a:r>
              <a:rPr dirty="0" sz="1100" spc="65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equally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likely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possible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outcomes </a:t>
            </a:r>
            <a:r>
              <a:rPr dirty="0" sz="1100">
                <a:latin typeface="Arial"/>
                <a:cs typeface="Arial"/>
              </a:rPr>
              <a:t>then,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any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event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A,</a:t>
            </a:r>
            <a:endParaRPr sz="110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  <a:spcBef>
                <a:spcPts val="905"/>
              </a:spcBef>
              <a:tabLst>
                <a:tab pos="1435100" algn="l"/>
                <a:tab pos="3841750" algn="l"/>
              </a:tabLst>
            </a:pPr>
            <a:r>
              <a:rPr dirty="0" baseline="-37878" sz="1650" i="1">
                <a:latin typeface="Arial"/>
                <a:cs typeface="Arial"/>
              </a:rPr>
              <a:t>P</a:t>
            </a:r>
            <a:r>
              <a:rPr dirty="0" baseline="-37878" sz="1650">
                <a:latin typeface="Arial"/>
                <a:cs typeface="Arial"/>
              </a:rPr>
              <a:t>(</a:t>
            </a:r>
            <a:r>
              <a:rPr dirty="0" baseline="-37878" sz="1650" i="1">
                <a:latin typeface="Arial"/>
                <a:cs typeface="Arial"/>
              </a:rPr>
              <a:t>A</a:t>
            </a:r>
            <a:r>
              <a:rPr dirty="0" baseline="-37878" sz="1650">
                <a:latin typeface="Arial"/>
                <a:cs typeface="Arial"/>
              </a:rPr>
              <a:t>)</a:t>
            </a:r>
            <a:r>
              <a:rPr dirty="0" baseline="-37878" sz="1650" spc="225">
                <a:latin typeface="Arial"/>
                <a:cs typeface="Arial"/>
              </a:rPr>
              <a:t> </a:t>
            </a:r>
            <a:r>
              <a:rPr dirty="0" baseline="-37878" sz="1650" spc="300">
                <a:latin typeface="Arial"/>
                <a:cs typeface="Arial"/>
              </a:rPr>
              <a:t>=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100" spc="7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number</a:t>
            </a:r>
            <a:r>
              <a:rPr dirty="0" u="sng" sz="11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sng" sz="11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outcomes</a:t>
            </a:r>
            <a:r>
              <a:rPr dirty="0" u="sng" sz="1100" spc="7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sng" sz="11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dirty="0" u="sng" sz="11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dirty="0" baseline="-37878" sz="1650" spc="-75" i="1">
                <a:latin typeface="Arial"/>
                <a:cs typeface="Arial"/>
              </a:rPr>
              <a:t>.</a:t>
            </a:r>
            <a:endParaRPr baseline="-37878" sz="1650">
              <a:latin typeface="Arial"/>
              <a:cs typeface="Arial"/>
            </a:endParaRPr>
          </a:p>
          <a:p>
            <a:pPr marL="590550">
              <a:lnSpc>
                <a:spcPct val="100000"/>
              </a:lnSpc>
              <a:spcBef>
                <a:spcPts val="165"/>
              </a:spcBef>
            </a:pPr>
            <a:r>
              <a:rPr dirty="0" sz="1100" spc="10">
                <a:latin typeface="Times New Roman"/>
                <a:cs typeface="Times New Roman"/>
              </a:rPr>
              <a:t>total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70">
                <a:latin typeface="Times New Roman"/>
                <a:cs typeface="Times New Roman"/>
              </a:rPr>
              <a:t>number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Times New Roman"/>
                <a:cs typeface="Times New Roman"/>
              </a:rPr>
              <a:t>of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Times New Roman"/>
                <a:cs typeface="Times New Roman"/>
              </a:rPr>
              <a:t>possible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50">
                <a:latin typeface="Times New Roman"/>
                <a:cs typeface="Times New Roman"/>
              </a:rPr>
              <a:t>outcomes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Times New Roman"/>
                <a:cs typeface="Times New Roman"/>
              </a:rPr>
              <a:t>of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55">
                <a:latin typeface="Times New Roman"/>
                <a:cs typeface="Times New Roman"/>
              </a:rPr>
              <a:t>the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40">
                <a:latin typeface="Times New Roman"/>
                <a:cs typeface="Times New Roman"/>
              </a:rPr>
              <a:t>experiment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100">
              <a:latin typeface="Times New Roman"/>
              <a:cs typeface="Times New Roman"/>
            </a:endParaRPr>
          </a:p>
          <a:p>
            <a:pPr marL="88900" marR="414655">
              <a:lnSpc>
                <a:spcPct val="102600"/>
              </a:lnSpc>
            </a:pPr>
            <a:r>
              <a:rPr dirty="0" sz="1100" spc="175" i="1">
                <a:solidFill>
                  <a:srgbClr val="FF0000"/>
                </a:solidFill>
                <a:latin typeface="Menlo"/>
                <a:cs typeface="Menlo"/>
              </a:rPr>
              <a:t>♡</a:t>
            </a:r>
            <a:r>
              <a:rPr dirty="0" sz="1100" spc="-360" i="1">
                <a:solidFill>
                  <a:srgbClr val="FF0000"/>
                </a:solidFill>
                <a:latin typeface="Menlo"/>
                <a:cs typeface="Menlo"/>
              </a:rPr>
              <a:t> </a:t>
            </a:r>
            <a:r>
              <a:rPr dirty="0" sz="1100" spc="-10">
                <a:latin typeface="Arial"/>
                <a:cs typeface="Arial"/>
              </a:rPr>
              <a:t>Suppose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FF"/>
                </a:solidFill>
                <a:latin typeface="Arial"/>
                <a:cs typeface="Arial"/>
              </a:rPr>
              <a:t>4</a:t>
            </a:r>
            <a:r>
              <a:rPr dirty="0" sz="1100" spc="-2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FF"/>
                </a:solidFill>
                <a:latin typeface="Arial"/>
                <a:cs typeface="Arial"/>
              </a:rPr>
              <a:t>male</a:t>
            </a:r>
            <a:r>
              <a:rPr dirty="0" sz="1100" spc="-2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6</a:t>
            </a:r>
            <a:r>
              <a:rPr dirty="0" sz="1100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female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F2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doctors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are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applying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training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numbers,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but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there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are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only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3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posts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available. </a:t>
            </a:r>
            <a:r>
              <a:rPr dirty="0" sz="1100">
                <a:latin typeface="Arial"/>
                <a:cs typeface="Arial"/>
              </a:rPr>
              <a:t>How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many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possible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combinations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can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formed?</a:t>
            </a:r>
            <a:r>
              <a:rPr dirty="0" sz="1100" spc="1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How </a:t>
            </a:r>
            <a:r>
              <a:rPr dirty="0" sz="1100">
                <a:latin typeface="Arial"/>
                <a:cs typeface="Arial"/>
              </a:rPr>
              <a:t>many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those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will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female</a:t>
            </a:r>
            <a:r>
              <a:rPr dirty="0" sz="1100" spc="-4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only?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100">
              <a:latin typeface="Arial"/>
              <a:cs typeface="Arial"/>
            </a:endParaRPr>
          </a:p>
          <a:p>
            <a:pPr marL="88900" marR="436880">
              <a:lnSpc>
                <a:spcPct val="102600"/>
              </a:lnSpc>
            </a:pPr>
            <a:r>
              <a:rPr dirty="0" sz="1100" spc="175" i="1">
                <a:solidFill>
                  <a:srgbClr val="FF0000"/>
                </a:solidFill>
                <a:latin typeface="Menlo"/>
                <a:cs typeface="Menlo"/>
              </a:rPr>
              <a:t>♡</a:t>
            </a:r>
            <a:r>
              <a:rPr dirty="0" sz="1100" spc="-360" i="1">
                <a:solidFill>
                  <a:srgbClr val="FF0000"/>
                </a:solidFill>
                <a:latin typeface="Menlo"/>
                <a:cs typeface="Menlo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UK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National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Lottery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selects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6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numbers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random </a:t>
            </a:r>
            <a:r>
              <a:rPr dirty="0" sz="1100">
                <a:latin typeface="Arial"/>
                <a:cs typeface="Arial"/>
              </a:rPr>
              <a:t>from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1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49.</a:t>
            </a:r>
            <a:r>
              <a:rPr dirty="0" sz="1100" spc="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bought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one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ticket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-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what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probability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will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jackpot?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275" i="1">
                <a:latin typeface="Menlo"/>
                <a:cs typeface="Menlo"/>
              </a:rPr>
              <a:t>♡</a:t>
            </a:r>
            <a:r>
              <a:rPr dirty="0" spc="-385" i="1">
                <a:latin typeface="Menlo"/>
                <a:cs typeface="Menlo"/>
              </a:rPr>
              <a:t> </a:t>
            </a:r>
            <a:r>
              <a:rPr dirty="0"/>
              <a:t>Winning</a:t>
            </a:r>
            <a:r>
              <a:rPr dirty="0" spc="65"/>
              <a:t> </a:t>
            </a:r>
            <a:r>
              <a:rPr dirty="0"/>
              <a:t>the</a:t>
            </a:r>
            <a:r>
              <a:rPr dirty="0" spc="65"/>
              <a:t> </a:t>
            </a:r>
            <a:r>
              <a:rPr dirty="0"/>
              <a:t>National</a:t>
            </a:r>
            <a:r>
              <a:rPr dirty="0" spc="65"/>
              <a:t> </a:t>
            </a:r>
            <a:r>
              <a:rPr dirty="0" spc="-10"/>
              <a:t>Lottery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386029"/>
            <a:ext cx="76809" cy="7680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11695" y="314120"/>
            <a:ext cx="3660140" cy="242316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just" marL="25400" marR="296545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Lotto,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winning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ticket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has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six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numbers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from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1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49 </a:t>
            </a:r>
            <a:r>
              <a:rPr dirty="0" sz="1100">
                <a:latin typeface="Arial"/>
                <a:cs typeface="Arial"/>
              </a:rPr>
              <a:t>matching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those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balls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drawn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Wednesday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or </a:t>
            </a:r>
            <a:r>
              <a:rPr dirty="0" sz="1100" spc="-10">
                <a:latin typeface="Arial"/>
                <a:cs typeface="Arial"/>
              </a:rPr>
              <a:t>Saturday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evening.</a:t>
            </a:r>
            <a:endParaRPr sz="1100">
              <a:latin typeface="Arial"/>
              <a:cs typeface="Arial"/>
            </a:endParaRPr>
          </a:p>
          <a:p>
            <a:pPr marL="25400" marR="147955">
              <a:lnSpc>
                <a:spcPct val="102699"/>
              </a:lnSpc>
              <a:spcBef>
                <a:spcPts val="530"/>
              </a:spcBef>
            </a:pP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‘experiment’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consists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drawing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balls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from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box </a:t>
            </a:r>
            <a:r>
              <a:rPr dirty="0" sz="1100" spc="-10">
                <a:latin typeface="Arial"/>
                <a:cs typeface="Arial"/>
              </a:rPr>
              <a:t>containing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49</a:t>
            </a:r>
            <a:r>
              <a:rPr dirty="0" sz="1100" spc="-10">
                <a:latin typeface="Arial"/>
                <a:cs typeface="Arial"/>
              </a:rPr>
              <a:t> balls.</a:t>
            </a:r>
            <a:endParaRPr sz="1100">
              <a:latin typeface="Arial"/>
              <a:cs typeface="Arial"/>
            </a:endParaRPr>
          </a:p>
          <a:p>
            <a:pPr marL="25400" marR="17780">
              <a:lnSpc>
                <a:spcPct val="102600"/>
              </a:lnSpc>
              <a:spcBef>
                <a:spcPts val="535"/>
              </a:spcBef>
            </a:pP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‘randomness’,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equal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chance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any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set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5">
                <a:latin typeface="Arial"/>
                <a:cs typeface="Arial"/>
              </a:rPr>
              <a:t> six </a:t>
            </a:r>
            <a:r>
              <a:rPr dirty="0" sz="1100">
                <a:latin typeface="Arial"/>
                <a:cs typeface="Arial"/>
              </a:rPr>
              <a:t>numbers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being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drawn,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ensured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spinning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machine, </a:t>
            </a:r>
            <a:r>
              <a:rPr dirty="0" sz="1100">
                <a:latin typeface="Arial"/>
                <a:cs typeface="Arial"/>
              </a:rPr>
              <a:t>which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rotates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balls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during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selection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process.</a:t>
            </a:r>
            <a:endParaRPr sz="11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570"/>
              </a:spcBef>
            </a:pPr>
            <a:r>
              <a:rPr dirty="0" sz="1100">
                <a:latin typeface="Arial"/>
                <a:cs typeface="Arial"/>
              </a:rPr>
              <a:t>What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probability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winning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jackpot?</a:t>
            </a:r>
            <a:endParaRPr sz="1100">
              <a:latin typeface="Arial"/>
              <a:cs typeface="Arial"/>
            </a:endParaRPr>
          </a:p>
          <a:p>
            <a:pPr marL="25400" marR="75565">
              <a:lnSpc>
                <a:spcPct val="102600"/>
              </a:lnSpc>
              <a:spcBef>
                <a:spcPts val="530"/>
              </a:spcBef>
            </a:pPr>
            <a:r>
              <a:rPr dirty="0" sz="1100" spc="-25">
                <a:latin typeface="Arial"/>
                <a:cs typeface="Arial"/>
              </a:rPr>
              <a:t>Total </a:t>
            </a:r>
            <a:r>
              <a:rPr dirty="0" sz="1100">
                <a:latin typeface="Arial"/>
                <a:cs typeface="Arial"/>
              </a:rPr>
              <a:t>number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possible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selections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six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balls/numbers</a:t>
            </a:r>
            <a:r>
              <a:rPr dirty="0" sz="1100" spc="-25">
                <a:latin typeface="Arial"/>
                <a:cs typeface="Arial"/>
              </a:rPr>
              <a:t> is </a:t>
            </a:r>
            <a:r>
              <a:rPr dirty="0" sz="1100" spc="-10">
                <a:latin typeface="Arial"/>
                <a:cs typeface="Arial"/>
              </a:rPr>
              <a:t>given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baseline="27777" sz="1200" spc="-15">
                <a:latin typeface="Arial"/>
                <a:cs typeface="Arial"/>
              </a:rPr>
              <a:t>49</a:t>
            </a:r>
            <a:r>
              <a:rPr dirty="0" sz="1100" spc="-10" i="1">
                <a:latin typeface="Arial"/>
                <a:cs typeface="Arial"/>
              </a:rPr>
              <a:t>C</a:t>
            </a:r>
            <a:r>
              <a:rPr dirty="0" baseline="-13888" sz="1200" spc="-15">
                <a:latin typeface="Arial"/>
                <a:cs typeface="Arial"/>
              </a:rPr>
              <a:t>6</a:t>
            </a:r>
            <a:r>
              <a:rPr dirty="0" sz="1100" spc="-1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570"/>
              </a:spcBef>
            </a:pPr>
            <a:r>
              <a:rPr dirty="0" sz="1100">
                <a:latin typeface="Arial"/>
                <a:cs typeface="Arial"/>
              </a:rPr>
              <a:t>There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only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1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selection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winning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jackpot.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Hence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969937"/>
            <a:ext cx="76809" cy="7680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1381772"/>
            <a:ext cx="76809" cy="7680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007" y="1965680"/>
            <a:ext cx="76809" cy="7680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1007" y="2205443"/>
            <a:ext cx="76809" cy="7680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1007" y="2617279"/>
            <a:ext cx="76809" cy="76809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209294" y="2814242"/>
            <a:ext cx="21894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>
                <a:latin typeface="Times New Roman"/>
                <a:cs typeface="Times New Roman"/>
              </a:rPr>
              <a:t>jackpot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170">
                <a:latin typeface="Arial"/>
                <a:cs typeface="Arial"/>
              </a:rPr>
              <a:t> </a:t>
            </a:r>
            <a:r>
              <a:rPr dirty="0" u="sng" baseline="37878" sz="1650" spc="24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 </a:t>
            </a:r>
            <a:r>
              <a:rPr dirty="0" u="sng" baseline="37878" sz="165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dirty="0" u="sng" baseline="37878" sz="1650" spc="217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 </a:t>
            </a:r>
            <a:r>
              <a:rPr dirty="0" baseline="37878" sz="1650" spc="254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7</a:t>
            </a:r>
            <a:r>
              <a:rPr dirty="0" sz="1100" spc="-10" i="1">
                <a:latin typeface="Arial"/>
                <a:cs typeface="Arial"/>
              </a:rPr>
              <a:t>.</a:t>
            </a:r>
            <a:r>
              <a:rPr dirty="0" sz="1100" spc="-10">
                <a:latin typeface="Arial"/>
                <a:cs typeface="Arial"/>
              </a:rPr>
              <a:t>15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175" i="1">
                <a:latin typeface="Menlo"/>
                <a:cs typeface="Menlo"/>
              </a:rPr>
              <a:t>×</a:t>
            </a:r>
            <a:r>
              <a:rPr dirty="0" sz="1100" spc="-385" i="1">
                <a:latin typeface="Menlo"/>
                <a:cs typeface="Menlo"/>
              </a:rPr>
              <a:t> </a:t>
            </a:r>
            <a:r>
              <a:rPr dirty="0" sz="1100" spc="-20">
                <a:latin typeface="Arial"/>
                <a:cs typeface="Arial"/>
              </a:rPr>
              <a:t>10</a:t>
            </a:r>
            <a:r>
              <a:rPr dirty="0" baseline="31250" sz="1200" spc="-30" i="1">
                <a:latin typeface="Arial"/>
                <a:cs typeface="Arial"/>
              </a:rPr>
              <a:t>−</a:t>
            </a:r>
            <a:r>
              <a:rPr dirty="0" baseline="31250" sz="1200" spc="-30">
                <a:latin typeface="Arial"/>
                <a:cs typeface="Arial"/>
              </a:rPr>
              <a:t>8</a:t>
            </a:r>
            <a:r>
              <a:rPr dirty="0" sz="1100" spc="-20" i="1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21</a:t>
            </a:fld>
          </a:p>
        </p:txBody>
      </p:sp>
      <p:sp>
        <p:nvSpPr>
          <p:cNvPr id="11" name="object 11" descr=""/>
          <p:cNvSpPr txBox="1"/>
          <p:nvPr/>
        </p:nvSpPr>
        <p:spPr>
          <a:xfrm>
            <a:off x="321894" y="2779875"/>
            <a:ext cx="2609850" cy="539115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algn="r" marR="546735">
              <a:lnSpc>
                <a:spcPct val="100000"/>
              </a:lnSpc>
              <a:spcBef>
                <a:spcPts val="800"/>
              </a:spcBef>
            </a:pPr>
            <a:r>
              <a:rPr dirty="0" sz="800" spc="-20">
                <a:latin typeface="Arial"/>
                <a:cs typeface="Arial"/>
              </a:rPr>
              <a:t>49</a:t>
            </a:r>
            <a:r>
              <a:rPr dirty="0" baseline="-15151" sz="1650" spc="-30" i="1">
                <a:latin typeface="Arial"/>
                <a:cs typeface="Arial"/>
              </a:rPr>
              <a:t>C</a:t>
            </a:r>
            <a:r>
              <a:rPr dirty="0" baseline="-34722" sz="1200" spc="-30">
                <a:latin typeface="Arial"/>
                <a:cs typeface="Arial"/>
              </a:rPr>
              <a:t>6</a:t>
            </a:r>
            <a:endParaRPr baseline="-34722" sz="12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705"/>
              </a:spcBef>
            </a:pPr>
            <a:r>
              <a:rPr dirty="0" sz="1100">
                <a:latin typeface="Arial"/>
                <a:cs typeface="Arial"/>
              </a:rPr>
              <a:t>which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roughly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1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13.98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85">
                <a:latin typeface="Arial"/>
                <a:cs typeface="Arial"/>
              </a:rPr>
              <a:t>(</a:t>
            </a:r>
            <a:r>
              <a:rPr dirty="0" sz="1100" spc="85" i="1">
                <a:latin typeface="Menlo"/>
                <a:cs typeface="Menlo"/>
              </a:rPr>
              <a:t>≈</a:t>
            </a:r>
            <a:r>
              <a:rPr dirty="0" sz="1100" spc="-360" i="1">
                <a:latin typeface="Menlo"/>
                <a:cs typeface="Menlo"/>
              </a:rPr>
              <a:t> </a:t>
            </a:r>
            <a:r>
              <a:rPr dirty="0" sz="1100">
                <a:latin typeface="Arial"/>
                <a:cs typeface="Arial"/>
              </a:rPr>
              <a:t>14)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million.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275" i="1">
                <a:latin typeface="Menlo"/>
                <a:cs typeface="Menlo"/>
              </a:rPr>
              <a:t>♡</a:t>
            </a:r>
            <a:r>
              <a:rPr dirty="0" spc="-385" i="1">
                <a:latin typeface="Menlo"/>
                <a:cs typeface="Menlo"/>
              </a:rPr>
              <a:t> </a:t>
            </a:r>
            <a:r>
              <a:rPr dirty="0"/>
              <a:t>Winning</a:t>
            </a:r>
            <a:r>
              <a:rPr dirty="0" spc="65"/>
              <a:t> </a:t>
            </a:r>
            <a:r>
              <a:rPr dirty="0"/>
              <a:t>the</a:t>
            </a:r>
            <a:r>
              <a:rPr dirty="0" spc="65"/>
              <a:t> </a:t>
            </a:r>
            <a:r>
              <a:rPr dirty="0"/>
              <a:t>National</a:t>
            </a:r>
            <a:r>
              <a:rPr dirty="0" spc="65"/>
              <a:t> </a:t>
            </a:r>
            <a:r>
              <a:rPr dirty="0" spc="-10"/>
              <a:t>Lottery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360070"/>
            <a:ext cx="76809" cy="7680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24395" y="288161"/>
            <a:ext cx="25488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Arial"/>
                <a:cs typeface="Arial"/>
              </a:rPr>
              <a:t>Other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prizes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are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given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fewer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matches.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230083" y="614462"/>
            <a:ext cx="9937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>
                <a:latin typeface="Times New Roman"/>
                <a:cs typeface="Times New Roman"/>
              </a:rPr>
              <a:t>5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50">
                <a:latin typeface="Times New Roman"/>
                <a:cs typeface="Times New Roman"/>
              </a:rPr>
              <a:t>matches</a:t>
            </a:r>
            <a:r>
              <a:rPr dirty="0" sz="1100" spc="50">
                <a:latin typeface="Arial"/>
                <a:cs typeface="Arial"/>
              </a:rPr>
              <a:t>)</a:t>
            </a:r>
            <a:r>
              <a:rPr dirty="0" sz="1100" spc="55">
                <a:latin typeface="Arial"/>
                <a:cs typeface="Arial"/>
              </a:rPr>
              <a:t> </a:t>
            </a:r>
            <a:r>
              <a:rPr dirty="0" sz="1100" spc="150">
                <a:latin typeface="Arial"/>
                <a:cs typeface="Arial"/>
              </a:rPr>
              <a:t>=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2264371" y="731075"/>
            <a:ext cx="545465" cy="0"/>
          </a:xfrm>
          <a:custGeom>
            <a:avLst/>
            <a:gdLst/>
            <a:ahLst/>
            <a:cxnLst/>
            <a:rect l="l" t="t" r="r" b="b"/>
            <a:pathLst>
              <a:path w="545464" h="0">
                <a:moveTo>
                  <a:pt x="0" y="0"/>
                </a:moveTo>
                <a:lnTo>
                  <a:pt x="54526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2226271" y="436636"/>
            <a:ext cx="615315" cy="426084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55"/>
              </a:spcBef>
            </a:pPr>
            <a:r>
              <a:rPr dirty="0" sz="800">
                <a:latin typeface="Arial"/>
                <a:cs typeface="Arial"/>
              </a:rPr>
              <a:t>6</a:t>
            </a:r>
            <a:r>
              <a:rPr dirty="0" baseline="-20202" sz="1650" i="1">
                <a:latin typeface="Arial"/>
                <a:cs typeface="Arial"/>
              </a:rPr>
              <a:t>C</a:t>
            </a:r>
            <a:r>
              <a:rPr dirty="0" baseline="-38194" sz="1200">
                <a:latin typeface="Arial"/>
                <a:cs typeface="Arial"/>
              </a:rPr>
              <a:t>5</a:t>
            </a:r>
            <a:r>
              <a:rPr dirty="0" baseline="-38194" sz="1200" spc="209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43</a:t>
            </a:r>
            <a:r>
              <a:rPr dirty="0" baseline="-20202" sz="1650" spc="-30" i="1">
                <a:latin typeface="Arial"/>
                <a:cs typeface="Arial"/>
              </a:rPr>
              <a:t>C</a:t>
            </a:r>
            <a:r>
              <a:rPr dirty="0" baseline="-41666" sz="1200" spc="-30">
                <a:latin typeface="Arial"/>
                <a:cs typeface="Arial"/>
              </a:rPr>
              <a:t>1</a:t>
            </a:r>
            <a:endParaRPr baseline="-41666"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54"/>
              </a:spcBef>
            </a:pPr>
            <a:r>
              <a:rPr dirty="0" sz="800" spc="-20">
                <a:latin typeface="Arial"/>
                <a:cs typeface="Arial"/>
              </a:rPr>
              <a:t>49</a:t>
            </a:r>
            <a:r>
              <a:rPr dirty="0" baseline="-15151" sz="1650" spc="-30" i="1">
                <a:latin typeface="Arial"/>
                <a:cs typeface="Arial"/>
              </a:rPr>
              <a:t>C</a:t>
            </a:r>
            <a:r>
              <a:rPr dirty="0" baseline="-34722" sz="1200" spc="-30">
                <a:latin typeface="Arial"/>
                <a:cs typeface="Arial"/>
              </a:rPr>
              <a:t>6</a:t>
            </a:r>
            <a:endParaRPr baseline="-34722" sz="12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589807" y="594587"/>
            <a:ext cx="16573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65" i="1">
                <a:latin typeface="Arial"/>
                <a:cs typeface="Arial"/>
              </a:rPr>
              <a:t>−</a:t>
            </a:r>
            <a:r>
              <a:rPr dirty="0" sz="800" spc="65">
                <a:latin typeface="Arial"/>
                <a:cs typeface="Arial"/>
              </a:rPr>
              <a:t>5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850603" y="614462"/>
            <a:ext cx="9493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97890" algn="l"/>
              </a:tabLst>
            </a:pP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1</a:t>
            </a:r>
            <a:r>
              <a:rPr dirty="0" sz="1100" spc="-10" i="1">
                <a:latin typeface="Arial"/>
                <a:cs typeface="Arial"/>
              </a:rPr>
              <a:t>.</a:t>
            </a:r>
            <a:r>
              <a:rPr dirty="0" sz="1100" spc="-10">
                <a:latin typeface="Arial"/>
                <a:cs typeface="Arial"/>
              </a:rPr>
              <a:t>84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 spc="175" i="1">
                <a:latin typeface="Menlo"/>
                <a:cs typeface="Menlo"/>
              </a:rPr>
              <a:t>×</a:t>
            </a:r>
            <a:r>
              <a:rPr dirty="0" sz="1100" spc="-415" i="1">
                <a:latin typeface="Menlo"/>
                <a:cs typeface="Menlo"/>
              </a:rPr>
              <a:t> </a:t>
            </a:r>
            <a:r>
              <a:rPr dirty="0" sz="1100" spc="-25">
                <a:latin typeface="Arial"/>
                <a:cs typeface="Arial"/>
              </a:rPr>
              <a:t>10</a:t>
            </a:r>
            <a:r>
              <a:rPr dirty="0" sz="1100">
                <a:latin typeface="Arial"/>
                <a:cs typeface="Arial"/>
              </a:rPr>
              <a:t>	</a:t>
            </a:r>
            <a:r>
              <a:rPr dirty="0" sz="1100" spc="-50" i="1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230083" y="1001736"/>
            <a:ext cx="9937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>
                <a:latin typeface="Times New Roman"/>
                <a:cs typeface="Times New Roman"/>
              </a:rPr>
              <a:t>4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50">
                <a:latin typeface="Times New Roman"/>
                <a:cs typeface="Times New Roman"/>
              </a:rPr>
              <a:t>matches</a:t>
            </a:r>
            <a:r>
              <a:rPr dirty="0" sz="1100" spc="50">
                <a:latin typeface="Arial"/>
                <a:cs typeface="Arial"/>
              </a:rPr>
              <a:t>)</a:t>
            </a:r>
            <a:r>
              <a:rPr dirty="0" sz="1100" spc="55">
                <a:latin typeface="Arial"/>
                <a:cs typeface="Arial"/>
              </a:rPr>
              <a:t> </a:t>
            </a:r>
            <a:r>
              <a:rPr dirty="0" sz="1100" spc="150">
                <a:latin typeface="Arial"/>
                <a:cs typeface="Arial"/>
              </a:rPr>
              <a:t>=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2264371" y="1118349"/>
            <a:ext cx="545465" cy="0"/>
          </a:xfrm>
          <a:custGeom>
            <a:avLst/>
            <a:gdLst/>
            <a:ahLst/>
            <a:cxnLst/>
            <a:rect l="l" t="t" r="r" b="b"/>
            <a:pathLst>
              <a:path w="545464" h="0">
                <a:moveTo>
                  <a:pt x="0" y="0"/>
                </a:moveTo>
                <a:lnTo>
                  <a:pt x="54526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2226271" y="823910"/>
            <a:ext cx="615315" cy="426084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55"/>
              </a:spcBef>
            </a:pPr>
            <a:r>
              <a:rPr dirty="0" sz="800">
                <a:latin typeface="Arial"/>
                <a:cs typeface="Arial"/>
              </a:rPr>
              <a:t>6</a:t>
            </a:r>
            <a:r>
              <a:rPr dirty="0" baseline="-20202" sz="1650" i="1">
                <a:latin typeface="Arial"/>
                <a:cs typeface="Arial"/>
              </a:rPr>
              <a:t>C</a:t>
            </a:r>
            <a:r>
              <a:rPr dirty="0" baseline="-41666" sz="1200">
                <a:latin typeface="Arial"/>
                <a:cs typeface="Arial"/>
              </a:rPr>
              <a:t>4</a:t>
            </a:r>
            <a:r>
              <a:rPr dirty="0" baseline="-41666" sz="1200" spc="209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43</a:t>
            </a:r>
            <a:r>
              <a:rPr dirty="0" baseline="-20202" sz="1650" spc="-30" i="1">
                <a:latin typeface="Arial"/>
                <a:cs typeface="Arial"/>
              </a:rPr>
              <a:t>C</a:t>
            </a:r>
            <a:r>
              <a:rPr dirty="0" baseline="-41666" sz="1200" spc="-30">
                <a:latin typeface="Arial"/>
                <a:cs typeface="Arial"/>
              </a:rPr>
              <a:t>2</a:t>
            </a:r>
            <a:endParaRPr baseline="-41666"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54"/>
              </a:spcBef>
            </a:pPr>
            <a:r>
              <a:rPr dirty="0" sz="800" spc="-20">
                <a:latin typeface="Arial"/>
                <a:cs typeface="Arial"/>
              </a:rPr>
              <a:t>49</a:t>
            </a:r>
            <a:r>
              <a:rPr dirty="0" baseline="-15151" sz="1650" spc="-30" i="1">
                <a:latin typeface="Arial"/>
                <a:cs typeface="Arial"/>
              </a:rPr>
              <a:t>C</a:t>
            </a:r>
            <a:r>
              <a:rPr dirty="0" baseline="-34722" sz="1200" spc="-30">
                <a:latin typeface="Arial"/>
                <a:cs typeface="Arial"/>
              </a:rPr>
              <a:t>6</a:t>
            </a:r>
            <a:endParaRPr baseline="-34722" sz="12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850603" y="1001736"/>
            <a:ext cx="10579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0</a:t>
            </a:r>
            <a:r>
              <a:rPr dirty="0" sz="1100" spc="-10" i="1">
                <a:latin typeface="Arial"/>
                <a:cs typeface="Arial"/>
              </a:rPr>
              <a:t>.</a:t>
            </a:r>
            <a:r>
              <a:rPr dirty="0" sz="1100" spc="-10">
                <a:latin typeface="Arial"/>
                <a:cs typeface="Arial"/>
              </a:rPr>
              <a:t>0009686197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230083" y="1389010"/>
            <a:ext cx="9937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>
                <a:latin typeface="Times New Roman"/>
                <a:cs typeface="Times New Roman"/>
              </a:rPr>
              <a:t>3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50">
                <a:latin typeface="Times New Roman"/>
                <a:cs typeface="Times New Roman"/>
              </a:rPr>
              <a:t>matches</a:t>
            </a:r>
            <a:r>
              <a:rPr dirty="0" sz="1100" spc="50">
                <a:latin typeface="Arial"/>
                <a:cs typeface="Arial"/>
              </a:rPr>
              <a:t>)</a:t>
            </a:r>
            <a:r>
              <a:rPr dirty="0" sz="1100" spc="55">
                <a:latin typeface="Arial"/>
                <a:cs typeface="Arial"/>
              </a:rPr>
              <a:t> </a:t>
            </a:r>
            <a:r>
              <a:rPr dirty="0" sz="1100" spc="150">
                <a:latin typeface="Arial"/>
                <a:cs typeface="Arial"/>
              </a:rPr>
              <a:t>=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2264371" y="1505623"/>
            <a:ext cx="545465" cy="0"/>
          </a:xfrm>
          <a:custGeom>
            <a:avLst/>
            <a:gdLst/>
            <a:ahLst/>
            <a:cxnLst/>
            <a:rect l="l" t="t" r="r" b="b"/>
            <a:pathLst>
              <a:path w="545464" h="0">
                <a:moveTo>
                  <a:pt x="0" y="0"/>
                </a:moveTo>
                <a:lnTo>
                  <a:pt x="54526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2226271" y="1211184"/>
            <a:ext cx="615315" cy="426084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55"/>
              </a:spcBef>
            </a:pPr>
            <a:r>
              <a:rPr dirty="0" sz="800">
                <a:latin typeface="Arial"/>
                <a:cs typeface="Arial"/>
              </a:rPr>
              <a:t>6</a:t>
            </a:r>
            <a:r>
              <a:rPr dirty="0" baseline="-20202" sz="1650" i="1">
                <a:latin typeface="Arial"/>
                <a:cs typeface="Arial"/>
              </a:rPr>
              <a:t>C</a:t>
            </a:r>
            <a:r>
              <a:rPr dirty="0" baseline="-41666" sz="1200">
                <a:latin typeface="Arial"/>
                <a:cs typeface="Arial"/>
              </a:rPr>
              <a:t>3</a:t>
            </a:r>
            <a:r>
              <a:rPr dirty="0" baseline="-41666" sz="1200" spc="209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43</a:t>
            </a:r>
            <a:r>
              <a:rPr dirty="0" baseline="-20202" sz="1650" spc="-30" i="1">
                <a:latin typeface="Arial"/>
                <a:cs typeface="Arial"/>
              </a:rPr>
              <a:t>C</a:t>
            </a:r>
            <a:r>
              <a:rPr dirty="0" baseline="-41666" sz="1200" spc="-30">
                <a:latin typeface="Arial"/>
                <a:cs typeface="Arial"/>
              </a:rPr>
              <a:t>3</a:t>
            </a:r>
            <a:endParaRPr baseline="-41666"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54"/>
              </a:spcBef>
            </a:pPr>
            <a:r>
              <a:rPr dirty="0" sz="800" spc="-20">
                <a:latin typeface="Arial"/>
                <a:cs typeface="Arial"/>
              </a:rPr>
              <a:t>49</a:t>
            </a:r>
            <a:r>
              <a:rPr dirty="0" baseline="-15151" sz="1650" spc="-30" i="1">
                <a:latin typeface="Arial"/>
                <a:cs typeface="Arial"/>
              </a:rPr>
              <a:t>C</a:t>
            </a:r>
            <a:r>
              <a:rPr dirty="0" baseline="-34722" sz="1200" spc="-30">
                <a:latin typeface="Arial"/>
                <a:cs typeface="Arial"/>
              </a:rPr>
              <a:t>6</a:t>
            </a:r>
            <a:endParaRPr baseline="-34722" sz="12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850603" y="1389010"/>
            <a:ext cx="82676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0</a:t>
            </a:r>
            <a:r>
              <a:rPr dirty="0" sz="1100" spc="-10" i="1">
                <a:latin typeface="Arial"/>
                <a:cs typeface="Arial"/>
              </a:rPr>
              <a:t>.</a:t>
            </a:r>
            <a:r>
              <a:rPr dirty="0" sz="1100" spc="-10">
                <a:latin typeface="Arial"/>
                <a:cs typeface="Arial"/>
              </a:rPr>
              <a:t>0176504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1763636"/>
            <a:ext cx="76809" cy="76809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624395" y="1691727"/>
            <a:ext cx="29660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Arial"/>
                <a:cs typeface="Arial"/>
              </a:rPr>
              <a:t>Matching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5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6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balls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&amp;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matching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bonus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ball.</a:t>
            </a:r>
            <a:endParaRPr sz="110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953325" y="1994051"/>
            <a:ext cx="29787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>
                <a:latin typeface="Times New Roman"/>
                <a:cs typeface="Times New Roman"/>
              </a:rPr>
              <a:t>5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50">
                <a:latin typeface="Times New Roman"/>
                <a:cs typeface="Times New Roman"/>
              </a:rPr>
              <a:t>matches</a:t>
            </a:r>
            <a:r>
              <a:rPr dirty="0" sz="1100" spc="285">
                <a:latin typeface="Times New Roman"/>
                <a:cs typeface="Times New Roman"/>
              </a:rPr>
              <a:t> </a:t>
            </a:r>
            <a:r>
              <a:rPr dirty="0" sz="1100" spc="200">
                <a:latin typeface="Arial"/>
                <a:cs typeface="Arial"/>
              </a:rPr>
              <a:t>+</a:t>
            </a:r>
            <a:r>
              <a:rPr dirty="0" sz="1100" spc="254">
                <a:latin typeface="Arial"/>
                <a:cs typeface="Arial"/>
              </a:rPr>
              <a:t> </a:t>
            </a:r>
            <a:r>
              <a:rPr dirty="0" sz="1100" spc="60">
                <a:latin typeface="Times New Roman"/>
                <a:cs typeface="Times New Roman"/>
              </a:rPr>
              <a:t>bonus</a:t>
            </a:r>
            <a:r>
              <a:rPr dirty="0" sz="1100" spc="60">
                <a:latin typeface="Arial"/>
                <a:cs typeface="Arial"/>
              </a:rPr>
              <a:t>)</a:t>
            </a:r>
            <a:r>
              <a:rPr dirty="0" sz="1100" spc="5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130">
                <a:latin typeface="Arial"/>
                <a:cs typeface="Arial"/>
              </a:rPr>
              <a:t> </a:t>
            </a:r>
            <a:r>
              <a:rPr dirty="0" u="sng" baseline="37878" sz="1650" spc="179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 </a:t>
            </a:r>
            <a:r>
              <a:rPr dirty="0" u="sng" baseline="37878" sz="165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6</a:t>
            </a:r>
            <a:r>
              <a:rPr dirty="0" u="sng" baseline="37878" sz="1650" spc="157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 </a:t>
            </a:r>
            <a:r>
              <a:rPr dirty="0" baseline="37878" sz="1650" spc="195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4</a:t>
            </a:r>
            <a:r>
              <a:rPr dirty="0" sz="1100" spc="-10" i="1">
                <a:latin typeface="Arial"/>
                <a:cs typeface="Arial"/>
              </a:rPr>
              <a:t>.</a:t>
            </a:r>
            <a:r>
              <a:rPr dirty="0" sz="1100" spc="-10">
                <a:latin typeface="Arial"/>
                <a:cs typeface="Arial"/>
              </a:rPr>
              <a:t>29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 spc="175" i="1">
                <a:latin typeface="Menlo"/>
                <a:cs typeface="Menlo"/>
              </a:rPr>
              <a:t>×</a:t>
            </a:r>
            <a:r>
              <a:rPr dirty="0" sz="1100" spc="-409" i="1">
                <a:latin typeface="Menlo"/>
                <a:cs typeface="Menlo"/>
              </a:rPr>
              <a:t> </a:t>
            </a:r>
            <a:r>
              <a:rPr dirty="0" sz="1100" spc="-20">
                <a:latin typeface="Arial"/>
                <a:cs typeface="Arial"/>
              </a:rPr>
              <a:t>10</a:t>
            </a:r>
            <a:r>
              <a:rPr dirty="0" baseline="31250" sz="1200" spc="-30" i="1">
                <a:latin typeface="Arial"/>
                <a:cs typeface="Arial"/>
              </a:rPr>
              <a:t>−</a:t>
            </a:r>
            <a:r>
              <a:rPr dirty="0" baseline="31250" sz="1200" spc="-30">
                <a:latin typeface="Arial"/>
                <a:cs typeface="Arial"/>
              </a:rPr>
              <a:t>7</a:t>
            </a:r>
            <a:r>
              <a:rPr dirty="0" sz="1100" spc="-20" i="1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98995" y="1969729"/>
            <a:ext cx="3664585" cy="134239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algn="ctr" marL="681355">
              <a:lnSpc>
                <a:spcPct val="100000"/>
              </a:lnSpc>
              <a:spcBef>
                <a:spcPts val="720"/>
              </a:spcBef>
            </a:pPr>
            <a:r>
              <a:rPr dirty="0" sz="800" spc="-20">
                <a:latin typeface="Arial"/>
                <a:cs typeface="Arial"/>
              </a:rPr>
              <a:t>49</a:t>
            </a:r>
            <a:r>
              <a:rPr dirty="0" baseline="-15151" sz="1650" spc="-30" i="1">
                <a:latin typeface="Arial"/>
                <a:cs typeface="Arial"/>
              </a:rPr>
              <a:t>C</a:t>
            </a:r>
            <a:r>
              <a:rPr dirty="0" baseline="-34722" sz="1200" spc="-30">
                <a:latin typeface="Arial"/>
                <a:cs typeface="Arial"/>
              </a:rPr>
              <a:t>6</a:t>
            </a:r>
            <a:endParaRPr baseline="-34722"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dirty="0" sz="1100">
                <a:latin typeface="Arial"/>
                <a:cs typeface="Arial"/>
              </a:rPr>
              <a:t>Adding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all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these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probabilities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winning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some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kind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prize</a:t>
            </a:r>
            <a:endParaRPr sz="1100">
              <a:latin typeface="Arial"/>
              <a:cs typeface="Arial"/>
            </a:endParaRPr>
          </a:p>
          <a:p>
            <a:pPr algn="ctr" marL="22225">
              <a:lnSpc>
                <a:spcPct val="100000"/>
              </a:lnSpc>
              <a:spcBef>
                <a:spcPts val="565"/>
              </a:spcBef>
            </a:pPr>
            <a:r>
              <a:rPr dirty="0" sz="1100" spc="60" i="1">
                <a:latin typeface="Arial"/>
                <a:cs typeface="Arial"/>
              </a:rPr>
              <a:t>P</a:t>
            </a:r>
            <a:r>
              <a:rPr dirty="0" sz="1100" spc="60">
                <a:latin typeface="Arial"/>
                <a:cs typeface="Arial"/>
              </a:rPr>
              <a:t>(</a:t>
            </a:r>
            <a:r>
              <a:rPr dirty="0" sz="1100" spc="60">
                <a:latin typeface="Times New Roman"/>
                <a:cs typeface="Times New Roman"/>
              </a:rPr>
              <a:t>winning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60">
                <a:latin typeface="Times New Roman"/>
                <a:cs typeface="Times New Roman"/>
              </a:rPr>
              <a:t>any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55">
                <a:latin typeface="Times New Roman"/>
                <a:cs typeface="Times New Roman"/>
              </a:rPr>
              <a:t>prize</a:t>
            </a:r>
            <a:r>
              <a:rPr dirty="0" sz="1100" spc="55">
                <a:latin typeface="Arial"/>
                <a:cs typeface="Arial"/>
              </a:rPr>
              <a:t>)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175" i="1">
                <a:latin typeface="Menlo"/>
                <a:cs typeface="Menlo"/>
              </a:rPr>
              <a:t>≈</a:t>
            </a:r>
            <a:r>
              <a:rPr dirty="0" sz="1100" spc="-360" i="1">
                <a:latin typeface="Menlo"/>
                <a:cs typeface="Menlo"/>
              </a:rPr>
              <a:t> </a:t>
            </a:r>
            <a:r>
              <a:rPr dirty="0" sz="1100">
                <a:latin typeface="Arial"/>
                <a:cs typeface="Arial"/>
              </a:rPr>
              <a:t>0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>
                <a:latin typeface="Arial"/>
                <a:cs typeface="Arial"/>
              </a:rPr>
              <a:t>0186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175" i="1">
                <a:latin typeface="Menlo"/>
                <a:cs typeface="Menlo"/>
              </a:rPr>
              <a:t>≈</a:t>
            </a:r>
            <a:r>
              <a:rPr dirty="0" sz="1100" spc="-355" i="1">
                <a:latin typeface="Menlo"/>
                <a:cs typeface="Menlo"/>
              </a:rPr>
              <a:t> </a:t>
            </a:r>
            <a:r>
              <a:rPr dirty="0" sz="1100" spc="-10">
                <a:latin typeface="Arial"/>
                <a:cs typeface="Arial"/>
              </a:rPr>
              <a:t>1</a:t>
            </a:r>
            <a:r>
              <a:rPr dirty="0" sz="1100" spc="-10" i="1">
                <a:latin typeface="Arial"/>
                <a:cs typeface="Arial"/>
              </a:rPr>
              <a:t>/</a:t>
            </a:r>
            <a:r>
              <a:rPr dirty="0" sz="1100" spc="-10">
                <a:latin typeface="Arial"/>
                <a:cs typeface="Arial"/>
              </a:rPr>
              <a:t>53</a:t>
            </a:r>
            <a:r>
              <a:rPr dirty="0" sz="1100" spc="-10" i="1">
                <a:latin typeface="Arial"/>
                <a:cs typeface="Arial"/>
              </a:rPr>
              <a:t>.</a:t>
            </a:r>
            <a:r>
              <a:rPr dirty="0" sz="1100" spc="-10">
                <a:latin typeface="Arial"/>
                <a:cs typeface="Arial"/>
              </a:rPr>
              <a:t>7</a:t>
            </a:r>
            <a:r>
              <a:rPr dirty="0" sz="1100" spc="-10" i="1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38100" marR="160020">
              <a:lnSpc>
                <a:spcPct val="102600"/>
              </a:lnSpc>
              <a:spcBef>
                <a:spcPts val="535"/>
              </a:spcBef>
            </a:pPr>
            <a:r>
              <a:rPr dirty="0" sz="1100">
                <a:latin typeface="Arial"/>
                <a:cs typeface="Arial"/>
              </a:rPr>
              <a:t>So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player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buying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one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ticket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each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week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would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expect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to </a:t>
            </a:r>
            <a:r>
              <a:rPr dirty="0" sz="1100">
                <a:latin typeface="Arial"/>
                <a:cs typeface="Arial"/>
              </a:rPr>
              <a:t>win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prize,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(most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likely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10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prize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matching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three </a:t>
            </a:r>
            <a:r>
              <a:rPr dirty="0" sz="1100">
                <a:latin typeface="Arial"/>
                <a:cs typeface="Arial"/>
              </a:rPr>
              <a:t>numbers)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about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once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year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22" name="object 2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2368677"/>
            <a:ext cx="76809" cy="76809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007" y="2847848"/>
            <a:ext cx="76809" cy="76809"/>
          </a:xfrm>
          <a:prstGeom prst="rect">
            <a:avLst/>
          </a:prstGeom>
        </p:spPr>
      </p:pic>
      <p:sp>
        <p:nvSpPr>
          <p:cNvPr id="24" name="object 2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25" name="object 2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Examples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482777"/>
            <a:ext cx="76809" cy="7680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24395" y="410869"/>
            <a:ext cx="3585210" cy="275971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213995">
              <a:lnSpc>
                <a:spcPct val="102600"/>
              </a:lnSpc>
              <a:spcBef>
                <a:spcPts val="55"/>
              </a:spcBef>
            </a:pPr>
            <a:r>
              <a:rPr dirty="0" sz="1100" spc="-10">
                <a:latin typeface="Arial"/>
                <a:cs typeface="Arial"/>
              </a:rPr>
              <a:t>Finding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probabilities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events conditional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on</a:t>
            </a:r>
            <a:r>
              <a:rPr dirty="0" sz="1100" spc="-10">
                <a:latin typeface="Arial"/>
                <a:cs typeface="Arial"/>
              </a:rPr>
              <a:t> additional </a:t>
            </a:r>
            <a:r>
              <a:rPr dirty="0" sz="1100">
                <a:latin typeface="Arial"/>
                <a:cs typeface="Arial"/>
              </a:rPr>
              <a:t>information,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i.e.</a:t>
            </a:r>
            <a:r>
              <a:rPr dirty="0" sz="1100" spc="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something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else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has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happened.</a:t>
            </a:r>
            <a:endParaRPr sz="1100">
              <a:latin typeface="Arial"/>
              <a:cs typeface="Arial"/>
            </a:endParaRPr>
          </a:p>
          <a:p>
            <a:pPr marL="12700" marR="118745">
              <a:lnSpc>
                <a:spcPct val="102600"/>
              </a:lnSpc>
              <a:spcBef>
                <a:spcPts val="705"/>
              </a:spcBef>
            </a:pPr>
            <a:r>
              <a:rPr dirty="0" sz="1100">
                <a:latin typeface="Arial"/>
                <a:cs typeface="Arial"/>
              </a:rPr>
              <a:t>Find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probability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having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disease</a:t>
            </a:r>
            <a:r>
              <a:rPr dirty="0" sz="11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given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have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the </a:t>
            </a:r>
            <a:r>
              <a:rPr dirty="0" sz="1100" spc="-10">
                <a:solidFill>
                  <a:srgbClr val="0000FF"/>
                </a:solidFill>
                <a:latin typeface="Arial"/>
                <a:cs typeface="Arial"/>
              </a:rPr>
              <a:t>symptom</a:t>
            </a:r>
            <a:r>
              <a:rPr dirty="0" sz="1100" spc="-1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1100">
                <a:latin typeface="Arial"/>
                <a:cs typeface="Arial"/>
              </a:rPr>
              <a:t>Another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example:</a:t>
            </a:r>
            <a:r>
              <a:rPr dirty="0" sz="1100" spc="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Die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throw.</a:t>
            </a:r>
            <a:endParaRPr sz="1100">
              <a:latin typeface="Arial"/>
              <a:cs typeface="Arial"/>
            </a:endParaRPr>
          </a:p>
          <a:p>
            <a:pPr marL="655955">
              <a:lnSpc>
                <a:spcPct val="100000"/>
              </a:lnSpc>
              <a:spcBef>
                <a:spcPts val="1130"/>
              </a:spcBef>
            </a:pP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40" i="1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45">
                <a:latin typeface="Arial"/>
                <a:cs typeface="Arial"/>
              </a:rPr>
              <a:t> </a:t>
            </a:r>
            <a:r>
              <a:rPr dirty="0" sz="1100" spc="55">
                <a:latin typeface="Arial"/>
                <a:cs typeface="Arial"/>
              </a:rPr>
              <a:t>(</a:t>
            </a:r>
            <a:r>
              <a:rPr dirty="0" sz="1100" spc="55">
                <a:latin typeface="Times New Roman"/>
                <a:cs typeface="Times New Roman"/>
              </a:rPr>
              <a:t>a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70">
                <a:latin typeface="Times New Roman"/>
                <a:cs typeface="Times New Roman"/>
              </a:rPr>
              <a:t>number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greater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70">
                <a:latin typeface="Times New Roman"/>
                <a:cs typeface="Times New Roman"/>
              </a:rPr>
              <a:t>than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3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spc="45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(4</a:t>
            </a:r>
            <a:r>
              <a:rPr dirty="0" sz="1100" i="1">
                <a:latin typeface="Arial"/>
                <a:cs typeface="Arial"/>
              </a:rPr>
              <a:t>,</a:t>
            </a:r>
            <a:r>
              <a:rPr dirty="0" sz="1100" spc="-100" i="1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5</a:t>
            </a:r>
            <a:r>
              <a:rPr dirty="0" sz="1100" spc="-10" i="1">
                <a:latin typeface="Arial"/>
                <a:cs typeface="Arial"/>
              </a:rPr>
              <a:t>,</a:t>
            </a:r>
            <a:r>
              <a:rPr dirty="0" sz="1100" spc="-95" i="1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6)</a:t>
            </a:r>
            <a:r>
              <a:rPr dirty="0" sz="1100" spc="-25" i="1">
                <a:latin typeface="Arial"/>
                <a:cs typeface="Arial"/>
              </a:rPr>
              <a:t>,</a:t>
            </a:r>
            <a:endParaRPr sz="1100">
              <a:latin typeface="Arial"/>
              <a:cs typeface="Arial"/>
            </a:endParaRPr>
          </a:p>
          <a:p>
            <a:pPr marL="655955">
              <a:lnSpc>
                <a:spcPct val="100000"/>
              </a:lnSpc>
              <a:spcBef>
                <a:spcPts val="335"/>
              </a:spcBef>
            </a:pPr>
            <a:r>
              <a:rPr dirty="0" sz="1100" i="1">
                <a:latin typeface="Arial"/>
                <a:cs typeface="Arial"/>
              </a:rPr>
              <a:t>B</a:t>
            </a:r>
            <a:r>
              <a:rPr dirty="0" sz="1100" spc="60" i="1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10">
                <a:latin typeface="Arial"/>
                <a:cs typeface="Arial"/>
              </a:rPr>
              <a:t> </a:t>
            </a:r>
            <a:r>
              <a:rPr dirty="0" sz="1100" spc="60">
                <a:latin typeface="Arial"/>
                <a:cs typeface="Arial"/>
              </a:rPr>
              <a:t>(</a:t>
            </a:r>
            <a:r>
              <a:rPr dirty="0" sz="1100" spc="60">
                <a:latin typeface="Times New Roman"/>
                <a:cs typeface="Times New Roman"/>
              </a:rPr>
              <a:t>an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50">
                <a:latin typeface="Times New Roman"/>
                <a:cs typeface="Times New Roman"/>
              </a:rPr>
              <a:t>even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65">
                <a:latin typeface="Times New Roman"/>
                <a:cs typeface="Times New Roman"/>
              </a:rPr>
              <a:t>number</a:t>
            </a:r>
            <a:r>
              <a:rPr dirty="0" sz="1100" spc="65">
                <a:latin typeface="Arial"/>
                <a:cs typeface="Arial"/>
              </a:rPr>
              <a:t>)</a:t>
            </a:r>
            <a:r>
              <a:rPr dirty="0" sz="1100" spc="10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(2</a:t>
            </a:r>
            <a:r>
              <a:rPr dirty="0" sz="1100" i="1">
                <a:latin typeface="Arial"/>
                <a:cs typeface="Arial"/>
              </a:rPr>
              <a:t>,</a:t>
            </a:r>
            <a:r>
              <a:rPr dirty="0" sz="1100" spc="-114" i="1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4</a:t>
            </a:r>
            <a:r>
              <a:rPr dirty="0" sz="1100" spc="-10" i="1">
                <a:latin typeface="Arial"/>
                <a:cs typeface="Arial"/>
              </a:rPr>
              <a:t>,</a:t>
            </a:r>
            <a:r>
              <a:rPr dirty="0" sz="1100" spc="-114" i="1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6)</a:t>
            </a:r>
            <a:r>
              <a:rPr dirty="0" sz="1100" spc="-25" i="1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1095"/>
              </a:spcBef>
            </a:pPr>
            <a:r>
              <a:rPr dirty="0" sz="1100">
                <a:latin typeface="Arial"/>
                <a:cs typeface="Arial"/>
              </a:rPr>
              <a:t>It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clear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50" i="1">
                <a:latin typeface="Arial"/>
                <a:cs typeface="Arial"/>
              </a:rPr>
              <a:t>P</a:t>
            </a:r>
            <a:r>
              <a:rPr dirty="0" sz="1100" spc="50">
                <a:latin typeface="Arial"/>
                <a:cs typeface="Arial"/>
              </a:rPr>
              <a:t>(</a:t>
            </a:r>
            <a:r>
              <a:rPr dirty="0" sz="1100" spc="50" i="1">
                <a:latin typeface="Arial"/>
                <a:cs typeface="Arial"/>
              </a:rPr>
              <a:t>B</a:t>
            </a:r>
            <a:r>
              <a:rPr dirty="0" sz="1100" spc="50">
                <a:latin typeface="Arial"/>
                <a:cs typeface="Arial"/>
              </a:rPr>
              <a:t>)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75">
                <a:latin typeface="Arial"/>
                <a:cs typeface="Arial"/>
              </a:rPr>
              <a:t>3</a:t>
            </a:r>
            <a:r>
              <a:rPr dirty="0" sz="1100" spc="75" i="1">
                <a:latin typeface="Arial"/>
                <a:cs typeface="Arial"/>
              </a:rPr>
              <a:t>/</a:t>
            </a:r>
            <a:r>
              <a:rPr dirty="0" sz="1100" spc="75">
                <a:latin typeface="Arial"/>
                <a:cs typeface="Arial"/>
              </a:rPr>
              <a:t>6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55">
                <a:latin typeface="Arial"/>
                <a:cs typeface="Arial"/>
              </a:rPr>
              <a:t>1</a:t>
            </a:r>
            <a:r>
              <a:rPr dirty="0" sz="1100" spc="55" i="1">
                <a:latin typeface="Arial"/>
                <a:cs typeface="Arial"/>
              </a:rPr>
              <a:t>/</a:t>
            </a:r>
            <a:r>
              <a:rPr dirty="0" sz="1100" spc="55">
                <a:latin typeface="Arial"/>
                <a:cs typeface="Arial"/>
              </a:rPr>
              <a:t>2. </a:t>
            </a:r>
            <a:r>
              <a:rPr dirty="0" sz="1100">
                <a:latin typeface="Arial"/>
                <a:cs typeface="Arial"/>
              </a:rPr>
              <a:t>This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unconditional probability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event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25" i="1">
                <a:latin typeface="Arial"/>
                <a:cs typeface="Arial"/>
              </a:rPr>
              <a:t>B</a:t>
            </a:r>
            <a:r>
              <a:rPr dirty="0" sz="1100" spc="-25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1100">
                <a:latin typeface="Arial"/>
                <a:cs typeface="Arial"/>
              </a:rPr>
              <a:t>It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sometimes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called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prior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probability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25" i="1">
                <a:latin typeface="Arial"/>
                <a:cs typeface="Arial"/>
              </a:rPr>
              <a:t>B</a:t>
            </a:r>
            <a:r>
              <a:rPr dirty="0" sz="1100" spc="-25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2700" marR="133350">
              <a:lnSpc>
                <a:spcPct val="102600"/>
              </a:lnSpc>
              <a:spcBef>
                <a:spcPts val="705"/>
              </a:spcBef>
            </a:pPr>
            <a:r>
              <a:rPr dirty="0" sz="1100">
                <a:latin typeface="Arial"/>
                <a:cs typeface="Arial"/>
              </a:rPr>
              <a:t>We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want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find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probability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sz="1100" spc="25" i="1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given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has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already occurred.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916508"/>
            <a:ext cx="76809" cy="7680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1350238"/>
            <a:ext cx="76809" cy="7680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007" y="2182774"/>
            <a:ext cx="76809" cy="7680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1007" y="2616504"/>
            <a:ext cx="76809" cy="7680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1007" y="2878163"/>
            <a:ext cx="76809" cy="76809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Example:</a:t>
            </a:r>
            <a:r>
              <a:rPr dirty="0" spc="240"/>
              <a:t> </a:t>
            </a:r>
            <a:r>
              <a:rPr dirty="0"/>
              <a:t>Conditional</a:t>
            </a:r>
            <a:r>
              <a:rPr dirty="0" spc="120"/>
              <a:t> </a:t>
            </a:r>
            <a:r>
              <a:rPr dirty="0" spc="-10"/>
              <a:t>probability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5059" y="453567"/>
            <a:ext cx="1236986" cy="96078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4950" y="597694"/>
            <a:ext cx="768593" cy="845738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1704263"/>
            <a:ext cx="76809" cy="76809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4902" rIns="0" bIns="0" rtlCol="0" vert="horz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dirty="0"/>
              <a:t>The</a:t>
            </a:r>
            <a:r>
              <a:rPr dirty="0" spc="-35"/>
              <a:t> </a:t>
            </a:r>
            <a:r>
              <a:rPr dirty="0"/>
              <a:t>left</a:t>
            </a:r>
            <a:r>
              <a:rPr dirty="0" spc="-30"/>
              <a:t> </a:t>
            </a:r>
            <a:r>
              <a:rPr dirty="0"/>
              <a:t>figure</a:t>
            </a:r>
            <a:r>
              <a:rPr dirty="0" spc="-30"/>
              <a:t> </a:t>
            </a:r>
            <a:r>
              <a:rPr dirty="0"/>
              <a:t>shows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/>
              <a:t>two</a:t>
            </a:r>
            <a:r>
              <a:rPr dirty="0" spc="-30"/>
              <a:t> </a:t>
            </a:r>
            <a:r>
              <a:rPr dirty="0" spc="-10"/>
              <a:t>events</a:t>
            </a:r>
            <a:r>
              <a:rPr dirty="0" spc="-30"/>
              <a:t> </a:t>
            </a:r>
            <a:r>
              <a:rPr dirty="0" i="1">
                <a:latin typeface="Arial"/>
                <a:cs typeface="Arial"/>
              </a:rPr>
              <a:t>A</a:t>
            </a:r>
            <a:r>
              <a:rPr dirty="0" spc="-30" i="1">
                <a:latin typeface="Arial"/>
                <a:cs typeface="Arial"/>
              </a:rPr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 i="1">
                <a:latin typeface="Arial"/>
                <a:cs typeface="Arial"/>
              </a:rPr>
              <a:t>B</a:t>
            </a:r>
            <a:r>
              <a:rPr dirty="0" spc="15" i="1">
                <a:latin typeface="Arial"/>
                <a:cs typeface="Arial"/>
              </a:rPr>
              <a:t> </a:t>
            </a:r>
            <a:r>
              <a:rPr dirty="0"/>
              <a:t>in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 spc="-10"/>
              <a:t>sample </a:t>
            </a:r>
            <a:r>
              <a:rPr dirty="0"/>
              <a:t>space</a:t>
            </a:r>
            <a:r>
              <a:rPr dirty="0" spc="-35"/>
              <a:t> </a:t>
            </a:r>
            <a:r>
              <a:rPr dirty="0" spc="-25" i="1">
                <a:latin typeface="Arial"/>
                <a:cs typeface="Arial"/>
              </a:rPr>
              <a:t>S</a:t>
            </a:r>
            <a:r>
              <a:rPr dirty="0" spc="-25"/>
              <a:t>.</a:t>
            </a:r>
          </a:p>
          <a:p>
            <a:pPr marL="12700" marR="177165">
              <a:lnSpc>
                <a:spcPct val="102600"/>
              </a:lnSpc>
              <a:spcBef>
                <a:spcPts val="300"/>
              </a:spcBef>
            </a:pPr>
            <a:r>
              <a:rPr dirty="0"/>
              <a:t>The</a:t>
            </a:r>
            <a:r>
              <a:rPr dirty="0" spc="-45"/>
              <a:t> </a:t>
            </a:r>
            <a:r>
              <a:rPr dirty="0"/>
              <a:t>right</a:t>
            </a:r>
            <a:r>
              <a:rPr dirty="0" spc="-40"/>
              <a:t> </a:t>
            </a:r>
            <a:r>
              <a:rPr dirty="0"/>
              <a:t>panel</a:t>
            </a:r>
            <a:r>
              <a:rPr dirty="0" spc="-40"/>
              <a:t> </a:t>
            </a:r>
            <a:r>
              <a:rPr dirty="0"/>
              <a:t>shows</a:t>
            </a:r>
            <a:r>
              <a:rPr dirty="0" spc="-40"/>
              <a:t> </a:t>
            </a:r>
            <a:r>
              <a:rPr dirty="0"/>
              <a:t>the</a:t>
            </a:r>
            <a:r>
              <a:rPr dirty="0" spc="-45"/>
              <a:t> </a:t>
            </a:r>
            <a:r>
              <a:rPr dirty="0" spc="-10"/>
              <a:t>event</a:t>
            </a:r>
            <a:r>
              <a:rPr dirty="0" spc="-40"/>
              <a:t> </a:t>
            </a:r>
            <a:r>
              <a:rPr dirty="0" i="1">
                <a:latin typeface="Arial"/>
                <a:cs typeface="Arial"/>
              </a:rPr>
              <a:t>A</a:t>
            </a:r>
            <a:r>
              <a:rPr dirty="0"/>
              <a:t>,</a:t>
            </a:r>
            <a:r>
              <a:rPr dirty="0" spc="-40"/>
              <a:t> </a:t>
            </a:r>
            <a:r>
              <a:rPr dirty="0"/>
              <a:t>which</a:t>
            </a:r>
            <a:r>
              <a:rPr dirty="0" spc="-40"/>
              <a:t> </a:t>
            </a:r>
            <a:r>
              <a:rPr dirty="0"/>
              <a:t>contains</a:t>
            </a:r>
            <a:r>
              <a:rPr dirty="0" spc="-45"/>
              <a:t> </a:t>
            </a:r>
            <a:r>
              <a:rPr dirty="0" spc="-10"/>
              <a:t>three possibilities,</a:t>
            </a:r>
            <a:r>
              <a:rPr dirty="0" spc="-30"/>
              <a:t> </a:t>
            </a:r>
            <a:r>
              <a:rPr dirty="0"/>
              <a:t>two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30"/>
              <a:t> </a:t>
            </a:r>
            <a:r>
              <a:rPr dirty="0"/>
              <a:t>which</a:t>
            </a:r>
            <a:r>
              <a:rPr dirty="0" spc="-30"/>
              <a:t> </a:t>
            </a:r>
            <a:r>
              <a:rPr dirty="0"/>
              <a:t>are</a:t>
            </a:r>
            <a:r>
              <a:rPr dirty="0" spc="-30"/>
              <a:t> </a:t>
            </a:r>
            <a:r>
              <a:rPr dirty="0"/>
              <a:t>also</a:t>
            </a:r>
            <a:r>
              <a:rPr dirty="0" spc="-30"/>
              <a:t> </a:t>
            </a:r>
            <a:r>
              <a:rPr dirty="0"/>
              <a:t>in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 spc="-10"/>
              <a:t>event</a:t>
            </a:r>
            <a:r>
              <a:rPr dirty="0" spc="-30"/>
              <a:t> </a:t>
            </a:r>
            <a:r>
              <a:rPr dirty="0" spc="-25" i="1">
                <a:latin typeface="Arial"/>
                <a:cs typeface="Arial"/>
              </a:rPr>
              <a:t>B</a:t>
            </a:r>
            <a:r>
              <a:rPr dirty="0" spc="-25"/>
              <a:t>.</a:t>
            </a:r>
          </a:p>
          <a:p>
            <a:pPr marL="12700" marR="61594">
              <a:lnSpc>
                <a:spcPct val="102600"/>
              </a:lnSpc>
              <a:spcBef>
                <a:spcPts val="300"/>
              </a:spcBef>
            </a:pPr>
            <a:r>
              <a:rPr dirty="0" spc="-80"/>
              <a:t>To</a:t>
            </a:r>
            <a:r>
              <a:rPr dirty="0" spc="-5"/>
              <a:t> </a:t>
            </a:r>
            <a:r>
              <a:rPr dirty="0" spc="-10"/>
              <a:t>calculate</a:t>
            </a:r>
            <a:r>
              <a:rPr dirty="0" spc="-45"/>
              <a:t> </a:t>
            </a:r>
            <a:r>
              <a:rPr dirty="0" spc="-20" i="1">
                <a:latin typeface="Arial"/>
                <a:cs typeface="Arial"/>
              </a:rPr>
              <a:t>P</a:t>
            </a:r>
            <a:r>
              <a:rPr dirty="0" spc="-20"/>
              <a:t>(</a:t>
            </a:r>
            <a:r>
              <a:rPr dirty="0" spc="-20" i="1">
                <a:latin typeface="Arial"/>
                <a:cs typeface="Arial"/>
              </a:rPr>
              <a:t>B</a:t>
            </a:r>
            <a:r>
              <a:rPr dirty="0" spc="-20" i="1">
                <a:latin typeface="Menlo"/>
                <a:cs typeface="Menlo"/>
              </a:rPr>
              <a:t>|</a:t>
            </a:r>
            <a:r>
              <a:rPr dirty="0" spc="-20" i="1">
                <a:latin typeface="Arial"/>
                <a:cs typeface="Arial"/>
              </a:rPr>
              <a:t>A</a:t>
            </a:r>
            <a:r>
              <a:rPr dirty="0" spc="-20"/>
              <a:t>),</a:t>
            </a:r>
            <a:r>
              <a:rPr dirty="0" spc="-25"/>
              <a:t> </a:t>
            </a:r>
            <a:r>
              <a:rPr dirty="0"/>
              <a:t>we</a:t>
            </a:r>
            <a:r>
              <a:rPr dirty="0" spc="-20"/>
              <a:t> </a:t>
            </a:r>
            <a:r>
              <a:rPr dirty="0"/>
              <a:t>consider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right</a:t>
            </a:r>
            <a:r>
              <a:rPr dirty="0" spc="-20"/>
              <a:t> </a:t>
            </a:r>
            <a:r>
              <a:rPr dirty="0"/>
              <a:t>panel,</a:t>
            </a:r>
            <a:r>
              <a:rPr dirty="0" spc="-25"/>
              <a:t> </a:t>
            </a:r>
            <a:r>
              <a:rPr dirty="0" spc="-10"/>
              <a:t>where </a:t>
            </a:r>
            <a:r>
              <a:rPr dirty="0"/>
              <a:t>the</a:t>
            </a:r>
            <a:r>
              <a:rPr dirty="0" spc="-65"/>
              <a:t> </a:t>
            </a:r>
            <a:r>
              <a:rPr dirty="0"/>
              <a:t>three</a:t>
            </a:r>
            <a:r>
              <a:rPr dirty="0" spc="-20"/>
              <a:t> </a:t>
            </a:r>
            <a:r>
              <a:rPr dirty="0" spc="-10"/>
              <a:t>events</a:t>
            </a:r>
            <a:r>
              <a:rPr dirty="0" spc="-25"/>
              <a:t> </a:t>
            </a:r>
            <a:r>
              <a:rPr dirty="0"/>
              <a:t>in</a:t>
            </a:r>
            <a:r>
              <a:rPr dirty="0" spc="-25"/>
              <a:t> </a:t>
            </a:r>
            <a:r>
              <a:rPr dirty="0" i="1">
                <a:latin typeface="Arial"/>
                <a:cs typeface="Arial"/>
              </a:rPr>
              <a:t>A</a:t>
            </a:r>
            <a:r>
              <a:rPr dirty="0" spc="-20" i="1">
                <a:latin typeface="Arial"/>
                <a:cs typeface="Arial"/>
              </a:rPr>
              <a:t> </a:t>
            </a:r>
            <a:r>
              <a:rPr dirty="0" spc="-50" i="1">
                <a:latin typeface="Menlo"/>
                <a:cs typeface="Menlo"/>
              </a:rPr>
              <a:t>{</a:t>
            </a:r>
            <a:r>
              <a:rPr dirty="0" spc="-50"/>
              <a:t>4</a:t>
            </a:r>
            <a:r>
              <a:rPr dirty="0" spc="-50" i="1">
                <a:latin typeface="Arial"/>
                <a:cs typeface="Arial"/>
              </a:rPr>
              <a:t>,</a:t>
            </a:r>
            <a:r>
              <a:rPr dirty="0" spc="-125" i="1">
                <a:latin typeface="Arial"/>
                <a:cs typeface="Arial"/>
              </a:rPr>
              <a:t> </a:t>
            </a:r>
            <a:r>
              <a:rPr dirty="0" spc="-10"/>
              <a:t>5</a:t>
            </a:r>
            <a:r>
              <a:rPr dirty="0" spc="-10" i="1">
                <a:latin typeface="Arial"/>
                <a:cs typeface="Arial"/>
              </a:rPr>
              <a:t>,</a:t>
            </a:r>
            <a:r>
              <a:rPr dirty="0" spc="-125" i="1">
                <a:latin typeface="Arial"/>
                <a:cs typeface="Arial"/>
              </a:rPr>
              <a:t> </a:t>
            </a:r>
            <a:r>
              <a:rPr dirty="0" spc="-70"/>
              <a:t>6</a:t>
            </a:r>
            <a:r>
              <a:rPr dirty="0" spc="-70" i="1">
                <a:latin typeface="Menlo"/>
                <a:cs typeface="Menlo"/>
              </a:rPr>
              <a:t>}</a:t>
            </a:r>
            <a:r>
              <a:rPr dirty="0" spc="-360" i="1">
                <a:latin typeface="Menlo"/>
                <a:cs typeface="Menlo"/>
              </a:rPr>
              <a:t> </a:t>
            </a:r>
            <a:r>
              <a:rPr dirty="0"/>
              <a:t>constitute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/>
              <a:t>whole</a:t>
            </a:r>
            <a:r>
              <a:rPr dirty="0" spc="-25"/>
              <a:t> </a:t>
            </a:r>
            <a:r>
              <a:rPr dirty="0" spc="-10"/>
              <a:t>sample </a:t>
            </a:r>
            <a:r>
              <a:rPr dirty="0"/>
              <a:t>space</a:t>
            </a:r>
            <a:r>
              <a:rPr dirty="0" spc="-35"/>
              <a:t> </a:t>
            </a:r>
            <a:r>
              <a:rPr dirty="0"/>
              <a:t>since</a:t>
            </a:r>
            <a:r>
              <a:rPr dirty="0" spc="-35"/>
              <a:t> </a:t>
            </a:r>
            <a:r>
              <a:rPr dirty="0"/>
              <a:t>we</a:t>
            </a:r>
            <a:r>
              <a:rPr dirty="0" spc="-35"/>
              <a:t> </a:t>
            </a:r>
            <a:r>
              <a:rPr dirty="0" spc="-10"/>
              <a:t>have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35"/>
              <a:t> </a:t>
            </a:r>
            <a:r>
              <a:rPr dirty="0"/>
              <a:t>assume</a:t>
            </a:r>
            <a:r>
              <a:rPr dirty="0" spc="-35"/>
              <a:t> </a:t>
            </a:r>
            <a:r>
              <a:rPr dirty="0"/>
              <a:t>that</a:t>
            </a:r>
            <a:r>
              <a:rPr dirty="0" spc="-30"/>
              <a:t> </a:t>
            </a:r>
            <a:r>
              <a:rPr dirty="0" i="1">
                <a:latin typeface="Arial"/>
                <a:cs typeface="Arial"/>
              </a:rPr>
              <a:t>A</a:t>
            </a:r>
            <a:r>
              <a:rPr dirty="0" spc="-35" i="1">
                <a:latin typeface="Arial"/>
                <a:cs typeface="Arial"/>
              </a:rPr>
              <a:t> </a:t>
            </a:r>
            <a:r>
              <a:rPr dirty="0"/>
              <a:t>has</a:t>
            </a:r>
            <a:r>
              <a:rPr dirty="0" spc="-35"/>
              <a:t> </a:t>
            </a:r>
            <a:r>
              <a:rPr dirty="0" spc="-10"/>
              <a:t>alreday </a:t>
            </a:r>
            <a:r>
              <a:rPr dirty="0"/>
              <a:t>occurred</a:t>
            </a:r>
            <a:r>
              <a:rPr dirty="0" spc="-2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other</a:t>
            </a:r>
            <a:r>
              <a:rPr dirty="0" spc="-20"/>
              <a:t> </a:t>
            </a:r>
            <a:r>
              <a:rPr dirty="0" spc="-10"/>
              <a:t>events</a:t>
            </a:r>
            <a:r>
              <a:rPr dirty="0" spc="-25"/>
              <a:t> </a:t>
            </a:r>
            <a:r>
              <a:rPr dirty="0"/>
              <a:t>1,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/>
              <a:t>3</a:t>
            </a:r>
            <a:r>
              <a:rPr dirty="0" spc="-20"/>
              <a:t> </a:t>
            </a:r>
            <a:r>
              <a:rPr dirty="0"/>
              <a:t>are</a:t>
            </a:r>
            <a:r>
              <a:rPr dirty="0" spc="-25"/>
              <a:t> </a:t>
            </a:r>
            <a:r>
              <a:rPr dirty="0"/>
              <a:t>no</a:t>
            </a:r>
            <a:r>
              <a:rPr dirty="0" spc="-20"/>
              <a:t> </a:t>
            </a:r>
            <a:r>
              <a:rPr dirty="0" spc="-10"/>
              <a:t>longer possible.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007" y="2086368"/>
            <a:ext cx="76809" cy="7680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1007" y="2468486"/>
            <a:ext cx="76809" cy="76809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Example:</a:t>
            </a:r>
            <a:r>
              <a:rPr dirty="0" spc="240"/>
              <a:t> </a:t>
            </a:r>
            <a:r>
              <a:rPr dirty="0"/>
              <a:t>Conditional</a:t>
            </a:r>
            <a:r>
              <a:rPr dirty="0" spc="120"/>
              <a:t> </a:t>
            </a:r>
            <a:r>
              <a:rPr dirty="0" spc="-10"/>
              <a:t>probability...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360133"/>
            <a:ext cx="76809" cy="7680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98995" y="288238"/>
            <a:ext cx="3687445" cy="207835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38100" marR="28321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Arial"/>
                <a:cs typeface="Arial"/>
              </a:rPr>
              <a:t>Given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partial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knowledge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event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has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occurred, </a:t>
            </a:r>
            <a:r>
              <a:rPr dirty="0" sz="1100">
                <a:latin typeface="Arial"/>
                <a:cs typeface="Arial"/>
              </a:rPr>
              <a:t>only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n</a:t>
            </a:r>
            <a:r>
              <a:rPr dirty="0" baseline="-13888" sz="1200" i="1">
                <a:latin typeface="Arial"/>
                <a:cs typeface="Arial"/>
              </a:rPr>
              <a:t>A</a:t>
            </a:r>
            <a:r>
              <a:rPr dirty="0" baseline="-13888" sz="1200" spc="179" i="1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3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outcomes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-10" i="1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(4</a:t>
            </a:r>
            <a:r>
              <a:rPr dirty="0" sz="1100" i="1">
                <a:latin typeface="Arial"/>
                <a:cs typeface="Arial"/>
              </a:rPr>
              <a:t>,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5</a:t>
            </a:r>
            <a:r>
              <a:rPr dirty="0" sz="1100" spc="-10" i="1">
                <a:latin typeface="Arial"/>
                <a:cs typeface="Arial"/>
              </a:rPr>
              <a:t>,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6)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could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have </a:t>
            </a:r>
            <a:r>
              <a:rPr dirty="0" sz="1100" spc="-10">
                <a:latin typeface="Arial"/>
                <a:cs typeface="Arial"/>
              </a:rPr>
              <a:t>occurred.</a:t>
            </a:r>
            <a:endParaRPr sz="1100">
              <a:latin typeface="Arial"/>
              <a:cs typeface="Arial"/>
            </a:endParaRPr>
          </a:p>
          <a:p>
            <a:pPr marL="38100" marR="73660">
              <a:lnSpc>
                <a:spcPct val="102600"/>
              </a:lnSpc>
              <a:spcBef>
                <a:spcPts val="425"/>
              </a:spcBef>
            </a:pPr>
            <a:r>
              <a:rPr dirty="0" sz="1100" spc="-25">
                <a:latin typeface="Arial"/>
                <a:cs typeface="Arial"/>
              </a:rPr>
              <a:t>However,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only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some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outcomes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sz="1100" spc="15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among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these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5" i="1">
                <a:latin typeface="Arial"/>
                <a:cs typeface="Arial"/>
              </a:rPr>
              <a:t>n</a:t>
            </a:r>
            <a:r>
              <a:rPr dirty="0" baseline="-13888" sz="1200" spc="-37" i="1">
                <a:latin typeface="Arial"/>
                <a:cs typeface="Arial"/>
              </a:rPr>
              <a:t>A</a:t>
            </a:r>
            <a:r>
              <a:rPr dirty="0" baseline="-13888" sz="1200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outcomes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will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make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event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sz="1100" spc="10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occur;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number</a:t>
            </a:r>
            <a:r>
              <a:rPr dirty="0" sz="1100" spc="-35">
                <a:latin typeface="Arial"/>
                <a:cs typeface="Arial"/>
              </a:rPr>
              <a:t> of </a:t>
            </a:r>
            <a:r>
              <a:rPr dirty="0" sz="1100">
                <a:latin typeface="Arial"/>
                <a:cs typeface="Arial"/>
              </a:rPr>
              <a:t>such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outcomes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given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number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outcomes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0" i="1">
                <a:latin typeface="Arial"/>
                <a:cs typeface="Arial"/>
              </a:rPr>
              <a:t>n</a:t>
            </a:r>
            <a:r>
              <a:rPr dirty="0" baseline="-13888" sz="1200" spc="-30" i="1">
                <a:latin typeface="Arial"/>
                <a:cs typeface="Arial"/>
              </a:rPr>
              <a:t>A∩B</a:t>
            </a:r>
            <a:r>
              <a:rPr dirty="0" baseline="-13888" sz="1200" spc="750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both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-15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sz="1100">
                <a:latin typeface="Arial"/>
                <a:cs typeface="Arial"/>
              </a:rPr>
              <a:t>,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i.e.,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20" i="1">
                <a:latin typeface="Arial"/>
                <a:cs typeface="Arial"/>
              </a:rPr>
              <a:t>A</a:t>
            </a:r>
            <a:r>
              <a:rPr dirty="0" sz="1100" spc="-65" i="1">
                <a:latin typeface="Arial"/>
                <a:cs typeface="Arial"/>
              </a:rPr>
              <a:t> </a:t>
            </a:r>
            <a:r>
              <a:rPr dirty="0" sz="1100" spc="55" i="1">
                <a:latin typeface="Menlo"/>
                <a:cs typeface="Menlo"/>
              </a:rPr>
              <a:t>∩</a:t>
            </a:r>
            <a:r>
              <a:rPr dirty="0" sz="1100" spc="-420" i="1">
                <a:latin typeface="Menlo"/>
                <a:cs typeface="Menlo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sz="1100">
                <a:latin typeface="Arial"/>
                <a:cs typeface="Arial"/>
              </a:rPr>
              <a:t>,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equal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2.</a:t>
            </a:r>
            <a:endParaRPr sz="1100">
              <a:latin typeface="Arial"/>
              <a:cs typeface="Arial"/>
            </a:endParaRPr>
          </a:p>
          <a:p>
            <a:pPr marL="38100" marR="30480">
              <a:lnSpc>
                <a:spcPct val="102600"/>
              </a:lnSpc>
              <a:spcBef>
                <a:spcPts val="425"/>
              </a:spcBef>
            </a:pPr>
            <a:r>
              <a:rPr dirty="0" sz="1100">
                <a:latin typeface="Arial"/>
                <a:cs typeface="Arial"/>
              </a:rPr>
              <a:t>Hence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probability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sz="1100">
                <a:latin typeface="Arial"/>
                <a:cs typeface="Arial"/>
              </a:rPr>
              <a:t>,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given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partial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knowledge</a:t>
            </a:r>
            <a:r>
              <a:rPr dirty="0" sz="1100" spc="-20">
                <a:latin typeface="Arial"/>
                <a:cs typeface="Arial"/>
              </a:rPr>
              <a:t> that </a:t>
            </a:r>
            <a:r>
              <a:rPr dirty="0" sz="1100" spc="-10">
                <a:latin typeface="Arial"/>
                <a:cs typeface="Arial"/>
              </a:rPr>
              <a:t>event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has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occurred,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equal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to</a:t>
            </a:r>
            <a:endParaRPr sz="1100">
              <a:latin typeface="Arial"/>
              <a:cs typeface="Arial"/>
            </a:endParaRPr>
          </a:p>
          <a:p>
            <a:pPr marL="816610">
              <a:lnSpc>
                <a:spcPct val="100000"/>
              </a:lnSpc>
              <a:spcBef>
                <a:spcPts val="355"/>
              </a:spcBef>
              <a:tabLst>
                <a:tab pos="1108710" algn="l"/>
                <a:tab pos="1618615" algn="l"/>
                <a:tab pos="2276475" algn="l"/>
              </a:tabLst>
            </a:pPr>
            <a:r>
              <a:rPr dirty="0" u="sng" sz="1100" spc="-5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</a:t>
            </a:r>
            <a:r>
              <a:rPr dirty="0" sz="1100">
                <a:latin typeface="Arial"/>
                <a:cs typeface="Arial"/>
              </a:rPr>
              <a:t>	</a:t>
            </a:r>
            <a:r>
              <a:rPr dirty="0" u="sng" sz="1100" spc="-2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r>
              <a:rPr dirty="0" u="sng" baseline="-13888" sz="1200" spc="-3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A∩B</a:t>
            </a:r>
            <a:r>
              <a:rPr dirty="0" baseline="-13888" sz="1200" i="1">
                <a:latin typeface="Arial"/>
                <a:cs typeface="Arial"/>
              </a:rPr>
              <a:t>	</a:t>
            </a:r>
            <a:r>
              <a:rPr dirty="0" u="sng" sz="1100" spc="-1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r>
              <a:rPr dirty="0" u="sng" baseline="-13888" sz="1200" spc="-1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A∩B</a:t>
            </a:r>
            <a:r>
              <a:rPr dirty="0" u="sng" sz="1100" spc="-1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/n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u="sng" sz="11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</a:t>
            </a:r>
            <a:r>
              <a:rPr dirty="0" u="sng" sz="11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dirty="0" u="sng" sz="1100" spc="-1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00" spc="55" i="1">
                <a:uFill>
                  <a:solidFill>
                    <a:srgbClr val="000000"/>
                  </a:solidFill>
                </a:uFill>
                <a:latin typeface="Menlo"/>
                <a:cs typeface="Menlo"/>
              </a:rPr>
              <a:t>∩</a:t>
            </a:r>
            <a:r>
              <a:rPr dirty="0" u="sng" sz="1100" spc="-365" i="1">
                <a:uFill>
                  <a:solidFill>
                    <a:srgbClr val="000000"/>
                  </a:solidFill>
                </a:uFill>
                <a:latin typeface="Menlo"/>
                <a:cs typeface="Menlo"/>
              </a:rPr>
              <a:t> </a:t>
            </a:r>
            <a:r>
              <a:rPr dirty="0" u="sng" sz="1100" spc="-2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</a:t>
            </a:r>
            <a:r>
              <a:rPr dirty="0" u="sng" sz="1100" spc="-25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  <a:p>
            <a:pPr marL="816610">
              <a:lnSpc>
                <a:spcPct val="100000"/>
              </a:lnSpc>
              <a:spcBef>
                <a:spcPts val="170"/>
              </a:spcBef>
              <a:tabLst>
                <a:tab pos="1456690" algn="l"/>
                <a:tab pos="2115185" algn="l"/>
                <a:tab pos="2402840" algn="l"/>
                <a:tab pos="2846705" algn="l"/>
              </a:tabLst>
            </a:pPr>
            <a:r>
              <a:rPr dirty="0" sz="1100">
                <a:latin typeface="Arial"/>
                <a:cs typeface="Arial"/>
              </a:rPr>
              <a:t>3</a:t>
            </a:r>
            <a:r>
              <a:rPr dirty="0" sz="1100" spc="110">
                <a:latin typeface="Arial"/>
                <a:cs typeface="Arial"/>
              </a:rPr>
              <a:t> </a:t>
            </a:r>
            <a:r>
              <a:rPr dirty="0" baseline="37878" sz="1650" spc="300">
                <a:latin typeface="Arial"/>
                <a:cs typeface="Arial"/>
              </a:rPr>
              <a:t>=</a:t>
            </a:r>
            <a:r>
              <a:rPr dirty="0" baseline="37878" sz="1650" spc="277">
                <a:latin typeface="Arial"/>
                <a:cs typeface="Arial"/>
              </a:rPr>
              <a:t>  </a:t>
            </a:r>
            <a:r>
              <a:rPr dirty="0" sz="1100" spc="-25" i="1">
                <a:latin typeface="Arial"/>
                <a:cs typeface="Arial"/>
              </a:rPr>
              <a:t>n</a:t>
            </a:r>
            <a:r>
              <a:rPr dirty="0" baseline="-13888" sz="1200" spc="-37" i="1">
                <a:latin typeface="Arial"/>
                <a:cs typeface="Arial"/>
              </a:rPr>
              <a:t>A</a:t>
            </a:r>
            <a:r>
              <a:rPr dirty="0" baseline="-13888" sz="1200" i="1">
                <a:latin typeface="Arial"/>
                <a:cs typeface="Arial"/>
              </a:rPr>
              <a:t>	</a:t>
            </a:r>
            <a:r>
              <a:rPr dirty="0" baseline="37878" sz="1650" spc="300">
                <a:latin typeface="Arial"/>
                <a:cs typeface="Arial"/>
              </a:rPr>
              <a:t>=</a:t>
            </a:r>
            <a:r>
              <a:rPr dirty="0" baseline="37878" sz="1650" spc="277">
                <a:latin typeface="Arial"/>
                <a:cs typeface="Arial"/>
              </a:rPr>
              <a:t>  </a:t>
            </a:r>
            <a:r>
              <a:rPr dirty="0" sz="1100" spc="45" i="1">
                <a:latin typeface="Arial"/>
                <a:cs typeface="Arial"/>
              </a:rPr>
              <a:t>n</a:t>
            </a:r>
            <a:r>
              <a:rPr dirty="0" baseline="-13888" sz="1200" spc="67" i="1">
                <a:latin typeface="Arial"/>
                <a:cs typeface="Arial"/>
              </a:rPr>
              <a:t>A</a:t>
            </a:r>
            <a:r>
              <a:rPr dirty="0" sz="1100" spc="45" i="1">
                <a:latin typeface="Arial"/>
                <a:cs typeface="Arial"/>
              </a:rPr>
              <a:t>/n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baseline="37878" sz="1650" spc="225">
                <a:latin typeface="Arial"/>
                <a:cs typeface="Arial"/>
              </a:rPr>
              <a:t>=</a:t>
            </a:r>
            <a:r>
              <a:rPr dirty="0" baseline="37878" sz="1650">
                <a:latin typeface="Arial"/>
                <a:cs typeface="Arial"/>
              </a:rPr>
              <a:t>	</a:t>
            </a:r>
            <a:r>
              <a:rPr dirty="0" sz="1100" spc="-20" i="1">
                <a:latin typeface="Arial"/>
                <a:cs typeface="Arial"/>
              </a:rPr>
              <a:t>P</a:t>
            </a:r>
            <a:r>
              <a:rPr dirty="0" sz="1100" spc="-20">
                <a:latin typeface="Arial"/>
                <a:cs typeface="Arial"/>
              </a:rPr>
              <a:t>(</a:t>
            </a:r>
            <a:r>
              <a:rPr dirty="0" sz="1100" spc="-20" i="1">
                <a:latin typeface="Arial"/>
                <a:cs typeface="Arial"/>
              </a:rPr>
              <a:t>A</a:t>
            </a:r>
            <a:r>
              <a:rPr dirty="0" sz="1100" spc="-20">
                <a:latin typeface="Arial"/>
                <a:cs typeface="Arial"/>
              </a:rPr>
              <a:t>)</a:t>
            </a:r>
            <a:r>
              <a:rPr dirty="0" sz="1100">
                <a:latin typeface="Arial"/>
                <a:cs typeface="Arial"/>
              </a:rPr>
              <a:t>	</a:t>
            </a:r>
            <a:r>
              <a:rPr dirty="0" baseline="37878" sz="1650" spc="-75" i="1">
                <a:latin typeface="Arial"/>
                <a:cs typeface="Arial"/>
              </a:rPr>
              <a:t>.</a:t>
            </a:r>
            <a:endParaRPr baseline="37878" sz="165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930186"/>
            <a:ext cx="76809" cy="7680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1672310"/>
            <a:ext cx="76809" cy="7680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007" y="2616885"/>
            <a:ext cx="76809" cy="76809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598995" y="2544977"/>
            <a:ext cx="35814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Arial"/>
                <a:cs typeface="Arial"/>
              </a:rPr>
              <a:t>Hence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say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5" i="1">
                <a:latin typeface="Arial"/>
                <a:cs typeface="Arial"/>
              </a:rPr>
              <a:t>P</a:t>
            </a:r>
            <a:r>
              <a:rPr dirty="0" sz="1100" spc="-25">
                <a:latin typeface="Arial"/>
                <a:cs typeface="Arial"/>
              </a:rPr>
              <a:t>(</a:t>
            </a:r>
            <a:r>
              <a:rPr dirty="0" sz="1100" spc="-25" i="1">
                <a:latin typeface="Arial"/>
                <a:cs typeface="Arial"/>
              </a:rPr>
              <a:t>B</a:t>
            </a:r>
            <a:r>
              <a:rPr dirty="0" sz="1100" spc="-25" i="1">
                <a:latin typeface="Menlo"/>
                <a:cs typeface="Menlo"/>
              </a:rPr>
              <a:t>|</a:t>
            </a:r>
            <a:r>
              <a:rPr dirty="0" sz="1100" spc="-25" i="1">
                <a:latin typeface="Arial"/>
                <a:cs typeface="Arial"/>
              </a:rPr>
              <a:t>A</a:t>
            </a:r>
            <a:r>
              <a:rPr dirty="0" sz="1100" spc="-25">
                <a:latin typeface="Arial"/>
                <a:cs typeface="Arial"/>
              </a:rPr>
              <a:t>)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80">
                <a:latin typeface="Arial"/>
                <a:cs typeface="Arial"/>
              </a:rPr>
              <a:t> </a:t>
            </a:r>
            <a:r>
              <a:rPr dirty="0" u="sng" baseline="31250" sz="1200" spc="-15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</a:t>
            </a:r>
            <a:r>
              <a:rPr dirty="0" baseline="31250" sz="1200" spc="-157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,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which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often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interpreted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24395" y="2630079"/>
            <a:ext cx="3589020" cy="6769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16205">
              <a:lnSpc>
                <a:spcPts val="819"/>
              </a:lnSpc>
              <a:spcBef>
                <a:spcPts val="95"/>
              </a:spcBef>
            </a:pPr>
            <a:r>
              <a:rPr dirty="0" sz="800" spc="-50">
                <a:latin typeface="Arial"/>
                <a:cs typeface="Arial"/>
              </a:rPr>
              <a:t>3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1180"/>
              </a:lnSpc>
            </a:pPr>
            <a:r>
              <a:rPr dirty="0" sz="1100">
                <a:latin typeface="Arial"/>
                <a:cs typeface="Arial"/>
              </a:rPr>
              <a:t>as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posterior</a:t>
            </a:r>
            <a:r>
              <a:rPr dirty="0" sz="1100" spc="-20" i="1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probability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sz="1100" spc="30" i="1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given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25" i="1">
                <a:latin typeface="Arial"/>
                <a:cs typeface="Arial"/>
              </a:rPr>
              <a:t>A</a:t>
            </a:r>
            <a:r>
              <a:rPr dirty="0" sz="1100" spc="-25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425"/>
              </a:spcBef>
            </a:pP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additional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knowledge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has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already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occurred</a:t>
            </a:r>
            <a:r>
              <a:rPr dirty="0" sz="1100" spc="-25">
                <a:latin typeface="Arial"/>
                <a:cs typeface="Arial"/>
              </a:rPr>
              <a:t> has </a:t>
            </a:r>
            <a:r>
              <a:rPr dirty="0" sz="1100">
                <a:latin typeface="Arial"/>
                <a:cs typeface="Arial"/>
              </a:rPr>
              <a:t>helped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revise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prior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probability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75">
                <a:latin typeface="Arial"/>
                <a:cs typeface="Arial"/>
              </a:rPr>
              <a:t>1</a:t>
            </a:r>
            <a:r>
              <a:rPr dirty="0" sz="1100" spc="75" i="1">
                <a:latin typeface="Arial"/>
                <a:cs typeface="Arial"/>
              </a:rPr>
              <a:t>/</a:t>
            </a:r>
            <a:r>
              <a:rPr dirty="0" sz="1100" spc="75">
                <a:latin typeface="Arial"/>
                <a:cs typeface="Arial"/>
              </a:rPr>
              <a:t>2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35">
                <a:latin typeface="Arial"/>
                <a:cs typeface="Arial"/>
              </a:rPr>
              <a:t>2</a:t>
            </a:r>
            <a:r>
              <a:rPr dirty="0" sz="1100" spc="35" i="1">
                <a:latin typeface="Arial"/>
                <a:cs typeface="Arial"/>
              </a:rPr>
              <a:t>/</a:t>
            </a:r>
            <a:r>
              <a:rPr dirty="0" sz="1100" spc="35">
                <a:latin typeface="Arial"/>
                <a:cs typeface="Arial"/>
              </a:rPr>
              <a:t>3.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1007" y="3014865"/>
            <a:ext cx="76809" cy="76809"/>
          </a:xfrm>
          <a:prstGeom prst="rect">
            <a:avLst/>
          </a:prstGeom>
        </p:spPr>
      </p:pic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4302752" y="3325931"/>
            <a:ext cx="138430" cy="15303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800" spc="-25" b="1">
                <a:latin typeface="Arial"/>
                <a:cs typeface="Arial"/>
              </a:rPr>
              <a:t>25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Practical</a:t>
            </a:r>
            <a:r>
              <a:rPr dirty="0" spc="95"/>
              <a:t> </a:t>
            </a:r>
            <a:r>
              <a:rPr dirty="0" spc="-10"/>
              <a:t>problem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381482"/>
            <a:ext cx="76809" cy="7680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770674"/>
            <a:ext cx="76809" cy="7680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1159853"/>
            <a:ext cx="76809" cy="7680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007" y="1549031"/>
            <a:ext cx="76809" cy="7680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1007" y="2110295"/>
            <a:ext cx="76809" cy="76809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359994" y="2608122"/>
            <a:ext cx="3072765" cy="0"/>
          </a:xfrm>
          <a:custGeom>
            <a:avLst/>
            <a:gdLst/>
            <a:ahLst/>
            <a:cxnLst/>
            <a:rect l="l" t="t" r="r" b="b"/>
            <a:pathLst>
              <a:path w="3072765" h="0">
                <a:moveTo>
                  <a:pt x="0" y="0"/>
                </a:moveTo>
                <a:lnTo>
                  <a:pt x="3072422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410514" y="309586"/>
            <a:ext cx="3863340" cy="24625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26060">
              <a:lnSpc>
                <a:spcPct val="100000"/>
              </a:lnSpc>
              <a:spcBef>
                <a:spcPts val="90"/>
              </a:spcBef>
            </a:pPr>
            <a:r>
              <a:rPr dirty="0" sz="1100" spc="175" i="1">
                <a:latin typeface="Menlo"/>
                <a:cs typeface="Menlo"/>
              </a:rPr>
              <a:t>♡</a:t>
            </a:r>
            <a:r>
              <a:rPr dirty="0" sz="1100" spc="-360" i="1">
                <a:latin typeface="Menlo"/>
                <a:cs typeface="Menlo"/>
              </a:rPr>
              <a:t> </a:t>
            </a:r>
            <a:r>
              <a:rPr dirty="0" sz="1100">
                <a:latin typeface="Arial"/>
                <a:cs typeface="Arial"/>
              </a:rPr>
              <a:t>3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manufacturing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companies: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1</a:t>
            </a:r>
            <a:r>
              <a:rPr dirty="0" baseline="-13888" sz="1200" spc="15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Pale,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2</a:t>
            </a:r>
            <a:r>
              <a:rPr dirty="0" baseline="-13888" sz="1200" spc="1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Sung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5" i="1">
                <a:latin typeface="Arial"/>
                <a:cs typeface="Arial"/>
              </a:rPr>
              <a:t>B</a:t>
            </a:r>
            <a:r>
              <a:rPr dirty="0" baseline="-13888" sz="1200" spc="-37">
                <a:latin typeface="Arial"/>
                <a:cs typeface="Arial"/>
              </a:rPr>
              <a:t>3</a:t>
            </a:r>
            <a:endParaRPr baseline="-13888" sz="1200">
              <a:latin typeface="Arial"/>
              <a:cs typeface="Arial"/>
            </a:endParaRPr>
          </a:p>
          <a:p>
            <a:pPr marL="226060">
              <a:lnSpc>
                <a:spcPct val="100000"/>
              </a:lnSpc>
              <a:spcBef>
                <a:spcPts val="35"/>
              </a:spcBef>
            </a:pPr>
            <a:r>
              <a:rPr dirty="0" sz="1100" spc="-10">
                <a:latin typeface="Arial"/>
                <a:cs typeface="Arial"/>
              </a:rPr>
              <a:t>Windows.</a:t>
            </a:r>
            <a:endParaRPr sz="1100">
              <a:latin typeface="Arial"/>
              <a:cs typeface="Arial"/>
            </a:endParaRPr>
          </a:p>
          <a:p>
            <a:pPr marL="226060" marR="506095">
              <a:lnSpc>
                <a:spcPct val="102600"/>
              </a:lnSpc>
              <a:spcBef>
                <a:spcPts val="355"/>
              </a:spcBef>
            </a:pPr>
            <a:r>
              <a:rPr dirty="0" sz="1100">
                <a:latin typeface="Arial"/>
                <a:cs typeface="Arial"/>
              </a:rPr>
              <a:t>Their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market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shares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are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respectively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30,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40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30 </a:t>
            </a:r>
            <a:r>
              <a:rPr dirty="0" sz="1100" spc="-10">
                <a:latin typeface="Arial"/>
                <a:cs typeface="Arial"/>
              </a:rPr>
              <a:t>percent.</a:t>
            </a:r>
            <a:endParaRPr sz="1100">
              <a:latin typeface="Arial"/>
              <a:cs typeface="Arial"/>
            </a:endParaRPr>
          </a:p>
          <a:p>
            <a:pPr marL="226060" marR="20320">
              <a:lnSpc>
                <a:spcPct val="102699"/>
              </a:lnSpc>
              <a:spcBef>
                <a:spcPts val="355"/>
              </a:spcBef>
            </a:pPr>
            <a:r>
              <a:rPr dirty="0" sz="1100" spc="-10">
                <a:latin typeface="Arial"/>
                <a:cs typeface="Arial"/>
              </a:rPr>
              <a:t>Suppose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also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respectively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5,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8,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10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percent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their </a:t>
            </a:r>
            <a:r>
              <a:rPr dirty="0" sz="1100">
                <a:latin typeface="Arial"/>
                <a:cs typeface="Arial"/>
              </a:rPr>
              <a:t>phones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become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faulty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within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one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year.</a:t>
            </a:r>
            <a:endParaRPr sz="1100">
              <a:latin typeface="Arial"/>
              <a:cs typeface="Arial"/>
            </a:endParaRPr>
          </a:p>
          <a:p>
            <a:pPr marL="226060" marR="101600">
              <a:lnSpc>
                <a:spcPct val="102600"/>
              </a:lnSpc>
              <a:spcBef>
                <a:spcPts val="355"/>
              </a:spcBef>
            </a:pPr>
            <a:r>
              <a:rPr dirty="0" sz="1100" b="1">
                <a:latin typeface="Arial"/>
                <a:cs typeface="Arial"/>
              </a:rPr>
              <a:t>Q1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If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buy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phone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randomly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(ignoring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manufacturer), </a:t>
            </a:r>
            <a:r>
              <a:rPr dirty="0" sz="1100">
                <a:latin typeface="Arial"/>
                <a:cs typeface="Arial"/>
              </a:rPr>
              <a:t>what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probability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phone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will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develop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fault </a:t>
            </a:r>
            <a:r>
              <a:rPr dirty="0" sz="1100">
                <a:latin typeface="Arial"/>
                <a:cs typeface="Arial"/>
              </a:rPr>
              <a:t>within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one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year?</a:t>
            </a:r>
            <a:endParaRPr sz="1100">
              <a:latin typeface="Arial"/>
              <a:cs typeface="Arial"/>
            </a:endParaRPr>
          </a:p>
          <a:p>
            <a:pPr marL="226060" marR="17780">
              <a:lnSpc>
                <a:spcPct val="102600"/>
              </a:lnSpc>
              <a:spcBef>
                <a:spcPts val="355"/>
              </a:spcBef>
            </a:pPr>
            <a:r>
              <a:rPr dirty="0" sz="1100" b="1">
                <a:latin typeface="Arial"/>
                <a:cs typeface="Arial"/>
              </a:rPr>
              <a:t>Q2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After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finding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probability,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suppose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my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phone developed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fault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first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year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-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what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probability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was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made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1</a:t>
            </a:r>
            <a:r>
              <a:rPr dirty="0" baseline="-13888" sz="1200" spc="142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Pale?Summary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table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information:</a:t>
            </a:r>
            <a:endParaRPr sz="11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229"/>
              </a:spcBef>
              <a:tabLst>
                <a:tab pos="930275" algn="l"/>
                <a:tab pos="1889760" algn="l"/>
              </a:tabLst>
            </a:pPr>
            <a:r>
              <a:rPr dirty="0" sz="1100" spc="-10">
                <a:latin typeface="Arial"/>
                <a:cs typeface="Arial"/>
              </a:rPr>
              <a:t>Company</a:t>
            </a:r>
            <a:r>
              <a:rPr dirty="0" sz="1100">
                <a:latin typeface="Arial"/>
                <a:cs typeface="Arial"/>
              </a:rPr>
              <a:t>	Market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share</a:t>
            </a:r>
            <a:r>
              <a:rPr dirty="0" sz="1100">
                <a:latin typeface="Arial"/>
                <a:cs typeface="Arial"/>
              </a:rPr>
              <a:t>	</a:t>
            </a:r>
            <a:r>
              <a:rPr dirty="0" sz="1100" spc="-10">
                <a:latin typeface="Arial"/>
                <a:cs typeface="Arial"/>
              </a:rPr>
              <a:t>Percent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defective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26</a:t>
            </a:fld>
          </a:p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359994" y="2785262"/>
          <a:ext cx="3148965" cy="520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5510"/>
                <a:gridCol w="694690"/>
                <a:gridCol w="1473200"/>
              </a:tblGrid>
              <a:tr h="16891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dirty="0" sz="1100" i="1">
                          <a:latin typeface="Arial"/>
                          <a:cs typeface="Arial"/>
                        </a:rPr>
                        <a:t>B</a:t>
                      </a:r>
                      <a:r>
                        <a:rPr dirty="0" baseline="-13888" sz="1200">
                          <a:latin typeface="Arial"/>
                          <a:cs typeface="Arial"/>
                        </a:rPr>
                        <a:t>1</a:t>
                      </a:r>
                      <a:r>
                        <a:rPr dirty="0" baseline="-13888" sz="1200" spc="157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0">
                          <a:latin typeface="Arial"/>
                          <a:cs typeface="Arial"/>
                        </a:rPr>
                        <a:t>Pale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30%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40995">
                        <a:lnSpc>
                          <a:spcPts val="119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5%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marL="75565">
                        <a:lnSpc>
                          <a:spcPts val="1210"/>
                        </a:lnSpc>
                      </a:pPr>
                      <a:r>
                        <a:rPr dirty="0" sz="1100" i="1">
                          <a:latin typeface="Arial"/>
                          <a:cs typeface="Arial"/>
                        </a:rPr>
                        <a:t>B</a:t>
                      </a:r>
                      <a:r>
                        <a:rPr dirty="0" baseline="-13888" sz="1200">
                          <a:latin typeface="Arial"/>
                          <a:cs typeface="Arial"/>
                        </a:rPr>
                        <a:t>2</a:t>
                      </a:r>
                      <a:r>
                        <a:rPr dirty="0" baseline="-13888" sz="1200" spc="157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0">
                          <a:latin typeface="Arial"/>
                          <a:cs typeface="Arial"/>
                        </a:rPr>
                        <a:t>Sung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21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40%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40995">
                        <a:lnSpc>
                          <a:spcPts val="121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8%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179705">
                <a:tc>
                  <a:txBody>
                    <a:bodyPr/>
                    <a:lstStyle/>
                    <a:p>
                      <a:pPr marL="75565">
                        <a:lnSpc>
                          <a:spcPts val="1210"/>
                        </a:lnSpc>
                      </a:pPr>
                      <a:r>
                        <a:rPr dirty="0" sz="1100" i="1">
                          <a:latin typeface="Arial"/>
                          <a:cs typeface="Arial"/>
                        </a:rPr>
                        <a:t>B</a:t>
                      </a:r>
                      <a:r>
                        <a:rPr dirty="0" baseline="-13888" sz="1200">
                          <a:latin typeface="Arial"/>
                          <a:cs typeface="Arial"/>
                        </a:rPr>
                        <a:t>3</a:t>
                      </a:r>
                      <a:r>
                        <a:rPr dirty="0" baseline="-13888" sz="1200" spc="157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Windows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21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30%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0995">
                        <a:lnSpc>
                          <a:spcPts val="1210"/>
                        </a:lnSpc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10%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ut thruBlk="0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</a:t>
            </a:r>
            <a:r>
              <a:rPr dirty="0" spc="70"/>
              <a:t> </a:t>
            </a:r>
            <a:r>
              <a:rPr dirty="0"/>
              <a:t>partition</a:t>
            </a:r>
            <a:r>
              <a:rPr dirty="0" spc="70"/>
              <a:t> </a:t>
            </a:r>
            <a:r>
              <a:rPr dirty="0"/>
              <a:t>of</a:t>
            </a:r>
            <a:r>
              <a:rPr dirty="0" spc="75"/>
              <a:t> </a:t>
            </a:r>
            <a:r>
              <a:rPr dirty="0"/>
              <a:t>the</a:t>
            </a:r>
            <a:r>
              <a:rPr dirty="0" spc="70"/>
              <a:t> </a:t>
            </a:r>
            <a:r>
              <a:rPr dirty="0"/>
              <a:t>sample</a:t>
            </a:r>
            <a:r>
              <a:rPr dirty="0" spc="75"/>
              <a:t> </a:t>
            </a:r>
            <a:r>
              <a:rPr dirty="0"/>
              <a:t>space,</a:t>
            </a:r>
            <a:r>
              <a:rPr dirty="0" spc="70"/>
              <a:t> </a:t>
            </a:r>
            <a:r>
              <a:rPr dirty="0" spc="-50" i="1">
                <a:latin typeface="Arial"/>
                <a:cs typeface="Arial"/>
              </a:rPr>
              <a:t>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367309"/>
            <a:ext cx="76809" cy="7680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11695" y="295400"/>
            <a:ext cx="3562985" cy="90805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 marR="66675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Arial"/>
                <a:cs typeface="Arial"/>
              </a:rPr>
              <a:t>Let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1</a:t>
            </a:r>
            <a:r>
              <a:rPr dirty="0" sz="1100" i="1">
                <a:latin typeface="Arial"/>
                <a:cs typeface="Arial"/>
              </a:rPr>
              <a:t>,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,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 i="1">
                <a:latin typeface="Arial"/>
                <a:cs typeface="Arial"/>
              </a:rPr>
              <a:t>k</a:t>
            </a:r>
            <a:r>
              <a:rPr dirty="0" baseline="-13888" sz="1200" spc="284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denote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set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mutually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exclusive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(cannot </a:t>
            </a:r>
            <a:r>
              <a:rPr dirty="0" sz="1100">
                <a:latin typeface="Arial"/>
                <a:cs typeface="Arial"/>
              </a:rPr>
              <a:t>occur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together)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exhaustive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(fill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whole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space) events.</a:t>
            </a:r>
            <a:endParaRPr sz="1100">
              <a:latin typeface="Arial"/>
              <a:cs typeface="Arial"/>
            </a:endParaRPr>
          </a:p>
          <a:p>
            <a:pPr marL="25400" marR="17780">
              <a:lnSpc>
                <a:spcPct val="102600"/>
              </a:lnSpc>
              <a:spcBef>
                <a:spcPts val="220"/>
              </a:spcBef>
            </a:pP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is,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they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are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disjoint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events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together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make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up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the </a:t>
            </a:r>
            <a:r>
              <a:rPr dirty="0" sz="1100">
                <a:latin typeface="Arial"/>
                <a:cs typeface="Arial"/>
              </a:rPr>
              <a:t>whole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sample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space,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 spc="-25" i="1">
                <a:latin typeface="Arial"/>
                <a:cs typeface="Arial"/>
              </a:rPr>
              <a:t>S</a:t>
            </a:r>
            <a:r>
              <a:rPr dirty="0" sz="1100" spc="-25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911542"/>
            <a:ext cx="76809" cy="7680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4308" y="1350924"/>
            <a:ext cx="1228951" cy="115805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27644" y="1384873"/>
            <a:ext cx="1181820" cy="1113638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321894" y="2680848"/>
            <a:ext cx="3964304" cy="481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3333B2"/>
                </a:solidFill>
                <a:latin typeface="Arial"/>
                <a:cs typeface="Arial"/>
              </a:rPr>
              <a:t>Figure:</a:t>
            </a:r>
            <a:r>
              <a:rPr dirty="0" sz="1000" spc="-1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left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figure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shows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mutually</a:t>
            </a:r>
            <a:r>
              <a:rPr dirty="0" sz="1000" spc="-10">
                <a:latin typeface="Arial"/>
                <a:cs typeface="Arial"/>
              </a:rPr>
              <a:t> exclusive </a:t>
            </a:r>
            <a:r>
              <a:rPr dirty="0" sz="1000">
                <a:latin typeface="Arial"/>
                <a:cs typeface="Arial"/>
              </a:rPr>
              <a:t>and</a:t>
            </a:r>
            <a:r>
              <a:rPr dirty="0" sz="1000" spc="-10">
                <a:latin typeface="Arial"/>
                <a:cs typeface="Arial"/>
              </a:rPr>
              <a:t> exhaustive events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B</a:t>
            </a:r>
            <a:r>
              <a:rPr dirty="0" baseline="-11904" sz="1050">
                <a:latin typeface="Arial"/>
                <a:cs typeface="Arial"/>
              </a:rPr>
              <a:t>1</a:t>
            </a:r>
            <a:r>
              <a:rPr dirty="0" sz="1000" i="1">
                <a:latin typeface="Arial"/>
                <a:cs typeface="Arial"/>
              </a:rPr>
              <a:t>,</a:t>
            </a:r>
            <a:r>
              <a:rPr dirty="0" sz="1000" spc="-114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.</a:t>
            </a:r>
            <a:r>
              <a:rPr dirty="0" sz="1000" spc="-114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.</a:t>
            </a:r>
            <a:r>
              <a:rPr dirty="0" sz="1000" spc="-114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.</a:t>
            </a:r>
            <a:r>
              <a:rPr dirty="0" sz="1000" spc="-114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,</a:t>
            </a:r>
            <a:r>
              <a:rPr dirty="0" sz="1000" spc="-114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B</a:t>
            </a:r>
            <a:r>
              <a:rPr dirty="0" baseline="-11904" sz="1050">
                <a:latin typeface="Arial"/>
                <a:cs typeface="Arial"/>
              </a:rPr>
              <a:t>7</a:t>
            </a:r>
            <a:r>
              <a:rPr dirty="0" baseline="-11904" sz="1050" spc="187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(they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form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partition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of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sample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space);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10">
                <a:latin typeface="Arial"/>
                <a:cs typeface="Arial"/>
              </a:rPr>
              <a:t> right </a:t>
            </a:r>
            <a:r>
              <a:rPr dirty="0" sz="1000">
                <a:latin typeface="Arial"/>
                <a:cs typeface="Arial"/>
              </a:rPr>
              <a:t>figure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shows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possible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new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event</a:t>
            </a:r>
            <a:r>
              <a:rPr dirty="0" sz="1000" spc="-25">
                <a:latin typeface="Arial"/>
                <a:cs typeface="Arial"/>
              </a:rPr>
              <a:t> A.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26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Total</a:t>
            </a:r>
            <a:r>
              <a:rPr dirty="0" spc="40"/>
              <a:t> </a:t>
            </a:r>
            <a:r>
              <a:rPr dirty="0"/>
              <a:t>probability</a:t>
            </a:r>
            <a:r>
              <a:rPr dirty="0" spc="40"/>
              <a:t> </a:t>
            </a:r>
            <a:r>
              <a:rPr dirty="0" spc="-10"/>
              <a:t>formula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405257"/>
            <a:ext cx="76809" cy="7680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804570"/>
            <a:ext cx="76809" cy="7680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1031811"/>
            <a:ext cx="76809" cy="7680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007" y="2053628"/>
            <a:ext cx="76809" cy="7680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309194" y="333348"/>
            <a:ext cx="4064000" cy="28194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2766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Arial"/>
                <a:cs typeface="Arial"/>
              </a:rPr>
              <a:t>Let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1</a:t>
            </a:r>
            <a:r>
              <a:rPr dirty="0" sz="1100" i="1">
                <a:latin typeface="Arial"/>
                <a:cs typeface="Arial"/>
              </a:rPr>
              <a:t>,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2</a:t>
            </a:r>
            <a:r>
              <a:rPr dirty="0" sz="1100" i="1">
                <a:latin typeface="Arial"/>
                <a:cs typeface="Arial"/>
              </a:rPr>
              <a:t>,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,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 i="1">
                <a:latin typeface="Arial"/>
                <a:cs typeface="Arial"/>
              </a:rPr>
              <a:t>k</a:t>
            </a:r>
            <a:r>
              <a:rPr dirty="0" baseline="-13888" sz="1200" spc="315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set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mutually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exclusive,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i.e.</a:t>
            </a:r>
            <a:endParaRPr sz="1100">
              <a:latin typeface="Arial"/>
              <a:cs typeface="Arial"/>
            </a:endParaRPr>
          </a:p>
          <a:p>
            <a:pPr marL="327660">
              <a:lnSpc>
                <a:spcPct val="100000"/>
              </a:lnSpc>
              <a:spcBef>
                <a:spcPts val="35"/>
              </a:spcBef>
            </a:pP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 i="1">
                <a:latin typeface="Arial"/>
                <a:cs typeface="Arial"/>
              </a:rPr>
              <a:t>i</a:t>
            </a:r>
            <a:r>
              <a:rPr dirty="0" baseline="-13888" sz="1200" spc="225" i="1">
                <a:latin typeface="Arial"/>
                <a:cs typeface="Arial"/>
              </a:rPr>
              <a:t> </a:t>
            </a:r>
            <a:r>
              <a:rPr dirty="0" sz="1100" spc="55" i="1">
                <a:latin typeface="Menlo"/>
                <a:cs typeface="Menlo"/>
              </a:rPr>
              <a:t>∩</a:t>
            </a:r>
            <a:r>
              <a:rPr dirty="0" sz="1100" spc="-409" i="1">
                <a:latin typeface="Menlo"/>
                <a:cs typeface="Menlo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 i="1">
                <a:latin typeface="Arial"/>
                <a:cs typeface="Arial"/>
              </a:rPr>
              <a:t>j</a:t>
            </a:r>
            <a:r>
              <a:rPr dirty="0" baseline="-13888" sz="1200" spc="330" i="1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5">
                <a:latin typeface="Arial"/>
                <a:cs typeface="Arial"/>
              </a:rPr>
              <a:t> </a:t>
            </a:r>
            <a:r>
              <a:rPr dirty="0" sz="1100" spc="-120" i="1">
                <a:latin typeface="Menlo"/>
                <a:cs typeface="Menlo"/>
              </a:rPr>
              <a:t>∅</a:t>
            </a:r>
            <a:r>
              <a:rPr dirty="0" sz="1100" spc="-35" i="1">
                <a:latin typeface="Menlo"/>
                <a:cs typeface="Menlo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all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Arial"/>
                <a:cs typeface="Arial"/>
              </a:rPr>
              <a:t>1</a:t>
            </a:r>
            <a:r>
              <a:rPr dirty="0" sz="1100" spc="5">
                <a:latin typeface="Arial"/>
                <a:cs typeface="Arial"/>
              </a:rPr>
              <a:t> </a:t>
            </a:r>
            <a:r>
              <a:rPr dirty="0" sz="1100" spc="175" i="1">
                <a:latin typeface="Menlo"/>
                <a:cs typeface="Menlo"/>
              </a:rPr>
              <a:t>≤</a:t>
            </a:r>
            <a:r>
              <a:rPr dirty="0" sz="1100" spc="-345" i="1">
                <a:latin typeface="Menlo"/>
                <a:cs typeface="Menlo"/>
              </a:rPr>
              <a:t> </a:t>
            </a:r>
            <a:r>
              <a:rPr dirty="0" sz="1100" i="1">
                <a:latin typeface="Arial"/>
                <a:cs typeface="Arial"/>
              </a:rPr>
              <a:t>i</a:t>
            </a:r>
            <a:r>
              <a:rPr dirty="0" sz="1100" spc="105" i="1">
                <a:latin typeface="Arial"/>
                <a:cs typeface="Arial"/>
              </a:rPr>
              <a:t> </a:t>
            </a:r>
            <a:r>
              <a:rPr dirty="0" sz="1100" spc="-575" i="1">
                <a:latin typeface="Menlo"/>
                <a:cs typeface="Menlo"/>
              </a:rPr>
              <a:t≯</a:t>
            </a:r>
            <a:r>
              <a:rPr dirty="0" sz="1100" spc="100">
                <a:latin typeface="Arial"/>
                <a:cs typeface="Arial"/>
              </a:rPr>
              <a:t>=</a:t>
            </a:r>
            <a:r>
              <a:rPr dirty="0" sz="1100" spc="1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j</a:t>
            </a:r>
            <a:r>
              <a:rPr dirty="0" sz="1100" spc="105" i="1">
                <a:latin typeface="Arial"/>
                <a:cs typeface="Arial"/>
              </a:rPr>
              <a:t> </a:t>
            </a:r>
            <a:r>
              <a:rPr dirty="0" sz="1100" spc="175" i="1">
                <a:latin typeface="Menlo"/>
                <a:cs typeface="Menlo"/>
              </a:rPr>
              <a:t>≤</a:t>
            </a:r>
            <a:r>
              <a:rPr dirty="0" sz="1100" spc="-350" i="1">
                <a:latin typeface="Menlo"/>
                <a:cs typeface="Menlo"/>
              </a:rPr>
              <a:t> </a:t>
            </a:r>
            <a:r>
              <a:rPr dirty="0" sz="1100" spc="-50" i="1">
                <a:latin typeface="Arial"/>
                <a:cs typeface="Arial"/>
              </a:rPr>
              <a:t>k</a:t>
            </a:r>
            <a:endParaRPr sz="1100">
              <a:latin typeface="Arial"/>
              <a:cs typeface="Arial"/>
            </a:endParaRPr>
          </a:p>
          <a:p>
            <a:pPr marL="327660">
              <a:lnSpc>
                <a:spcPct val="100000"/>
              </a:lnSpc>
              <a:spcBef>
                <a:spcPts val="470"/>
              </a:spcBef>
            </a:pP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6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exhaustive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events,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i.e.:</a:t>
            </a:r>
            <a:r>
              <a:rPr dirty="0" sz="1100" spc="5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1</a:t>
            </a:r>
            <a:r>
              <a:rPr dirty="0" baseline="-13888" sz="1200" spc="82">
                <a:latin typeface="Arial"/>
                <a:cs typeface="Arial"/>
              </a:rPr>
              <a:t> </a:t>
            </a:r>
            <a:r>
              <a:rPr dirty="0" sz="1100" spc="55" i="1">
                <a:latin typeface="Menlo"/>
                <a:cs typeface="Menlo"/>
              </a:rPr>
              <a:t>∪</a:t>
            </a:r>
            <a:r>
              <a:rPr dirty="0" sz="1100" spc="-420" i="1">
                <a:latin typeface="Menlo"/>
                <a:cs typeface="Menlo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2</a:t>
            </a:r>
            <a:r>
              <a:rPr dirty="0" baseline="-13888" sz="1200" spc="75">
                <a:latin typeface="Arial"/>
                <a:cs typeface="Arial"/>
              </a:rPr>
              <a:t> </a:t>
            </a:r>
            <a:r>
              <a:rPr dirty="0" sz="1100" spc="55" i="1">
                <a:latin typeface="Menlo"/>
                <a:cs typeface="Menlo"/>
              </a:rPr>
              <a:t>∪</a:t>
            </a:r>
            <a:r>
              <a:rPr dirty="0" sz="1100" spc="-420" i="1">
                <a:latin typeface="Menlo"/>
                <a:cs typeface="Menlo"/>
              </a:rPr>
              <a:t> 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 spc="-75" i="1">
                <a:latin typeface="Arial"/>
                <a:cs typeface="Arial"/>
              </a:rPr>
              <a:t> </a:t>
            </a:r>
            <a:r>
              <a:rPr dirty="0" sz="1100" spc="55" i="1">
                <a:latin typeface="Menlo"/>
                <a:cs typeface="Menlo"/>
              </a:rPr>
              <a:t>∪</a:t>
            </a:r>
            <a:r>
              <a:rPr dirty="0" sz="1100" spc="-420" i="1">
                <a:latin typeface="Menlo"/>
                <a:cs typeface="Menlo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 i="1">
                <a:latin typeface="Arial"/>
                <a:cs typeface="Arial"/>
              </a:rPr>
              <a:t>k</a:t>
            </a:r>
            <a:r>
              <a:rPr dirty="0" baseline="-13888" sz="1200" spc="292" i="1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25" i="1">
                <a:latin typeface="Arial"/>
                <a:cs typeface="Arial"/>
              </a:rPr>
              <a:t>S.</a:t>
            </a:r>
            <a:endParaRPr sz="1100">
              <a:latin typeface="Arial"/>
              <a:cs typeface="Arial"/>
            </a:endParaRPr>
          </a:p>
          <a:p>
            <a:pPr marL="327660">
              <a:lnSpc>
                <a:spcPct val="100000"/>
              </a:lnSpc>
              <a:spcBef>
                <a:spcPts val="470"/>
              </a:spcBef>
            </a:pPr>
            <a:r>
              <a:rPr dirty="0" sz="1100">
                <a:latin typeface="Arial"/>
                <a:cs typeface="Arial"/>
              </a:rPr>
              <a:t>Now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any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event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-40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can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represented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by</a:t>
            </a:r>
            <a:endParaRPr sz="1100">
              <a:latin typeface="Arial"/>
              <a:cs typeface="Arial"/>
            </a:endParaRPr>
          </a:p>
          <a:p>
            <a:pPr algn="ctr" marL="202565">
              <a:lnSpc>
                <a:spcPct val="100000"/>
              </a:lnSpc>
              <a:spcBef>
                <a:spcPts val="1130"/>
              </a:spcBef>
            </a:pP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10" i="1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15">
                <a:latin typeface="Arial"/>
                <a:cs typeface="Arial"/>
              </a:rPr>
              <a:t> </a:t>
            </a:r>
            <a:r>
              <a:rPr dirty="0" sz="1100" spc="-20" i="1">
                <a:latin typeface="Arial"/>
                <a:cs typeface="Arial"/>
              </a:rPr>
              <a:t>A</a:t>
            </a:r>
            <a:r>
              <a:rPr dirty="0" sz="1100" spc="-55" i="1">
                <a:latin typeface="Arial"/>
                <a:cs typeface="Arial"/>
              </a:rPr>
              <a:t> </a:t>
            </a:r>
            <a:r>
              <a:rPr dirty="0" sz="1100" spc="55" i="1">
                <a:latin typeface="Menlo"/>
                <a:cs typeface="Menlo"/>
              </a:rPr>
              <a:t>∩</a:t>
            </a:r>
            <a:r>
              <a:rPr dirty="0" sz="1100" spc="-405" i="1">
                <a:latin typeface="Menlo"/>
                <a:cs typeface="Menlo"/>
              </a:rPr>
              <a:t> </a:t>
            </a:r>
            <a:r>
              <a:rPr dirty="0" sz="1100" i="1">
                <a:latin typeface="Arial"/>
                <a:cs typeface="Arial"/>
              </a:rPr>
              <a:t>S</a:t>
            </a:r>
            <a:r>
              <a:rPr dirty="0" sz="1100" spc="70" i="1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-50" i="1">
                <a:latin typeface="Arial"/>
                <a:cs typeface="Arial"/>
              </a:rPr>
              <a:t> </a:t>
            </a:r>
            <a:r>
              <a:rPr dirty="0" sz="1100" spc="55" i="1">
                <a:latin typeface="Menlo"/>
                <a:cs typeface="Menlo"/>
              </a:rPr>
              <a:t>∩</a:t>
            </a:r>
            <a:r>
              <a:rPr dirty="0" sz="1100" spc="-405" i="1">
                <a:latin typeface="Menlo"/>
                <a:cs typeface="Menlo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1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 spc="55" i="1">
                <a:latin typeface="Menlo"/>
                <a:cs typeface="Menlo"/>
              </a:rPr>
              <a:t>∪</a:t>
            </a:r>
            <a:r>
              <a:rPr dirty="0" sz="1100" spc="-405" i="1">
                <a:latin typeface="Menlo"/>
                <a:cs typeface="Menlo"/>
              </a:rPr>
              <a:t> 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-50" i="1">
                <a:latin typeface="Arial"/>
                <a:cs typeface="Arial"/>
              </a:rPr>
              <a:t> </a:t>
            </a:r>
            <a:r>
              <a:rPr dirty="0" sz="1100" spc="55" i="1">
                <a:latin typeface="Menlo"/>
                <a:cs typeface="Menlo"/>
              </a:rPr>
              <a:t>∩</a:t>
            </a:r>
            <a:r>
              <a:rPr dirty="0" sz="1100" spc="-409" i="1">
                <a:latin typeface="Menlo"/>
                <a:cs typeface="Menlo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2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 spc="55" i="1">
                <a:latin typeface="Menlo"/>
                <a:cs typeface="Menlo"/>
              </a:rPr>
              <a:t>∪</a:t>
            </a:r>
            <a:r>
              <a:rPr dirty="0" sz="1100" spc="-405" i="1">
                <a:latin typeface="Menlo"/>
                <a:cs typeface="Menlo"/>
              </a:rPr>
              <a:t> 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 spc="-114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 spc="-11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 spc="-55" i="1">
                <a:latin typeface="Arial"/>
                <a:cs typeface="Arial"/>
              </a:rPr>
              <a:t> </a:t>
            </a:r>
            <a:r>
              <a:rPr dirty="0" sz="1100" spc="55" i="1">
                <a:latin typeface="Menlo"/>
                <a:cs typeface="Menlo"/>
              </a:rPr>
              <a:t>∪</a:t>
            </a:r>
            <a:r>
              <a:rPr dirty="0" sz="1100" spc="-405" i="1">
                <a:latin typeface="Menlo"/>
                <a:cs typeface="Menlo"/>
              </a:rPr>
              <a:t> 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-50" i="1">
                <a:latin typeface="Arial"/>
                <a:cs typeface="Arial"/>
              </a:rPr>
              <a:t> </a:t>
            </a:r>
            <a:r>
              <a:rPr dirty="0" sz="1100" spc="55" i="1">
                <a:latin typeface="Menlo"/>
                <a:cs typeface="Menlo"/>
              </a:rPr>
              <a:t>∩</a:t>
            </a:r>
            <a:r>
              <a:rPr dirty="0" sz="1100" spc="-405" i="1">
                <a:latin typeface="Menlo"/>
                <a:cs typeface="Menlo"/>
              </a:rPr>
              <a:t> </a:t>
            </a:r>
            <a:r>
              <a:rPr dirty="0" sz="1100" spc="-10" i="1">
                <a:latin typeface="Arial"/>
                <a:cs typeface="Arial"/>
              </a:rPr>
              <a:t>B</a:t>
            </a:r>
            <a:r>
              <a:rPr dirty="0" baseline="-13888" sz="1200" spc="-15" i="1">
                <a:latin typeface="Arial"/>
                <a:cs typeface="Arial"/>
              </a:rPr>
              <a:t>k</a:t>
            </a:r>
            <a:r>
              <a:rPr dirty="0" baseline="-13888" sz="1200" spc="-127" i="1">
                <a:latin typeface="Arial"/>
                <a:cs typeface="Arial"/>
              </a:rPr>
              <a:t> </a:t>
            </a:r>
            <a:r>
              <a:rPr dirty="0" sz="1100" spc="5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  <a:p>
            <a:pPr marL="327660" marR="619125">
              <a:lnSpc>
                <a:spcPct val="102699"/>
              </a:lnSpc>
              <a:spcBef>
                <a:spcPts val="1095"/>
              </a:spcBef>
            </a:pPr>
            <a:r>
              <a:rPr dirty="0" sz="1100">
                <a:latin typeface="Arial"/>
                <a:cs typeface="Arial"/>
              </a:rPr>
              <a:t>where</a:t>
            </a:r>
            <a:r>
              <a:rPr dirty="0" sz="1100" spc="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-50" i="1">
                <a:latin typeface="Arial"/>
                <a:cs typeface="Arial"/>
              </a:rPr>
              <a:t> </a:t>
            </a:r>
            <a:r>
              <a:rPr dirty="0" sz="1100" spc="55" i="1">
                <a:latin typeface="Menlo"/>
                <a:cs typeface="Menlo"/>
              </a:rPr>
              <a:t>∩</a:t>
            </a:r>
            <a:r>
              <a:rPr dirty="0" sz="1100" spc="-400" i="1">
                <a:latin typeface="Menlo"/>
                <a:cs typeface="Menlo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1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i="1">
                <a:latin typeface="Arial"/>
                <a:cs typeface="Arial"/>
              </a:rPr>
              <a:t>,</a:t>
            </a:r>
            <a:r>
              <a:rPr dirty="0" sz="1100" spc="-110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-50" i="1">
                <a:latin typeface="Arial"/>
                <a:cs typeface="Arial"/>
              </a:rPr>
              <a:t> </a:t>
            </a:r>
            <a:r>
              <a:rPr dirty="0" sz="1100" spc="55" i="1">
                <a:latin typeface="Menlo"/>
                <a:cs typeface="Menlo"/>
              </a:rPr>
              <a:t>∩</a:t>
            </a:r>
            <a:r>
              <a:rPr dirty="0" sz="1100" spc="-400" i="1">
                <a:latin typeface="Menlo"/>
                <a:cs typeface="Menlo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2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i="1">
                <a:latin typeface="Arial"/>
                <a:cs typeface="Arial"/>
              </a:rPr>
              <a:t>,</a:t>
            </a:r>
            <a:r>
              <a:rPr dirty="0" sz="1100" spc="-114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 spc="-11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 spc="-11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 spc="-114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,</a:t>
            </a:r>
            <a:r>
              <a:rPr dirty="0" sz="1100" spc="-110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-50" i="1">
                <a:latin typeface="Arial"/>
                <a:cs typeface="Arial"/>
              </a:rPr>
              <a:t> </a:t>
            </a:r>
            <a:r>
              <a:rPr dirty="0" sz="1100" spc="55" i="1">
                <a:latin typeface="Menlo"/>
                <a:cs typeface="Menlo"/>
              </a:rPr>
              <a:t>∩</a:t>
            </a:r>
            <a:r>
              <a:rPr dirty="0" sz="1100" spc="-400" i="1">
                <a:latin typeface="Menlo"/>
                <a:cs typeface="Menlo"/>
              </a:rPr>
              <a:t> </a:t>
            </a:r>
            <a:r>
              <a:rPr dirty="0" sz="1100" spc="-10" i="1">
                <a:latin typeface="Arial"/>
                <a:cs typeface="Arial"/>
              </a:rPr>
              <a:t>B</a:t>
            </a:r>
            <a:r>
              <a:rPr dirty="0" baseline="-13888" sz="1200" spc="-15" i="1">
                <a:latin typeface="Arial"/>
                <a:cs typeface="Arial"/>
              </a:rPr>
              <a:t>k</a:t>
            </a:r>
            <a:r>
              <a:rPr dirty="0" baseline="-13888" sz="1200" spc="-127" i="1">
                <a:latin typeface="Arial"/>
                <a:cs typeface="Arial"/>
              </a:rPr>
              <a:t> </a:t>
            </a:r>
            <a:r>
              <a:rPr dirty="0" sz="1100" spc="55">
                <a:latin typeface="Arial"/>
                <a:cs typeface="Arial"/>
              </a:rPr>
              <a:t>)</a:t>
            </a:r>
            <a:r>
              <a:rPr dirty="0" sz="1100" spc="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are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mutually exclusive</a:t>
            </a:r>
            <a:r>
              <a:rPr dirty="0" sz="1100" spc="-6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events.</a:t>
            </a:r>
            <a:endParaRPr sz="1100">
              <a:latin typeface="Arial"/>
              <a:cs typeface="Arial"/>
            </a:endParaRPr>
          </a:p>
          <a:p>
            <a:pPr marL="327660" marR="466725">
              <a:lnSpc>
                <a:spcPct val="102600"/>
              </a:lnSpc>
              <a:spcBef>
                <a:spcPts val="434"/>
              </a:spcBef>
            </a:pPr>
            <a:r>
              <a:rPr dirty="0" sz="1100">
                <a:latin typeface="Arial"/>
                <a:cs typeface="Arial"/>
              </a:rPr>
              <a:t>Hence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Axiom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A3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probability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gives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the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total probability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formula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20" i="1">
                <a:latin typeface="Arial"/>
                <a:cs typeface="Arial"/>
              </a:rPr>
              <a:t>P</a:t>
            </a:r>
            <a:r>
              <a:rPr dirty="0" sz="1100" spc="-20">
                <a:latin typeface="Arial"/>
                <a:cs typeface="Arial"/>
              </a:rPr>
              <a:t>(</a:t>
            </a:r>
            <a:r>
              <a:rPr dirty="0" sz="1100" spc="-20" i="1">
                <a:latin typeface="Arial"/>
                <a:cs typeface="Arial"/>
              </a:rPr>
              <a:t>A</a:t>
            </a:r>
            <a:r>
              <a:rPr dirty="0" sz="1100" spc="-20">
                <a:latin typeface="Arial"/>
                <a:cs typeface="Arial"/>
              </a:rPr>
              <a:t>).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11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spc="250">
                <a:latin typeface="Arial"/>
                <a:cs typeface="Arial"/>
              </a:rPr>
              <a:t> 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250">
                <a:latin typeface="Arial"/>
                <a:cs typeface="Arial"/>
              </a:rPr>
              <a:t>  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 spc="55" i="1">
                <a:latin typeface="Menlo"/>
                <a:cs typeface="Menlo"/>
              </a:rPr>
              <a:t>∩</a:t>
            </a:r>
            <a:r>
              <a:rPr dirty="0" sz="1100" spc="-385" i="1">
                <a:latin typeface="Menlo"/>
                <a:cs typeface="Menlo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1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+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 spc="55" i="1">
                <a:latin typeface="Menlo"/>
                <a:cs typeface="Menlo"/>
              </a:rPr>
              <a:t>∩</a:t>
            </a:r>
            <a:r>
              <a:rPr dirty="0" sz="1100" spc="-390" i="1">
                <a:latin typeface="Menlo"/>
                <a:cs typeface="Menlo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2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+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 spc="-10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 spc="-10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+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 spc="55" i="1">
                <a:latin typeface="Menlo"/>
                <a:cs typeface="Menlo"/>
              </a:rPr>
              <a:t>∩</a:t>
            </a:r>
            <a:r>
              <a:rPr dirty="0" sz="1100" spc="-390" i="1">
                <a:latin typeface="Menlo"/>
                <a:cs typeface="Menlo"/>
              </a:rPr>
              <a:t> </a:t>
            </a:r>
            <a:r>
              <a:rPr dirty="0" sz="1100" spc="-10" i="1">
                <a:latin typeface="Arial"/>
                <a:cs typeface="Arial"/>
              </a:rPr>
              <a:t>B</a:t>
            </a:r>
            <a:r>
              <a:rPr dirty="0" baseline="-13888" sz="1200" spc="-15" i="1">
                <a:latin typeface="Arial"/>
                <a:cs typeface="Arial"/>
              </a:rPr>
              <a:t>k</a:t>
            </a:r>
            <a:r>
              <a:rPr dirty="0" baseline="-13888" sz="1200" spc="-120" i="1">
                <a:latin typeface="Arial"/>
                <a:cs typeface="Arial"/>
              </a:rPr>
              <a:t> </a:t>
            </a:r>
            <a:r>
              <a:rPr dirty="0" sz="1100" spc="5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  <a:p>
            <a:pPr marL="479425">
              <a:lnSpc>
                <a:spcPct val="100000"/>
              </a:lnSpc>
              <a:spcBef>
                <a:spcPts val="335"/>
              </a:spcBef>
            </a:pP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220">
                <a:latin typeface="Arial"/>
                <a:cs typeface="Arial"/>
              </a:rPr>
              <a:t>  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1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i="1">
                <a:latin typeface="Menlo"/>
                <a:cs typeface="Menlo"/>
              </a:rPr>
              <a:t>|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1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+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2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i="1">
                <a:latin typeface="Menlo"/>
                <a:cs typeface="Menlo"/>
              </a:rPr>
              <a:t>|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2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+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 spc="-114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 spc="-11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 spc="-50" i="1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+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 i="1">
                <a:latin typeface="Arial"/>
                <a:cs typeface="Arial"/>
              </a:rPr>
              <a:t>k</a:t>
            </a:r>
            <a:r>
              <a:rPr dirty="0" baseline="-13888" sz="1200" spc="-127" i="1">
                <a:latin typeface="Arial"/>
                <a:cs typeface="Arial"/>
              </a:rPr>
              <a:t> </a:t>
            </a:r>
            <a:r>
              <a:rPr dirty="0" sz="1100" spc="-40">
                <a:latin typeface="Arial"/>
                <a:cs typeface="Arial"/>
              </a:rPr>
              <a:t>)</a:t>
            </a:r>
            <a:r>
              <a:rPr dirty="0" sz="1100" spc="-40" i="1">
                <a:latin typeface="Arial"/>
                <a:cs typeface="Arial"/>
              </a:rPr>
              <a:t>P</a:t>
            </a:r>
            <a:r>
              <a:rPr dirty="0" sz="1100" spc="-40">
                <a:latin typeface="Arial"/>
                <a:cs typeface="Arial"/>
              </a:rPr>
              <a:t>(</a:t>
            </a:r>
            <a:r>
              <a:rPr dirty="0" sz="1100" spc="-40" i="1">
                <a:latin typeface="Arial"/>
                <a:cs typeface="Arial"/>
              </a:rPr>
              <a:t>A</a:t>
            </a:r>
            <a:r>
              <a:rPr dirty="0" sz="1100" spc="-40" i="1">
                <a:latin typeface="Menlo"/>
                <a:cs typeface="Menlo"/>
              </a:rPr>
              <a:t>|</a:t>
            </a:r>
            <a:r>
              <a:rPr dirty="0" sz="1100" spc="-40" i="1">
                <a:latin typeface="Arial"/>
                <a:cs typeface="Arial"/>
              </a:rPr>
              <a:t>B</a:t>
            </a:r>
            <a:r>
              <a:rPr dirty="0" baseline="-13888" sz="1200" spc="-60" i="1">
                <a:latin typeface="Arial"/>
                <a:cs typeface="Arial"/>
              </a:rPr>
              <a:t>k</a:t>
            </a:r>
            <a:r>
              <a:rPr dirty="0" baseline="-13888" sz="1200" spc="-127" i="1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)</a:t>
            </a:r>
            <a:r>
              <a:rPr dirty="0" sz="1100" spc="-25" i="1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26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275" i="1">
                <a:latin typeface="Menlo"/>
                <a:cs typeface="Menlo"/>
              </a:rPr>
              <a:t>♡</a:t>
            </a:r>
            <a:r>
              <a:rPr dirty="0" spc="-395" i="1">
                <a:latin typeface="Menlo"/>
                <a:cs typeface="Menlo"/>
              </a:rPr>
              <a:t> </a:t>
            </a:r>
            <a:r>
              <a:rPr dirty="0"/>
              <a:t>Return</a:t>
            </a:r>
            <a:r>
              <a:rPr dirty="0" spc="55"/>
              <a:t> </a:t>
            </a:r>
            <a:r>
              <a:rPr dirty="0"/>
              <a:t>to</a:t>
            </a:r>
            <a:r>
              <a:rPr dirty="0" spc="60"/>
              <a:t> </a:t>
            </a:r>
            <a:r>
              <a:rPr dirty="0"/>
              <a:t>the</a:t>
            </a:r>
            <a:r>
              <a:rPr dirty="0" spc="55"/>
              <a:t> </a:t>
            </a:r>
            <a:r>
              <a:rPr dirty="0"/>
              <a:t>phone</a:t>
            </a:r>
            <a:r>
              <a:rPr dirty="0" spc="55"/>
              <a:t> </a:t>
            </a:r>
            <a:r>
              <a:rPr dirty="0" spc="-10"/>
              <a:t>problem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381431"/>
            <a:ext cx="76809" cy="7680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770547"/>
            <a:ext cx="76809" cy="7680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1331734"/>
            <a:ext cx="76809" cy="7680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007" y="2392413"/>
            <a:ext cx="76809" cy="7680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1007" y="2781528"/>
            <a:ext cx="76809" cy="7680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1007" y="3170631"/>
            <a:ext cx="76809" cy="76809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448652" y="309523"/>
            <a:ext cx="3850640" cy="298132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87960" marR="111125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Arial"/>
                <a:cs typeface="Arial"/>
              </a:rPr>
              <a:t>We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can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now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find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probability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event,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say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>
                <a:latin typeface="Arial"/>
                <a:cs typeface="Arial"/>
              </a:rPr>
              <a:t>,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50">
                <a:latin typeface="Arial"/>
                <a:cs typeface="Arial"/>
              </a:rPr>
              <a:t>a </a:t>
            </a:r>
            <a:r>
              <a:rPr dirty="0" sz="1100">
                <a:latin typeface="Arial"/>
                <a:cs typeface="Arial"/>
              </a:rPr>
              <a:t>randomly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selected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phone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develops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fault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within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one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year.</a:t>
            </a:r>
            <a:endParaRPr sz="1100">
              <a:latin typeface="Arial"/>
              <a:cs typeface="Arial"/>
            </a:endParaRPr>
          </a:p>
          <a:p>
            <a:pPr marL="187960" marR="43180">
              <a:lnSpc>
                <a:spcPct val="102600"/>
              </a:lnSpc>
              <a:spcBef>
                <a:spcPts val="355"/>
              </a:spcBef>
            </a:pPr>
            <a:r>
              <a:rPr dirty="0" sz="1100">
                <a:latin typeface="Arial"/>
                <a:cs typeface="Arial"/>
              </a:rPr>
              <a:t>Let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1</a:t>
            </a:r>
            <a:r>
              <a:rPr dirty="0" sz="1100" i="1">
                <a:latin typeface="Arial"/>
                <a:cs typeface="Arial"/>
              </a:rPr>
              <a:t>,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2</a:t>
            </a:r>
            <a:r>
              <a:rPr dirty="0" sz="1100" i="1">
                <a:latin typeface="Arial"/>
                <a:cs typeface="Arial"/>
              </a:rPr>
              <a:t>,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3</a:t>
            </a:r>
            <a:r>
              <a:rPr dirty="0" baseline="-13888" sz="1200" spc="157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events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phone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manufactured respectively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companies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1</a:t>
            </a:r>
            <a:r>
              <a:rPr dirty="0" baseline="-13888" sz="1200" spc="142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Pale,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2</a:t>
            </a:r>
            <a:r>
              <a:rPr dirty="0" baseline="-13888" sz="1200" spc="142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Sung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5" i="1">
                <a:latin typeface="Arial"/>
                <a:cs typeface="Arial"/>
              </a:rPr>
              <a:t>B</a:t>
            </a:r>
            <a:r>
              <a:rPr dirty="0" baseline="-13888" sz="1200" spc="-37">
                <a:latin typeface="Arial"/>
                <a:cs typeface="Arial"/>
              </a:rPr>
              <a:t>3</a:t>
            </a:r>
            <a:r>
              <a:rPr dirty="0" baseline="-13888" sz="12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Windows.</a:t>
            </a:r>
            <a:endParaRPr sz="1100">
              <a:latin typeface="Arial"/>
              <a:cs typeface="Arial"/>
            </a:endParaRPr>
          </a:p>
          <a:p>
            <a:pPr marL="187960">
              <a:lnSpc>
                <a:spcPct val="100000"/>
              </a:lnSpc>
              <a:spcBef>
                <a:spcPts val="390"/>
              </a:spcBef>
            </a:pPr>
            <a:r>
              <a:rPr dirty="0" sz="1100">
                <a:latin typeface="Arial"/>
                <a:cs typeface="Arial"/>
              </a:rPr>
              <a:t>Then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we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have:</a:t>
            </a:r>
            <a:endParaRPr sz="110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1200"/>
              </a:spcBef>
            </a:pP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spc="220">
                <a:latin typeface="Arial"/>
                <a:cs typeface="Arial"/>
              </a:rPr>
              <a:t> 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225">
                <a:latin typeface="Arial"/>
                <a:cs typeface="Arial"/>
              </a:rPr>
              <a:t>  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1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i="1">
                <a:latin typeface="Menlo"/>
                <a:cs typeface="Menlo"/>
              </a:rPr>
              <a:t>|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1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+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2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i="1">
                <a:latin typeface="Menlo"/>
                <a:cs typeface="Menlo"/>
              </a:rPr>
              <a:t>|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2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+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P</a:t>
            </a:r>
            <a:r>
              <a:rPr dirty="0" sz="1100" spc="-10">
                <a:latin typeface="Arial"/>
                <a:cs typeface="Arial"/>
              </a:rPr>
              <a:t>(</a:t>
            </a:r>
            <a:r>
              <a:rPr dirty="0" sz="1100" spc="-10" i="1">
                <a:latin typeface="Arial"/>
                <a:cs typeface="Arial"/>
              </a:rPr>
              <a:t>B</a:t>
            </a:r>
            <a:r>
              <a:rPr dirty="0" baseline="-13888" sz="1200" spc="-15">
                <a:latin typeface="Arial"/>
                <a:cs typeface="Arial"/>
              </a:rPr>
              <a:t>3</a:t>
            </a:r>
            <a:r>
              <a:rPr dirty="0" sz="1100" spc="-10">
                <a:latin typeface="Arial"/>
                <a:cs typeface="Arial"/>
              </a:rPr>
              <a:t>)</a:t>
            </a:r>
            <a:r>
              <a:rPr dirty="0" sz="1100" spc="-10" i="1">
                <a:latin typeface="Arial"/>
                <a:cs typeface="Arial"/>
              </a:rPr>
              <a:t>P</a:t>
            </a:r>
            <a:r>
              <a:rPr dirty="0" sz="1100" spc="-10">
                <a:latin typeface="Arial"/>
                <a:cs typeface="Arial"/>
              </a:rPr>
              <a:t>(</a:t>
            </a:r>
            <a:r>
              <a:rPr dirty="0" sz="1100" spc="-10" i="1">
                <a:latin typeface="Arial"/>
                <a:cs typeface="Arial"/>
              </a:rPr>
              <a:t>A</a:t>
            </a:r>
            <a:r>
              <a:rPr dirty="0" sz="1100" spc="-10" i="1">
                <a:latin typeface="Menlo"/>
                <a:cs typeface="Menlo"/>
              </a:rPr>
              <a:t>|</a:t>
            </a:r>
            <a:r>
              <a:rPr dirty="0" sz="1100" spc="-10" i="1">
                <a:latin typeface="Arial"/>
                <a:cs typeface="Arial"/>
              </a:rPr>
              <a:t>B</a:t>
            </a:r>
            <a:r>
              <a:rPr dirty="0" baseline="-13888" sz="1200" spc="-15">
                <a:latin typeface="Arial"/>
                <a:cs typeface="Arial"/>
              </a:rPr>
              <a:t>3</a:t>
            </a:r>
            <a:r>
              <a:rPr dirty="0" sz="1100" spc="-10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  <a:p>
            <a:pPr marL="492125">
              <a:lnSpc>
                <a:spcPct val="100000"/>
              </a:lnSpc>
              <a:spcBef>
                <a:spcPts val="335"/>
              </a:spcBef>
            </a:pP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204">
                <a:latin typeface="Arial"/>
                <a:cs typeface="Arial"/>
              </a:rPr>
              <a:t>  </a:t>
            </a:r>
            <a:r>
              <a:rPr dirty="0" sz="1100" spc="-10">
                <a:latin typeface="Arial"/>
                <a:cs typeface="Arial"/>
              </a:rPr>
              <a:t>0</a:t>
            </a:r>
            <a:r>
              <a:rPr dirty="0" sz="1100" spc="-10" i="1">
                <a:latin typeface="Arial"/>
                <a:cs typeface="Arial"/>
              </a:rPr>
              <a:t>.</a:t>
            </a:r>
            <a:r>
              <a:rPr dirty="0" sz="1100" spc="-10">
                <a:latin typeface="Arial"/>
                <a:cs typeface="Arial"/>
              </a:rPr>
              <a:t>30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 spc="175" i="1">
                <a:latin typeface="Menlo"/>
                <a:cs typeface="Menlo"/>
              </a:rPr>
              <a:t>×</a:t>
            </a:r>
            <a:r>
              <a:rPr dirty="0" sz="1100" spc="-409" i="1">
                <a:latin typeface="Menlo"/>
                <a:cs typeface="Menlo"/>
              </a:rPr>
              <a:t> </a:t>
            </a:r>
            <a:r>
              <a:rPr dirty="0" sz="1100" spc="-10">
                <a:latin typeface="Arial"/>
                <a:cs typeface="Arial"/>
              </a:rPr>
              <a:t>0</a:t>
            </a:r>
            <a:r>
              <a:rPr dirty="0" sz="1100" spc="-10" i="1">
                <a:latin typeface="Arial"/>
                <a:cs typeface="Arial"/>
              </a:rPr>
              <a:t>.</a:t>
            </a:r>
            <a:r>
              <a:rPr dirty="0" sz="1100" spc="-10">
                <a:latin typeface="Arial"/>
                <a:cs typeface="Arial"/>
              </a:rPr>
              <a:t>05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+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0</a:t>
            </a:r>
            <a:r>
              <a:rPr dirty="0" sz="1100" spc="-10" i="1">
                <a:latin typeface="Arial"/>
                <a:cs typeface="Arial"/>
              </a:rPr>
              <a:t>.</a:t>
            </a:r>
            <a:r>
              <a:rPr dirty="0" sz="1100" spc="-10">
                <a:latin typeface="Arial"/>
                <a:cs typeface="Arial"/>
              </a:rPr>
              <a:t>40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 spc="175" i="1">
                <a:latin typeface="Menlo"/>
                <a:cs typeface="Menlo"/>
              </a:rPr>
              <a:t>×</a:t>
            </a:r>
            <a:r>
              <a:rPr dirty="0" sz="1100" spc="-415" i="1">
                <a:latin typeface="Menlo"/>
                <a:cs typeface="Menlo"/>
              </a:rPr>
              <a:t> </a:t>
            </a:r>
            <a:r>
              <a:rPr dirty="0" sz="1100" spc="-10">
                <a:latin typeface="Arial"/>
                <a:cs typeface="Arial"/>
              </a:rPr>
              <a:t>0</a:t>
            </a:r>
            <a:r>
              <a:rPr dirty="0" sz="1100" spc="-10" i="1">
                <a:latin typeface="Arial"/>
                <a:cs typeface="Arial"/>
              </a:rPr>
              <a:t>.</a:t>
            </a:r>
            <a:r>
              <a:rPr dirty="0" sz="1100" spc="-10">
                <a:latin typeface="Arial"/>
                <a:cs typeface="Arial"/>
              </a:rPr>
              <a:t>08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+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0</a:t>
            </a:r>
            <a:r>
              <a:rPr dirty="0" sz="1100" spc="-10" i="1">
                <a:latin typeface="Arial"/>
                <a:cs typeface="Arial"/>
              </a:rPr>
              <a:t>.</a:t>
            </a:r>
            <a:r>
              <a:rPr dirty="0" sz="1100" spc="-10">
                <a:latin typeface="Arial"/>
                <a:cs typeface="Arial"/>
              </a:rPr>
              <a:t>30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 spc="175" i="1">
                <a:latin typeface="Menlo"/>
                <a:cs typeface="Menlo"/>
              </a:rPr>
              <a:t>×</a:t>
            </a:r>
            <a:r>
              <a:rPr dirty="0" sz="1100" spc="-409" i="1">
                <a:latin typeface="Menlo"/>
                <a:cs typeface="Menlo"/>
              </a:rPr>
              <a:t> </a:t>
            </a:r>
            <a:r>
              <a:rPr dirty="0" sz="1100" spc="-20">
                <a:latin typeface="Arial"/>
                <a:cs typeface="Arial"/>
              </a:rPr>
              <a:t>0</a:t>
            </a:r>
            <a:r>
              <a:rPr dirty="0" sz="1100" spc="-20" i="1">
                <a:latin typeface="Arial"/>
                <a:cs typeface="Arial"/>
              </a:rPr>
              <a:t>.</a:t>
            </a:r>
            <a:r>
              <a:rPr dirty="0" sz="1100" spc="-20">
                <a:latin typeface="Arial"/>
                <a:cs typeface="Arial"/>
              </a:rPr>
              <a:t>10</a:t>
            </a:r>
            <a:endParaRPr sz="1100">
              <a:latin typeface="Arial"/>
              <a:cs typeface="Arial"/>
            </a:endParaRPr>
          </a:p>
          <a:p>
            <a:pPr marL="492125">
              <a:lnSpc>
                <a:spcPct val="100000"/>
              </a:lnSpc>
              <a:spcBef>
                <a:spcPts val="334"/>
              </a:spcBef>
            </a:pP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190">
                <a:latin typeface="Arial"/>
                <a:cs typeface="Arial"/>
              </a:rPr>
              <a:t>  </a:t>
            </a:r>
            <a:r>
              <a:rPr dirty="0" sz="1100" spc="-10">
                <a:latin typeface="Arial"/>
                <a:cs typeface="Arial"/>
              </a:rPr>
              <a:t>0</a:t>
            </a:r>
            <a:r>
              <a:rPr dirty="0" sz="1100" spc="-10" i="1">
                <a:latin typeface="Arial"/>
                <a:cs typeface="Arial"/>
              </a:rPr>
              <a:t>.</a:t>
            </a:r>
            <a:r>
              <a:rPr dirty="0" sz="1100" spc="-10">
                <a:latin typeface="Arial"/>
                <a:cs typeface="Arial"/>
              </a:rPr>
              <a:t>077</a:t>
            </a:r>
            <a:r>
              <a:rPr dirty="0" sz="1100" spc="-10" i="1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87960" marR="165735">
              <a:lnSpc>
                <a:spcPct val="102600"/>
              </a:lnSpc>
              <a:spcBef>
                <a:spcPts val="1165"/>
              </a:spcBef>
            </a:pPr>
            <a:r>
              <a:rPr dirty="0" sz="1100">
                <a:latin typeface="Arial"/>
                <a:cs typeface="Arial"/>
              </a:rPr>
              <a:t>Now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suppose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my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phone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has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developed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fault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within </a:t>
            </a:r>
            <a:r>
              <a:rPr dirty="0" sz="1100">
                <a:latin typeface="Arial"/>
                <a:cs typeface="Arial"/>
              </a:rPr>
              <a:t>one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year.</a:t>
            </a:r>
            <a:endParaRPr sz="1100">
              <a:latin typeface="Arial"/>
              <a:cs typeface="Arial"/>
            </a:endParaRPr>
          </a:p>
          <a:p>
            <a:pPr marL="187960">
              <a:lnSpc>
                <a:spcPct val="100000"/>
              </a:lnSpc>
              <a:spcBef>
                <a:spcPts val="390"/>
              </a:spcBef>
            </a:pPr>
            <a:r>
              <a:rPr dirty="0" sz="1100">
                <a:latin typeface="Arial"/>
                <a:cs typeface="Arial"/>
              </a:rPr>
              <a:t>What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probability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was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manufactured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by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25" i="1">
                <a:latin typeface="Arial"/>
                <a:cs typeface="Arial"/>
              </a:rPr>
              <a:t>B</a:t>
            </a:r>
            <a:r>
              <a:rPr dirty="0" baseline="-13888" sz="1200" spc="-37">
                <a:latin typeface="Arial"/>
                <a:cs typeface="Arial"/>
              </a:rPr>
              <a:t>1</a:t>
            </a:r>
            <a:endParaRPr baseline="-13888" sz="1200">
              <a:latin typeface="Arial"/>
              <a:cs typeface="Arial"/>
            </a:endParaRPr>
          </a:p>
          <a:p>
            <a:pPr marL="187960">
              <a:lnSpc>
                <a:spcPct val="100000"/>
              </a:lnSpc>
              <a:spcBef>
                <a:spcPts val="35"/>
              </a:spcBef>
            </a:pPr>
            <a:r>
              <a:rPr dirty="0" sz="1100" spc="-10">
                <a:latin typeface="Arial"/>
                <a:cs typeface="Arial"/>
              </a:rPr>
              <a:t>Pale?</a:t>
            </a:r>
            <a:endParaRPr sz="1100">
              <a:latin typeface="Arial"/>
              <a:cs typeface="Arial"/>
            </a:endParaRPr>
          </a:p>
          <a:p>
            <a:pPr marL="187960">
              <a:lnSpc>
                <a:spcPct val="100000"/>
              </a:lnSpc>
              <a:spcBef>
                <a:spcPts val="390"/>
              </a:spcBef>
            </a:pPr>
            <a:r>
              <a:rPr dirty="0" sz="1100" spc="-80">
                <a:latin typeface="Arial"/>
                <a:cs typeface="Arial"/>
              </a:rPr>
              <a:t>To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answer</a:t>
            </a:r>
            <a:r>
              <a:rPr dirty="0" sz="1100" spc="-6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this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need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introduce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Bayes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Theorem.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31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dirty="0" spc="30"/>
              <a:t> </a:t>
            </a:r>
            <a:r>
              <a:rPr dirty="0"/>
              <a:t>Bayes</a:t>
            </a:r>
            <a:r>
              <a:rPr dirty="0" spc="30"/>
              <a:t> </a:t>
            </a:r>
            <a:r>
              <a:rPr dirty="0" spc="-10"/>
              <a:t>theorem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625678"/>
            <a:ext cx="76809" cy="7680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1024991"/>
            <a:ext cx="76809" cy="7680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2081072"/>
            <a:ext cx="76809" cy="7680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007" y="2635262"/>
            <a:ext cx="76809" cy="7680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96494" y="553769"/>
            <a:ext cx="4111625" cy="237363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340360" marR="628650">
              <a:lnSpc>
                <a:spcPct val="102699"/>
              </a:lnSpc>
              <a:spcBef>
                <a:spcPts val="55"/>
              </a:spcBef>
            </a:pPr>
            <a:r>
              <a:rPr dirty="0" sz="1100">
                <a:latin typeface="Arial"/>
                <a:cs typeface="Arial"/>
              </a:rPr>
              <a:t>Let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-15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</a:t>
            </a:r>
            <a:r>
              <a:rPr dirty="0" sz="1100" spc="-10">
                <a:latin typeface="Arial"/>
                <a:cs typeface="Arial"/>
              </a:rPr>
              <a:t> event,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let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1</a:t>
            </a:r>
            <a:r>
              <a:rPr dirty="0" sz="1100" i="1">
                <a:latin typeface="Arial"/>
                <a:cs typeface="Arial"/>
              </a:rPr>
              <a:t>,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2</a:t>
            </a:r>
            <a:r>
              <a:rPr dirty="0" sz="1100" i="1">
                <a:latin typeface="Arial"/>
                <a:cs typeface="Arial"/>
              </a:rPr>
              <a:t>,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,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 i="1">
                <a:latin typeface="Arial"/>
                <a:cs typeface="Arial"/>
              </a:rPr>
              <a:t>k</a:t>
            </a:r>
            <a:r>
              <a:rPr dirty="0" baseline="-13888" sz="1200" spc="300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set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of </a:t>
            </a:r>
            <a:r>
              <a:rPr dirty="0" sz="1100" spc="-10">
                <a:latin typeface="Arial"/>
                <a:cs typeface="Arial"/>
              </a:rPr>
              <a:t>mutually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exclusive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exhaustive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events.</a:t>
            </a:r>
            <a:endParaRPr sz="1100">
              <a:latin typeface="Arial"/>
              <a:cs typeface="Arial"/>
            </a:endParaRPr>
          </a:p>
          <a:p>
            <a:pPr marL="340360">
              <a:lnSpc>
                <a:spcPct val="100000"/>
              </a:lnSpc>
              <a:spcBef>
                <a:spcPts val="470"/>
              </a:spcBef>
            </a:pPr>
            <a:r>
              <a:rPr dirty="0" sz="1100">
                <a:latin typeface="Arial"/>
                <a:cs typeface="Arial"/>
              </a:rPr>
              <a:t>Then,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any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i</a:t>
            </a:r>
            <a:r>
              <a:rPr dirty="0" sz="1100" spc="75" i="1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1</a:t>
            </a:r>
            <a:r>
              <a:rPr dirty="0" sz="1100" spc="-10" i="1">
                <a:latin typeface="Arial"/>
                <a:cs typeface="Arial"/>
              </a:rPr>
              <a:t>,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,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k</a:t>
            </a:r>
            <a:r>
              <a:rPr dirty="0" sz="1100" spc="-200" i="1">
                <a:latin typeface="Arial"/>
                <a:cs typeface="Arial"/>
              </a:rPr>
              <a:t> </a:t>
            </a:r>
            <a:r>
              <a:rPr dirty="0" sz="1100" spc="-50">
                <a:latin typeface="Arial"/>
                <a:cs typeface="Arial"/>
              </a:rPr>
              <a:t>,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10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tabLst>
                <a:tab pos="1958975" algn="l"/>
                <a:tab pos="3994150" algn="l"/>
              </a:tabLst>
            </a:pPr>
            <a:r>
              <a:rPr dirty="0" baseline="-37878" sz="1650" i="1">
                <a:latin typeface="Arial"/>
                <a:cs typeface="Arial"/>
              </a:rPr>
              <a:t>P</a:t>
            </a:r>
            <a:r>
              <a:rPr dirty="0" baseline="-37878" sz="1650">
                <a:latin typeface="Arial"/>
                <a:cs typeface="Arial"/>
              </a:rPr>
              <a:t>(</a:t>
            </a:r>
            <a:r>
              <a:rPr dirty="0" baseline="-37878" sz="1650" i="1">
                <a:latin typeface="Arial"/>
                <a:cs typeface="Arial"/>
              </a:rPr>
              <a:t>B</a:t>
            </a:r>
            <a:r>
              <a:rPr dirty="0" baseline="-65972" sz="1200" i="1">
                <a:latin typeface="Arial"/>
                <a:cs typeface="Arial"/>
              </a:rPr>
              <a:t>i</a:t>
            </a:r>
            <a:r>
              <a:rPr dirty="0" baseline="-65972" sz="1200" spc="-89" i="1">
                <a:latin typeface="Arial"/>
                <a:cs typeface="Arial"/>
              </a:rPr>
              <a:t> </a:t>
            </a:r>
            <a:r>
              <a:rPr dirty="0" baseline="-37878" sz="1650" spc="-172" i="1">
                <a:latin typeface="Menlo"/>
                <a:cs typeface="Menlo"/>
              </a:rPr>
              <a:t>|</a:t>
            </a:r>
            <a:r>
              <a:rPr dirty="0" baseline="-37878" sz="1650" spc="-172" i="1">
                <a:latin typeface="Arial"/>
                <a:cs typeface="Arial"/>
              </a:rPr>
              <a:t>A</a:t>
            </a:r>
            <a:r>
              <a:rPr dirty="0" baseline="-37878" sz="1650" spc="-172">
                <a:latin typeface="Arial"/>
                <a:cs typeface="Arial"/>
              </a:rPr>
              <a:t>)</a:t>
            </a:r>
            <a:r>
              <a:rPr dirty="0" baseline="-37878" sz="1650" spc="172">
                <a:latin typeface="Arial"/>
                <a:cs typeface="Arial"/>
              </a:rPr>
              <a:t> </a:t>
            </a:r>
            <a:r>
              <a:rPr dirty="0" baseline="-37878" sz="1650" spc="300">
                <a:latin typeface="Arial"/>
                <a:cs typeface="Arial"/>
              </a:rPr>
              <a:t>=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1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</a:t>
            </a:r>
            <a:r>
              <a:rPr dirty="0" u="sng" sz="11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</a:t>
            </a:r>
            <a:r>
              <a:rPr dirty="0" u="sng" baseline="-13888" sz="12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baseline="-13888" sz="1200" spc="-37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00" spc="-4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)</a:t>
            </a:r>
            <a:r>
              <a:rPr dirty="0" u="sng" sz="1100" spc="-4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</a:t>
            </a:r>
            <a:r>
              <a:rPr dirty="0" u="sng" sz="1100" spc="-4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</a:t>
            </a:r>
            <a:r>
              <a:rPr dirty="0" u="sng" sz="1100" spc="-4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dirty="0" u="sng" sz="1100" spc="-40" i="1">
                <a:uFill>
                  <a:solidFill>
                    <a:srgbClr val="000000"/>
                  </a:solidFill>
                </a:uFill>
                <a:latin typeface="Menlo"/>
                <a:cs typeface="Menlo"/>
              </a:rPr>
              <a:t>|</a:t>
            </a:r>
            <a:r>
              <a:rPr dirty="0" u="sng" sz="1100" spc="-4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</a:t>
            </a:r>
            <a:r>
              <a:rPr dirty="0" u="sng" baseline="-13888" sz="1200" spc="-6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baseline="-13888" sz="1200" spc="-3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)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dirty="0" sz="1100" spc="-190">
                <a:latin typeface="Arial"/>
                <a:cs typeface="Arial"/>
              </a:rPr>
              <a:t> </a:t>
            </a:r>
            <a:r>
              <a:rPr dirty="0" baseline="-37878" sz="1650" i="1">
                <a:latin typeface="Arial"/>
                <a:cs typeface="Arial"/>
              </a:rPr>
              <a:t>,</a:t>
            </a:r>
            <a:endParaRPr baseline="-37878" sz="1650">
              <a:latin typeface="Arial"/>
              <a:cs typeface="Arial"/>
            </a:endParaRPr>
          </a:p>
          <a:p>
            <a:pPr marL="734060">
              <a:lnSpc>
                <a:spcPct val="100000"/>
              </a:lnSpc>
              <a:spcBef>
                <a:spcPts val="165"/>
              </a:spcBef>
            </a:pP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1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i="1">
                <a:latin typeface="Menlo"/>
                <a:cs typeface="Menlo"/>
              </a:rPr>
              <a:t>|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1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+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2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i="1">
                <a:latin typeface="Menlo"/>
                <a:cs typeface="Menlo"/>
              </a:rPr>
              <a:t>|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2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+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365" i="1">
                <a:latin typeface="Menlo"/>
                <a:cs typeface="Menlo"/>
              </a:rPr>
              <a:t>·</a:t>
            </a:r>
            <a:r>
              <a:rPr dirty="0" sz="1100" spc="-459" i="1">
                <a:latin typeface="Menlo"/>
                <a:cs typeface="Menlo"/>
              </a:rPr>
              <a:t> </a:t>
            </a:r>
            <a:r>
              <a:rPr dirty="0" sz="1100" spc="-365" i="1">
                <a:latin typeface="Menlo"/>
                <a:cs typeface="Menlo"/>
              </a:rPr>
              <a:t>·</a:t>
            </a:r>
            <a:r>
              <a:rPr dirty="0" sz="1100" spc="-470" i="1">
                <a:latin typeface="Menlo"/>
                <a:cs typeface="Menlo"/>
              </a:rPr>
              <a:t> </a:t>
            </a:r>
            <a:r>
              <a:rPr dirty="0" sz="1100" spc="-365" i="1">
                <a:latin typeface="Menlo"/>
                <a:cs typeface="Menlo"/>
              </a:rPr>
              <a:t>·</a:t>
            </a:r>
            <a:r>
              <a:rPr dirty="0" sz="1100" spc="-395" i="1">
                <a:latin typeface="Menlo"/>
                <a:cs typeface="Menlo"/>
              </a:rPr>
              <a:t> </a:t>
            </a:r>
            <a:r>
              <a:rPr dirty="0" sz="1100" spc="200">
                <a:latin typeface="Arial"/>
                <a:cs typeface="Arial"/>
              </a:rPr>
              <a:t>+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 i="1">
                <a:latin typeface="Arial"/>
                <a:cs typeface="Arial"/>
              </a:rPr>
              <a:t>k</a:t>
            </a:r>
            <a:r>
              <a:rPr dirty="0" baseline="-13888" sz="1200" spc="-120" i="1">
                <a:latin typeface="Arial"/>
                <a:cs typeface="Arial"/>
              </a:rPr>
              <a:t> </a:t>
            </a:r>
            <a:r>
              <a:rPr dirty="0" sz="1100" spc="-40">
                <a:latin typeface="Arial"/>
                <a:cs typeface="Arial"/>
              </a:rPr>
              <a:t>)</a:t>
            </a:r>
            <a:r>
              <a:rPr dirty="0" sz="1100" spc="-40" i="1">
                <a:latin typeface="Arial"/>
                <a:cs typeface="Arial"/>
              </a:rPr>
              <a:t>P</a:t>
            </a:r>
            <a:r>
              <a:rPr dirty="0" sz="1100" spc="-40">
                <a:latin typeface="Arial"/>
                <a:cs typeface="Arial"/>
              </a:rPr>
              <a:t>(</a:t>
            </a:r>
            <a:r>
              <a:rPr dirty="0" sz="1100" spc="-40" i="1">
                <a:latin typeface="Arial"/>
                <a:cs typeface="Arial"/>
              </a:rPr>
              <a:t>A</a:t>
            </a:r>
            <a:r>
              <a:rPr dirty="0" sz="1100" spc="-40" i="1">
                <a:latin typeface="Menlo"/>
                <a:cs typeface="Menlo"/>
              </a:rPr>
              <a:t>|</a:t>
            </a:r>
            <a:r>
              <a:rPr dirty="0" sz="1100" spc="-40" i="1">
                <a:latin typeface="Arial"/>
                <a:cs typeface="Arial"/>
              </a:rPr>
              <a:t>B</a:t>
            </a:r>
            <a:r>
              <a:rPr dirty="0" baseline="-13888" sz="1200" spc="-60" i="1">
                <a:latin typeface="Arial"/>
                <a:cs typeface="Arial"/>
              </a:rPr>
              <a:t>k</a:t>
            </a:r>
            <a:r>
              <a:rPr dirty="0" baseline="-13888" sz="1200" spc="-127" i="1">
                <a:latin typeface="Arial"/>
                <a:cs typeface="Arial"/>
              </a:rPr>
              <a:t> </a:t>
            </a:r>
            <a:r>
              <a:rPr dirty="0" sz="1100" spc="-5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  <a:p>
            <a:pPr marL="340360" marR="296545">
              <a:lnSpc>
                <a:spcPct val="102600"/>
              </a:lnSpc>
              <a:spcBef>
                <a:spcPts val="1210"/>
              </a:spcBef>
            </a:pP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Bayes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theorem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used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update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probability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50">
                <a:latin typeface="Arial"/>
                <a:cs typeface="Arial"/>
              </a:rPr>
              <a:t>a </a:t>
            </a:r>
            <a:r>
              <a:rPr dirty="0" sz="1100" spc="-10">
                <a:latin typeface="Arial"/>
                <a:cs typeface="Arial"/>
              </a:rPr>
              <a:t>possible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cause,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B</a:t>
            </a:r>
            <a:r>
              <a:rPr dirty="0" baseline="-13888" sz="1200" spc="-15" i="1">
                <a:latin typeface="Arial"/>
                <a:cs typeface="Arial"/>
              </a:rPr>
              <a:t>i</a:t>
            </a:r>
            <a:r>
              <a:rPr dirty="0" baseline="-13888" sz="1200" spc="-157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,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given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effect,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>
                <a:latin typeface="Arial"/>
                <a:cs typeface="Arial"/>
              </a:rPr>
              <a:t>,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has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already </a:t>
            </a:r>
            <a:r>
              <a:rPr dirty="0" sz="1100">
                <a:latin typeface="Arial"/>
                <a:cs typeface="Arial"/>
              </a:rPr>
              <a:t>taken</a:t>
            </a:r>
            <a:r>
              <a:rPr dirty="0" sz="1100" spc="-6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place.</a:t>
            </a:r>
            <a:endParaRPr sz="1100">
              <a:latin typeface="Arial"/>
              <a:cs typeface="Arial"/>
            </a:endParaRPr>
          </a:p>
          <a:p>
            <a:pPr marL="340360" marR="285115">
              <a:lnSpc>
                <a:spcPct val="102600"/>
              </a:lnSpc>
              <a:spcBef>
                <a:spcPts val="300"/>
              </a:spcBef>
            </a:pP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example,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murder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has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already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taken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then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trying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investigate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“who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dunnit!”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31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dirty="0" spc="30"/>
              <a:t> </a:t>
            </a:r>
            <a:r>
              <a:rPr dirty="0"/>
              <a:t>Bayes</a:t>
            </a:r>
            <a:r>
              <a:rPr dirty="0" spc="30"/>
              <a:t> </a:t>
            </a:r>
            <a:r>
              <a:rPr dirty="0" spc="-10"/>
              <a:t>theorem...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381000"/>
            <a:ext cx="76809" cy="7680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11695" y="309091"/>
            <a:ext cx="3662045" cy="16249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probability,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 i="1">
                <a:latin typeface="Arial"/>
                <a:cs typeface="Arial"/>
              </a:rPr>
              <a:t>i</a:t>
            </a:r>
            <a:r>
              <a:rPr dirty="0" baseline="-13888" sz="1200" spc="-157" i="1">
                <a:latin typeface="Arial"/>
                <a:cs typeface="Arial"/>
              </a:rPr>
              <a:t> </a:t>
            </a:r>
            <a:r>
              <a:rPr dirty="0" sz="1100" spc="-114" i="1">
                <a:latin typeface="Menlo"/>
                <a:cs typeface="Menlo"/>
              </a:rPr>
              <a:t>|</a:t>
            </a:r>
            <a:r>
              <a:rPr dirty="0" sz="1100" spc="-114" i="1">
                <a:latin typeface="Arial"/>
                <a:cs typeface="Arial"/>
              </a:rPr>
              <a:t>A</a:t>
            </a:r>
            <a:r>
              <a:rPr dirty="0" sz="1100" spc="-114">
                <a:latin typeface="Arial"/>
                <a:cs typeface="Arial"/>
              </a:rPr>
              <a:t>)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called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posterior</a:t>
            </a:r>
            <a:r>
              <a:rPr dirty="0" sz="1100" spc="-10">
                <a:latin typeface="Arial"/>
                <a:cs typeface="Arial"/>
              </a:rPr>
              <a:t> probability </a:t>
            </a:r>
            <a:r>
              <a:rPr dirty="0" sz="1100" spc="-25">
                <a:latin typeface="Arial"/>
                <a:cs typeface="Arial"/>
              </a:rPr>
              <a:t>of</a:t>
            </a:r>
            <a:endParaRPr sz="11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35"/>
              </a:spcBef>
            </a:pP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 i="1">
                <a:latin typeface="Arial"/>
                <a:cs typeface="Arial"/>
              </a:rPr>
              <a:t>i</a:t>
            </a:r>
            <a:r>
              <a:rPr dirty="0" baseline="-13888" sz="1200" spc="284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 i="1">
                <a:latin typeface="Arial"/>
                <a:cs typeface="Arial"/>
              </a:rPr>
              <a:t>i</a:t>
            </a:r>
            <a:r>
              <a:rPr dirty="0" baseline="-13888" sz="1200" spc="-157" i="1">
                <a:latin typeface="Arial"/>
                <a:cs typeface="Arial"/>
              </a:rPr>
              <a:t> </a:t>
            </a:r>
            <a:r>
              <a:rPr dirty="0" sz="1100" spc="55">
                <a:latin typeface="Arial"/>
                <a:cs typeface="Arial"/>
              </a:rPr>
              <a:t>)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called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prior</a:t>
            </a:r>
            <a:r>
              <a:rPr dirty="0" sz="1100" spc="-10">
                <a:latin typeface="Arial"/>
                <a:cs typeface="Arial"/>
              </a:rPr>
              <a:t> probability.</a:t>
            </a:r>
            <a:endParaRPr sz="1100">
              <a:latin typeface="Arial"/>
              <a:cs typeface="Arial"/>
            </a:endParaRPr>
          </a:p>
          <a:p>
            <a:pPr marL="25400" marR="63500">
              <a:lnSpc>
                <a:spcPct val="102600"/>
              </a:lnSpc>
              <a:spcBef>
                <a:spcPts val="350"/>
              </a:spcBef>
            </a:pP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Bayes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theorem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rule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converts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prior probability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into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posterior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probability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by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using</a:t>
            </a:r>
            <a:r>
              <a:rPr dirty="0" sz="1100" spc="-25">
                <a:latin typeface="Arial"/>
                <a:cs typeface="Arial"/>
              </a:rPr>
              <a:t> the </a:t>
            </a:r>
            <a:r>
              <a:rPr dirty="0" sz="1100" spc="-10">
                <a:latin typeface="Arial"/>
                <a:cs typeface="Arial"/>
              </a:rPr>
              <a:t>additional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information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some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other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event,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above,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has </a:t>
            </a:r>
            <a:r>
              <a:rPr dirty="0" sz="1100">
                <a:latin typeface="Arial"/>
                <a:cs typeface="Arial"/>
              </a:rPr>
              <a:t>already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occurred.</a:t>
            </a:r>
            <a:endParaRPr sz="1100">
              <a:latin typeface="Arial"/>
              <a:cs typeface="Arial"/>
            </a:endParaRPr>
          </a:p>
          <a:p>
            <a:pPr marL="25400" marR="130810">
              <a:lnSpc>
                <a:spcPct val="102600"/>
              </a:lnSpc>
              <a:spcBef>
                <a:spcPts val="350"/>
              </a:spcBef>
            </a:pPr>
            <a:r>
              <a:rPr dirty="0" sz="1100" spc="175" i="1">
                <a:latin typeface="Menlo"/>
                <a:cs typeface="Menlo"/>
              </a:rPr>
              <a:t>♡</a:t>
            </a:r>
            <a:r>
              <a:rPr dirty="0" sz="1100" spc="-360" i="1">
                <a:latin typeface="Menlo"/>
                <a:cs typeface="Menlo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6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probability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faulty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phone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was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manufactured </a:t>
            </a:r>
            <a:r>
              <a:rPr dirty="0" sz="1100">
                <a:latin typeface="Arial"/>
                <a:cs typeface="Arial"/>
              </a:rPr>
              <a:t>by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1</a:t>
            </a:r>
            <a:r>
              <a:rPr dirty="0" baseline="-13888" sz="1200" spc="127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Pale</a:t>
            </a:r>
            <a:r>
              <a:rPr dirty="0" sz="1100" spc="-35">
                <a:latin typeface="Arial"/>
                <a:cs typeface="Arial"/>
              </a:rPr>
              <a:t> is</a:t>
            </a:r>
            <a:endParaRPr sz="1100">
              <a:latin typeface="Arial"/>
              <a:cs typeface="Arial"/>
            </a:endParaRPr>
          </a:p>
          <a:p>
            <a:pPr algn="ctr" marL="97155">
              <a:lnSpc>
                <a:spcPct val="100000"/>
              </a:lnSpc>
              <a:spcBef>
                <a:spcPts val="140"/>
              </a:spcBef>
            </a:pPr>
            <a:r>
              <a:rPr dirty="0" u="sng" sz="800" spc="-1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</a:t>
            </a:r>
            <a:r>
              <a:rPr dirty="0" u="sng" sz="800" spc="-1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</a:t>
            </a:r>
            <a:r>
              <a:rPr dirty="0" u="sng" sz="800" spc="-1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</a:t>
            </a:r>
            <a:r>
              <a:rPr dirty="0" u="sng" baseline="-13888" sz="900" spc="-15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dirty="0" u="sng" sz="800" spc="-1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)</a:t>
            </a:r>
            <a:r>
              <a:rPr dirty="0" u="sng" sz="800" spc="-1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</a:t>
            </a:r>
            <a:r>
              <a:rPr dirty="0" u="sng" sz="800" spc="-1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</a:t>
            </a:r>
            <a:r>
              <a:rPr dirty="0" u="sng" sz="800" spc="-1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A|B</a:t>
            </a:r>
            <a:r>
              <a:rPr dirty="0" u="sng" baseline="-13888" sz="900" spc="-15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dirty="0" u="sng" sz="800" spc="-1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)</a:t>
            </a:r>
            <a:endParaRPr sz="8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769582"/>
            <a:ext cx="76809" cy="7680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1502321"/>
            <a:ext cx="76809" cy="7680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365743" y="1904897"/>
            <a:ext cx="25146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i="1">
                <a:latin typeface="Arial"/>
                <a:cs typeface="Arial"/>
              </a:rPr>
              <a:t>P</a:t>
            </a:r>
            <a:r>
              <a:rPr dirty="0" sz="800" spc="-20">
                <a:latin typeface="Arial"/>
                <a:cs typeface="Arial"/>
              </a:rPr>
              <a:t>(</a:t>
            </a:r>
            <a:r>
              <a:rPr dirty="0" sz="800" spc="-20" i="1">
                <a:latin typeface="Arial"/>
                <a:cs typeface="Arial"/>
              </a:rPr>
              <a:t>A</a:t>
            </a:r>
            <a:r>
              <a:rPr dirty="0" sz="800" spc="-20">
                <a:latin typeface="Arial"/>
                <a:cs typeface="Arial"/>
              </a:rPr>
              <a:t>)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245768" y="1783471"/>
            <a:ext cx="819150" cy="427355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360"/>
              </a:spcBef>
            </a:pP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1</a:t>
            </a:r>
            <a:r>
              <a:rPr dirty="0" sz="1100" i="1">
                <a:latin typeface="Menlo"/>
                <a:cs typeface="Menlo"/>
              </a:rPr>
              <a:t>|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spc="495">
                <a:latin typeface="Arial"/>
                <a:cs typeface="Arial"/>
              </a:rPr>
              <a:t> </a:t>
            </a:r>
            <a:r>
              <a:rPr dirty="0" sz="1100" spc="140">
                <a:latin typeface="Arial"/>
                <a:cs typeface="Arial"/>
              </a:rPr>
              <a:t>=</a:t>
            </a:r>
            <a:endParaRPr sz="1100">
              <a:latin typeface="Arial"/>
              <a:cs typeface="Arial"/>
            </a:endParaRPr>
          </a:p>
          <a:p>
            <a:pPr algn="r" marR="30480">
              <a:lnSpc>
                <a:spcPct val="100000"/>
              </a:lnSpc>
              <a:spcBef>
                <a:spcPts val="260"/>
              </a:spcBef>
            </a:pPr>
            <a:r>
              <a:rPr dirty="0" sz="1100" spc="150">
                <a:latin typeface="Arial"/>
                <a:cs typeface="Arial"/>
              </a:rPr>
              <a:t>=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268677" y="2103842"/>
            <a:ext cx="28067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latin typeface="Arial"/>
                <a:cs typeface="Arial"/>
              </a:rPr>
              <a:t>0</a:t>
            </a:r>
            <a:r>
              <a:rPr dirty="0" sz="800" spc="-10" i="1">
                <a:latin typeface="Arial"/>
                <a:cs typeface="Arial"/>
              </a:rPr>
              <a:t>.</a:t>
            </a:r>
            <a:r>
              <a:rPr dirty="0" sz="800" spc="-10">
                <a:latin typeface="Arial"/>
                <a:cs typeface="Arial"/>
              </a:rPr>
              <a:t>077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130234" y="1964193"/>
            <a:ext cx="12192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u="sng" sz="80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0</a:t>
            </a:r>
            <a:r>
              <a:rPr dirty="0" u="sng" sz="8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.</a:t>
            </a:r>
            <a:r>
              <a:rPr dirty="0" u="sng" sz="80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30</a:t>
            </a:r>
            <a:r>
              <a:rPr dirty="0" u="sng" sz="8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×</a:t>
            </a:r>
            <a:r>
              <a:rPr dirty="0" u="sng" sz="80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0</a:t>
            </a:r>
            <a:r>
              <a:rPr dirty="0" u="sng" sz="8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.</a:t>
            </a:r>
            <a:r>
              <a:rPr dirty="0" u="sng" sz="80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05</a:t>
            </a:r>
            <a:r>
              <a:rPr dirty="0" sz="800" spc="290">
                <a:latin typeface="Arial"/>
                <a:cs typeface="Arial"/>
              </a:rPr>
              <a:t> </a:t>
            </a:r>
            <a:r>
              <a:rPr dirty="0" baseline="-22727" sz="1650" spc="300">
                <a:latin typeface="Arial"/>
                <a:cs typeface="Arial"/>
              </a:rPr>
              <a:t>=</a:t>
            </a:r>
            <a:r>
              <a:rPr dirty="0" baseline="-22727" sz="1650" spc="89">
                <a:latin typeface="Arial"/>
                <a:cs typeface="Arial"/>
              </a:rPr>
              <a:t> </a:t>
            </a:r>
            <a:r>
              <a:rPr dirty="0" baseline="-22727" sz="1650" spc="-15">
                <a:latin typeface="Arial"/>
                <a:cs typeface="Arial"/>
              </a:rPr>
              <a:t>0</a:t>
            </a:r>
            <a:r>
              <a:rPr dirty="0" baseline="-22727" sz="1650" spc="-15" i="1">
                <a:latin typeface="Arial"/>
                <a:cs typeface="Arial"/>
              </a:rPr>
              <a:t>.</a:t>
            </a:r>
            <a:r>
              <a:rPr dirty="0" baseline="-22727" sz="1650" spc="-15">
                <a:latin typeface="Arial"/>
                <a:cs typeface="Arial"/>
              </a:rPr>
              <a:t>1948</a:t>
            </a:r>
            <a:r>
              <a:rPr dirty="0" baseline="-22727" sz="1650" spc="-15" i="1">
                <a:latin typeface="Arial"/>
                <a:cs typeface="Arial"/>
              </a:rPr>
              <a:t>.</a:t>
            </a:r>
            <a:endParaRPr baseline="-22727" sz="1650">
              <a:latin typeface="Arial"/>
              <a:cs typeface="Arial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007" y="2423312"/>
            <a:ext cx="76809" cy="76809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598995" y="2351416"/>
            <a:ext cx="3201035" cy="934719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38100" marR="131445">
              <a:lnSpc>
                <a:spcPct val="102600"/>
              </a:lnSpc>
              <a:spcBef>
                <a:spcPts val="55"/>
              </a:spcBef>
            </a:pPr>
            <a:r>
              <a:rPr dirty="0" sz="1100" spc="-20">
                <a:latin typeface="Arial"/>
                <a:cs typeface="Arial"/>
              </a:rPr>
              <a:t>Similarly,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probability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faulty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phone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was </a:t>
            </a:r>
            <a:r>
              <a:rPr dirty="0" sz="1100" spc="-10">
                <a:latin typeface="Arial"/>
                <a:cs typeface="Arial"/>
              </a:rPr>
              <a:t>manufactured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2</a:t>
            </a:r>
            <a:r>
              <a:rPr dirty="0" baseline="-13888" sz="1200" spc="1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Sung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0.4156,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50"/>
              </a:spcBef>
            </a:pP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probability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was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manufactured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by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25" i="1">
                <a:latin typeface="Arial"/>
                <a:cs typeface="Arial"/>
              </a:rPr>
              <a:t>B</a:t>
            </a:r>
            <a:r>
              <a:rPr dirty="0" baseline="-13888" sz="1200" spc="-37">
                <a:latin typeface="Arial"/>
                <a:cs typeface="Arial"/>
              </a:rPr>
              <a:t>3</a:t>
            </a:r>
            <a:endParaRPr baseline="-13888" sz="12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 sz="1100" spc="-10">
                <a:latin typeface="Arial"/>
                <a:cs typeface="Arial"/>
              </a:rPr>
              <a:t>Windows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0.3896.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50"/>
              </a:spcBef>
            </a:pPr>
            <a:r>
              <a:rPr dirty="0" sz="1100">
                <a:latin typeface="Arial"/>
                <a:cs typeface="Arial"/>
              </a:rPr>
              <a:t>Note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-30" i="1">
                <a:latin typeface="Arial"/>
                <a:cs typeface="Arial"/>
              </a:rPr>
              <a:t>P</a:t>
            </a:r>
            <a:r>
              <a:rPr dirty="0" sz="1100" spc="-30">
                <a:latin typeface="Arial"/>
                <a:cs typeface="Arial"/>
              </a:rPr>
              <a:t>(</a:t>
            </a:r>
            <a:r>
              <a:rPr dirty="0" sz="1100" spc="-30" i="1">
                <a:latin typeface="Arial"/>
                <a:cs typeface="Arial"/>
              </a:rPr>
              <a:t>B</a:t>
            </a:r>
            <a:r>
              <a:rPr dirty="0" baseline="-13888" sz="1200" spc="-44">
                <a:latin typeface="Arial"/>
                <a:cs typeface="Arial"/>
              </a:rPr>
              <a:t>1</a:t>
            </a:r>
            <a:r>
              <a:rPr dirty="0" sz="1100" spc="-30" i="1">
                <a:latin typeface="Menlo"/>
                <a:cs typeface="Menlo"/>
              </a:rPr>
              <a:t>|</a:t>
            </a:r>
            <a:r>
              <a:rPr dirty="0" sz="1100" spc="-30" i="1">
                <a:latin typeface="Arial"/>
                <a:cs typeface="Arial"/>
              </a:rPr>
              <a:t>A</a:t>
            </a:r>
            <a:r>
              <a:rPr dirty="0" sz="1100" spc="-30">
                <a:latin typeface="Arial"/>
                <a:cs typeface="Arial"/>
              </a:rPr>
              <a:t>)</a:t>
            </a:r>
            <a:r>
              <a:rPr dirty="0" sz="1100" spc="-65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+</a:t>
            </a:r>
            <a:r>
              <a:rPr dirty="0" sz="1100" spc="-65">
                <a:latin typeface="Arial"/>
                <a:cs typeface="Arial"/>
              </a:rPr>
              <a:t> </a:t>
            </a:r>
            <a:r>
              <a:rPr dirty="0" sz="1100" spc="-30" i="1">
                <a:latin typeface="Arial"/>
                <a:cs typeface="Arial"/>
              </a:rPr>
              <a:t>P</a:t>
            </a:r>
            <a:r>
              <a:rPr dirty="0" sz="1100" spc="-30">
                <a:latin typeface="Arial"/>
                <a:cs typeface="Arial"/>
              </a:rPr>
              <a:t>(</a:t>
            </a:r>
            <a:r>
              <a:rPr dirty="0" sz="1100" spc="-30" i="1">
                <a:latin typeface="Arial"/>
                <a:cs typeface="Arial"/>
              </a:rPr>
              <a:t>B</a:t>
            </a:r>
            <a:r>
              <a:rPr dirty="0" baseline="-13888" sz="1200" spc="-44">
                <a:latin typeface="Arial"/>
                <a:cs typeface="Arial"/>
              </a:rPr>
              <a:t>2</a:t>
            </a:r>
            <a:r>
              <a:rPr dirty="0" sz="1100" spc="-30" i="1">
                <a:latin typeface="Menlo"/>
                <a:cs typeface="Menlo"/>
              </a:rPr>
              <a:t>|</a:t>
            </a:r>
            <a:r>
              <a:rPr dirty="0" sz="1100" spc="-30" i="1">
                <a:latin typeface="Arial"/>
                <a:cs typeface="Arial"/>
              </a:rPr>
              <a:t>A</a:t>
            </a:r>
            <a:r>
              <a:rPr dirty="0" sz="1100" spc="-30">
                <a:latin typeface="Arial"/>
                <a:cs typeface="Arial"/>
              </a:rPr>
              <a:t>)</a:t>
            </a:r>
            <a:r>
              <a:rPr dirty="0" sz="1100" spc="-60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+</a:t>
            </a:r>
            <a:r>
              <a:rPr dirty="0" sz="1100" spc="-65">
                <a:latin typeface="Arial"/>
                <a:cs typeface="Arial"/>
              </a:rPr>
              <a:t> </a:t>
            </a:r>
            <a:r>
              <a:rPr dirty="0" sz="1100" spc="-25" i="1">
                <a:latin typeface="Arial"/>
                <a:cs typeface="Arial"/>
              </a:rPr>
              <a:t>P</a:t>
            </a:r>
            <a:r>
              <a:rPr dirty="0" sz="1100" spc="-25">
                <a:latin typeface="Arial"/>
                <a:cs typeface="Arial"/>
              </a:rPr>
              <a:t>(</a:t>
            </a:r>
            <a:r>
              <a:rPr dirty="0" sz="1100" spc="-25" i="1">
                <a:latin typeface="Arial"/>
                <a:cs typeface="Arial"/>
              </a:rPr>
              <a:t>B</a:t>
            </a:r>
            <a:r>
              <a:rPr dirty="0" baseline="-13888" sz="1200" spc="-37">
                <a:latin typeface="Arial"/>
                <a:cs typeface="Arial"/>
              </a:rPr>
              <a:t>3</a:t>
            </a:r>
            <a:r>
              <a:rPr dirty="0" sz="1100" spc="-25" i="1">
                <a:latin typeface="Menlo"/>
                <a:cs typeface="Menlo"/>
              </a:rPr>
              <a:t>|</a:t>
            </a:r>
            <a:r>
              <a:rPr dirty="0" sz="1100" spc="-25" i="1">
                <a:latin typeface="Arial"/>
                <a:cs typeface="Arial"/>
              </a:rPr>
              <a:t>A</a:t>
            </a:r>
            <a:r>
              <a:rPr dirty="0" sz="1100" spc="-25">
                <a:latin typeface="Arial"/>
                <a:cs typeface="Arial"/>
              </a:rPr>
              <a:t>)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1.</a:t>
            </a:r>
            <a:r>
              <a:rPr dirty="0" sz="1100" spc="70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Why?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1007" y="2794698"/>
            <a:ext cx="76809" cy="76809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1007" y="3166084"/>
            <a:ext cx="76809" cy="76809"/>
          </a:xfrm>
          <a:prstGeom prst="rect">
            <a:avLst/>
          </a:prstGeom>
        </p:spPr>
      </p:pic>
      <p:sp>
        <p:nvSpPr>
          <p:cNvPr id="15" name="object 1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16" name="object 1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31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275" i="1">
                <a:latin typeface="Menlo"/>
                <a:cs typeface="Menlo"/>
              </a:rPr>
              <a:t>♡</a:t>
            </a:r>
            <a:r>
              <a:rPr dirty="0" spc="-390" i="1">
                <a:latin typeface="Menlo"/>
                <a:cs typeface="Menlo"/>
              </a:rPr>
              <a:t> </a:t>
            </a:r>
            <a:r>
              <a:rPr dirty="0"/>
              <a:t>Example:</a:t>
            </a:r>
            <a:r>
              <a:rPr dirty="0" spc="170"/>
              <a:t> </a:t>
            </a:r>
            <a:r>
              <a:rPr dirty="0">
                <a:solidFill>
                  <a:srgbClr val="FF0000"/>
                </a:solidFill>
              </a:rPr>
              <a:t>Disease</a:t>
            </a:r>
            <a:r>
              <a:rPr dirty="0" spc="65">
                <a:solidFill>
                  <a:srgbClr val="FF0000"/>
                </a:solidFill>
              </a:rPr>
              <a:t> </a:t>
            </a:r>
            <a:r>
              <a:rPr dirty="0"/>
              <a:t>given</a:t>
            </a:r>
            <a:r>
              <a:rPr dirty="0" spc="65"/>
              <a:t> </a:t>
            </a:r>
            <a:r>
              <a:rPr dirty="0" spc="-10">
                <a:solidFill>
                  <a:srgbClr val="0000FF"/>
                </a:solidFill>
              </a:rPr>
              <a:t>symptom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402793"/>
            <a:ext cx="76809" cy="7680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24395" y="330884"/>
            <a:ext cx="3575050" cy="270446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102235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medical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statistics,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Bayes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theorem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determines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the </a:t>
            </a:r>
            <a:r>
              <a:rPr dirty="0" sz="1100" spc="-10">
                <a:latin typeface="Arial"/>
                <a:cs typeface="Arial"/>
              </a:rPr>
              <a:t>probability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someone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has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disease</a:t>
            </a:r>
            <a:r>
              <a:rPr dirty="0" sz="11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given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20">
                <a:latin typeface="Arial"/>
                <a:cs typeface="Arial"/>
              </a:rPr>
              <a:t> they </a:t>
            </a:r>
            <a:r>
              <a:rPr dirty="0" sz="1100" spc="-10">
                <a:latin typeface="Arial"/>
                <a:cs typeface="Arial"/>
              </a:rPr>
              <a:t>have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0000FF"/>
                </a:solidFill>
                <a:latin typeface="Arial"/>
                <a:cs typeface="Arial"/>
              </a:rPr>
              <a:t>symptom</a:t>
            </a:r>
            <a:r>
              <a:rPr dirty="0" sz="1100" spc="-1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2700" marR="11430">
              <a:lnSpc>
                <a:spcPct val="102600"/>
              </a:lnSpc>
              <a:spcBef>
                <a:spcPts val="434"/>
              </a:spcBef>
            </a:pPr>
            <a:r>
              <a:rPr dirty="0" sz="1100" spc="175" i="1">
                <a:latin typeface="Menlo"/>
                <a:cs typeface="Menlo"/>
              </a:rPr>
              <a:t>♡</a:t>
            </a:r>
            <a:r>
              <a:rPr dirty="0" sz="1100" spc="-360" i="1">
                <a:latin typeface="Menlo"/>
                <a:cs typeface="Menlo"/>
              </a:rPr>
              <a:t> </a:t>
            </a:r>
            <a:r>
              <a:rPr dirty="0" sz="1100" spc="-10">
                <a:latin typeface="Arial"/>
                <a:cs typeface="Arial"/>
              </a:rPr>
              <a:t>Consider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disease</a:t>
            </a:r>
            <a:r>
              <a:rPr dirty="0" sz="1100" spc="-2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thought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occur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1%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the </a:t>
            </a:r>
            <a:r>
              <a:rPr dirty="0" sz="1100" spc="-10">
                <a:latin typeface="Arial"/>
                <a:cs typeface="Arial"/>
              </a:rPr>
              <a:t>population.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434"/>
              </a:spcBef>
            </a:pPr>
            <a:r>
              <a:rPr dirty="0" sz="1100">
                <a:latin typeface="Arial"/>
                <a:cs typeface="Arial"/>
              </a:rPr>
              <a:t>Using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particular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blood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test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physician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observes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out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patients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with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disease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98%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possess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particular </a:t>
            </a:r>
            <a:r>
              <a:rPr dirty="0" sz="1100" spc="-10">
                <a:solidFill>
                  <a:srgbClr val="0000FF"/>
                </a:solidFill>
                <a:latin typeface="Arial"/>
                <a:cs typeface="Arial"/>
              </a:rPr>
              <a:t>symptom</a:t>
            </a:r>
            <a:r>
              <a:rPr dirty="0" sz="1100" spc="-1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2700" marR="365760">
              <a:lnSpc>
                <a:spcPct val="102699"/>
              </a:lnSpc>
              <a:spcBef>
                <a:spcPts val="434"/>
              </a:spcBef>
            </a:pPr>
            <a:r>
              <a:rPr dirty="0" sz="1100">
                <a:latin typeface="Arial"/>
                <a:cs typeface="Arial"/>
              </a:rPr>
              <a:t>Also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assume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0.1%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population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without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the 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disease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have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same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0000FF"/>
                </a:solidFill>
                <a:latin typeface="Arial"/>
                <a:cs typeface="Arial"/>
              </a:rPr>
              <a:t>symptom</a:t>
            </a:r>
            <a:r>
              <a:rPr dirty="0" sz="1100" spc="-1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2700" marR="170180">
              <a:lnSpc>
                <a:spcPct val="102600"/>
              </a:lnSpc>
              <a:spcBef>
                <a:spcPts val="434"/>
              </a:spcBef>
            </a:pP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randomly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chosen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person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from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population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blood </a:t>
            </a:r>
            <a:r>
              <a:rPr dirty="0" sz="1100">
                <a:latin typeface="Arial"/>
                <a:cs typeface="Arial"/>
              </a:rPr>
              <a:t>tested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shown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have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0000FF"/>
                </a:solidFill>
                <a:latin typeface="Arial"/>
                <a:cs typeface="Arial"/>
              </a:rPr>
              <a:t>symptom</a:t>
            </a:r>
            <a:r>
              <a:rPr dirty="0" sz="1100" spc="-1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2700" marR="34925">
              <a:lnSpc>
                <a:spcPct val="102600"/>
              </a:lnSpc>
              <a:spcBef>
                <a:spcPts val="434"/>
              </a:spcBef>
            </a:pPr>
            <a:r>
              <a:rPr dirty="0" sz="1100">
                <a:latin typeface="Arial"/>
                <a:cs typeface="Arial"/>
              </a:rPr>
              <a:t>What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conditional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probability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person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has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the 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disease</a:t>
            </a:r>
            <a:r>
              <a:rPr dirty="0" sz="1100" spc="-10">
                <a:latin typeface="Arial"/>
                <a:cs typeface="Arial"/>
              </a:rPr>
              <a:t>?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974191"/>
            <a:ext cx="76809" cy="7680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1373505"/>
            <a:ext cx="76809" cy="7680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007" y="1944890"/>
            <a:ext cx="76809" cy="7680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1007" y="2344204"/>
            <a:ext cx="76809" cy="7680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1007" y="2743517"/>
            <a:ext cx="76809" cy="7680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91007" y="3142843"/>
            <a:ext cx="76809" cy="76809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167297" y="3077446"/>
            <a:ext cx="3658235" cy="40132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469265">
              <a:lnSpc>
                <a:spcPct val="100000"/>
              </a:lnSpc>
              <a:spcBef>
                <a:spcPts val="40"/>
              </a:spcBef>
            </a:pPr>
            <a:r>
              <a:rPr dirty="0" sz="1100" spc="-10">
                <a:latin typeface="Arial"/>
                <a:cs typeface="Arial"/>
              </a:rPr>
              <a:t>Example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taken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from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youtube: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search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FF0000"/>
                </a:solidFill>
                <a:latin typeface="Arial"/>
                <a:cs typeface="Arial"/>
              </a:rPr>
              <a:t>Bayesian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FF0000"/>
                </a:solidFill>
                <a:latin typeface="Arial"/>
                <a:cs typeface="Arial"/>
              </a:rPr>
              <a:t>trap</a:t>
            </a:r>
            <a:r>
              <a:rPr dirty="0" sz="1100" spc="-2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800" b="1">
                <a:latin typeface="Arial"/>
                <a:cs typeface="Arial"/>
              </a:rPr>
              <a:t>Sujit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Sahu:</a:t>
            </a:r>
            <a:r>
              <a:rPr dirty="0" sz="800" spc="30" b="1"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0000FF"/>
                </a:solidFill>
                <a:latin typeface="Arial"/>
                <a:cs typeface="Arial"/>
              </a:rPr>
              <a:t>sujitsahu.com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32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275" i="1">
                <a:latin typeface="Menlo"/>
                <a:cs typeface="Menlo"/>
              </a:rPr>
              <a:t>♡</a:t>
            </a:r>
            <a:r>
              <a:rPr dirty="0" spc="-390" i="1">
                <a:latin typeface="Menlo"/>
                <a:cs typeface="Menlo"/>
              </a:rPr>
              <a:t> </a:t>
            </a:r>
            <a:r>
              <a:rPr dirty="0"/>
              <a:t>Example:</a:t>
            </a:r>
            <a:r>
              <a:rPr dirty="0" spc="170"/>
              <a:t> </a:t>
            </a:r>
            <a:r>
              <a:rPr dirty="0">
                <a:solidFill>
                  <a:srgbClr val="FF0000"/>
                </a:solidFill>
              </a:rPr>
              <a:t>Disease</a:t>
            </a:r>
            <a:r>
              <a:rPr dirty="0" spc="65">
                <a:solidFill>
                  <a:srgbClr val="FF0000"/>
                </a:solidFill>
              </a:rPr>
              <a:t> </a:t>
            </a:r>
            <a:r>
              <a:rPr dirty="0"/>
              <a:t>given</a:t>
            </a:r>
            <a:r>
              <a:rPr dirty="0" spc="65"/>
              <a:t> </a:t>
            </a:r>
            <a:r>
              <a:rPr dirty="0" spc="-10">
                <a:solidFill>
                  <a:srgbClr val="0000FF"/>
                </a:solidFill>
              </a:rPr>
              <a:t>symptom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404139"/>
            <a:ext cx="76809" cy="7680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11695" y="332230"/>
            <a:ext cx="3653790" cy="173418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 marR="1778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Arial"/>
                <a:cs typeface="Arial"/>
              </a:rPr>
              <a:t>Here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k</a:t>
            </a:r>
            <a:r>
              <a:rPr dirty="0" sz="1100" spc="80" i="1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2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let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1</a:t>
            </a:r>
            <a:r>
              <a:rPr dirty="0" baseline="-13888" sz="1200" spc="16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event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randomly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chosen </a:t>
            </a:r>
            <a:r>
              <a:rPr dirty="0" sz="1100">
                <a:latin typeface="Arial"/>
                <a:cs typeface="Arial"/>
              </a:rPr>
              <a:t>person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has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disease</a:t>
            </a:r>
            <a:r>
              <a:rPr dirty="0" sz="1100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2</a:t>
            </a:r>
            <a:r>
              <a:rPr dirty="0" baseline="-13888" sz="1200" spc="157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complement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25" i="1">
                <a:latin typeface="Arial"/>
                <a:cs typeface="Arial"/>
              </a:rPr>
              <a:t>B</a:t>
            </a:r>
            <a:r>
              <a:rPr dirty="0" baseline="-13888" sz="1200" spc="-37">
                <a:latin typeface="Arial"/>
                <a:cs typeface="Arial"/>
              </a:rPr>
              <a:t>1</a:t>
            </a:r>
            <a:r>
              <a:rPr dirty="0" sz="1100" spc="-25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25400" marR="71120">
              <a:lnSpc>
                <a:spcPct val="102699"/>
              </a:lnSpc>
              <a:spcBef>
                <a:spcPts val="434"/>
              </a:spcBef>
            </a:pPr>
            <a:r>
              <a:rPr dirty="0" sz="1100">
                <a:latin typeface="Arial"/>
                <a:cs typeface="Arial"/>
              </a:rPr>
              <a:t>Let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event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randomly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chosen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person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has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the </a:t>
            </a:r>
            <a:r>
              <a:rPr dirty="0" sz="1100">
                <a:solidFill>
                  <a:srgbClr val="0000FF"/>
                </a:solidFill>
                <a:latin typeface="Arial"/>
                <a:cs typeface="Arial"/>
              </a:rPr>
              <a:t>symptom</a:t>
            </a:r>
            <a:r>
              <a:rPr dirty="0" sz="1100">
                <a:latin typeface="Arial"/>
                <a:cs typeface="Arial"/>
              </a:rPr>
              <a:t>.</a:t>
            </a:r>
            <a:r>
              <a:rPr dirty="0" sz="1100" spc="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problem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determine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Pr</a:t>
            </a:r>
            <a:r>
              <a:rPr dirty="0" sz="1100" spc="-185" i="1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(</a:t>
            </a:r>
            <a:r>
              <a:rPr dirty="0" sz="1100" spc="-10" i="1">
                <a:latin typeface="Arial"/>
                <a:cs typeface="Arial"/>
              </a:rPr>
              <a:t>B</a:t>
            </a:r>
            <a:r>
              <a:rPr dirty="0" baseline="-13888" sz="1200" spc="-15">
                <a:latin typeface="Arial"/>
                <a:cs typeface="Arial"/>
              </a:rPr>
              <a:t>1</a:t>
            </a:r>
            <a:r>
              <a:rPr dirty="0" sz="1100" spc="-10" i="1">
                <a:latin typeface="Menlo"/>
                <a:cs typeface="Menlo"/>
              </a:rPr>
              <a:t>|</a:t>
            </a:r>
            <a:r>
              <a:rPr dirty="0" sz="1100" spc="-10" i="1">
                <a:latin typeface="Arial"/>
                <a:cs typeface="Arial"/>
              </a:rPr>
              <a:t>A</a:t>
            </a:r>
            <a:r>
              <a:rPr dirty="0" sz="1100" spc="-10">
                <a:latin typeface="Arial"/>
                <a:cs typeface="Arial"/>
              </a:rPr>
              <a:t>).</a:t>
            </a:r>
            <a:endParaRPr sz="1100">
              <a:latin typeface="Arial"/>
              <a:cs typeface="Arial"/>
            </a:endParaRPr>
          </a:p>
          <a:p>
            <a:pPr marL="25400" marR="17780">
              <a:lnSpc>
                <a:spcPct val="102600"/>
              </a:lnSpc>
              <a:spcBef>
                <a:spcPts val="434"/>
              </a:spcBef>
            </a:pPr>
            <a:r>
              <a:rPr dirty="0" sz="1100">
                <a:latin typeface="Arial"/>
                <a:cs typeface="Arial"/>
              </a:rPr>
              <a:t>We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have </a:t>
            </a:r>
            <a:r>
              <a:rPr dirty="0" sz="1100" spc="-10" i="1">
                <a:latin typeface="Arial"/>
                <a:cs typeface="Arial"/>
              </a:rPr>
              <a:t>Pr</a:t>
            </a:r>
            <a:r>
              <a:rPr dirty="0" sz="1100" spc="-185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1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0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>
                <a:latin typeface="Arial"/>
                <a:cs typeface="Arial"/>
              </a:rPr>
              <a:t>01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since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1%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10">
                <a:latin typeface="Arial"/>
                <a:cs typeface="Arial"/>
              </a:rPr>
              <a:t> population </a:t>
            </a:r>
            <a:r>
              <a:rPr dirty="0" sz="1100">
                <a:latin typeface="Arial"/>
                <a:cs typeface="Arial"/>
              </a:rPr>
              <a:t>has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the 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disease</a:t>
            </a:r>
            <a:r>
              <a:rPr dirty="0" sz="1100" spc="-10">
                <a:latin typeface="Arial"/>
                <a:cs typeface="Arial"/>
              </a:rPr>
              <a:t>,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Pr</a:t>
            </a:r>
            <a:r>
              <a:rPr dirty="0" sz="1100" spc="-185" i="1">
                <a:latin typeface="Arial"/>
                <a:cs typeface="Arial"/>
              </a:rPr>
              <a:t> </a:t>
            </a:r>
            <a:r>
              <a:rPr dirty="0" sz="1100" spc="-35">
                <a:latin typeface="Arial"/>
                <a:cs typeface="Arial"/>
              </a:rPr>
              <a:t>(</a:t>
            </a:r>
            <a:r>
              <a:rPr dirty="0" sz="1100" spc="-35" i="1">
                <a:latin typeface="Arial"/>
                <a:cs typeface="Arial"/>
              </a:rPr>
              <a:t>A</a:t>
            </a:r>
            <a:r>
              <a:rPr dirty="0" sz="1100" spc="-35" i="1">
                <a:latin typeface="Menlo"/>
                <a:cs typeface="Menlo"/>
              </a:rPr>
              <a:t>|</a:t>
            </a:r>
            <a:r>
              <a:rPr dirty="0" sz="1100" spc="-35" i="1">
                <a:latin typeface="Arial"/>
                <a:cs typeface="Arial"/>
              </a:rPr>
              <a:t>B</a:t>
            </a:r>
            <a:r>
              <a:rPr dirty="0" baseline="-13888" sz="1200" spc="-52">
                <a:latin typeface="Arial"/>
                <a:cs typeface="Arial"/>
              </a:rPr>
              <a:t>1</a:t>
            </a:r>
            <a:r>
              <a:rPr dirty="0" sz="1100" spc="-35">
                <a:latin typeface="Arial"/>
                <a:cs typeface="Arial"/>
              </a:rPr>
              <a:t>)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0</a:t>
            </a:r>
            <a:r>
              <a:rPr dirty="0" sz="1100" spc="-10" i="1">
                <a:latin typeface="Arial"/>
                <a:cs typeface="Arial"/>
              </a:rPr>
              <a:t>.</a:t>
            </a:r>
            <a:r>
              <a:rPr dirty="0" sz="1100" spc="-10">
                <a:latin typeface="Arial"/>
                <a:cs typeface="Arial"/>
              </a:rPr>
              <a:t>98.</a:t>
            </a:r>
            <a:endParaRPr sz="1100">
              <a:latin typeface="Arial"/>
              <a:cs typeface="Arial"/>
            </a:endParaRPr>
          </a:p>
          <a:p>
            <a:pPr algn="just" marL="25400" marR="391160">
              <a:lnSpc>
                <a:spcPct val="102600"/>
              </a:lnSpc>
              <a:spcBef>
                <a:spcPts val="434"/>
              </a:spcBef>
            </a:pPr>
            <a:r>
              <a:rPr dirty="0" sz="1100">
                <a:latin typeface="Arial"/>
                <a:cs typeface="Arial"/>
              </a:rPr>
              <a:t>Also</a:t>
            </a:r>
            <a:r>
              <a:rPr dirty="0" sz="1100" spc="-75">
                <a:latin typeface="Arial"/>
                <a:cs typeface="Arial"/>
              </a:rPr>
              <a:t> </a:t>
            </a:r>
            <a:r>
              <a:rPr dirty="0" sz="1100" spc="-125" i="1">
                <a:latin typeface="Arial"/>
                <a:cs typeface="Arial"/>
              </a:rPr>
              <a:t>Pr</a:t>
            </a:r>
            <a:r>
              <a:rPr dirty="0" sz="1100" spc="50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2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spc="-75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-7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0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>
                <a:latin typeface="Arial"/>
                <a:cs typeface="Arial"/>
              </a:rPr>
              <a:t>99</a:t>
            </a:r>
            <a:r>
              <a:rPr dirty="0" sz="1100" spc="-6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 spc="-125" i="1">
                <a:latin typeface="Arial"/>
                <a:cs typeface="Arial"/>
              </a:rPr>
              <a:t>Pr</a:t>
            </a:r>
            <a:r>
              <a:rPr dirty="0" sz="1100" spc="50" i="1">
                <a:latin typeface="Arial"/>
                <a:cs typeface="Arial"/>
              </a:rPr>
              <a:t> </a:t>
            </a:r>
            <a:r>
              <a:rPr dirty="0" sz="1100" spc="-35">
                <a:latin typeface="Arial"/>
                <a:cs typeface="Arial"/>
              </a:rPr>
              <a:t>(</a:t>
            </a:r>
            <a:r>
              <a:rPr dirty="0" sz="1100" spc="-35" i="1">
                <a:latin typeface="Arial"/>
                <a:cs typeface="Arial"/>
              </a:rPr>
              <a:t>A</a:t>
            </a:r>
            <a:r>
              <a:rPr dirty="0" sz="1100" spc="-35" i="1">
                <a:latin typeface="Menlo"/>
                <a:cs typeface="Menlo"/>
              </a:rPr>
              <a:t>|</a:t>
            </a:r>
            <a:r>
              <a:rPr dirty="0" sz="1100" spc="-35" i="1">
                <a:latin typeface="Arial"/>
                <a:cs typeface="Arial"/>
              </a:rPr>
              <a:t>B</a:t>
            </a:r>
            <a:r>
              <a:rPr dirty="0" baseline="-13888" sz="1200" spc="-52">
                <a:latin typeface="Arial"/>
                <a:cs typeface="Arial"/>
              </a:rPr>
              <a:t>2</a:t>
            </a:r>
            <a:r>
              <a:rPr dirty="0" sz="1100" spc="-35">
                <a:latin typeface="Arial"/>
                <a:cs typeface="Arial"/>
              </a:rPr>
              <a:t>)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0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>
                <a:latin typeface="Arial"/>
                <a:cs typeface="Arial"/>
              </a:rPr>
              <a:t>001,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this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4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the </a:t>
            </a:r>
            <a:r>
              <a:rPr dirty="0" sz="1100" spc="-10">
                <a:latin typeface="Arial"/>
                <a:cs typeface="Arial"/>
              </a:rPr>
              <a:t>probability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having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FF"/>
                </a:solidFill>
                <a:latin typeface="Arial"/>
                <a:cs typeface="Arial"/>
              </a:rPr>
              <a:t>symptom</a:t>
            </a:r>
            <a:r>
              <a:rPr dirty="0" sz="1100" spc="-2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without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having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the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disease</a:t>
            </a:r>
            <a:r>
              <a:rPr dirty="0" sz="1100">
                <a:latin typeface="Arial"/>
                <a:cs typeface="Arial"/>
              </a:rPr>
              <a:t>. Now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Pr</a:t>
            </a:r>
            <a:r>
              <a:rPr dirty="0" sz="1100" spc="-185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disease</a:t>
            </a:r>
            <a:r>
              <a:rPr dirty="0" sz="1100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365" i="1">
                <a:latin typeface="Menlo"/>
                <a:cs typeface="Menlo"/>
              </a:rPr>
              <a:t>|</a:t>
            </a:r>
            <a:r>
              <a:rPr dirty="0" sz="1100" spc="-360" i="1">
                <a:latin typeface="Menlo"/>
                <a:cs typeface="Menlo"/>
              </a:rPr>
              <a:t> </a:t>
            </a:r>
            <a:r>
              <a:rPr dirty="0" sz="1100">
                <a:solidFill>
                  <a:srgbClr val="0000FF"/>
                </a:solidFill>
                <a:latin typeface="Arial"/>
                <a:cs typeface="Arial"/>
              </a:rPr>
              <a:t>symptom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150">
                <a:latin typeface="Arial"/>
                <a:cs typeface="Arial"/>
              </a:rPr>
              <a:t>=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803452"/>
            <a:ext cx="76809" cy="7680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1202766"/>
            <a:ext cx="76809" cy="7680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007" y="1602079"/>
            <a:ext cx="76809" cy="76809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866085" y="2174035"/>
            <a:ext cx="81661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800" spc="-10" i="1">
                <a:latin typeface="Arial"/>
                <a:cs typeface="Arial"/>
              </a:rPr>
              <a:t>Pr</a:t>
            </a:r>
            <a:r>
              <a:rPr dirty="0" sz="800" spc="-85" i="1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(</a:t>
            </a:r>
            <a:r>
              <a:rPr dirty="0" sz="800" i="1">
                <a:latin typeface="Arial"/>
                <a:cs typeface="Arial"/>
              </a:rPr>
              <a:t>A|B</a:t>
            </a:r>
            <a:r>
              <a:rPr dirty="0" baseline="-13888" sz="900">
                <a:latin typeface="Arial"/>
                <a:cs typeface="Arial"/>
              </a:rPr>
              <a:t>1</a:t>
            </a:r>
            <a:r>
              <a:rPr dirty="0" sz="800">
                <a:latin typeface="Arial"/>
                <a:cs typeface="Arial"/>
              </a:rPr>
              <a:t>) </a:t>
            </a:r>
            <a:r>
              <a:rPr dirty="0" sz="800" spc="-10" i="1">
                <a:latin typeface="Arial"/>
                <a:cs typeface="Arial"/>
              </a:rPr>
              <a:t>Pr</a:t>
            </a:r>
            <a:r>
              <a:rPr dirty="0" sz="800" spc="-80" i="1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(</a:t>
            </a:r>
            <a:r>
              <a:rPr dirty="0" sz="800" spc="-20" i="1">
                <a:latin typeface="Arial"/>
                <a:cs typeface="Arial"/>
              </a:rPr>
              <a:t>B</a:t>
            </a:r>
            <a:r>
              <a:rPr dirty="0" baseline="-13888" sz="900" spc="-30">
                <a:latin typeface="Arial"/>
                <a:cs typeface="Arial"/>
              </a:rPr>
              <a:t>1</a:t>
            </a:r>
            <a:r>
              <a:rPr dirty="0" sz="800" spc="-20">
                <a:latin typeface="Arial"/>
                <a:cs typeface="Arial"/>
              </a:rPr>
              <a:t>)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2492362" y="2321572"/>
            <a:ext cx="1564005" cy="0"/>
          </a:xfrm>
          <a:custGeom>
            <a:avLst/>
            <a:gdLst/>
            <a:ahLst/>
            <a:cxnLst/>
            <a:rect l="l" t="t" r="r" b="b"/>
            <a:pathLst>
              <a:path w="1564004" h="0">
                <a:moveTo>
                  <a:pt x="0" y="0"/>
                </a:moveTo>
                <a:lnTo>
                  <a:pt x="156368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2454262" y="2291878"/>
            <a:ext cx="164020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800" spc="-10" i="1">
                <a:latin typeface="Arial"/>
                <a:cs typeface="Arial"/>
              </a:rPr>
              <a:t>Pr</a:t>
            </a:r>
            <a:r>
              <a:rPr dirty="0" sz="800" spc="-35" i="1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(</a:t>
            </a:r>
            <a:r>
              <a:rPr dirty="0" sz="800" i="1">
                <a:latin typeface="Arial"/>
                <a:cs typeface="Arial"/>
              </a:rPr>
              <a:t>A|B</a:t>
            </a:r>
            <a:r>
              <a:rPr dirty="0" baseline="-13888" sz="900">
                <a:latin typeface="Arial"/>
                <a:cs typeface="Arial"/>
              </a:rPr>
              <a:t>1</a:t>
            </a:r>
            <a:r>
              <a:rPr dirty="0" sz="800">
                <a:latin typeface="Arial"/>
                <a:cs typeface="Arial"/>
              </a:rPr>
              <a:t>)</a:t>
            </a:r>
            <a:r>
              <a:rPr dirty="0" sz="800" spc="70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Pr</a:t>
            </a:r>
            <a:r>
              <a:rPr dirty="0" sz="800" spc="-30" i="1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(</a:t>
            </a:r>
            <a:r>
              <a:rPr dirty="0" sz="800" i="1">
                <a:latin typeface="Arial"/>
                <a:cs typeface="Arial"/>
              </a:rPr>
              <a:t>B</a:t>
            </a:r>
            <a:r>
              <a:rPr dirty="0" baseline="-13888" sz="900">
                <a:latin typeface="Arial"/>
                <a:cs typeface="Arial"/>
              </a:rPr>
              <a:t>1</a:t>
            </a:r>
            <a:r>
              <a:rPr dirty="0" sz="800">
                <a:latin typeface="Arial"/>
                <a:cs typeface="Arial"/>
              </a:rPr>
              <a:t>)+</a:t>
            </a:r>
            <a:r>
              <a:rPr dirty="0" sz="800" i="1">
                <a:latin typeface="Arial"/>
                <a:cs typeface="Arial"/>
              </a:rPr>
              <a:t>Pr</a:t>
            </a:r>
            <a:r>
              <a:rPr dirty="0" sz="800" spc="-35" i="1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(</a:t>
            </a:r>
            <a:r>
              <a:rPr dirty="0" sz="800" i="1">
                <a:latin typeface="Arial"/>
                <a:cs typeface="Arial"/>
              </a:rPr>
              <a:t>A|B</a:t>
            </a:r>
            <a:r>
              <a:rPr dirty="0" baseline="-13888" sz="900">
                <a:latin typeface="Arial"/>
                <a:cs typeface="Arial"/>
              </a:rPr>
              <a:t>2</a:t>
            </a:r>
            <a:r>
              <a:rPr dirty="0" sz="800">
                <a:latin typeface="Arial"/>
                <a:cs typeface="Arial"/>
              </a:rPr>
              <a:t>)</a:t>
            </a:r>
            <a:r>
              <a:rPr dirty="0" sz="800" spc="70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Pr</a:t>
            </a:r>
            <a:r>
              <a:rPr dirty="0" sz="800" spc="-30" i="1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(</a:t>
            </a:r>
            <a:r>
              <a:rPr dirty="0" sz="800" spc="-20" i="1">
                <a:latin typeface="Arial"/>
                <a:cs typeface="Arial"/>
              </a:rPr>
              <a:t>B</a:t>
            </a:r>
            <a:r>
              <a:rPr dirty="0" baseline="-13888" sz="900" spc="-30">
                <a:latin typeface="Arial"/>
                <a:cs typeface="Arial"/>
              </a:rPr>
              <a:t>2</a:t>
            </a:r>
            <a:r>
              <a:rPr dirty="0" sz="800" spc="-20">
                <a:latin typeface="Arial"/>
                <a:cs typeface="Arial"/>
              </a:rPr>
              <a:t>)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75766" y="2170453"/>
            <a:ext cx="1612900" cy="427355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60"/>
              </a:spcBef>
            </a:pPr>
            <a:r>
              <a:rPr dirty="0" sz="1100" spc="-10" i="1">
                <a:latin typeface="Arial"/>
                <a:cs typeface="Arial"/>
              </a:rPr>
              <a:t>Pr</a:t>
            </a:r>
            <a:r>
              <a:rPr dirty="0" sz="1100" spc="-185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(D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 spc="-365" i="1">
                <a:latin typeface="Menlo"/>
                <a:cs typeface="Menlo"/>
              </a:rPr>
              <a:t>|</a:t>
            </a:r>
            <a:r>
              <a:rPr dirty="0" sz="1100" spc="-360" i="1">
                <a:latin typeface="Menlo"/>
                <a:cs typeface="Menlo"/>
              </a:rPr>
              <a:t> </a:t>
            </a:r>
            <a:r>
              <a:rPr dirty="0" sz="1100">
                <a:latin typeface="Arial"/>
                <a:cs typeface="Arial"/>
              </a:rPr>
              <a:t>S)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Pr</a:t>
            </a:r>
            <a:r>
              <a:rPr dirty="0" sz="1100" spc="-185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1</a:t>
            </a:r>
            <a:r>
              <a:rPr dirty="0" sz="1100" i="1">
                <a:latin typeface="Menlo"/>
                <a:cs typeface="Menlo"/>
              </a:rPr>
              <a:t>|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spc="160">
                <a:latin typeface="Arial"/>
                <a:cs typeface="Arial"/>
              </a:rPr>
              <a:t>  </a:t>
            </a:r>
            <a:r>
              <a:rPr dirty="0" sz="1100" spc="150">
                <a:latin typeface="Arial"/>
                <a:cs typeface="Arial"/>
              </a:rPr>
              <a:t>=</a:t>
            </a:r>
            <a:endParaRPr sz="1100">
              <a:latin typeface="Arial"/>
              <a:cs typeface="Arial"/>
            </a:endParaRPr>
          </a:p>
          <a:p>
            <a:pPr algn="r" marR="30480">
              <a:lnSpc>
                <a:spcPct val="100000"/>
              </a:lnSpc>
              <a:spcBef>
                <a:spcPts val="260"/>
              </a:spcBef>
            </a:pPr>
            <a:r>
              <a:rPr dirty="0" sz="1100" spc="150">
                <a:latin typeface="Arial"/>
                <a:cs typeface="Arial"/>
              </a:rPr>
              <a:t>=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790151" y="2388500"/>
            <a:ext cx="5067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latin typeface="Arial"/>
                <a:cs typeface="Arial"/>
              </a:rPr>
              <a:t>0</a:t>
            </a:r>
            <a:r>
              <a:rPr dirty="0" sz="800" spc="-10" i="1">
                <a:latin typeface="Arial"/>
                <a:cs typeface="Arial"/>
              </a:rPr>
              <a:t>.</a:t>
            </a:r>
            <a:r>
              <a:rPr dirty="0" sz="800" spc="-10">
                <a:latin typeface="Arial"/>
                <a:cs typeface="Arial"/>
              </a:rPr>
              <a:t>98</a:t>
            </a:r>
            <a:r>
              <a:rPr dirty="0" sz="800" spc="-10" i="1">
                <a:latin typeface="Arial"/>
                <a:cs typeface="Arial"/>
              </a:rPr>
              <a:t>×</a:t>
            </a:r>
            <a:r>
              <a:rPr dirty="0" sz="800" spc="-10">
                <a:latin typeface="Arial"/>
                <a:cs typeface="Arial"/>
              </a:rPr>
              <a:t>0</a:t>
            </a:r>
            <a:r>
              <a:rPr dirty="0" sz="800" spc="-10" i="1">
                <a:latin typeface="Arial"/>
                <a:cs typeface="Arial"/>
              </a:rPr>
              <a:t>.</a:t>
            </a:r>
            <a:r>
              <a:rPr dirty="0" sz="800" spc="-10">
                <a:latin typeface="Arial"/>
                <a:cs typeface="Arial"/>
              </a:rPr>
              <a:t>01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2492362" y="2522334"/>
            <a:ext cx="1102360" cy="0"/>
          </a:xfrm>
          <a:custGeom>
            <a:avLst/>
            <a:gdLst/>
            <a:ahLst/>
            <a:cxnLst/>
            <a:rect l="l" t="t" r="r" b="b"/>
            <a:pathLst>
              <a:path w="1102360" h="0">
                <a:moveTo>
                  <a:pt x="0" y="0"/>
                </a:moveTo>
                <a:lnTo>
                  <a:pt x="110205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2479662" y="2490824"/>
            <a:ext cx="112776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latin typeface="Arial"/>
                <a:cs typeface="Arial"/>
              </a:rPr>
              <a:t>0</a:t>
            </a:r>
            <a:r>
              <a:rPr dirty="0" sz="800" spc="-10" i="1">
                <a:latin typeface="Arial"/>
                <a:cs typeface="Arial"/>
              </a:rPr>
              <a:t>.</a:t>
            </a:r>
            <a:r>
              <a:rPr dirty="0" sz="800" spc="-10">
                <a:latin typeface="Arial"/>
                <a:cs typeface="Arial"/>
              </a:rPr>
              <a:t>98</a:t>
            </a:r>
            <a:r>
              <a:rPr dirty="0" sz="800" spc="-10" i="1">
                <a:latin typeface="Arial"/>
                <a:cs typeface="Arial"/>
              </a:rPr>
              <a:t>×</a:t>
            </a:r>
            <a:r>
              <a:rPr dirty="0" sz="800" spc="-10">
                <a:latin typeface="Arial"/>
                <a:cs typeface="Arial"/>
              </a:rPr>
              <a:t>0</a:t>
            </a:r>
            <a:r>
              <a:rPr dirty="0" sz="800" spc="-10" i="1">
                <a:latin typeface="Arial"/>
                <a:cs typeface="Arial"/>
              </a:rPr>
              <a:t>.</a:t>
            </a:r>
            <a:r>
              <a:rPr dirty="0" sz="800" spc="-10">
                <a:latin typeface="Arial"/>
                <a:cs typeface="Arial"/>
              </a:rPr>
              <a:t>01+0</a:t>
            </a:r>
            <a:r>
              <a:rPr dirty="0" sz="800" spc="-10" i="1">
                <a:latin typeface="Arial"/>
                <a:cs typeface="Arial"/>
              </a:rPr>
              <a:t>.</a:t>
            </a:r>
            <a:r>
              <a:rPr dirty="0" sz="800" spc="-10">
                <a:latin typeface="Arial"/>
                <a:cs typeface="Arial"/>
              </a:rPr>
              <a:t>001</a:t>
            </a:r>
            <a:r>
              <a:rPr dirty="0" sz="800" spc="-10" i="1">
                <a:latin typeface="Arial"/>
                <a:cs typeface="Arial"/>
              </a:rPr>
              <a:t>×</a:t>
            </a:r>
            <a:r>
              <a:rPr dirty="0" sz="800" spc="-10">
                <a:latin typeface="Arial"/>
                <a:cs typeface="Arial"/>
              </a:rPr>
              <a:t>0</a:t>
            </a:r>
            <a:r>
              <a:rPr dirty="0" sz="800" spc="-10" i="1">
                <a:latin typeface="Arial"/>
                <a:cs typeface="Arial"/>
              </a:rPr>
              <a:t>.</a:t>
            </a:r>
            <a:r>
              <a:rPr dirty="0" sz="800" spc="-10">
                <a:latin typeface="Arial"/>
                <a:cs typeface="Arial"/>
              </a:rPr>
              <a:t>99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86295" y="2584486"/>
            <a:ext cx="3253740" cy="49910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656080">
              <a:lnSpc>
                <a:spcPct val="100000"/>
              </a:lnSpc>
              <a:spcBef>
                <a:spcPts val="90"/>
              </a:spcBef>
            </a:pP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190">
                <a:latin typeface="Arial"/>
                <a:cs typeface="Arial"/>
              </a:rPr>
              <a:t>  </a:t>
            </a:r>
            <a:r>
              <a:rPr dirty="0" sz="1100" spc="-10">
                <a:latin typeface="Arial"/>
                <a:cs typeface="Arial"/>
              </a:rPr>
              <a:t>0</a:t>
            </a:r>
            <a:r>
              <a:rPr dirty="0" sz="1100" spc="-10" i="1">
                <a:latin typeface="Arial"/>
                <a:cs typeface="Arial"/>
              </a:rPr>
              <a:t>.</a:t>
            </a:r>
            <a:r>
              <a:rPr dirty="0" sz="1100" spc="-10">
                <a:latin typeface="Arial"/>
                <a:cs typeface="Arial"/>
              </a:rPr>
              <a:t>9082</a:t>
            </a:r>
            <a:r>
              <a:rPr dirty="0" sz="1100" spc="-10" i="1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1100"/>
              </a:spcBef>
            </a:pPr>
            <a:r>
              <a:rPr dirty="0" sz="1100">
                <a:latin typeface="Arial"/>
                <a:cs typeface="Arial"/>
              </a:rPr>
              <a:t>Thus, </a:t>
            </a:r>
            <a:r>
              <a:rPr dirty="0" sz="1100" spc="-10" i="1">
                <a:latin typeface="Arial"/>
                <a:cs typeface="Arial"/>
              </a:rPr>
              <a:t>Pr</a:t>
            </a:r>
            <a:r>
              <a:rPr dirty="0" sz="1100" spc="-180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disease</a:t>
            </a:r>
            <a:r>
              <a:rPr dirty="0" sz="1100">
                <a:latin typeface="Arial"/>
                <a:cs typeface="Arial"/>
              </a:rPr>
              <a:t>)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5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Pr</a:t>
            </a:r>
            <a:r>
              <a:rPr dirty="0" sz="1100" spc="-185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3888" sz="1200">
                <a:latin typeface="Arial"/>
                <a:cs typeface="Arial"/>
              </a:rPr>
              <a:t>1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spc="5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>
                <a:latin typeface="Arial"/>
                <a:cs typeface="Arial"/>
              </a:rPr>
              <a:t> 0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>
                <a:latin typeface="Arial"/>
                <a:cs typeface="Arial"/>
              </a:rPr>
              <a:t>01</a:t>
            </a:r>
            <a:r>
              <a:rPr dirty="0" sz="1100" spc="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gets </a:t>
            </a:r>
            <a:r>
              <a:rPr dirty="0" sz="1100" spc="-10">
                <a:latin typeface="Arial"/>
                <a:cs typeface="Arial"/>
              </a:rPr>
              <a:t>revised</a:t>
            </a:r>
            <a:r>
              <a:rPr dirty="0" sz="1100" spc="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to: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1007" y="2963760"/>
            <a:ext cx="76809" cy="76809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167297" y="3070436"/>
            <a:ext cx="3279140" cy="408305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469265">
              <a:lnSpc>
                <a:spcPct val="100000"/>
              </a:lnSpc>
              <a:spcBef>
                <a:spcPts val="40"/>
              </a:spcBef>
            </a:pPr>
            <a:r>
              <a:rPr dirty="0" sz="1100" spc="-10" i="1">
                <a:latin typeface="Arial"/>
                <a:cs typeface="Arial"/>
              </a:rPr>
              <a:t>Pr</a:t>
            </a:r>
            <a:r>
              <a:rPr dirty="0" sz="1100" spc="-185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disease</a:t>
            </a:r>
            <a:r>
              <a:rPr dirty="0" sz="1100" spc="-1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365" i="1">
                <a:latin typeface="Menlo"/>
                <a:cs typeface="Menlo"/>
              </a:rPr>
              <a:t>|</a:t>
            </a:r>
            <a:r>
              <a:rPr dirty="0" sz="1100" spc="-360" i="1">
                <a:latin typeface="Menlo"/>
                <a:cs typeface="Menlo"/>
              </a:rPr>
              <a:t> </a:t>
            </a:r>
            <a:r>
              <a:rPr dirty="0" sz="1100">
                <a:solidFill>
                  <a:srgbClr val="0000FF"/>
                </a:solidFill>
                <a:latin typeface="Arial"/>
                <a:cs typeface="Arial"/>
              </a:rPr>
              <a:t>symptom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Pr</a:t>
            </a:r>
            <a:r>
              <a:rPr dirty="0" sz="1100" spc="-185" i="1">
                <a:latin typeface="Arial"/>
                <a:cs typeface="Arial"/>
              </a:rPr>
              <a:t> </a:t>
            </a:r>
            <a:r>
              <a:rPr dirty="0" sz="1100" spc="-35">
                <a:latin typeface="Arial"/>
                <a:cs typeface="Arial"/>
              </a:rPr>
              <a:t>(</a:t>
            </a:r>
            <a:r>
              <a:rPr dirty="0" sz="1100" spc="-35" i="1">
                <a:latin typeface="Arial"/>
                <a:cs typeface="Arial"/>
              </a:rPr>
              <a:t>B</a:t>
            </a:r>
            <a:r>
              <a:rPr dirty="0" baseline="-13888" sz="1200" spc="-52">
                <a:latin typeface="Arial"/>
                <a:cs typeface="Arial"/>
              </a:rPr>
              <a:t>1</a:t>
            </a:r>
            <a:r>
              <a:rPr dirty="0" sz="1100" spc="-35" i="1">
                <a:latin typeface="Menlo"/>
                <a:cs typeface="Menlo"/>
              </a:rPr>
              <a:t>|</a:t>
            </a:r>
            <a:r>
              <a:rPr dirty="0" sz="1100" spc="-35" i="1">
                <a:latin typeface="Arial"/>
                <a:cs typeface="Arial"/>
              </a:rPr>
              <a:t>A</a:t>
            </a:r>
            <a:r>
              <a:rPr dirty="0" sz="1100" spc="-35">
                <a:latin typeface="Arial"/>
                <a:cs typeface="Arial"/>
              </a:rPr>
              <a:t>)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0</a:t>
            </a:r>
            <a:r>
              <a:rPr dirty="0" sz="1100" spc="-10" i="1">
                <a:latin typeface="Arial"/>
                <a:cs typeface="Arial"/>
              </a:rPr>
              <a:t>.</a:t>
            </a:r>
            <a:r>
              <a:rPr dirty="0" sz="1100" spc="-10">
                <a:latin typeface="Arial"/>
                <a:cs typeface="Arial"/>
              </a:rPr>
              <a:t>9082.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800" b="1">
                <a:latin typeface="Arial"/>
                <a:cs typeface="Arial"/>
              </a:rPr>
              <a:t>Sujit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Sahu:</a:t>
            </a:r>
            <a:r>
              <a:rPr dirty="0" sz="800" spc="30" b="1"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0000FF"/>
                </a:solidFill>
                <a:latin typeface="Arial"/>
                <a:cs typeface="Arial"/>
              </a:rPr>
              <a:t>sujitsahu.com</a:t>
            </a:r>
            <a:endParaRPr sz="8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33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Definition</a:t>
            </a:r>
            <a:r>
              <a:rPr dirty="0" spc="100"/>
              <a:t> </a:t>
            </a:r>
            <a:r>
              <a:rPr dirty="0"/>
              <a:t>of</a:t>
            </a:r>
            <a:r>
              <a:rPr dirty="0" spc="105"/>
              <a:t> </a:t>
            </a:r>
            <a:r>
              <a:rPr dirty="0"/>
              <a:t>Independent</a:t>
            </a:r>
            <a:r>
              <a:rPr dirty="0" spc="100"/>
              <a:t> </a:t>
            </a:r>
            <a:r>
              <a:rPr dirty="0" spc="-10"/>
              <a:t>Events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412864"/>
            <a:ext cx="76809" cy="7680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1018667"/>
            <a:ext cx="76809" cy="7680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2115400"/>
            <a:ext cx="76809" cy="7680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560895" y="340955"/>
            <a:ext cx="3912235" cy="189420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76200" marR="235585">
              <a:lnSpc>
                <a:spcPct val="102600"/>
              </a:lnSpc>
              <a:spcBef>
                <a:spcPts val="55"/>
              </a:spcBef>
            </a:pPr>
            <a:r>
              <a:rPr dirty="0" sz="1100" spc="-20">
                <a:latin typeface="Arial"/>
                <a:cs typeface="Arial"/>
              </a:rPr>
              <a:t>Intuitively, </a:t>
            </a:r>
            <a:r>
              <a:rPr dirty="0" sz="1100" spc="-10">
                <a:latin typeface="Arial"/>
                <a:cs typeface="Arial"/>
              </a:rPr>
              <a:t>events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-20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sz="1100" spc="25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are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independent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if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the </a:t>
            </a:r>
            <a:r>
              <a:rPr dirty="0" sz="1100">
                <a:latin typeface="Arial"/>
                <a:cs typeface="Arial"/>
              </a:rPr>
              <a:t>occurrence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one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event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does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not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affect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probability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that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other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event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occurs.</a:t>
            </a:r>
            <a:endParaRPr sz="1100">
              <a:latin typeface="Arial"/>
              <a:cs typeface="Arial"/>
            </a:endParaRPr>
          </a:p>
          <a:p>
            <a:pPr marL="76200" marR="306070">
              <a:lnSpc>
                <a:spcPct val="102600"/>
              </a:lnSpc>
              <a:spcBef>
                <a:spcPts val="705"/>
              </a:spcBef>
            </a:pPr>
            <a:r>
              <a:rPr dirty="0" sz="1100">
                <a:latin typeface="Arial"/>
                <a:cs typeface="Arial"/>
              </a:rPr>
              <a:t>Assume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200" i="1">
                <a:latin typeface="Arial"/>
                <a:cs typeface="Arial"/>
              </a:rPr>
              <a:t>&gt;</a:t>
            </a:r>
            <a:r>
              <a:rPr dirty="0" sz="1100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0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50" i="1">
                <a:latin typeface="Arial"/>
                <a:cs typeface="Arial"/>
              </a:rPr>
              <a:t>P</a:t>
            </a:r>
            <a:r>
              <a:rPr dirty="0" sz="1100" spc="50">
                <a:latin typeface="Arial"/>
                <a:cs typeface="Arial"/>
              </a:rPr>
              <a:t>(</a:t>
            </a:r>
            <a:r>
              <a:rPr dirty="0" sz="1100" spc="50" i="1">
                <a:latin typeface="Arial"/>
                <a:cs typeface="Arial"/>
              </a:rPr>
              <a:t>B</a:t>
            </a:r>
            <a:r>
              <a:rPr dirty="0" sz="1100" spc="50">
                <a:latin typeface="Arial"/>
                <a:cs typeface="Arial"/>
              </a:rPr>
              <a:t>)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200" i="1">
                <a:latin typeface="Arial"/>
                <a:cs typeface="Arial"/>
              </a:rPr>
              <a:t>&gt;</a:t>
            </a:r>
            <a:r>
              <a:rPr dirty="0" sz="1100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0.</a:t>
            </a:r>
            <a:r>
              <a:rPr dirty="0" sz="1100" spc="6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 </a:t>
            </a:r>
            <a:r>
              <a:rPr dirty="0" sz="1100" spc="-10">
                <a:latin typeface="Arial"/>
                <a:cs typeface="Arial"/>
              </a:rPr>
              <a:t>above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equivalent </a:t>
            </a:r>
            <a:r>
              <a:rPr dirty="0" sz="1100" spc="-25">
                <a:latin typeface="Arial"/>
                <a:cs typeface="Arial"/>
              </a:rPr>
              <a:t>to: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100">
              <a:latin typeface="Arial"/>
              <a:cs typeface="Arial"/>
            </a:endParaRPr>
          </a:p>
          <a:p>
            <a:pPr marL="76200">
              <a:lnSpc>
                <a:spcPts val="1035"/>
              </a:lnSpc>
            </a:pPr>
            <a:r>
              <a:rPr dirty="0" sz="1100" spc="-25" i="1">
                <a:latin typeface="Arial"/>
                <a:cs typeface="Arial"/>
              </a:rPr>
              <a:t>P</a:t>
            </a:r>
            <a:r>
              <a:rPr dirty="0" sz="1100" spc="-25">
                <a:latin typeface="Arial"/>
                <a:cs typeface="Arial"/>
              </a:rPr>
              <a:t>(</a:t>
            </a:r>
            <a:r>
              <a:rPr dirty="0" sz="1100" spc="-25" i="1">
                <a:latin typeface="Arial"/>
                <a:cs typeface="Arial"/>
              </a:rPr>
              <a:t>B</a:t>
            </a:r>
            <a:r>
              <a:rPr dirty="0" sz="1100" spc="-25" i="1">
                <a:latin typeface="Menlo"/>
                <a:cs typeface="Menlo"/>
              </a:rPr>
              <a:t>|</a:t>
            </a:r>
            <a:r>
              <a:rPr dirty="0" sz="1100" spc="-25" i="1">
                <a:latin typeface="Arial"/>
                <a:cs typeface="Arial"/>
              </a:rPr>
              <a:t>A</a:t>
            </a:r>
            <a:r>
              <a:rPr dirty="0" sz="1100" spc="-25">
                <a:latin typeface="Arial"/>
                <a:cs typeface="Arial"/>
              </a:rPr>
              <a:t>)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150">
                <a:latin typeface="Arial"/>
                <a:cs typeface="Arial"/>
              </a:rPr>
              <a:t> </a:t>
            </a:r>
            <a:r>
              <a:rPr dirty="0" u="sng" baseline="37878" sz="16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</a:t>
            </a:r>
            <a:r>
              <a:rPr dirty="0" u="sng" baseline="37878" sz="165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</a:t>
            </a:r>
            <a:r>
              <a:rPr dirty="0" u="sng" baseline="37878" sz="16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dirty="0" u="sng" baseline="37878" sz="1650" spc="-67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baseline="37878" sz="1650" spc="82" i="1">
                <a:uFill>
                  <a:solidFill>
                    <a:srgbClr val="000000"/>
                  </a:solidFill>
                </a:uFill>
                <a:latin typeface="Menlo"/>
                <a:cs typeface="Menlo"/>
              </a:rPr>
              <a:t>∩</a:t>
            </a:r>
            <a:r>
              <a:rPr dirty="0" u="sng" baseline="37878" sz="1650" spc="-600" i="1">
                <a:uFill>
                  <a:solidFill>
                    <a:srgbClr val="000000"/>
                  </a:solidFill>
                </a:uFill>
                <a:latin typeface="Menlo"/>
                <a:cs typeface="Menlo"/>
              </a:rPr>
              <a:t> </a:t>
            </a:r>
            <a:r>
              <a:rPr dirty="0" u="sng" baseline="37878" sz="16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</a:t>
            </a:r>
            <a:r>
              <a:rPr dirty="0" u="sng" baseline="37878" sz="165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)</a:t>
            </a:r>
            <a:r>
              <a:rPr dirty="0" baseline="37878" sz="1650" spc="225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 spc="50" i="1">
                <a:latin typeface="Arial"/>
                <a:cs typeface="Arial"/>
              </a:rPr>
              <a:t>P</a:t>
            </a:r>
            <a:r>
              <a:rPr dirty="0" sz="1100" spc="50">
                <a:latin typeface="Arial"/>
                <a:cs typeface="Arial"/>
              </a:rPr>
              <a:t>(</a:t>
            </a:r>
            <a:r>
              <a:rPr dirty="0" sz="1100" spc="50" i="1">
                <a:latin typeface="Arial"/>
                <a:cs typeface="Arial"/>
              </a:rPr>
              <a:t>B</a:t>
            </a:r>
            <a:r>
              <a:rPr dirty="0" sz="1100" spc="50">
                <a:latin typeface="Arial"/>
                <a:cs typeface="Arial"/>
              </a:rPr>
              <a:t>)</a:t>
            </a:r>
            <a:r>
              <a:rPr dirty="0" sz="1100" spc="190">
                <a:latin typeface="Arial"/>
                <a:cs typeface="Arial"/>
              </a:rPr>
              <a:t> </a:t>
            </a:r>
            <a:r>
              <a:rPr dirty="0" sz="1100" spc="80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25" i="1">
                <a:latin typeface="Arial"/>
                <a:cs typeface="Arial"/>
              </a:rPr>
              <a:t>P</a:t>
            </a:r>
            <a:r>
              <a:rPr dirty="0" sz="1100" spc="-25">
                <a:latin typeface="Arial"/>
                <a:cs typeface="Arial"/>
              </a:rPr>
              <a:t>(</a:t>
            </a:r>
            <a:r>
              <a:rPr dirty="0" sz="1100" spc="-25" i="1">
                <a:latin typeface="Arial"/>
                <a:cs typeface="Arial"/>
              </a:rPr>
              <a:t>A</a:t>
            </a:r>
            <a:r>
              <a:rPr dirty="0" sz="1100" spc="-25" i="1">
                <a:latin typeface="Menlo"/>
                <a:cs typeface="Menlo"/>
              </a:rPr>
              <a:t>|</a:t>
            </a:r>
            <a:r>
              <a:rPr dirty="0" sz="1100" spc="-25" i="1">
                <a:latin typeface="Arial"/>
                <a:cs typeface="Arial"/>
              </a:rPr>
              <a:t>B</a:t>
            </a:r>
            <a:r>
              <a:rPr dirty="0" sz="1100" spc="-25">
                <a:latin typeface="Arial"/>
                <a:cs typeface="Arial"/>
              </a:rPr>
              <a:t>)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150">
                <a:latin typeface="Arial"/>
                <a:cs typeface="Arial"/>
              </a:rPr>
              <a:t> </a:t>
            </a:r>
            <a:r>
              <a:rPr dirty="0" u="sng" baseline="37878" sz="16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</a:t>
            </a:r>
            <a:r>
              <a:rPr dirty="0" u="sng" baseline="37878" sz="165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</a:t>
            </a:r>
            <a:r>
              <a:rPr dirty="0" u="sng" baseline="37878" sz="16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dirty="0" u="sng" baseline="37878" sz="1650" spc="-67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baseline="37878" sz="1650" spc="82" i="1">
                <a:uFill>
                  <a:solidFill>
                    <a:srgbClr val="000000"/>
                  </a:solidFill>
                </a:uFill>
                <a:latin typeface="Menlo"/>
                <a:cs typeface="Menlo"/>
              </a:rPr>
              <a:t>∩</a:t>
            </a:r>
            <a:r>
              <a:rPr dirty="0" u="sng" baseline="37878" sz="1650" spc="-600" i="1">
                <a:uFill>
                  <a:solidFill>
                    <a:srgbClr val="000000"/>
                  </a:solidFill>
                </a:uFill>
                <a:latin typeface="Menlo"/>
                <a:cs typeface="Menlo"/>
              </a:rPr>
              <a:t> </a:t>
            </a:r>
            <a:r>
              <a:rPr dirty="0" u="sng" baseline="37878" sz="16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</a:t>
            </a:r>
            <a:r>
              <a:rPr dirty="0" u="sng" baseline="37878" sz="165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)</a:t>
            </a:r>
            <a:r>
              <a:rPr dirty="0" baseline="37878" sz="1650" spc="225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P</a:t>
            </a:r>
            <a:r>
              <a:rPr dirty="0" sz="1100" spc="-10">
                <a:latin typeface="Arial"/>
                <a:cs typeface="Arial"/>
              </a:rPr>
              <a:t>(</a:t>
            </a:r>
            <a:r>
              <a:rPr dirty="0" sz="1100" spc="-10" i="1">
                <a:latin typeface="Arial"/>
                <a:cs typeface="Arial"/>
              </a:rPr>
              <a:t>A</a:t>
            </a:r>
            <a:r>
              <a:rPr dirty="0" sz="1100" spc="-10">
                <a:latin typeface="Arial"/>
                <a:cs typeface="Arial"/>
              </a:rPr>
              <a:t>)</a:t>
            </a:r>
            <a:r>
              <a:rPr dirty="0" sz="1100" spc="-10" i="1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841375">
              <a:lnSpc>
                <a:spcPts val="1035"/>
              </a:lnSpc>
              <a:tabLst>
                <a:tab pos="2863215" algn="l"/>
              </a:tabLst>
            </a:pPr>
            <a:r>
              <a:rPr dirty="0" sz="1100" spc="-20" i="1">
                <a:latin typeface="Arial"/>
                <a:cs typeface="Arial"/>
              </a:rPr>
              <a:t>P</a:t>
            </a:r>
            <a:r>
              <a:rPr dirty="0" sz="1100" spc="-20">
                <a:latin typeface="Arial"/>
                <a:cs typeface="Arial"/>
              </a:rPr>
              <a:t>(</a:t>
            </a:r>
            <a:r>
              <a:rPr dirty="0" sz="1100" spc="-20" i="1">
                <a:latin typeface="Arial"/>
                <a:cs typeface="Arial"/>
              </a:rPr>
              <a:t>A</a:t>
            </a:r>
            <a:r>
              <a:rPr dirty="0" sz="1100" spc="-20">
                <a:latin typeface="Arial"/>
                <a:cs typeface="Arial"/>
              </a:rPr>
              <a:t>)</a:t>
            </a:r>
            <a:r>
              <a:rPr dirty="0" sz="1100">
                <a:latin typeface="Arial"/>
                <a:cs typeface="Arial"/>
              </a:rPr>
              <a:t>	</a:t>
            </a:r>
            <a:r>
              <a:rPr dirty="0" sz="1100" spc="30" i="1">
                <a:latin typeface="Arial"/>
                <a:cs typeface="Arial"/>
              </a:rPr>
              <a:t>P</a:t>
            </a:r>
            <a:r>
              <a:rPr dirty="0" sz="1100" spc="30">
                <a:latin typeface="Arial"/>
                <a:cs typeface="Arial"/>
              </a:rPr>
              <a:t>(</a:t>
            </a:r>
            <a:r>
              <a:rPr dirty="0" sz="1100" spc="30" i="1">
                <a:latin typeface="Arial"/>
                <a:cs typeface="Arial"/>
              </a:rPr>
              <a:t>B</a:t>
            </a:r>
            <a:r>
              <a:rPr dirty="0" sz="1100" spc="30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80"/>
              </a:spcBef>
            </a:pPr>
            <a:endParaRPr sz="1100">
              <a:latin typeface="Arial"/>
              <a:cs typeface="Arial"/>
            </a:endParaRPr>
          </a:p>
          <a:p>
            <a:pPr marL="75565">
              <a:lnSpc>
                <a:spcPct val="100000"/>
              </a:lnSpc>
            </a:pPr>
            <a:r>
              <a:rPr dirty="0" sz="1100">
                <a:latin typeface="Arial"/>
                <a:cs typeface="Arial"/>
              </a:rPr>
              <a:t>These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give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following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formal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definition.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39622" y="2432456"/>
            <a:ext cx="3681095" cy="219710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marL="40005">
              <a:lnSpc>
                <a:spcPct val="100000"/>
              </a:lnSpc>
              <a:spcBef>
                <a:spcPts val="35"/>
              </a:spcBef>
            </a:pP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-5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sz="1100" spc="45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are independent </a:t>
            </a:r>
            <a:r>
              <a:rPr dirty="0" sz="1100" spc="-10">
                <a:latin typeface="Arial"/>
                <a:cs typeface="Arial"/>
              </a:rPr>
              <a:t>events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if 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-65" i="1">
                <a:latin typeface="Arial"/>
                <a:cs typeface="Arial"/>
              </a:rPr>
              <a:t> </a:t>
            </a:r>
            <a:r>
              <a:rPr dirty="0" sz="1100" spc="55" i="1">
                <a:latin typeface="Menlo"/>
                <a:cs typeface="Menlo"/>
              </a:rPr>
              <a:t>∩</a:t>
            </a:r>
            <a:r>
              <a:rPr dirty="0" sz="1100" spc="-415" i="1">
                <a:latin typeface="Menlo"/>
                <a:cs typeface="Menlo"/>
              </a:rPr>
              <a:t> 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sz="1100">
                <a:latin typeface="Arial"/>
                <a:cs typeface="Arial"/>
              </a:rPr>
              <a:t>)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P</a:t>
            </a:r>
            <a:r>
              <a:rPr dirty="0" sz="1100" spc="-10">
                <a:latin typeface="Arial"/>
                <a:cs typeface="Arial"/>
              </a:rPr>
              <a:t>(</a:t>
            </a:r>
            <a:r>
              <a:rPr dirty="0" sz="1100" spc="-10" i="1">
                <a:latin typeface="Arial"/>
                <a:cs typeface="Arial"/>
              </a:rPr>
              <a:t>A</a:t>
            </a:r>
            <a:r>
              <a:rPr dirty="0" sz="1100" spc="-10">
                <a:latin typeface="Arial"/>
                <a:cs typeface="Arial"/>
              </a:rPr>
              <a:t>)</a:t>
            </a:r>
            <a:r>
              <a:rPr dirty="0" sz="1100" spc="-10" i="1">
                <a:latin typeface="Arial"/>
                <a:cs typeface="Arial"/>
              </a:rPr>
              <a:t>P</a:t>
            </a:r>
            <a:r>
              <a:rPr dirty="0" sz="1100" spc="-10">
                <a:latin typeface="Arial"/>
                <a:cs typeface="Arial"/>
              </a:rPr>
              <a:t>(</a:t>
            </a:r>
            <a:r>
              <a:rPr dirty="0" sz="1100" spc="-10" i="1">
                <a:latin typeface="Arial"/>
                <a:cs typeface="Arial"/>
              </a:rPr>
              <a:t>B</a:t>
            </a:r>
            <a:r>
              <a:rPr dirty="0" sz="1100" spc="-10">
                <a:latin typeface="Arial"/>
                <a:cs typeface="Arial"/>
              </a:rPr>
              <a:t>).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007" y="2778607"/>
            <a:ext cx="76809" cy="76809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624395" y="2706698"/>
            <a:ext cx="3636645" cy="36385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spc="175" i="1">
                <a:latin typeface="Menlo"/>
                <a:cs typeface="Menlo"/>
              </a:rPr>
              <a:t>♡</a:t>
            </a:r>
            <a:r>
              <a:rPr dirty="0" sz="1100" spc="-360" i="1">
                <a:latin typeface="Menlo"/>
                <a:cs typeface="Menlo"/>
              </a:rPr>
              <a:t> </a:t>
            </a:r>
            <a:r>
              <a:rPr dirty="0" sz="1100" spc="-60">
                <a:latin typeface="Arial"/>
                <a:cs typeface="Arial"/>
              </a:rPr>
              <a:t>Two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fair</a:t>
            </a:r>
            <a:r>
              <a:rPr dirty="0" sz="1100" spc="-7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dice</a:t>
            </a:r>
            <a:r>
              <a:rPr dirty="0" sz="1100" spc="-6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when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shaken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together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are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assumed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to </a:t>
            </a:r>
            <a:r>
              <a:rPr dirty="0" sz="1100" spc="-10">
                <a:latin typeface="Arial"/>
                <a:cs typeface="Arial"/>
              </a:rPr>
              <a:t>behave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independently.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Hence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probability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two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sixes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is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67297" y="3057355"/>
            <a:ext cx="1622425" cy="42164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469265">
              <a:lnSpc>
                <a:spcPct val="100000"/>
              </a:lnSpc>
              <a:spcBef>
                <a:spcPts val="40"/>
              </a:spcBef>
            </a:pPr>
            <a:r>
              <a:rPr dirty="0" sz="1100" spc="75">
                <a:latin typeface="Arial"/>
                <a:cs typeface="Arial"/>
              </a:rPr>
              <a:t>1</a:t>
            </a:r>
            <a:r>
              <a:rPr dirty="0" sz="1100" spc="75" i="1">
                <a:latin typeface="Arial"/>
                <a:cs typeface="Arial"/>
              </a:rPr>
              <a:t>/</a:t>
            </a:r>
            <a:r>
              <a:rPr dirty="0" sz="1100" spc="75">
                <a:latin typeface="Arial"/>
                <a:cs typeface="Arial"/>
              </a:rPr>
              <a:t>6</a:t>
            </a:r>
            <a:r>
              <a:rPr dirty="0" sz="1100" spc="-65">
                <a:latin typeface="Arial"/>
                <a:cs typeface="Arial"/>
              </a:rPr>
              <a:t> </a:t>
            </a:r>
            <a:r>
              <a:rPr dirty="0" sz="1100" spc="175" i="1">
                <a:latin typeface="Menlo"/>
                <a:cs typeface="Menlo"/>
              </a:rPr>
              <a:t>×</a:t>
            </a:r>
            <a:r>
              <a:rPr dirty="0" sz="1100" spc="-415" i="1">
                <a:latin typeface="Menlo"/>
                <a:cs typeface="Menlo"/>
              </a:rPr>
              <a:t> </a:t>
            </a:r>
            <a:r>
              <a:rPr dirty="0" sz="1100" spc="75">
                <a:latin typeface="Arial"/>
                <a:cs typeface="Arial"/>
              </a:rPr>
              <a:t>1</a:t>
            </a:r>
            <a:r>
              <a:rPr dirty="0" sz="1100" spc="75" i="1">
                <a:latin typeface="Arial"/>
                <a:cs typeface="Arial"/>
              </a:rPr>
              <a:t>/</a:t>
            </a:r>
            <a:r>
              <a:rPr dirty="0" sz="1100" spc="75">
                <a:latin typeface="Arial"/>
                <a:cs typeface="Arial"/>
              </a:rPr>
              <a:t>6</a:t>
            </a:r>
            <a:r>
              <a:rPr dirty="0" sz="1100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1</a:t>
            </a:r>
            <a:r>
              <a:rPr dirty="0" sz="1100" spc="-20" i="1">
                <a:latin typeface="Arial"/>
                <a:cs typeface="Arial"/>
              </a:rPr>
              <a:t>/</a:t>
            </a:r>
            <a:r>
              <a:rPr dirty="0" sz="1100" spc="-20">
                <a:latin typeface="Arial"/>
                <a:cs typeface="Arial"/>
              </a:rPr>
              <a:t>36.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800" b="1">
                <a:latin typeface="Arial"/>
                <a:cs typeface="Arial"/>
              </a:rPr>
              <a:t>Sujit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Sahu:</a:t>
            </a:r>
            <a:r>
              <a:rPr dirty="0" sz="800" spc="30" b="1"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0000FF"/>
                </a:solidFill>
                <a:latin typeface="Arial"/>
                <a:cs typeface="Arial"/>
              </a:rPr>
              <a:t>sujitsahu.com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34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Dangerous</a:t>
            </a:r>
            <a:r>
              <a:rPr dirty="0" spc="110"/>
              <a:t> </a:t>
            </a:r>
            <a:r>
              <a:rPr dirty="0"/>
              <a:t>to</a:t>
            </a:r>
            <a:r>
              <a:rPr dirty="0" spc="114"/>
              <a:t> </a:t>
            </a:r>
            <a:r>
              <a:rPr dirty="0"/>
              <a:t>assume</a:t>
            </a:r>
            <a:r>
              <a:rPr dirty="0" spc="110"/>
              <a:t> </a:t>
            </a:r>
            <a:r>
              <a:rPr dirty="0"/>
              <a:t>independence</a:t>
            </a:r>
            <a:r>
              <a:rPr dirty="0" spc="114"/>
              <a:t> </a:t>
            </a:r>
            <a:r>
              <a:rPr dirty="0" spc="-10"/>
              <a:t>wrongly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405638"/>
            <a:ext cx="76809" cy="7680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24395" y="333729"/>
            <a:ext cx="3623945" cy="292481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635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Arial"/>
                <a:cs typeface="Arial"/>
              </a:rPr>
              <a:t>When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events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are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independent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then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simpler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product formula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joint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probability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used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instead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5">
                <a:latin typeface="Arial"/>
                <a:cs typeface="Arial"/>
              </a:rPr>
              <a:t> the </a:t>
            </a:r>
            <a:r>
              <a:rPr dirty="0" sz="1100" spc="-10">
                <a:latin typeface="Arial"/>
                <a:cs typeface="Arial"/>
              </a:rPr>
              <a:t>formula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involving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more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complicated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conditional probabilities.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100">
              <a:latin typeface="Arial"/>
              <a:cs typeface="Arial"/>
            </a:endParaRPr>
          </a:p>
          <a:p>
            <a:pPr marL="12700" marR="337820">
              <a:lnSpc>
                <a:spcPct val="102600"/>
              </a:lnSpc>
            </a:pPr>
            <a:r>
              <a:rPr dirty="0" sz="1100">
                <a:latin typeface="Arial"/>
                <a:cs typeface="Arial"/>
              </a:rPr>
              <a:t>Independence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often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assumed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on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physical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grounds, </a:t>
            </a:r>
            <a:r>
              <a:rPr dirty="0" sz="1100">
                <a:latin typeface="Arial"/>
                <a:cs typeface="Arial"/>
              </a:rPr>
              <a:t>although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sometimes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incorrectly.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100">
              <a:latin typeface="Arial"/>
              <a:cs typeface="Arial"/>
            </a:endParaRPr>
          </a:p>
          <a:p>
            <a:pPr marL="12700" marR="240029">
              <a:lnSpc>
                <a:spcPct val="102600"/>
              </a:lnSpc>
            </a:pPr>
            <a:r>
              <a:rPr dirty="0" sz="1100">
                <a:latin typeface="Arial"/>
                <a:cs typeface="Arial"/>
              </a:rPr>
              <a:t>There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are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serious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consequences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wrongly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assuming independence,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e.g.</a:t>
            </a:r>
            <a:r>
              <a:rPr dirty="0" sz="1100" spc="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financial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crisis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2008.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100">
              <a:latin typeface="Arial"/>
              <a:cs typeface="Arial"/>
            </a:endParaRPr>
          </a:p>
          <a:p>
            <a:pPr algn="just" marL="12700" marR="5080">
              <a:lnSpc>
                <a:spcPct val="102600"/>
              </a:lnSpc>
            </a:pPr>
            <a:r>
              <a:rPr dirty="0" sz="1100" spc="175" i="1">
                <a:latin typeface="Menlo"/>
                <a:cs typeface="Menlo"/>
              </a:rPr>
              <a:t>♡</a:t>
            </a:r>
            <a:r>
              <a:rPr dirty="0" sz="1100" spc="-360" i="1">
                <a:latin typeface="Menlo"/>
                <a:cs typeface="Menlo"/>
              </a:rPr>
              <a:t> </a:t>
            </a:r>
            <a:r>
              <a:rPr dirty="0" sz="1100" spc="-15">
                <a:latin typeface="Arial"/>
                <a:cs typeface="Arial"/>
              </a:rPr>
              <a:t>Assessing</a:t>
            </a:r>
            <a:r>
              <a:rPr dirty="0" sz="1100" spc="-5">
                <a:latin typeface="Arial"/>
                <a:cs typeface="Arial"/>
              </a:rPr>
              <a:t> risk </a:t>
            </a:r>
            <a:r>
              <a:rPr dirty="0" sz="1100" spc="-10">
                <a:latin typeface="Arial"/>
                <a:cs typeface="Arial"/>
              </a:rPr>
              <a:t>in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legal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cases:</a:t>
            </a:r>
            <a:r>
              <a:rPr dirty="0" sz="1100" spc="65">
                <a:latin typeface="Arial"/>
                <a:cs typeface="Arial"/>
              </a:rPr>
              <a:t> </a:t>
            </a:r>
            <a:r>
              <a:rPr dirty="0" sz="1100" spc="-5">
                <a:latin typeface="Arial"/>
                <a:cs typeface="Arial"/>
              </a:rPr>
              <a:t>In </a:t>
            </a:r>
            <a:r>
              <a:rPr dirty="0" sz="1100" spc="-10">
                <a:latin typeface="Arial"/>
                <a:cs typeface="Arial"/>
              </a:rPr>
              <a:t>recent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-15">
                <a:latin typeface="Arial"/>
                <a:cs typeface="Arial"/>
              </a:rPr>
              <a:t>years</a:t>
            </a:r>
            <a:r>
              <a:rPr dirty="0" sz="1100" spc="-5">
                <a:latin typeface="Arial"/>
                <a:cs typeface="Arial"/>
              </a:rPr>
              <a:t> there </a:t>
            </a:r>
            <a:r>
              <a:rPr dirty="0" sz="1100" spc="-20">
                <a:latin typeface="Arial"/>
                <a:cs typeface="Arial"/>
              </a:rPr>
              <a:t>have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been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some</a:t>
            </a:r>
            <a:r>
              <a:rPr dirty="0" sz="1100" spc="-5">
                <a:latin typeface="Arial"/>
                <a:cs typeface="Arial"/>
              </a:rPr>
              <a:t> disastrous </a:t>
            </a:r>
            <a:r>
              <a:rPr dirty="0" sz="1100" spc="-10">
                <a:latin typeface="Arial"/>
                <a:cs typeface="Arial"/>
              </a:rPr>
              <a:t>miscarriages</a:t>
            </a:r>
            <a:r>
              <a:rPr dirty="0" sz="1100" spc="-5">
                <a:latin typeface="Arial"/>
                <a:cs typeface="Arial"/>
              </a:rPr>
              <a:t> of </a:t>
            </a:r>
            <a:r>
              <a:rPr dirty="0" sz="1100" spc="-10">
                <a:latin typeface="Arial"/>
                <a:cs typeface="Arial"/>
              </a:rPr>
              <a:t>justice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as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</a:t>
            </a:r>
            <a:r>
              <a:rPr dirty="0" sz="1100" spc="-5">
                <a:latin typeface="Arial"/>
                <a:cs typeface="Arial"/>
              </a:rPr>
              <a:t> result of incorrect </a:t>
            </a:r>
            <a:r>
              <a:rPr dirty="0" sz="1100" spc="-10">
                <a:latin typeface="Arial"/>
                <a:cs typeface="Arial"/>
              </a:rPr>
              <a:t>assumption</a:t>
            </a:r>
            <a:r>
              <a:rPr dirty="0" sz="1100" spc="-5">
                <a:latin typeface="Arial"/>
                <a:cs typeface="Arial"/>
              </a:rPr>
              <a:t> of </a:t>
            </a:r>
            <a:r>
              <a:rPr dirty="0" sz="1100" spc="-15">
                <a:latin typeface="Arial"/>
                <a:cs typeface="Arial"/>
              </a:rPr>
              <a:t>independence.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1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00">
                <a:latin typeface="Arial"/>
                <a:cs typeface="Arial"/>
              </a:rPr>
              <a:t>Will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discuss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Sally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Clark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Case.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1303959"/>
            <a:ext cx="76809" cy="7680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1858149"/>
            <a:ext cx="76809" cy="7680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007" y="2412326"/>
            <a:ext cx="76809" cy="7680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1007" y="3138589"/>
            <a:ext cx="76809" cy="76809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4302752" y="3325931"/>
            <a:ext cx="138430" cy="15303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800" spc="-25" b="1">
                <a:latin typeface="Arial"/>
                <a:cs typeface="Arial"/>
              </a:rPr>
              <a:t>35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Sally</a:t>
            </a:r>
            <a:r>
              <a:rPr dirty="0" spc="75"/>
              <a:t> </a:t>
            </a:r>
            <a:r>
              <a:rPr dirty="0"/>
              <a:t>Clark</a:t>
            </a:r>
            <a:r>
              <a:rPr dirty="0" spc="80"/>
              <a:t> </a:t>
            </a:r>
            <a:r>
              <a:rPr dirty="0" spc="-20"/>
              <a:t>case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372008"/>
            <a:ext cx="76809" cy="7680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24395" y="300099"/>
            <a:ext cx="3462654" cy="302768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40640">
              <a:lnSpc>
                <a:spcPct val="102600"/>
              </a:lnSpc>
              <a:spcBef>
                <a:spcPts val="55"/>
              </a:spcBef>
            </a:pPr>
            <a:r>
              <a:rPr dirty="0" sz="1100" b="1">
                <a:latin typeface="Arial"/>
                <a:cs typeface="Arial"/>
              </a:rPr>
              <a:t>December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1996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Sally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Clark’s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son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Christopher,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aged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35">
                <a:latin typeface="Arial"/>
                <a:cs typeface="Arial"/>
              </a:rPr>
              <a:t>11 </a:t>
            </a:r>
            <a:r>
              <a:rPr dirty="0" sz="1100" spc="-10">
                <a:latin typeface="Arial"/>
                <a:cs typeface="Arial"/>
              </a:rPr>
              <a:t>weeks,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found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dead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while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her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husband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out.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100">
              <a:latin typeface="Arial"/>
              <a:cs typeface="Arial"/>
            </a:endParaRPr>
          </a:p>
          <a:p>
            <a:pPr marL="12700" marR="96520">
              <a:lnSpc>
                <a:spcPct val="102699"/>
              </a:lnSpc>
            </a:pPr>
            <a:r>
              <a:rPr dirty="0" sz="1100" b="1">
                <a:latin typeface="Arial"/>
                <a:cs typeface="Arial"/>
              </a:rPr>
              <a:t>January</a:t>
            </a:r>
            <a:r>
              <a:rPr dirty="0" sz="1100" spc="-4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1998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Her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second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son,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Harry,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dies,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aged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eight </a:t>
            </a:r>
            <a:r>
              <a:rPr dirty="0" sz="1100" spc="-10">
                <a:latin typeface="Arial"/>
                <a:cs typeface="Arial"/>
              </a:rPr>
              <a:t>weeks.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b="1">
                <a:latin typeface="Arial"/>
                <a:cs typeface="Arial"/>
              </a:rPr>
              <a:t>February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1998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Mrs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Clark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arrested.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100">
              <a:latin typeface="Arial"/>
              <a:cs typeface="Arial"/>
            </a:endParaRPr>
          </a:p>
          <a:p>
            <a:pPr marL="12700" marR="43815">
              <a:lnSpc>
                <a:spcPct val="102600"/>
              </a:lnSpc>
              <a:spcBef>
                <a:spcPts val="5"/>
              </a:spcBef>
            </a:pPr>
            <a:r>
              <a:rPr dirty="0" sz="1100" b="1">
                <a:latin typeface="Arial"/>
                <a:cs typeface="Arial"/>
              </a:rPr>
              <a:t>October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1999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Mrs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Clark’s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trial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begins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Chester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crown </a:t>
            </a:r>
            <a:r>
              <a:rPr dirty="0" sz="1100" spc="-10">
                <a:latin typeface="Arial"/>
                <a:cs typeface="Arial"/>
              </a:rPr>
              <a:t>court.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</a:pPr>
            <a:r>
              <a:rPr dirty="0" sz="1100" spc="-10">
                <a:latin typeface="Arial"/>
                <a:cs typeface="Arial"/>
              </a:rPr>
              <a:t>Professor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Roy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Meadow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appears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witness,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telling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the </a:t>
            </a:r>
            <a:r>
              <a:rPr dirty="0" sz="1100">
                <a:latin typeface="Arial"/>
                <a:cs typeface="Arial"/>
              </a:rPr>
              <a:t>jury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there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“one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in</a:t>
            </a:r>
            <a:r>
              <a:rPr dirty="0" sz="1100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73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million”</a:t>
            </a:r>
            <a:r>
              <a:rPr dirty="0" sz="1100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chance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two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children </a:t>
            </a:r>
            <a:r>
              <a:rPr dirty="0" sz="1100">
                <a:latin typeface="Arial"/>
                <a:cs typeface="Arial"/>
              </a:rPr>
              <a:t>dying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from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deaths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affluent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family.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100">
              <a:latin typeface="Arial"/>
              <a:cs typeface="Arial"/>
            </a:endParaRPr>
          </a:p>
          <a:p>
            <a:pPr marL="12700" marR="17780">
              <a:lnSpc>
                <a:spcPct val="102600"/>
              </a:lnSpc>
            </a:pPr>
            <a:r>
              <a:rPr dirty="0" sz="1100" spc="-10" b="1">
                <a:latin typeface="Arial"/>
                <a:cs typeface="Arial"/>
              </a:rPr>
              <a:t>November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1999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Mrs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Clark</a:t>
            </a:r>
            <a:r>
              <a:rPr dirty="0" sz="11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found</a:t>
            </a:r>
            <a:r>
              <a:rPr dirty="0" sz="11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guilty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dirty="0" sz="11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given</a:t>
            </a:r>
            <a:r>
              <a:rPr dirty="0" sz="11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FF0000"/>
                </a:solidFill>
                <a:latin typeface="Arial"/>
                <a:cs typeface="Arial"/>
              </a:rPr>
              <a:t>two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life</a:t>
            </a:r>
            <a:r>
              <a:rPr dirty="0" sz="1100" spc="-6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sentences.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904671"/>
            <a:ext cx="76809" cy="7680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1437348"/>
            <a:ext cx="76809" cy="7680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007" y="1797939"/>
            <a:ext cx="76809" cy="7680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1007" y="2330602"/>
            <a:ext cx="76809" cy="7680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1007" y="3035350"/>
            <a:ext cx="76809" cy="76809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39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Sally</a:t>
            </a:r>
            <a:r>
              <a:rPr dirty="0" spc="70"/>
              <a:t> </a:t>
            </a:r>
            <a:r>
              <a:rPr dirty="0"/>
              <a:t>Clark</a:t>
            </a:r>
            <a:r>
              <a:rPr dirty="0" spc="75"/>
              <a:t> </a:t>
            </a:r>
            <a:r>
              <a:rPr dirty="0"/>
              <a:t>case</a:t>
            </a:r>
            <a:r>
              <a:rPr dirty="0" spc="75"/>
              <a:t> </a:t>
            </a:r>
            <a:r>
              <a:rPr dirty="0" spc="-10"/>
              <a:t>continues..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696442"/>
            <a:ext cx="76809" cy="7680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24395" y="624534"/>
            <a:ext cx="3613150" cy="219837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26543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Arial"/>
                <a:cs typeface="Arial"/>
              </a:rPr>
              <a:t>Independence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two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child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death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singly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family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was </a:t>
            </a:r>
            <a:r>
              <a:rPr dirty="0" sz="1100" spc="-10">
                <a:latin typeface="Arial"/>
                <a:cs typeface="Arial"/>
              </a:rPr>
              <a:t>wrongly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assumed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Prof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Meadow.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Arial"/>
                <a:cs typeface="Arial"/>
              </a:rPr>
              <a:t>His</a:t>
            </a:r>
            <a:r>
              <a:rPr dirty="0" sz="1100" spc="-7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calculation:</a:t>
            </a:r>
            <a:r>
              <a:rPr dirty="0" sz="1100" spc="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1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8543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175" i="1">
                <a:latin typeface="Menlo"/>
                <a:cs typeface="Menlo"/>
              </a:rPr>
              <a:t>×</a:t>
            </a:r>
            <a:r>
              <a:rPr dirty="0" sz="1100" spc="-360" i="1">
                <a:latin typeface="Menlo"/>
                <a:cs typeface="Menlo"/>
              </a:rPr>
              <a:t> </a:t>
            </a:r>
            <a:r>
              <a:rPr dirty="0" sz="1100">
                <a:latin typeface="Arial"/>
                <a:cs typeface="Arial"/>
              </a:rPr>
              <a:t>1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8543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175" i="1">
                <a:latin typeface="Menlo"/>
                <a:cs typeface="Menlo"/>
              </a:rPr>
              <a:t>≈</a:t>
            </a:r>
            <a:r>
              <a:rPr dirty="0" sz="1100" spc="-360" i="1">
                <a:latin typeface="Menlo"/>
                <a:cs typeface="Menlo"/>
              </a:rPr>
              <a:t> </a:t>
            </a:r>
            <a:r>
              <a:rPr dirty="0" sz="1100">
                <a:latin typeface="Arial"/>
                <a:cs typeface="Arial"/>
              </a:rPr>
              <a:t>1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73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million.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100">
              <a:latin typeface="Arial"/>
              <a:cs typeface="Arial"/>
            </a:endParaRPr>
          </a:p>
          <a:p>
            <a:pPr marL="12700" marR="208279">
              <a:lnSpc>
                <a:spcPct val="102600"/>
              </a:lnSpc>
            </a:pPr>
            <a:r>
              <a:rPr dirty="0" sz="1100" spc="-10">
                <a:latin typeface="Arial"/>
                <a:cs typeface="Arial"/>
              </a:rPr>
              <a:t>Also,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“A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Prosecutor’s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Fallacy”.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This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consists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showing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“innocent”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explanation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certain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facts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highly improbable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–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then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deducing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“guilty” explanation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therefore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correct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one.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5"/>
              </a:spcBef>
            </a:pPr>
            <a:r>
              <a:rPr dirty="0" sz="1100" spc="-10">
                <a:latin typeface="Arial"/>
                <a:cs typeface="Arial"/>
              </a:rPr>
              <a:t>Moreover,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Professor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Meadow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was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not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statistician;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yet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his </a:t>
            </a:r>
            <a:r>
              <a:rPr dirty="0" sz="1100">
                <a:latin typeface="Arial"/>
                <a:cs typeface="Arial"/>
              </a:rPr>
              <a:t>‘expert’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evidence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was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admitted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court.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1250619"/>
            <a:ext cx="76809" cy="7680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1632724"/>
            <a:ext cx="76809" cy="7680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007" y="2531059"/>
            <a:ext cx="76809" cy="76809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39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Sally</a:t>
            </a:r>
            <a:r>
              <a:rPr dirty="0" spc="70"/>
              <a:t> </a:t>
            </a:r>
            <a:r>
              <a:rPr dirty="0"/>
              <a:t>Clark</a:t>
            </a:r>
            <a:r>
              <a:rPr dirty="0" spc="75"/>
              <a:t> </a:t>
            </a:r>
            <a:r>
              <a:rPr dirty="0"/>
              <a:t>case</a:t>
            </a:r>
            <a:r>
              <a:rPr dirty="0" spc="75"/>
              <a:t> </a:t>
            </a:r>
            <a:r>
              <a:rPr dirty="0" spc="-10"/>
              <a:t>continues..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905776"/>
            <a:ext cx="76809" cy="7680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24395" y="833880"/>
            <a:ext cx="3804920" cy="16827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Arial"/>
                <a:cs typeface="Arial"/>
              </a:rPr>
              <a:t>October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2000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First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appeal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fails.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100">
              <a:latin typeface="Arial"/>
              <a:cs typeface="Arial"/>
            </a:endParaRPr>
          </a:p>
          <a:p>
            <a:pPr marL="12700" marR="231140">
              <a:lnSpc>
                <a:spcPct val="102600"/>
              </a:lnSpc>
            </a:pPr>
            <a:r>
              <a:rPr dirty="0" sz="1100">
                <a:latin typeface="Arial"/>
                <a:cs typeface="Arial"/>
              </a:rPr>
              <a:t>January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2003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Mrs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Clark’s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conviction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quashed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court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appeal.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Arial"/>
                <a:cs typeface="Arial"/>
              </a:rPr>
              <a:t>March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2007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Sally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Clark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dies.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Arial"/>
                <a:cs typeface="Arial"/>
              </a:rPr>
              <a:t>Read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article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 spc="140">
                <a:latin typeface="Arial"/>
                <a:cs typeface="Arial"/>
              </a:rPr>
              <a:t>https://understandinguncertainty.org/node/545.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1287894"/>
            <a:ext cx="76809" cy="7680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1842071"/>
            <a:ext cx="76809" cy="7680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007" y="2224176"/>
            <a:ext cx="76809" cy="76809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39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Monty</a:t>
            </a:r>
            <a:r>
              <a:rPr dirty="0" spc="55"/>
              <a:t> </a:t>
            </a:r>
            <a:r>
              <a:rPr dirty="0"/>
              <a:t>Hall:</a:t>
            </a:r>
            <a:r>
              <a:rPr dirty="0" spc="165"/>
              <a:t> </a:t>
            </a:r>
            <a:r>
              <a:rPr dirty="0"/>
              <a:t>TV</a:t>
            </a:r>
            <a:r>
              <a:rPr dirty="0" spc="55"/>
              <a:t> </a:t>
            </a:r>
            <a:r>
              <a:rPr dirty="0" spc="-20"/>
              <a:t>Game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8791" y="322477"/>
            <a:ext cx="3110423" cy="1730172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2202319"/>
            <a:ext cx="76809" cy="7680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24395" y="2130411"/>
            <a:ext cx="3584575" cy="122428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316865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Arial"/>
                <a:cs typeface="Arial"/>
              </a:rPr>
              <a:t>Three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doors: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only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one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has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brand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new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car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behind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it.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other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two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have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goats.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</a:pPr>
            <a:r>
              <a:rPr dirty="0" sz="1100" spc="-65">
                <a:latin typeface="Arial"/>
                <a:cs typeface="Arial"/>
              </a:rPr>
              <a:t>You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are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asked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choose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one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door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prize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behind.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host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then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reveals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one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other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two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reveals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50">
                <a:latin typeface="Arial"/>
                <a:cs typeface="Arial"/>
              </a:rPr>
              <a:t>a </a:t>
            </a:r>
            <a:r>
              <a:rPr dirty="0" sz="1100">
                <a:latin typeface="Arial"/>
                <a:cs typeface="Arial"/>
              </a:rPr>
              <a:t>goat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behind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it.</a:t>
            </a:r>
            <a:endParaRPr sz="1100">
              <a:latin typeface="Arial"/>
              <a:cs typeface="Arial"/>
            </a:endParaRPr>
          </a:p>
          <a:p>
            <a:pPr marL="12700" marR="78740">
              <a:lnSpc>
                <a:spcPct val="102600"/>
              </a:lnSpc>
            </a:pPr>
            <a:r>
              <a:rPr dirty="0" sz="1100">
                <a:latin typeface="Arial"/>
                <a:cs typeface="Arial"/>
              </a:rPr>
              <a:t>Now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do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you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stick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with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your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choice,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swap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or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choose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again </a:t>
            </a:r>
            <a:r>
              <a:rPr dirty="0" sz="1100">
                <a:latin typeface="Arial"/>
                <a:cs typeface="Arial"/>
              </a:rPr>
              <a:t>randomly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between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two?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2374392"/>
            <a:ext cx="76809" cy="7680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007" y="2546464"/>
            <a:ext cx="76809" cy="7680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1007" y="2718549"/>
            <a:ext cx="76809" cy="7680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1007" y="3062694"/>
            <a:ext cx="76809" cy="76809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39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Probability</a:t>
            </a:r>
            <a:r>
              <a:rPr dirty="0" spc="75"/>
              <a:t> </a:t>
            </a:r>
            <a:r>
              <a:rPr dirty="0"/>
              <a:t>calculation</a:t>
            </a:r>
            <a:r>
              <a:rPr dirty="0" spc="75"/>
              <a:t> </a:t>
            </a:r>
            <a:r>
              <a:rPr dirty="0"/>
              <a:t>for</a:t>
            </a:r>
            <a:r>
              <a:rPr dirty="0" spc="75"/>
              <a:t> </a:t>
            </a:r>
            <a:r>
              <a:rPr dirty="0"/>
              <a:t>the</a:t>
            </a:r>
            <a:r>
              <a:rPr dirty="0" spc="75"/>
              <a:t> </a:t>
            </a:r>
            <a:r>
              <a:rPr dirty="0"/>
              <a:t>Monty</a:t>
            </a:r>
            <a:r>
              <a:rPr dirty="0" spc="75"/>
              <a:t> </a:t>
            </a:r>
            <a:r>
              <a:rPr dirty="0"/>
              <a:t>Hall</a:t>
            </a:r>
            <a:r>
              <a:rPr dirty="0" spc="80"/>
              <a:t> </a:t>
            </a:r>
            <a:r>
              <a:rPr dirty="0" spc="-10"/>
              <a:t>problem.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155" y="308025"/>
            <a:ext cx="134416" cy="13441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61556" y="307472"/>
            <a:ext cx="679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24395" y="271092"/>
            <a:ext cx="3535045" cy="123761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>
              <a:lnSpc>
                <a:spcPts val="1200"/>
              </a:lnSpc>
              <a:spcBef>
                <a:spcPts val="229"/>
              </a:spcBef>
            </a:pPr>
            <a:r>
              <a:rPr dirty="0" sz="1100">
                <a:latin typeface="Arial"/>
                <a:cs typeface="Arial"/>
              </a:rPr>
              <a:t>Note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player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can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under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two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mutually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exclusive ways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if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initially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they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choose:</a:t>
            </a:r>
            <a:endParaRPr sz="1100">
              <a:latin typeface="Arial"/>
              <a:cs typeface="Arial"/>
            </a:endParaRPr>
          </a:p>
          <a:p>
            <a:pPr marL="287655" indent="-179705">
              <a:lnSpc>
                <a:spcPts val="1180"/>
              </a:lnSpc>
              <a:buClr>
                <a:srgbClr val="3333B2"/>
              </a:buClr>
              <a:buAutoNum type="romanLcParenBoth"/>
              <a:tabLst>
                <a:tab pos="287655" algn="l"/>
              </a:tabLst>
            </a:pP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car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(</a:t>
            </a:r>
            <a:r>
              <a:rPr dirty="0" sz="1000" i="1">
                <a:latin typeface="Arial"/>
                <a:cs typeface="Arial"/>
              </a:rPr>
              <a:t>C</a:t>
            </a:r>
            <a:r>
              <a:rPr dirty="0" sz="1000">
                <a:latin typeface="Arial"/>
                <a:cs typeface="Arial"/>
              </a:rPr>
              <a:t>)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which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has probability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 spc="70">
                <a:latin typeface="Arial"/>
                <a:cs typeface="Arial"/>
              </a:rPr>
              <a:t>1</a:t>
            </a:r>
            <a:r>
              <a:rPr dirty="0" sz="1000" spc="70" i="1">
                <a:latin typeface="Arial"/>
                <a:cs typeface="Arial"/>
              </a:rPr>
              <a:t>/</a:t>
            </a:r>
            <a:r>
              <a:rPr dirty="0" sz="1000" spc="70">
                <a:latin typeface="Arial"/>
                <a:cs typeface="Arial"/>
              </a:rPr>
              <a:t>3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 spc="-25">
                <a:latin typeface="Arial"/>
                <a:cs typeface="Arial"/>
              </a:rPr>
              <a:t>and</a:t>
            </a:r>
            <a:endParaRPr sz="1000">
              <a:latin typeface="Arial"/>
              <a:cs typeface="Arial"/>
            </a:endParaRPr>
          </a:p>
          <a:p>
            <a:pPr marL="288290" indent="-208279">
              <a:lnSpc>
                <a:spcPts val="1200"/>
              </a:lnSpc>
              <a:buClr>
                <a:srgbClr val="3333B2"/>
              </a:buClr>
              <a:buAutoNum type="romanLcParenBoth"/>
              <a:tabLst>
                <a:tab pos="288290" algn="l"/>
              </a:tabLst>
            </a:pPr>
            <a:r>
              <a:rPr dirty="0" sz="1000">
                <a:latin typeface="Arial"/>
                <a:cs typeface="Arial"/>
              </a:rPr>
              <a:t>a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goat(</a:t>
            </a:r>
            <a:r>
              <a:rPr dirty="0" sz="1000" i="1">
                <a:latin typeface="Arial"/>
                <a:cs typeface="Arial"/>
              </a:rPr>
              <a:t>G</a:t>
            </a:r>
            <a:r>
              <a:rPr dirty="0" sz="1000">
                <a:latin typeface="Arial"/>
                <a:cs typeface="Arial"/>
              </a:rPr>
              <a:t>)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which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has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probability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 spc="30">
                <a:latin typeface="Arial"/>
                <a:cs typeface="Arial"/>
              </a:rPr>
              <a:t>2</a:t>
            </a:r>
            <a:r>
              <a:rPr dirty="0" sz="1000" spc="30" i="1">
                <a:latin typeface="Arial"/>
                <a:cs typeface="Arial"/>
              </a:rPr>
              <a:t>/</a:t>
            </a:r>
            <a:r>
              <a:rPr dirty="0" sz="1000" spc="30">
                <a:latin typeface="Arial"/>
                <a:cs typeface="Arial"/>
              </a:rPr>
              <a:t>3.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1100">
                <a:latin typeface="Arial"/>
                <a:cs typeface="Arial"/>
              </a:rPr>
              <a:t>Hence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probability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eventual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(W):</a:t>
            </a:r>
            <a:endParaRPr sz="1100">
              <a:latin typeface="Arial"/>
              <a:cs typeface="Arial"/>
            </a:endParaRPr>
          </a:p>
          <a:p>
            <a:pPr marL="201930">
              <a:lnSpc>
                <a:spcPct val="100000"/>
              </a:lnSpc>
              <a:spcBef>
                <a:spcPts val="555"/>
              </a:spcBef>
            </a:pP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W</a:t>
            </a:r>
            <a:r>
              <a:rPr dirty="0" sz="1100" spc="-155" i="1">
                <a:latin typeface="Arial"/>
                <a:cs typeface="Arial"/>
              </a:rPr>
              <a:t> </a:t>
            </a:r>
            <a:r>
              <a:rPr dirty="0" sz="1100" spc="55">
                <a:latin typeface="Arial"/>
                <a:cs typeface="Arial"/>
              </a:rPr>
              <a:t>)</a:t>
            </a:r>
            <a:r>
              <a:rPr dirty="0" sz="1100" spc="220">
                <a:latin typeface="Arial"/>
                <a:cs typeface="Arial"/>
              </a:rPr>
              <a:t> 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220">
                <a:latin typeface="Arial"/>
                <a:cs typeface="Arial"/>
              </a:rPr>
              <a:t>  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W</a:t>
            </a:r>
            <a:r>
              <a:rPr dirty="0" sz="1100" spc="105" i="1">
                <a:latin typeface="Arial"/>
                <a:cs typeface="Arial"/>
              </a:rPr>
              <a:t> </a:t>
            </a:r>
            <a:r>
              <a:rPr dirty="0" sz="1100" spc="55" i="1">
                <a:latin typeface="Menlo"/>
                <a:cs typeface="Menlo"/>
              </a:rPr>
              <a:t>∩</a:t>
            </a:r>
            <a:r>
              <a:rPr dirty="0" sz="1100" spc="-405" i="1">
                <a:latin typeface="Menlo"/>
                <a:cs typeface="Menlo"/>
              </a:rPr>
              <a:t> </a:t>
            </a:r>
            <a:r>
              <a:rPr dirty="0" sz="1100" spc="50" i="1">
                <a:latin typeface="Arial"/>
                <a:cs typeface="Arial"/>
              </a:rPr>
              <a:t>C</a:t>
            </a:r>
            <a:r>
              <a:rPr dirty="0" sz="1100" spc="50">
                <a:latin typeface="Arial"/>
                <a:cs typeface="Arial"/>
              </a:rPr>
              <a:t>)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+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W</a:t>
            </a:r>
            <a:r>
              <a:rPr dirty="0" sz="1100" spc="110" i="1">
                <a:latin typeface="Arial"/>
                <a:cs typeface="Arial"/>
              </a:rPr>
              <a:t> </a:t>
            </a:r>
            <a:r>
              <a:rPr dirty="0" sz="1100" spc="55" i="1">
                <a:latin typeface="Menlo"/>
                <a:cs typeface="Menlo"/>
              </a:rPr>
              <a:t>∩</a:t>
            </a:r>
            <a:r>
              <a:rPr dirty="0" sz="1100" spc="-409" i="1">
                <a:latin typeface="Menlo"/>
                <a:cs typeface="Menlo"/>
              </a:rPr>
              <a:t> </a:t>
            </a:r>
            <a:r>
              <a:rPr dirty="0" sz="1100" i="1">
                <a:latin typeface="Arial"/>
                <a:cs typeface="Arial"/>
              </a:rPr>
              <a:t>G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spc="3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since</a:t>
            </a:r>
            <a:r>
              <a:rPr dirty="0" sz="1100" spc="1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C</a:t>
            </a:r>
            <a:r>
              <a:rPr dirty="0" sz="1100" spc="20" i="1">
                <a:latin typeface="Arial"/>
                <a:cs typeface="Arial"/>
              </a:rPr>
              <a:t> </a:t>
            </a:r>
            <a:r>
              <a:rPr dirty="0" sz="1100" spc="55" i="1">
                <a:latin typeface="Menlo"/>
                <a:cs typeface="Menlo"/>
              </a:rPr>
              <a:t>∪</a:t>
            </a:r>
            <a:r>
              <a:rPr dirty="0" sz="1100" spc="-405" i="1">
                <a:latin typeface="Menlo"/>
                <a:cs typeface="Menlo"/>
              </a:rPr>
              <a:t> </a:t>
            </a:r>
            <a:r>
              <a:rPr dirty="0" sz="1100" i="1">
                <a:latin typeface="Arial"/>
                <a:cs typeface="Arial"/>
              </a:rPr>
              <a:t>G</a:t>
            </a:r>
            <a:r>
              <a:rPr dirty="0" sz="1100" spc="40" i="1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10">
                <a:latin typeface="Arial"/>
                <a:cs typeface="Arial"/>
              </a:rPr>
              <a:t> </a:t>
            </a:r>
            <a:r>
              <a:rPr dirty="0" sz="1100" spc="-50" i="1">
                <a:latin typeface="Arial"/>
                <a:cs typeface="Arial"/>
              </a:rPr>
              <a:t>S</a:t>
            </a:r>
            <a:endParaRPr sz="1100">
              <a:latin typeface="Arial"/>
              <a:cs typeface="Arial"/>
            </a:endParaRPr>
          </a:p>
          <a:p>
            <a:pPr marL="688340">
              <a:lnSpc>
                <a:spcPct val="100000"/>
              </a:lnSpc>
              <a:spcBef>
                <a:spcPts val="35"/>
              </a:spcBef>
            </a:pP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265">
                <a:latin typeface="Arial"/>
                <a:cs typeface="Arial"/>
              </a:rPr>
              <a:t>  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W</a:t>
            </a:r>
            <a:r>
              <a:rPr dirty="0" sz="1100" i="1">
                <a:latin typeface="Menlo"/>
                <a:cs typeface="Menlo"/>
              </a:rPr>
              <a:t>|</a:t>
            </a:r>
            <a:r>
              <a:rPr dirty="0" sz="1100" i="1">
                <a:latin typeface="Arial"/>
                <a:cs typeface="Arial"/>
              </a:rPr>
              <a:t>C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C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+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P</a:t>
            </a:r>
            <a:r>
              <a:rPr dirty="0" sz="1100" spc="-10">
                <a:latin typeface="Arial"/>
                <a:cs typeface="Arial"/>
              </a:rPr>
              <a:t>(</a:t>
            </a:r>
            <a:r>
              <a:rPr dirty="0" sz="1100" spc="-10" i="1">
                <a:latin typeface="Arial"/>
                <a:cs typeface="Arial"/>
              </a:rPr>
              <a:t>W</a:t>
            </a:r>
            <a:r>
              <a:rPr dirty="0" sz="1100" spc="-10" i="1">
                <a:latin typeface="Menlo"/>
                <a:cs typeface="Menlo"/>
              </a:rPr>
              <a:t>|</a:t>
            </a:r>
            <a:r>
              <a:rPr dirty="0" sz="1100" spc="-10" i="1">
                <a:latin typeface="Arial"/>
                <a:cs typeface="Arial"/>
              </a:rPr>
              <a:t>G</a:t>
            </a:r>
            <a:r>
              <a:rPr dirty="0" sz="1100" spc="-10">
                <a:latin typeface="Arial"/>
                <a:cs typeface="Arial"/>
              </a:rPr>
              <a:t>)</a:t>
            </a:r>
            <a:r>
              <a:rPr dirty="0" sz="1100" spc="-10" i="1">
                <a:latin typeface="Arial"/>
                <a:cs typeface="Arial"/>
              </a:rPr>
              <a:t>P</a:t>
            </a:r>
            <a:r>
              <a:rPr dirty="0" sz="1100" spc="-10">
                <a:latin typeface="Arial"/>
                <a:cs typeface="Arial"/>
              </a:rPr>
              <a:t>(</a:t>
            </a:r>
            <a:r>
              <a:rPr dirty="0" sz="1100" spc="-10" i="1">
                <a:latin typeface="Arial"/>
                <a:cs typeface="Arial"/>
              </a:rPr>
              <a:t>G</a:t>
            </a:r>
            <a:r>
              <a:rPr dirty="0" sz="1100" spc="-10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155" y="943495"/>
            <a:ext cx="134416" cy="134416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461556" y="942942"/>
            <a:ext cx="679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98995" y="1493988"/>
            <a:ext cx="3631565" cy="7562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713740">
              <a:lnSpc>
                <a:spcPts val="1000"/>
              </a:lnSpc>
              <a:spcBef>
                <a:spcPts val="90"/>
              </a:spcBef>
            </a:pP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175">
                <a:latin typeface="Arial"/>
                <a:cs typeface="Arial"/>
              </a:rPr>
              <a:t>  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W</a:t>
            </a:r>
            <a:r>
              <a:rPr dirty="0" sz="1100" i="1">
                <a:latin typeface="Menlo"/>
                <a:cs typeface="Menlo"/>
              </a:rPr>
              <a:t>|</a:t>
            </a:r>
            <a:r>
              <a:rPr dirty="0" sz="1100" i="1">
                <a:latin typeface="Arial"/>
                <a:cs typeface="Arial"/>
              </a:rPr>
              <a:t>C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u="sng" baseline="31250" sz="120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dirty="0" baseline="31250" sz="1200" spc="195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+</a:t>
            </a:r>
            <a:r>
              <a:rPr dirty="0" sz="1100" spc="-7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W</a:t>
            </a:r>
            <a:r>
              <a:rPr dirty="0" sz="1100" i="1">
                <a:latin typeface="Menlo"/>
                <a:cs typeface="Menlo"/>
              </a:rPr>
              <a:t>|</a:t>
            </a:r>
            <a:r>
              <a:rPr dirty="0" sz="1100" i="1">
                <a:latin typeface="Arial"/>
                <a:cs typeface="Arial"/>
              </a:rPr>
              <a:t>G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u="sng" baseline="31250" sz="1200" spc="-75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</a:t>
            </a:r>
            <a:endParaRPr baseline="31250" sz="1200">
              <a:latin typeface="Arial"/>
              <a:cs typeface="Arial"/>
            </a:endParaRPr>
          </a:p>
          <a:p>
            <a:pPr marL="1492885">
              <a:lnSpc>
                <a:spcPts val="640"/>
              </a:lnSpc>
              <a:tabLst>
                <a:tab pos="2280285" algn="l"/>
              </a:tabLst>
            </a:pPr>
            <a:r>
              <a:rPr dirty="0" sz="800" spc="-50">
                <a:latin typeface="Arial"/>
                <a:cs typeface="Arial"/>
              </a:rPr>
              <a:t>3</a:t>
            </a:r>
            <a:r>
              <a:rPr dirty="0" sz="800">
                <a:latin typeface="Arial"/>
                <a:cs typeface="Arial"/>
              </a:rPr>
              <a:t>	</a:t>
            </a:r>
            <a:r>
              <a:rPr dirty="0" sz="800" spc="-50">
                <a:latin typeface="Arial"/>
                <a:cs typeface="Arial"/>
              </a:rPr>
              <a:t>3</a:t>
            </a:r>
            <a:endParaRPr sz="800">
              <a:latin typeface="Arial"/>
              <a:cs typeface="Arial"/>
            </a:endParaRPr>
          </a:p>
          <a:p>
            <a:pPr marL="38100" marR="30480">
              <a:lnSpc>
                <a:spcPct val="102600"/>
              </a:lnSpc>
              <a:spcBef>
                <a:spcPts val="65"/>
              </a:spcBef>
            </a:pP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two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probabilities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W</a:t>
            </a:r>
            <a:r>
              <a:rPr dirty="0" sz="1100" i="1">
                <a:latin typeface="Menlo"/>
                <a:cs typeface="Menlo"/>
              </a:rPr>
              <a:t>|</a:t>
            </a:r>
            <a:r>
              <a:rPr dirty="0" sz="1100" i="1">
                <a:latin typeface="Arial"/>
                <a:cs typeface="Arial"/>
              </a:rPr>
              <a:t>C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W</a:t>
            </a:r>
            <a:r>
              <a:rPr dirty="0" sz="1100" i="1">
                <a:latin typeface="Menlo"/>
                <a:cs typeface="Menlo"/>
              </a:rPr>
              <a:t>|</a:t>
            </a:r>
            <a:r>
              <a:rPr dirty="0" sz="1100" i="1">
                <a:latin typeface="Arial"/>
                <a:cs typeface="Arial"/>
              </a:rPr>
              <a:t>G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will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depend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on </a:t>
            </a:r>
            <a:r>
              <a:rPr dirty="0" sz="1100">
                <a:latin typeface="Arial"/>
                <a:cs typeface="Arial"/>
              </a:rPr>
              <a:t>their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strategy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after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initial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selection.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Three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possible </a:t>
            </a:r>
            <a:r>
              <a:rPr dirty="0" sz="1100">
                <a:latin typeface="Arial"/>
                <a:cs typeface="Arial"/>
              </a:rPr>
              <a:t>strategies:</a:t>
            </a:r>
            <a:r>
              <a:rPr dirty="0" sz="1100" spc="1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Stay,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Swap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Randomly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choose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again.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8155" y="1751177"/>
            <a:ext cx="134416" cy="13441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461556" y="1749925"/>
            <a:ext cx="679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637095" y="2427719"/>
            <a:ext cx="3272790" cy="0"/>
          </a:xfrm>
          <a:custGeom>
            <a:avLst/>
            <a:gdLst/>
            <a:ahLst/>
            <a:cxnLst/>
            <a:rect l="l" t="t" r="r" b="b"/>
            <a:pathLst>
              <a:path w="3272790" h="0">
                <a:moveTo>
                  <a:pt x="0" y="0"/>
                </a:moveTo>
                <a:lnTo>
                  <a:pt x="3272231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637095" y="2604859"/>
            <a:ext cx="3272790" cy="0"/>
          </a:xfrm>
          <a:custGeom>
            <a:avLst/>
            <a:gdLst/>
            <a:ahLst/>
            <a:cxnLst/>
            <a:rect l="l" t="t" r="r" b="b"/>
            <a:pathLst>
              <a:path w="3272790" h="0">
                <a:moveTo>
                  <a:pt x="0" y="0"/>
                </a:moveTo>
                <a:lnTo>
                  <a:pt x="3272231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700303" y="2383178"/>
            <a:ext cx="540385" cy="390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900"/>
              </a:lnSpc>
              <a:spcBef>
                <a:spcPts val="100"/>
              </a:spcBef>
            </a:pPr>
            <a:r>
              <a:rPr dirty="0" sz="1100" spc="-10">
                <a:latin typeface="Arial"/>
                <a:cs typeface="Arial"/>
              </a:rPr>
              <a:t>Strategy </a:t>
            </a:r>
            <a:r>
              <a:rPr dirty="0" sz="1100" spc="-20">
                <a:latin typeface="Arial"/>
                <a:cs typeface="Arial"/>
              </a:rPr>
              <a:t>Stay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350302" y="2383178"/>
            <a:ext cx="2534285" cy="390525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19"/>
              </a:spcBef>
              <a:tabLst>
                <a:tab pos="695960" algn="l"/>
                <a:tab pos="2167255" algn="l"/>
              </a:tabLst>
            </a:pPr>
            <a:r>
              <a:rPr dirty="0" sz="1100" spc="-10" i="1">
                <a:latin typeface="Arial"/>
                <a:cs typeface="Arial"/>
              </a:rPr>
              <a:t>P</a:t>
            </a:r>
            <a:r>
              <a:rPr dirty="0" sz="1100" spc="-10">
                <a:latin typeface="Arial"/>
                <a:cs typeface="Arial"/>
              </a:rPr>
              <a:t>(</a:t>
            </a:r>
            <a:r>
              <a:rPr dirty="0" sz="1100" spc="-10" i="1">
                <a:latin typeface="Arial"/>
                <a:cs typeface="Arial"/>
              </a:rPr>
              <a:t>W</a:t>
            </a:r>
            <a:r>
              <a:rPr dirty="0" sz="1100" spc="-10" i="1">
                <a:latin typeface="Menlo"/>
                <a:cs typeface="Menlo"/>
              </a:rPr>
              <a:t>|</a:t>
            </a:r>
            <a:r>
              <a:rPr dirty="0" sz="1100" spc="-10" i="1">
                <a:latin typeface="Arial"/>
                <a:cs typeface="Arial"/>
              </a:rPr>
              <a:t>C</a:t>
            </a:r>
            <a:r>
              <a:rPr dirty="0" sz="1100" spc="-10">
                <a:latin typeface="Arial"/>
                <a:cs typeface="Arial"/>
              </a:rPr>
              <a:t>)</a:t>
            </a:r>
            <a:r>
              <a:rPr dirty="0" sz="1100">
                <a:latin typeface="Arial"/>
                <a:cs typeface="Arial"/>
              </a:rPr>
              <a:t>	</a:t>
            </a:r>
            <a:r>
              <a:rPr dirty="0" sz="1100" spc="-10" i="1">
                <a:latin typeface="Arial"/>
                <a:cs typeface="Arial"/>
              </a:rPr>
              <a:t>P</a:t>
            </a:r>
            <a:r>
              <a:rPr dirty="0" sz="1100" spc="-10">
                <a:latin typeface="Arial"/>
                <a:cs typeface="Arial"/>
              </a:rPr>
              <a:t>(</a:t>
            </a:r>
            <a:r>
              <a:rPr dirty="0" sz="1100" spc="-10" i="1">
                <a:latin typeface="Arial"/>
                <a:cs typeface="Arial"/>
              </a:rPr>
              <a:t>W</a:t>
            </a:r>
            <a:r>
              <a:rPr dirty="0" sz="1100" spc="-10" i="1">
                <a:latin typeface="Menlo"/>
                <a:cs typeface="Menlo"/>
              </a:rPr>
              <a:t>|</a:t>
            </a:r>
            <a:r>
              <a:rPr dirty="0" sz="1100" spc="-10" i="1">
                <a:latin typeface="Arial"/>
                <a:cs typeface="Arial"/>
              </a:rPr>
              <a:t>G</a:t>
            </a:r>
            <a:r>
              <a:rPr dirty="0" sz="1100" spc="-10">
                <a:latin typeface="Arial"/>
                <a:cs typeface="Arial"/>
              </a:rPr>
              <a:t>)</a:t>
            </a:r>
            <a:r>
              <a:rPr dirty="0" sz="1100">
                <a:latin typeface="Arial"/>
                <a:cs typeface="Arial"/>
              </a:rPr>
              <a:t>	</a:t>
            </a:r>
            <a:r>
              <a:rPr dirty="0" sz="1100" spc="-20">
                <a:latin typeface="Arial"/>
                <a:cs typeface="Arial"/>
              </a:rPr>
              <a:t>P(W)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695960" algn="l"/>
                <a:tab pos="1376045" algn="l"/>
              </a:tabLst>
            </a:pPr>
            <a:r>
              <a:rPr dirty="0" sz="1100" spc="-50">
                <a:latin typeface="Arial"/>
                <a:cs typeface="Arial"/>
              </a:rPr>
              <a:t>1</a:t>
            </a:r>
            <a:r>
              <a:rPr dirty="0" sz="1100">
                <a:latin typeface="Arial"/>
                <a:cs typeface="Arial"/>
              </a:rPr>
              <a:t>	</a:t>
            </a:r>
            <a:r>
              <a:rPr dirty="0" sz="1100" spc="-50">
                <a:latin typeface="Arial"/>
                <a:cs typeface="Arial"/>
              </a:rPr>
              <a:t>0</a:t>
            </a:r>
            <a:r>
              <a:rPr dirty="0" sz="1100">
                <a:latin typeface="Arial"/>
                <a:cs typeface="Arial"/>
              </a:rPr>
              <a:t>	1</a:t>
            </a:r>
            <a:r>
              <a:rPr dirty="0" sz="1100" spc="-75">
                <a:latin typeface="Arial"/>
                <a:cs typeface="Arial"/>
              </a:rPr>
              <a:t> </a:t>
            </a:r>
            <a:r>
              <a:rPr dirty="0" sz="1100" spc="175" i="1">
                <a:latin typeface="Menlo"/>
                <a:cs typeface="Menlo"/>
              </a:rPr>
              <a:t>×</a:t>
            </a:r>
            <a:r>
              <a:rPr dirty="0" sz="1100" spc="-300" i="1">
                <a:latin typeface="Menlo"/>
                <a:cs typeface="Menlo"/>
              </a:rPr>
              <a:t> </a:t>
            </a:r>
            <a:r>
              <a:rPr dirty="0" u="sng" baseline="31250" sz="120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dirty="0" baseline="31250" sz="1200" spc="209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+</a:t>
            </a:r>
            <a:r>
              <a:rPr dirty="0" sz="1100" spc="-6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0</a:t>
            </a:r>
            <a:r>
              <a:rPr dirty="0" sz="1100" spc="-65">
                <a:latin typeface="Arial"/>
                <a:cs typeface="Arial"/>
              </a:rPr>
              <a:t> </a:t>
            </a:r>
            <a:r>
              <a:rPr dirty="0" sz="1100" spc="175" i="1">
                <a:latin typeface="Menlo"/>
                <a:cs typeface="Menlo"/>
              </a:rPr>
              <a:t>×</a:t>
            </a:r>
            <a:r>
              <a:rPr dirty="0" sz="1100" spc="-300" i="1">
                <a:latin typeface="Menlo"/>
                <a:cs typeface="Menlo"/>
              </a:rPr>
              <a:t> </a:t>
            </a:r>
            <a:r>
              <a:rPr dirty="0" u="sng" baseline="31250" sz="120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</a:t>
            </a:r>
            <a:r>
              <a:rPr dirty="0" baseline="31250" sz="1200" spc="292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114">
                <a:latin typeface="Arial"/>
                <a:cs typeface="Arial"/>
              </a:rPr>
              <a:t> </a:t>
            </a:r>
            <a:r>
              <a:rPr dirty="0" u="sng" baseline="31250" sz="1200" spc="-75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endParaRPr baseline="31250" sz="12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975533" y="2667100"/>
            <a:ext cx="85598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14984" algn="l"/>
                <a:tab pos="786130" algn="l"/>
              </a:tabLst>
            </a:pPr>
            <a:r>
              <a:rPr dirty="0" sz="800" spc="-50">
                <a:latin typeface="Arial"/>
                <a:cs typeface="Arial"/>
              </a:rPr>
              <a:t>3</a:t>
            </a:r>
            <a:r>
              <a:rPr dirty="0" sz="800">
                <a:latin typeface="Arial"/>
                <a:cs typeface="Arial"/>
              </a:rPr>
              <a:t>	</a:t>
            </a:r>
            <a:r>
              <a:rPr dirty="0" sz="800" spc="-50">
                <a:latin typeface="Arial"/>
                <a:cs typeface="Arial"/>
              </a:rPr>
              <a:t>3</a:t>
            </a:r>
            <a:r>
              <a:rPr dirty="0" sz="800">
                <a:latin typeface="Arial"/>
                <a:cs typeface="Arial"/>
              </a:rPr>
              <a:t>	</a:t>
            </a:r>
            <a:r>
              <a:rPr dirty="0" sz="800" spc="-50">
                <a:latin typeface="Arial"/>
                <a:cs typeface="Arial"/>
              </a:rPr>
              <a:t>3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975533" y="2845751"/>
            <a:ext cx="8191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Arial"/>
                <a:cs typeface="Arial"/>
              </a:rPr>
              <a:t>3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688652" y="2760648"/>
            <a:ext cx="11677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Arial"/>
                <a:cs typeface="Arial"/>
              </a:rPr>
              <a:t>0</a:t>
            </a:r>
            <a:r>
              <a:rPr dirty="0" sz="1100" spc="-75">
                <a:latin typeface="Arial"/>
                <a:cs typeface="Arial"/>
              </a:rPr>
              <a:t> </a:t>
            </a:r>
            <a:r>
              <a:rPr dirty="0" sz="1100" spc="175" i="1">
                <a:latin typeface="Menlo"/>
                <a:cs typeface="Menlo"/>
              </a:rPr>
              <a:t>×</a:t>
            </a:r>
            <a:r>
              <a:rPr dirty="0" sz="1100" spc="-300" i="1">
                <a:latin typeface="Menlo"/>
                <a:cs typeface="Menlo"/>
              </a:rPr>
              <a:t> </a:t>
            </a:r>
            <a:r>
              <a:rPr dirty="0" u="sng" baseline="31250" sz="120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dirty="0" baseline="31250" sz="1200" spc="209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+</a:t>
            </a:r>
            <a:r>
              <a:rPr dirty="0" sz="1100" spc="-6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1</a:t>
            </a:r>
            <a:r>
              <a:rPr dirty="0" sz="1100" spc="-65">
                <a:latin typeface="Arial"/>
                <a:cs typeface="Arial"/>
              </a:rPr>
              <a:t> </a:t>
            </a:r>
            <a:r>
              <a:rPr dirty="0" sz="1100" spc="175" i="1">
                <a:latin typeface="Menlo"/>
                <a:cs typeface="Menlo"/>
              </a:rPr>
              <a:t>×</a:t>
            </a:r>
            <a:r>
              <a:rPr dirty="0" sz="1100" spc="-300" i="1">
                <a:latin typeface="Menlo"/>
                <a:cs typeface="Menlo"/>
              </a:rPr>
              <a:t> </a:t>
            </a:r>
            <a:r>
              <a:rPr dirty="0" u="sng" baseline="31250" sz="120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</a:t>
            </a:r>
            <a:r>
              <a:rPr dirty="0" baseline="31250" sz="1200" spc="292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114">
                <a:latin typeface="Arial"/>
                <a:cs typeface="Arial"/>
              </a:rPr>
              <a:t> </a:t>
            </a:r>
            <a:r>
              <a:rPr dirty="0" u="sng" baseline="31250" sz="1200" spc="-7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</a:t>
            </a:r>
            <a:endParaRPr baseline="31250" sz="12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477882" y="2845751"/>
            <a:ext cx="35306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3845" algn="l"/>
              </a:tabLst>
            </a:pPr>
            <a:r>
              <a:rPr dirty="0" sz="800" spc="-50">
                <a:latin typeface="Arial"/>
                <a:cs typeface="Arial"/>
              </a:rPr>
              <a:t>3</a:t>
            </a:r>
            <a:r>
              <a:rPr dirty="0" sz="800">
                <a:latin typeface="Arial"/>
                <a:cs typeface="Arial"/>
              </a:rPr>
              <a:t>	</a:t>
            </a:r>
            <a:r>
              <a:rPr dirty="0" sz="800" spc="-50" b="1">
                <a:latin typeface="Arial"/>
                <a:cs typeface="Arial"/>
              </a:rPr>
              <a:t>3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700303" y="2749420"/>
            <a:ext cx="549275" cy="380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5900"/>
              </a:lnSpc>
              <a:spcBef>
                <a:spcPts val="100"/>
              </a:spcBef>
            </a:pPr>
            <a:r>
              <a:rPr dirty="0" sz="1100" spc="-20">
                <a:latin typeface="Arial"/>
                <a:cs typeface="Arial"/>
              </a:rPr>
              <a:t>Swap Random</a:t>
            </a:r>
            <a:endParaRPr sz="110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375702" y="2760648"/>
            <a:ext cx="102870" cy="3073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1295"/>
              </a:lnSpc>
              <a:spcBef>
                <a:spcPts val="90"/>
              </a:spcBef>
            </a:pPr>
            <a:r>
              <a:rPr dirty="0" sz="1100" spc="-50"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  <a:p>
            <a:pPr marL="27305">
              <a:lnSpc>
                <a:spcPts val="935"/>
              </a:lnSpc>
            </a:pPr>
            <a:r>
              <a:rPr dirty="0" u="sng" sz="800" spc="-5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2034070" y="2760648"/>
            <a:ext cx="102870" cy="3073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1295"/>
              </a:lnSpc>
              <a:spcBef>
                <a:spcPts val="90"/>
              </a:spcBef>
            </a:pPr>
            <a:r>
              <a:rPr dirty="0" sz="1100" spc="-50">
                <a:latin typeface="Arial"/>
                <a:cs typeface="Arial"/>
              </a:rPr>
              <a:t>1</a:t>
            </a:r>
            <a:endParaRPr sz="1100">
              <a:latin typeface="Arial"/>
              <a:cs typeface="Arial"/>
            </a:endParaRPr>
          </a:p>
          <a:p>
            <a:pPr marL="27305">
              <a:lnSpc>
                <a:spcPts val="935"/>
              </a:lnSpc>
            </a:pPr>
            <a:r>
              <a:rPr dirty="0" u="sng" sz="800" spc="-5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3234601" y="3054743"/>
            <a:ext cx="56515" cy="0"/>
          </a:xfrm>
          <a:custGeom>
            <a:avLst/>
            <a:gdLst/>
            <a:ahLst/>
            <a:cxnLst/>
            <a:rect l="l" t="t" r="r" b="b"/>
            <a:pathLst>
              <a:path w="56514" h="0">
                <a:moveTo>
                  <a:pt x="0" y="0"/>
                </a:moveTo>
                <a:lnTo>
                  <a:pt x="5627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2812199" y="2938131"/>
            <a:ext cx="9086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68605" algn="l"/>
                <a:tab pos="524510" algn="l"/>
                <a:tab pos="788035" algn="l"/>
              </a:tabLst>
            </a:pPr>
            <a:r>
              <a:rPr dirty="0" sz="1100" spc="125" i="1">
                <a:latin typeface="Menlo"/>
                <a:cs typeface="Menlo"/>
              </a:rPr>
              <a:t>×</a:t>
            </a:r>
            <a:r>
              <a:rPr dirty="0" sz="1100" i="1">
                <a:latin typeface="Menlo"/>
                <a:cs typeface="Menlo"/>
              </a:rPr>
              <a:t>	</a:t>
            </a:r>
            <a:r>
              <a:rPr dirty="0" sz="1100" spc="150">
                <a:latin typeface="Arial"/>
                <a:cs typeface="Arial"/>
              </a:rPr>
              <a:t>+</a:t>
            </a:r>
            <a:r>
              <a:rPr dirty="0" sz="1100">
                <a:latin typeface="Arial"/>
                <a:cs typeface="Arial"/>
              </a:rPr>
              <a:t>	</a:t>
            </a:r>
            <a:r>
              <a:rPr dirty="0" sz="1100" spc="125" i="1">
                <a:latin typeface="Menlo"/>
                <a:cs typeface="Menlo"/>
              </a:rPr>
              <a:t>×</a:t>
            </a:r>
            <a:r>
              <a:rPr dirty="0" sz="1100" i="1">
                <a:latin typeface="Menlo"/>
                <a:cs typeface="Menlo"/>
              </a:rPr>
              <a:t>	</a:t>
            </a:r>
            <a:r>
              <a:rPr dirty="0" sz="1100" spc="150">
                <a:latin typeface="Arial"/>
                <a:cs typeface="Arial"/>
              </a:rPr>
              <a:t>=</a:t>
            </a:r>
            <a:endParaRPr sz="1100">
              <a:latin typeface="Arial"/>
              <a:cs typeface="Aria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2709951" y="2920909"/>
            <a:ext cx="112141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8605" algn="l"/>
                <a:tab pos="524510" algn="l"/>
                <a:tab pos="780415" algn="l"/>
                <a:tab pos="1051560" algn="l"/>
              </a:tabLst>
            </a:pPr>
            <a:r>
              <a:rPr dirty="0" u="sng" sz="800" spc="-5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dirty="0" sz="800">
                <a:latin typeface="Arial"/>
                <a:cs typeface="Arial"/>
              </a:rPr>
              <a:t>	</a:t>
            </a:r>
            <a:r>
              <a:rPr dirty="0" u="sng" sz="800" spc="-5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dirty="0" sz="800">
                <a:latin typeface="Arial"/>
                <a:cs typeface="Arial"/>
              </a:rPr>
              <a:t>	</a:t>
            </a:r>
            <a:r>
              <a:rPr dirty="0" sz="800" spc="-50">
                <a:latin typeface="Arial"/>
                <a:cs typeface="Arial"/>
              </a:rPr>
              <a:t>1</a:t>
            </a:r>
            <a:r>
              <a:rPr dirty="0" sz="800">
                <a:latin typeface="Arial"/>
                <a:cs typeface="Arial"/>
              </a:rPr>
              <a:t>	</a:t>
            </a:r>
            <a:r>
              <a:rPr dirty="0" u="sng" sz="800" spc="-5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</a:t>
            </a:r>
            <a:r>
              <a:rPr dirty="0" sz="800">
                <a:latin typeface="Arial"/>
                <a:cs typeface="Arial"/>
              </a:rPr>
              <a:t>	</a:t>
            </a:r>
            <a:r>
              <a:rPr dirty="0" u="sng" sz="800" spc="-5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390878" y="3023233"/>
            <a:ext cx="244030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70560" algn="l"/>
                <a:tab pos="1331595" algn="l"/>
                <a:tab pos="1587500" algn="l"/>
                <a:tab pos="1843405" algn="l"/>
                <a:tab pos="2099310" algn="l"/>
                <a:tab pos="2370455" algn="l"/>
              </a:tabLst>
            </a:pPr>
            <a:r>
              <a:rPr dirty="0" sz="800" spc="-50">
                <a:latin typeface="Arial"/>
                <a:cs typeface="Arial"/>
              </a:rPr>
              <a:t>2</a:t>
            </a:r>
            <a:r>
              <a:rPr dirty="0" sz="800">
                <a:latin typeface="Arial"/>
                <a:cs typeface="Arial"/>
              </a:rPr>
              <a:t>	</a:t>
            </a:r>
            <a:r>
              <a:rPr dirty="0" sz="800" spc="-50">
                <a:latin typeface="Arial"/>
                <a:cs typeface="Arial"/>
              </a:rPr>
              <a:t>2</a:t>
            </a:r>
            <a:r>
              <a:rPr dirty="0" sz="800">
                <a:latin typeface="Arial"/>
                <a:cs typeface="Arial"/>
              </a:rPr>
              <a:t>	</a:t>
            </a:r>
            <a:r>
              <a:rPr dirty="0" sz="800" spc="-50">
                <a:latin typeface="Arial"/>
                <a:cs typeface="Arial"/>
              </a:rPr>
              <a:t>2</a:t>
            </a:r>
            <a:r>
              <a:rPr dirty="0" sz="800">
                <a:latin typeface="Arial"/>
                <a:cs typeface="Arial"/>
              </a:rPr>
              <a:t>	</a:t>
            </a:r>
            <a:r>
              <a:rPr dirty="0" sz="800" spc="-50">
                <a:latin typeface="Arial"/>
                <a:cs typeface="Arial"/>
              </a:rPr>
              <a:t>3</a:t>
            </a:r>
            <a:r>
              <a:rPr dirty="0" sz="800">
                <a:latin typeface="Arial"/>
                <a:cs typeface="Arial"/>
              </a:rPr>
              <a:t>	</a:t>
            </a:r>
            <a:r>
              <a:rPr dirty="0" sz="800" spc="-50">
                <a:latin typeface="Arial"/>
                <a:cs typeface="Arial"/>
              </a:rPr>
              <a:t>2</a:t>
            </a:r>
            <a:r>
              <a:rPr dirty="0" sz="800">
                <a:latin typeface="Arial"/>
                <a:cs typeface="Arial"/>
              </a:rPr>
              <a:t>	</a:t>
            </a:r>
            <a:r>
              <a:rPr dirty="0" sz="800" spc="-50">
                <a:latin typeface="Arial"/>
                <a:cs typeface="Arial"/>
              </a:rPr>
              <a:t>3</a:t>
            </a:r>
            <a:r>
              <a:rPr dirty="0" sz="800">
                <a:latin typeface="Arial"/>
                <a:cs typeface="Arial"/>
              </a:rPr>
              <a:t>	</a:t>
            </a:r>
            <a:r>
              <a:rPr dirty="0" sz="800" spc="-5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637095" y="3143529"/>
            <a:ext cx="3272790" cy="0"/>
          </a:xfrm>
          <a:custGeom>
            <a:avLst/>
            <a:gdLst/>
            <a:ahLst/>
            <a:cxnLst/>
            <a:rect l="l" t="t" r="r" b="b"/>
            <a:pathLst>
              <a:path w="3272790" h="0">
                <a:moveTo>
                  <a:pt x="0" y="0"/>
                </a:moveTo>
                <a:lnTo>
                  <a:pt x="3272231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7" name="object 2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8155" y="3152673"/>
            <a:ext cx="134416" cy="134416"/>
          </a:xfrm>
          <a:prstGeom prst="rect">
            <a:avLst/>
          </a:prstGeom>
        </p:spPr>
      </p:pic>
      <p:sp>
        <p:nvSpPr>
          <p:cNvPr id="28" name="object 28" descr=""/>
          <p:cNvSpPr txBox="1"/>
          <p:nvPr/>
        </p:nvSpPr>
        <p:spPr>
          <a:xfrm>
            <a:off x="461556" y="3152132"/>
            <a:ext cx="679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600">
              <a:latin typeface="Arial"/>
              <a:cs typeface="Arial"/>
            </a:endParaRPr>
          </a:p>
        </p:txBody>
      </p:sp>
      <p:sp>
        <p:nvSpPr>
          <p:cNvPr id="30" name="object 3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31" name="object 3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48</a:t>
            </a:fld>
          </a:p>
        </p:txBody>
      </p:sp>
      <p:sp>
        <p:nvSpPr>
          <p:cNvPr id="29" name="object 29" descr=""/>
          <p:cNvSpPr txBox="1"/>
          <p:nvPr/>
        </p:nvSpPr>
        <p:spPr>
          <a:xfrm>
            <a:off x="624395" y="3115740"/>
            <a:ext cx="33489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‘Swap’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strategy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maximises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chance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winning.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Interpretation</a:t>
            </a:r>
            <a:r>
              <a:rPr dirty="0" spc="125"/>
              <a:t> </a:t>
            </a:r>
            <a:r>
              <a:rPr dirty="0"/>
              <a:t>of</a:t>
            </a:r>
            <a:r>
              <a:rPr dirty="0" spc="125"/>
              <a:t> </a:t>
            </a:r>
            <a:r>
              <a:rPr dirty="0"/>
              <a:t>confidence</a:t>
            </a:r>
            <a:r>
              <a:rPr dirty="0" spc="125"/>
              <a:t> </a:t>
            </a:r>
            <a:r>
              <a:rPr dirty="0" spc="-10"/>
              <a:t>intervals.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530466"/>
            <a:ext cx="76809" cy="7680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24395" y="458570"/>
            <a:ext cx="3561715" cy="261175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1015">
              <a:lnSpc>
                <a:spcPct val="102600"/>
              </a:lnSpc>
              <a:spcBef>
                <a:spcPts val="55"/>
              </a:spcBef>
            </a:pPr>
            <a:r>
              <a:rPr dirty="0" sz="1100" spc="-10">
                <a:latin typeface="Arial"/>
                <a:cs typeface="Arial"/>
              </a:rPr>
              <a:t>Confidence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intervals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are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frequently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used,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but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also </a:t>
            </a:r>
            <a:r>
              <a:rPr dirty="0" sz="1100">
                <a:latin typeface="Arial"/>
                <a:cs typeface="Arial"/>
              </a:rPr>
              <a:t>frequently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misinterpreted.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100">
              <a:latin typeface="Arial"/>
              <a:cs typeface="Arial"/>
            </a:endParaRPr>
          </a:p>
          <a:p>
            <a:pPr marL="12700" marR="152400">
              <a:lnSpc>
                <a:spcPct val="102600"/>
              </a:lnSpc>
            </a:pP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100(1</a:t>
            </a:r>
            <a:r>
              <a:rPr dirty="0" sz="1100" spc="-75">
                <a:latin typeface="Arial"/>
                <a:cs typeface="Arial"/>
              </a:rPr>
              <a:t> </a:t>
            </a:r>
            <a:r>
              <a:rPr dirty="0" sz="1100" spc="175" i="1">
                <a:latin typeface="Menlo"/>
                <a:cs typeface="Menlo"/>
              </a:rPr>
              <a:t>−</a:t>
            </a:r>
            <a:r>
              <a:rPr dirty="0" sz="1100" spc="-420" i="1">
                <a:latin typeface="Menlo"/>
                <a:cs typeface="Menlo"/>
              </a:rPr>
              <a:t> </a:t>
            </a:r>
            <a:r>
              <a:rPr dirty="0" sz="1100" i="1">
                <a:latin typeface="Arial"/>
                <a:cs typeface="Arial"/>
              </a:rPr>
              <a:t>α</a:t>
            </a:r>
            <a:r>
              <a:rPr dirty="0" sz="1100">
                <a:latin typeface="Arial"/>
                <a:cs typeface="Arial"/>
              </a:rPr>
              <a:t>)%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confidence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interval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θ</a:t>
            </a:r>
            <a:r>
              <a:rPr dirty="0" sz="1100" spc="15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single </a:t>
            </a:r>
            <a:r>
              <a:rPr dirty="0" sz="1100">
                <a:latin typeface="Arial"/>
                <a:cs typeface="Arial"/>
              </a:rPr>
              <a:t>observation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random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interval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which,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under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repeated </a:t>
            </a:r>
            <a:r>
              <a:rPr dirty="0" sz="1100">
                <a:latin typeface="Arial"/>
                <a:cs typeface="Arial"/>
              </a:rPr>
              <a:t>sampling,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would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include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θ</a:t>
            </a:r>
            <a:r>
              <a:rPr dirty="0" sz="1100" spc="10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100(1</a:t>
            </a:r>
            <a:r>
              <a:rPr dirty="0" sz="1100" spc="-75">
                <a:latin typeface="Arial"/>
                <a:cs typeface="Arial"/>
              </a:rPr>
              <a:t> </a:t>
            </a:r>
            <a:r>
              <a:rPr dirty="0" sz="1100" spc="175" i="1">
                <a:latin typeface="Menlo"/>
                <a:cs typeface="Menlo"/>
              </a:rPr>
              <a:t>−</a:t>
            </a:r>
            <a:r>
              <a:rPr dirty="0" sz="1100" spc="-420" i="1">
                <a:latin typeface="Menlo"/>
                <a:cs typeface="Menlo"/>
              </a:rPr>
              <a:t> </a:t>
            </a:r>
            <a:r>
              <a:rPr dirty="0" sz="1100" i="1">
                <a:latin typeface="Arial"/>
                <a:cs typeface="Arial"/>
              </a:rPr>
              <a:t>α</a:t>
            </a:r>
            <a:r>
              <a:rPr dirty="0" sz="1100">
                <a:latin typeface="Arial"/>
                <a:cs typeface="Arial"/>
              </a:rPr>
              <a:t>)%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time.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</a:pP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following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example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from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National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Lottery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UK </a:t>
            </a:r>
            <a:r>
              <a:rPr dirty="0" sz="1100">
                <a:latin typeface="Arial"/>
                <a:cs typeface="Arial"/>
              </a:rPr>
              <a:t>clarifies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interpretation.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100">
              <a:latin typeface="Arial"/>
              <a:cs typeface="Arial"/>
            </a:endParaRPr>
          </a:p>
          <a:p>
            <a:pPr marL="12700" marR="48895">
              <a:lnSpc>
                <a:spcPct val="102600"/>
              </a:lnSpc>
            </a:pPr>
            <a:r>
              <a:rPr dirty="0" sz="1100">
                <a:latin typeface="Arial"/>
                <a:cs typeface="Arial"/>
              </a:rPr>
              <a:t>We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collected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6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chosen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lottery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numbers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(sampled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at </a:t>
            </a:r>
            <a:r>
              <a:rPr dirty="0" sz="1100">
                <a:latin typeface="Arial"/>
                <a:cs typeface="Arial"/>
              </a:rPr>
              <a:t>random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from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1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49)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20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weeks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constructed </a:t>
            </a:r>
            <a:r>
              <a:rPr dirty="0" sz="1100">
                <a:latin typeface="Arial"/>
                <a:cs typeface="Arial"/>
              </a:rPr>
              <a:t>95%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confidence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intervals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population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mean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µ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-25">
                <a:latin typeface="Arial"/>
                <a:cs typeface="Arial"/>
              </a:rPr>
              <a:t> 25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plotted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intervals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along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with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observed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sample </a:t>
            </a:r>
            <a:r>
              <a:rPr dirty="0" sz="1100">
                <a:latin typeface="Arial"/>
                <a:cs typeface="Arial"/>
              </a:rPr>
              <a:t>means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following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figure.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1050239"/>
            <a:ext cx="76809" cy="7680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1742084"/>
            <a:ext cx="76809" cy="7680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007" y="2261844"/>
            <a:ext cx="76809" cy="76809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48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Some</a:t>
            </a:r>
            <a:r>
              <a:rPr dirty="0" spc="114"/>
              <a:t> </a:t>
            </a:r>
            <a:r>
              <a:rPr dirty="0"/>
              <a:t>important</a:t>
            </a:r>
            <a:r>
              <a:rPr dirty="0" spc="120"/>
              <a:t> </a:t>
            </a:r>
            <a:r>
              <a:rPr dirty="0"/>
              <a:t>remarks</a:t>
            </a:r>
            <a:r>
              <a:rPr dirty="0" spc="120"/>
              <a:t> </a:t>
            </a:r>
            <a:r>
              <a:rPr dirty="0"/>
              <a:t>about</a:t>
            </a:r>
            <a:r>
              <a:rPr dirty="0" spc="120"/>
              <a:t> </a:t>
            </a:r>
            <a:r>
              <a:rPr dirty="0"/>
              <a:t>confidence</a:t>
            </a:r>
            <a:r>
              <a:rPr dirty="0" spc="114"/>
              <a:t> </a:t>
            </a:r>
            <a:r>
              <a:rPr dirty="0" spc="-10"/>
              <a:t>intervals.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91007" y="272468"/>
            <a:ext cx="3080385" cy="1908175"/>
            <a:chOff x="491007" y="272468"/>
            <a:chExt cx="3080385" cy="190817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6701" y="272468"/>
              <a:ext cx="2534571" cy="182869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1007" y="2103615"/>
              <a:ext cx="76809" cy="76809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624395" y="2031719"/>
            <a:ext cx="3618865" cy="127190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221615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Arial"/>
                <a:cs typeface="Arial"/>
              </a:rPr>
              <a:t>It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can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seen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exactly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one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out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20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(5%)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5">
                <a:latin typeface="Arial"/>
                <a:cs typeface="Arial"/>
              </a:rPr>
              <a:t> the </a:t>
            </a:r>
            <a:r>
              <a:rPr dirty="0" sz="1100">
                <a:latin typeface="Arial"/>
                <a:cs typeface="Arial"/>
              </a:rPr>
              <a:t>intervals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does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not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contain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true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population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mean</a:t>
            </a:r>
            <a:r>
              <a:rPr dirty="0" sz="1100" spc="-25">
                <a:latin typeface="Arial"/>
                <a:cs typeface="Arial"/>
              </a:rPr>
              <a:t> 25.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375"/>
              </a:spcBef>
            </a:pPr>
            <a:r>
              <a:rPr dirty="0" sz="1100" spc="-10">
                <a:latin typeface="Arial"/>
                <a:cs typeface="Arial"/>
              </a:rPr>
              <a:t>Although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this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coincidence,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explains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main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point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if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construct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random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intervals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with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100(1</a:t>
            </a:r>
            <a:r>
              <a:rPr dirty="0" sz="1100" spc="-75">
                <a:latin typeface="Arial"/>
                <a:cs typeface="Arial"/>
              </a:rPr>
              <a:t> </a:t>
            </a:r>
            <a:r>
              <a:rPr dirty="0" sz="1100" spc="175" i="1">
                <a:latin typeface="Menlo"/>
                <a:cs typeface="Menlo"/>
              </a:rPr>
              <a:t>−</a:t>
            </a:r>
            <a:r>
              <a:rPr dirty="0" sz="1100" spc="-420" i="1">
                <a:latin typeface="Menlo"/>
                <a:cs typeface="Menlo"/>
              </a:rPr>
              <a:t> </a:t>
            </a:r>
            <a:r>
              <a:rPr dirty="0" sz="1100" spc="-25" i="1">
                <a:latin typeface="Arial"/>
                <a:cs typeface="Arial"/>
              </a:rPr>
              <a:t>α</a:t>
            </a:r>
            <a:r>
              <a:rPr dirty="0" sz="1100" spc="-25">
                <a:latin typeface="Arial"/>
                <a:cs typeface="Arial"/>
              </a:rPr>
              <a:t>)% </a:t>
            </a:r>
            <a:r>
              <a:rPr dirty="0" sz="1100">
                <a:latin typeface="Arial"/>
                <a:cs typeface="Arial"/>
              </a:rPr>
              <a:t>confidence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levels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again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again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hypothetical </a:t>
            </a:r>
            <a:r>
              <a:rPr dirty="0" sz="1100">
                <a:latin typeface="Arial"/>
                <a:cs typeface="Arial"/>
              </a:rPr>
              <a:t>repetition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data,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on</a:t>
            </a:r>
            <a:r>
              <a:rPr dirty="0" sz="1100" spc="-10">
                <a:latin typeface="Arial"/>
                <a:cs typeface="Arial"/>
              </a:rPr>
              <a:t> average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100(1</a:t>
            </a:r>
            <a:r>
              <a:rPr dirty="0" sz="1100" spc="-70">
                <a:latin typeface="Arial"/>
                <a:cs typeface="Arial"/>
              </a:rPr>
              <a:t> </a:t>
            </a:r>
            <a:r>
              <a:rPr dirty="0" sz="1100" spc="175" i="1">
                <a:latin typeface="Menlo"/>
                <a:cs typeface="Menlo"/>
              </a:rPr>
              <a:t>−</a:t>
            </a:r>
            <a:r>
              <a:rPr dirty="0" sz="1100" spc="-420" i="1">
                <a:latin typeface="Menlo"/>
                <a:cs typeface="Menlo"/>
              </a:rPr>
              <a:t> </a:t>
            </a:r>
            <a:r>
              <a:rPr dirty="0" sz="1100" i="1">
                <a:latin typeface="Arial"/>
                <a:cs typeface="Arial"/>
              </a:rPr>
              <a:t>α</a:t>
            </a:r>
            <a:r>
              <a:rPr dirty="0" sz="1100">
                <a:latin typeface="Arial"/>
                <a:cs typeface="Arial"/>
              </a:rPr>
              <a:t>)%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them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will </a:t>
            </a:r>
            <a:r>
              <a:rPr dirty="0" sz="1100">
                <a:latin typeface="Arial"/>
                <a:cs typeface="Arial"/>
              </a:rPr>
              <a:t>contain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true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parameter.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2495296"/>
            <a:ext cx="76809" cy="76809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48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Some</a:t>
            </a:r>
            <a:r>
              <a:rPr dirty="0" spc="114"/>
              <a:t> </a:t>
            </a:r>
            <a:r>
              <a:rPr dirty="0"/>
              <a:t>important</a:t>
            </a:r>
            <a:r>
              <a:rPr dirty="0" spc="120"/>
              <a:t> </a:t>
            </a:r>
            <a:r>
              <a:rPr dirty="0"/>
              <a:t>remarks</a:t>
            </a:r>
            <a:r>
              <a:rPr dirty="0" spc="120"/>
              <a:t> </a:t>
            </a:r>
            <a:r>
              <a:rPr dirty="0"/>
              <a:t>about</a:t>
            </a:r>
            <a:r>
              <a:rPr dirty="0" spc="120"/>
              <a:t> </a:t>
            </a:r>
            <a:r>
              <a:rPr dirty="0"/>
              <a:t>confidence</a:t>
            </a:r>
            <a:r>
              <a:rPr dirty="0" spc="114"/>
              <a:t> </a:t>
            </a:r>
            <a:r>
              <a:rPr dirty="0" spc="-10"/>
              <a:t>intervals.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994232"/>
            <a:ext cx="76809" cy="7680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1548409"/>
            <a:ext cx="76809" cy="7680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1930514"/>
            <a:ext cx="76809" cy="7680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007" y="2656776"/>
            <a:ext cx="76809" cy="7680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439572" y="540218"/>
            <a:ext cx="3768090" cy="24085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solidFill>
                  <a:srgbClr val="3333B2"/>
                </a:solidFill>
                <a:latin typeface="Arial"/>
                <a:cs typeface="Arial"/>
              </a:rPr>
              <a:t>3.</a:t>
            </a:r>
            <a:r>
              <a:rPr dirty="0" sz="1100" spc="195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confidence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interval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not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probability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interval.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100">
              <a:latin typeface="Arial"/>
              <a:cs typeface="Arial"/>
            </a:endParaRPr>
          </a:p>
          <a:p>
            <a:pPr marL="197485">
              <a:lnSpc>
                <a:spcPct val="100000"/>
              </a:lnSpc>
              <a:spcBef>
                <a:spcPts val="5"/>
              </a:spcBef>
            </a:pPr>
            <a:r>
              <a:rPr dirty="0" sz="1100" spc="-65">
                <a:latin typeface="Arial"/>
                <a:cs typeface="Arial"/>
              </a:rPr>
              <a:t>You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should</a:t>
            </a:r>
            <a:r>
              <a:rPr dirty="0" sz="1100" spc="-7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avoid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making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statements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like</a:t>
            </a:r>
            <a:endParaRPr sz="1100">
              <a:latin typeface="Arial"/>
              <a:cs typeface="Arial"/>
            </a:endParaRPr>
          </a:p>
          <a:p>
            <a:pPr marL="197485">
              <a:lnSpc>
                <a:spcPct val="100000"/>
              </a:lnSpc>
              <a:spcBef>
                <a:spcPts val="35"/>
              </a:spcBef>
            </a:pP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(1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>
                <a:latin typeface="Arial"/>
                <a:cs typeface="Arial"/>
              </a:rPr>
              <a:t>3 </a:t>
            </a:r>
            <a:r>
              <a:rPr dirty="0" sz="1100" spc="200" i="1">
                <a:latin typeface="Arial"/>
                <a:cs typeface="Arial"/>
              </a:rPr>
              <a:t>&lt;</a:t>
            </a:r>
            <a:r>
              <a:rPr dirty="0" sz="1100" i="1">
                <a:latin typeface="Arial"/>
                <a:cs typeface="Arial"/>
              </a:rPr>
              <a:t> θ</a:t>
            </a:r>
            <a:r>
              <a:rPr dirty="0" sz="1100" spc="35" i="1">
                <a:latin typeface="Arial"/>
                <a:cs typeface="Arial"/>
              </a:rPr>
              <a:t> </a:t>
            </a:r>
            <a:r>
              <a:rPr dirty="0" sz="1100" spc="200" i="1">
                <a:latin typeface="Arial"/>
                <a:cs typeface="Arial"/>
              </a:rPr>
              <a:t>&lt;</a:t>
            </a:r>
            <a:r>
              <a:rPr dirty="0" sz="1100" spc="5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2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>
                <a:latin typeface="Arial"/>
                <a:cs typeface="Arial"/>
              </a:rPr>
              <a:t>2)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0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>
                <a:latin typeface="Arial"/>
                <a:cs typeface="Arial"/>
              </a:rPr>
              <a:t>95, </a:t>
            </a:r>
            <a:r>
              <a:rPr dirty="0" sz="1100" spc="-10">
                <a:latin typeface="Arial"/>
                <a:cs typeface="Arial"/>
              </a:rPr>
              <a:t>since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100">
              <a:latin typeface="Arial"/>
              <a:cs typeface="Arial"/>
            </a:endParaRPr>
          </a:p>
          <a:p>
            <a:pPr marL="197485">
              <a:lnSpc>
                <a:spcPct val="100000"/>
              </a:lnSpc>
            </a:pP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(1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>
                <a:latin typeface="Arial"/>
                <a:cs typeface="Arial"/>
              </a:rPr>
              <a:t>3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200" i="1">
                <a:latin typeface="Arial"/>
                <a:cs typeface="Arial"/>
              </a:rPr>
              <a:t>&lt;</a:t>
            </a:r>
            <a:r>
              <a:rPr dirty="0" sz="1100" i="1">
                <a:latin typeface="Arial"/>
                <a:cs typeface="Arial"/>
              </a:rPr>
              <a:t> θ</a:t>
            </a:r>
            <a:r>
              <a:rPr dirty="0" sz="1100" spc="30" i="1">
                <a:latin typeface="Arial"/>
                <a:cs typeface="Arial"/>
              </a:rPr>
              <a:t> </a:t>
            </a:r>
            <a:r>
              <a:rPr dirty="0" sz="1100" spc="200" i="1">
                <a:latin typeface="Arial"/>
                <a:cs typeface="Arial"/>
              </a:rPr>
              <a:t>&lt;</a:t>
            </a:r>
            <a:r>
              <a:rPr dirty="0" sz="1100" spc="-5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2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>
                <a:latin typeface="Arial"/>
                <a:cs typeface="Arial"/>
              </a:rPr>
              <a:t>2)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>
                <a:latin typeface="Arial"/>
                <a:cs typeface="Arial"/>
              </a:rPr>
              <a:t> either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0 or </a:t>
            </a:r>
            <a:r>
              <a:rPr dirty="0" sz="1100" spc="-25">
                <a:latin typeface="Arial"/>
                <a:cs typeface="Arial"/>
              </a:rPr>
              <a:t>1.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100">
              <a:latin typeface="Arial"/>
              <a:cs typeface="Arial"/>
            </a:endParaRPr>
          </a:p>
          <a:p>
            <a:pPr marL="197485" marR="5080">
              <a:lnSpc>
                <a:spcPct val="102600"/>
              </a:lnSpc>
            </a:pP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classical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approach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statistics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you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can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only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make </a:t>
            </a:r>
            <a:r>
              <a:rPr dirty="0" sz="1100" spc="-10">
                <a:latin typeface="Arial"/>
                <a:cs typeface="Arial"/>
              </a:rPr>
              <a:t>probability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statements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about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random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variables,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θ</a:t>
            </a:r>
            <a:r>
              <a:rPr dirty="0" sz="1100" spc="-15" i="1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here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assumed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constant.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100">
              <a:latin typeface="Arial"/>
              <a:cs typeface="Arial"/>
            </a:endParaRPr>
          </a:p>
          <a:p>
            <a:pPr marL="197485" marR="229870">
              <a:lnSpc>
                <a:spcPct val="102600"/>
              </a:lnSpc>
            </a:pPr>
            <a:r>
              <a:rPr dirty="0" sz="1100">
                <a:latin typeface="Arial"/>
                <a:cs typeface="Arial"/>
              </a:rPr>
              <a:t>But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such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statement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makes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perfect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sense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if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you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are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50">
                <a:latin typeface="Arial"/>
                <a:cs typeface="Arial"/>
              </a:rPr>
              <a:t>a </a:t>
            </a:r>
            <a:r>
              <a:rPr dirty="0" sz="1100" spc="-10">
                <a:latin typeface="Arial"/>
                <a:cs typeface="Arial"/>
              </a:rPr>
              <a:t>Bayesian.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48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Interpreting</a:t>
            </a:r>
            <a:r>
              <a:rPr dirty="0" spc="165"/>
              <a:t> </a:t>
            </a:r>
            <a:r>
              <a:rPr dirty="0"/>
              <a:t>Confidence</a:t>
            </a:r>
            <a:r>
              <a:rPr dirty="0" spc="165"/>
              <a:t> </a:t>
            </a:r>
            <a:r>
              <a:rPr dirty="0" spc="-10"/>
              <a:t>Intervals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623906" y="530423"/>
            <a:ext cx="881380" cy="995680"/>
            <a:chOff x="623906" y="530423"/>
            <a:chExt cx="881380" cy="995680"/>
          </a:xfrm>
        </p:grpSpPr>
        <p:sp>
          <p:nvSpPr>
            <p:cNvPr id="4" name="object 4" descr=""/>
            <p:cNvSpPr/>
            <p:nvPr/>
          </p:nvSpPr>
          <p:spPr>
            <a:xfrm>
              <a:off x="623906" y="533104"/>
              <a:ext cx="878205" cy="993140"/>
            </a:xfrm>
            <a:custGeom>
              <a:avLst/>
              <a:gdLst/>
              <a:ahLst/>
              <a:cxnLst/>
              <a:rect l="l" t="t" r="r" b="b"/>
              <a:pathLst>
                <a:path w="878205" h="993140">
                  <a:moveTo>
                    <a:pt x="108619" y="964975"/>
                  </a:moveTo>
                  <a:lnTo>
                    <a:pt x="868342" y="964975"/>
                  </a:lnTo>
                </a:path>
                <a:path w="878205" h="993140">
                  <a:moveTo>
                    <a:pt x="108619" y="964975"/>
                  </a:moveTo>
                  <a:lnTo>
                    <a:pt x="108619" y="992828"/>
                  </a:lnTo>
                </a:path>
                <a:path w="878205" h="993140">
                  <a:moveTo>
                    <a:pt x="217162" y="964975"/>
                  </a:moveTo>
                  <a:lnTo>
                    <a:pt x="217162" y="992828"/>
                  </a:lnTo>
                </a:path>
                <a:path w="878205" h="993140">
                  <a:moveTo>
                    <a:pt x="325705" y="964975"/>
                  </a:moveTo>
                  <a:lnTo>
                    <a:pt x="325705" y="992828"/>
                  </a:lnTo>
                </a:path>
                <a:path w="878205" h="993140">
                  <a:moveTo>
                    <a:pt x="434248" y="964975"/>
                  </a:moveTo>
                  <a:lnTo>
                    <a:pt x="434248" y="992828"/>
                  </a:lnTo>
                </a:path>
                <a:path w="878205" h="993140">
                  <a:moveTo>
                    <a:pt x="542791" y="964975"/>
                  </a:moveTo>
                  <a:lnTo>
                    <a:pt x="542791" y="992828"/>
                  </a:lnTo>
                </a:path>
                <a:path w="878205" h="993140">
                  <a:moveTo>
                    <a:pt x="651334" y="964975"/>
                  </a:moveTo>
                  <a:lnTo>
                    <a:pt x="651334" y="992828"/>
                  </a:lnTo>
                </a:path>
                <a:path w="878205" h="993140">
                  <a:moveTo>
                    <a:pt x="759799" y="964975"/>
                  </a:moveTo>
                  <a:lnTo>
                    <a:pt x="759799" y="992828"/>
                  </a:lnTo>
                </a:path>
                <a:path w="878205" h="993140">
                  <a:moveTo>
                    <a:pt x="868342" y="964975"/>
                  </a:moveTo>
                  <a:lnTo>
                    <a:pt x="868342" y="992828"/>
                  </a:lnTo>
                </a:path>
                <a:path w="878205" h="993140">
                  <a:moveTo>
                    <a:pt x="36720" y="780318"/>
                  </a:moveTo>
                  <a:lnTo>
                    <a:pt x="36720" y="35711"/>
                  </a:lnTo>
                </a:path>
                <a:path w="878205" h="993140">
                  <a:moveTo>
                    <a:pt x="36720" y="780318"/>
                  </a:moveTo>
                  <a:lnTo>
                    <a:pt x="0" y="780318"/>
                  </a:lnTo>
                </a:path>
                <a:path w="878205" h="993140">
                  <a:moveTo>
                    <a:pt x="36720" y="594137"/>
                  </a:moveTo>
                  <a:lnTo>
                    <a:pt x="0" y="594137"/>
                  </a:lnTo>
                </a:path>
                <a:path w="878205" h="993140">
                  <a:moveTo>
                    <a:pt x="36720" y="408015"/>
                  </a:moveTo>
                  <a:lnTo>
                    <a:pt x="0" y="408015"/>
                  </a:lnTo>
                </a:path>
                <a:path w="878205" h="993140">
                  <a:moveTo>
                    <a:pt x="36720" y="221892"/>
                  </a:moveTo>
                  <a:lnTo>
                    <a:pt x="0" y="221892"/>
                  </a:lnTo>
                </a:path>
                <a:path w="878205" h="993140">
                  <a:moveTo>
                    <a:pt x="36720" y="35711"/>
                  </a:moveTo>
                  <a:lnTo>
                    <a:pt x="0" y="35711"/>
                  </a:lnTo>
                </a:path>
                <a:path w="878205" h="993140">
                  <a:moveTo>
                    <a:pt x="36720" y="964975"/>
                  </a:moveTo>
                  <a:lnTo>
                    <a:pt x="878140" y="964975"/>
                  </a:lnTo>
                  <a:lnTo>
                    <a:pt x="878140" y="0"/>
                  </a:lnTo>
                  <a:lnTo>
                    <a:pt x="36720" y="0"/>
                  </a:lnTo>
                  <a:lnTo>
                    <a:pt x="36720" y="964975"/>
                  </a:lnTo>
                </a:path>
              </a:pathLst>
            </a:custGeom>
            <a:ln w="50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00337" y="568815"/>
              <a:ext cx="508000" cy="894080"/>
            </a:xfrm>
            <a:custGeom>
              <a:avLst/>
              <a:gdLst/>
              <a:ahLst/>
              <a:cxnLst/>
              <a:rect l="l" t="t" r="r" b="b"/>
              <a:pathLst>
                <a:path w="508000" h="894080">
                  <a:moveTo>
                    <a:pt x="168330" y="893493"/>
                  </a:moveTo>
                  <a:lnTo>
                    <a:pt x="437411" y="893493"/>
                  </a:lnTo>
                </a:path>
                <a:path w="508000" h="894080">
                  <a:moveTo>
                    <a:pt x="25689" y="856315"/>
                  </a:moveTo>
                  <a:lnTo>
                    <a:pt x="294770" y="856315"/>
                  </a:lnTo>
                </a:path>
                <a:path w="508000" h="894080">
                  <a:moveTo>
                    <a:pt x="66576" y="819079"/>
                  </a:moveTo>
                  <a:lnTo>
                    <a:pt x="335580" y="819079"/>
                  </a:lnTo>
                </a:path>
                <a:path w="508000" h="894080">
                  <a:moveTo>
                    <a:pt x="146960" y="781843"/>
                  </a:moveTo>
                  <a:lnTo>
                    <a:pt x="416042" y="781843"/>
                  </a:lnTo>
                </a:path>
                <a:path w="508000" h="894080">
                  <a:moveTo>
                    <a:pt x="45438" y="744607"/>
                  </a:moveTo>
                  <a:lnTo>
                    <a:pt x="314519" y="744607"/>
                  </a:lnTo>
                </a:path>
                <a:path w="508000" h="894080">
                  <a:moveTo>
                    <a:pt x="69121" y="707370"/>
                  </a:moveTo>
                  <a:lnTo>
                    <a:pt x="338203" y="707370"/>
                  </a:lnTo>
                </a:path>
                <a:path w="508000" h="894080">
                  <a:moveTo>
                    <a:pt x="22757" y="670134"/>
                  </a:moveTo>
                  <a:lnTo>
                    <a:pt x="291839" y="670134"/>
                  </a:lnTo>
                </a:path>
                <a:path w="508000" h="894080">
                  <a:moveTo>
                    <a:pt x="32555" y="632898"/>
                  </a:moveTo>
                  <a:lnTo>
                    <a:pt x="301636" y="632898"/>
                  </a:lnTo>
                </a:path>
                <a:path w="508000" h="894080">
                  <a:moveTo>
                    <a:pt x="0" y="595662"/>
                  </a:moveTo>
                  <a:lnTo>
                    <a:pt x="269004" y="595662"/>
                  </a:lnTo>
                </a:path>
                <a:path w="508000" h="894080">
                  <a:moveTo>
                    <a:pt x="122506" y="558425"/>
                  </a:moveTo>
                  <a:lnTo>
                    <a:pt x="391587" y="558425"/>
                  </a:lnTo>
                </a:path>
                <a:path w="508000" h="894080">
                  <a:moveTo>
                    <a:pt x="47444" y="521248"/>
                  </a:moveTo>
                  <a:lnTo>
                    <a:pt x="316525" y="521248"/>
                  </a:lnTo>
                </a:path>
                <a:path w="508000" h="894080">
                  <a:moveTo>
                    <a:pt x="21677" y="484012"/>
                  </a:moveTo>
                  <a:lnTo>
                    <a:pt x="290759" y="484012"/>
                  </a:lnTo>
                </a:path>
                <a:path w="508000" h="894080">
                  <a:moveTo>
                    <a:pt x="143103" y="446775"/>
                  </a:moveTo>
                  <a:lnTo>
                    <a:pt x="412185" y="446775"/>
                  </a:lnTo>
                </a:path>
                <a:path w="508000" h="894080">
                  <a:moveTo>
                    <a:pt x="170567" y="409539"/>
                  </a:moveTo>
                  <a:lnTo>
                    <a:pt x="439648" y="409539"/>
                  </a:lnTo>
                </a:path>
                <a:path w="508000" h="894080">
                  <a:moveTo>
                    <a:pt x="152129" y="372303"/>
                  </a:moveTo>
                  <a:lnTo>
                    <a:pt x="421211" y="372303"/>
                  </a:lnTo>
                </a:path>
                <a:path w="508000" h="894080">
                  <a:moveTo>
                    <a:pt x="143875" y="335067"/>
                  </a:moveTo>
                  <a:lnTo>
                    <a:pt x="412956" y="335067"/>
                  </a:lnTo>
                </a:path>
                <a:path w="508000" h="894080">
                  <a:moveTo>
                    <a:pt x="191936" y="297831"/>
                  </a:moveTo>
                  <a:lnTo>
                    <a:pt x="461017" y="297831"/>
                  </a:lnTo>
                </a:path>
                <a:path w="508000" h="894080">
                  <a:moveTo>
                    <a:pt x="47289" y="260594"/>
                  </a:moveTo>
                  <a:lnTo>
                    <a:pt x="316371" y="260594"/>
                  </a:lnTo>
                </a:path>
                <a:path w="508000" h="894080">
                  <a:moveTo>
                    <a:pt x="89256" y="223358"/>
                  </a:moveTo>
                  <a:lnTo>
                    <a:pt x="358337" y="223358"/>
                  </a:lnTo>
                </a:path>
                <a:path w="508000" h="894080">
                  <a:moveTo>
                    <a:pt x="133152" y="186181"/>
                  </a:moveTo>
                  <a:lnTo>
                    <a:pt x="402233" y="186181"/>
                  </a:lnTo>
                </a:path>
                <a:path w="508000" h="894080">
                  <a:moveTo>
                    <a:pt x="83933" y="148944"/>
                  </a:moveTo>
                  <a:lnTo>
                    <a:pt x="353014" y="148944"/>
                  </a:lnTo>
                </a:path>
                <a:path w="508000" h="894080">
                  <a:moveTo>
                    <a:pt x="177973" y="111708"/>
                  </a:moveTo>
                  <a:lnTo>
                    <a:pt x="447054" y="111708"/>
                  </a:lnTo>
                </a:path>
                <a:path w="508000" h="894080">
                  <a:moveTo>
                    <a:pt x="238686" y="74472"/>
                  </a:moveTo>
                  <a:lnTo>
                    <a:pt x="507767" y="74472"/>
                  </a:lnTo>
                </a:path>
                <a:path w="508000" h="894080">
                  <a:moveTo>
                    <a:pt x="38881" y="37236"/>
                  </a:moveTo>
                  <a:lnTo>
                    <a:pt x="307962" y="37236"/>
                  </a:lnTo>
                </a:path>
                <a:path w="508000" h="894080">
                  <a:moveTo>
                    <a:pt x="140866" y="0"/>
                  </a:moveTo>
                  <a:lnTo>
                    <a:pt x="409947" y="0"/>
                  </a:lnTo>
                </a:path>
              </a:pathLst>
            </a:custGeom>
            <a:ln w="50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155" y="533104"/>
              <a:ext cx="0" cy="965200"/>
            </a:xfrm>
            <a:custGeom>
              <a:avLst/>
              <a:gdLst/>
              <a:ahLst/>
              <a:cxnLst/>
              <a:rect l="l" t="t" r="r" b="b"/>
              <a:pathLst>
                <a:path w="0" h="965200">
                  <a:moveTo>
                    <a:pt x="0" y="964975"/>
                  </a:moveTo>
                  <a:lnTo>
                    <a:pt x="0" y="0"/>
                  </a:lnTo>
                </a:path>
              </a:pathLst>
            </a:custGeom>
            <a:ln w="57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58882" y="1538799"/>
            <a:ext cx="781050" cy="819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81355" algn="l"/>
              </a:tabLst>
            </a:pPr>
            <a:r>
              <a:rPr dirty="0" sz="350" spc="60">
                <a:latin typeface="Helvetica"/>
                <a:cs typeface="Helvetica"/>
              </a:rPr>
              <a:t>−1.5</a:t>
            </a:r>
            <a:r>
              <a:rPr dirty="0" sz="350" spc="290">
                <a:latin typeface="Helvetica"/>
                <a:cs typeface="Helvetica"/>
              </a:rPr>
              <a:t>  </a:t>
            </a:r>
            <a:r>
              <a:rPr dirty="0" sz="350" spc="60">
                <a:latin typeface="Helvetica"/>
                <a:cs typeface="Helvetica"/>
              </a:rPr>
              <a:t>−0.5</a:t>
            </a:r>
            <a:r>
              <a:rPr dirty="0" sz="350" spc="370">
                <a:latin typeface="Helvetica"/>
                <a:cs typeface="Helvetica"/>
              </a:rPr>
              <a:t>  </a:t>
            </a:r>
            <a:r>
              <a:rPr dirty="0" sz="350" spc="30">
                <a:latin typeface="Helvetica"/>
                <a:cs typeface="Helvetica"/>
              </a:rPr>
              <a:t>0.5</a:t>
            </a:r>
            <a:r>
              <a:rPr dirty="0" sz="350">
                <a:latin typeface="Helvetica"/>
                <a:cs typeface="Helvetica"/>
              </a:rPr>
              <a:t>	</a:t>
            </a:r>
            <a:r>
              <a:rPr dirty="0" sz="350" spc="30">
                <a:latin typeface="Helvetica"/>
                <a:cs typeface="Helvetica"/>
              </a:rPr>
              <a:t>1.5</a:t>
            </a:r>
            <a:endParaRPr sz="350">
              <a:latin typeface="Helvetica"/>
              <a:cs typeface="Helvetic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04035" y="902333"/>
            <a:ext cx="94615" cy="436880"/>
          </a:xfrm>
          <a:prstGeom prst="rect">
            <a:avLst/>
          </a:prstGeom>
        </p:spPr>
        <p:txBody>
          <a:bodyPr wrap="square" lIns="0" tIns="1143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85420" algn="l"/>
                <a:tab pos="371475" algn="l"/>
              </a:tabLst>
            </a:pPr>
            <a:r>
              <a:rPr dirty="0" sz="450" spc="-50">
                <a:latin typeface="Helvetica"/>
                <a:cs typeface="Helvetica"/>
              </a:rPr>
              <a:t>5</a:t>
            </a:r>
            <a:r>
              <a:rPr dirty="0" sz="450">
                <a:latin typeface="Helvetica"/>
                <a:cs typeface="Helvetica"/>
              </a:rPr>
              <a:t>	</a:t>
            </a:r>
            <a:r>
              <a:rPr dirty="0" sz="450" spc="-25">
                <a:latin typeface="Helvetica"/>
                <a:cs typeface="Helvetica"/>
              </a:rPr>
              <a:t>10</a:t>
            </a:r>
            <a:r>
              <a:rPr dirty="0" sz="450">
                <a:latin typeface="Helvetica"/>
                <a:cs typeface="Helvetica"/>
              </a:rPr>
              <a:t>	</a:t>
            </a:r>
            <a:r>
              <a:rPr dirty="0" sz="450" spc="-25">
                <a:latin typeface="Helvetica"/>
                <a:cs typeface="Helvetica"/>
              </a:rPr>
              <a:t>15</a:t>
            </a:r>
            <a:endParaRPr sz="450">
              <a:latin typeface="Helvetica"/>
              <a:cs typeface="Helvetic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04035" y="716152"/>
            <a:ext cx="94615" cy="78105"/>
          </a:xfrm>
          <a:prstGeom prst="rect">
            <a:avLst/>
          </a:prstGeom>
        </p:spPr>
        <p:txBody>
          <a:bodyPr wrap="square" lIns="0" tIns="1143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-25">
                <a:latin typeface="Helvetica"/>
                <a:cs typeface="Helvetica"/>
              </a:rPr>
              <a:t>20</a:t>
            </a:r>
            <a:endParaRPr sz="450">
              <a:latin typeface="Helvetica"/>
              <a:cs typeface="Helvetic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04035" y="530030"/>
            <a:ext cx="94615" cy="78105"/>
          </a:xfrm>
          <a:prstGeom prst="rect">
            <a:avLst/>
          </a:prstGeom>
        </p:spPr>
        <p:txBody>
          <a:bodyPr wrap="square" lIns="0" tIns="1143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-25">
                <a:latin typeface="Helvetica"/>
                <a:cs typeface="Helvetica"/>
              </a:rPr>
              <a:t>25</a:t>
            </a:r>
            <a:endParaRPr sz="450">
              <a:latin typeface="Helvetica"/>
              <a:cs typeface="Helvetic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88948" y="1650215"/>
            <a:ext cx="585470" cy="819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60">
                <a:latin typeface="Helvetica"/>
                <a:cs typeface="Helvetica"/>
              </a:rPr>
              <a:t>Confidence</a:t>
            </a:r>
            <a:r>
              <a:rPr dirty="0" sz="350" spc="80">
                <a:latin typeface="Helvetica"/>
                <a:cs typeface="Helvetica"/>
              </a:rPr>
              <a:t> </a:t>
            </a:r>
            <a:r>
              <a:rPr dirty="0" sz="350" spc="40">
                <a:latin typeface="Helvetica"/>
                <a:cs typeface="Helvetica"/>
              </a:rPr>
              <a:t>intervals</a:t>
            </a:r>
            <a:endParaRPr sz="350">
              <a:latin typeface="Helvetica"/>
              <a:cs typeface="Helvetic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57383" y="886796"/>
            <a:ext cx="94615" cy="257810"/>
          </a:xfrm>
          <a:prstGeom prst="rect">
            <a:avLst/>
          </a:prstGeom>
        </p:spPr>
        <p:txBody>
          <a:bodyPr wrap="square" lIns="0" tIns="1143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-40">
                <a:latin typeface="Helvetica"/>
                <a:cs typeface="Helvetica"/>
              </a:rPr>
              <a:t>Replication</a:t>
            </a:r>
            <a:endParaRPr sz="450">
              <a:latin typeface="Helvetica"/>
              <a:cs typeface="Helvetic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01043" y="368527"/>
            <a:ext cx="1157605" cy="958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50" spc="85" b="1">
                <a:latin typeface="Helvetica"/>
                <a:cs typeface="Helvetica"/>
              </a:rPr>
              <a:t>25</a:t>
            </a:r>
            <a:r>
              <a:rPr dirty="0" sz="450" spc="45" b="1">
                <a:latin typeface="Helvetica"/>
                <a:cs typeface="Helvetica"/>
              </a:rPr>
              <a:t> </a:t>
            </a:r>
            <a:r>
              <a:rPr dirty="0" sz="450" spc="55" b="1">
                <a:latin typeface="Helvetica"/>
                <a:cs typeface="Helvetica"/>
              </a:rPr>
              <a:t>CI's</a:t>
            </a:r>
            <a:r>
              <a:rPr dirty="0" sz="450" spc="45" b="1">
                <a:latin typeface="Helvetica"/>
                <a:cs typeface="Helvetica"/>
              </a:rPr>
              <a:t> </a:t>
            </a:r>
            <a:r>
              <a:rPr dirty="0" sz="450" spc="80" b="1">
                <a:latin typeface="Helvetica"/>
                <a:cs typeface="Helvetica"/>
              </a:rPr>
              <a:t>from</a:t>
            </a:r>
            <a:r>
              <a:rPr dirty="0" sz="450" spc="45" b="1">
                <a:latin typeface="Helvetica"/>
                <a:cs typeface="Helvetica"/>
              </a:rPr>
              <a:t> </a:t>
            </a:r>
            <a:r>
              <a:rPr dirty="0" sz="450" spc="90" b="1">
                <a:latin typeface="Helvetica"/>
                <a:cs typeface="Helvetica"/>
              </a:rPr>
              <a:t>samples</a:t>
            </a:r>
            <a:r>
              <a:rPr dirty="0" sz="450" spc="45" b="1">
                <a:latin typeface="Helvetica"/>
                <a:cs typeface="Helvetica"/>
              </a:rPr>
              <a:t> </a:t>
            </a:r>
            <a:r>
              <a:rPr dirty="0" sz="450" spc="70" b="1">
                <a:latin typeface="Helvetica"/>
                <a:cs typeface="Helvetica"/>
              </a:rPr>
              <a:t>of</a:t>
            </a:r>
            <a:r>
              <a:rPr dirty="0" sz="450" spc="45" b="1">
                <a:latin typeface="Helvetica"/>
                <a:cs typeface="Helvetica"/>
              </a:rPr>
              <a:t> </a:t>
            </a:r>
            <a:r>
              <a:rPr dirty="0" sz="450" spc="75" b="1">
                <a:latin typeface="Helvetica"/>
                <a:cs typeface="Helvetica"/>
              </a:rPr>
              <a:t>size</a:t>
            </a:r>
            <a:r>
              <a:rPr dirty="0" sz="450" spc="45" b="1">
                <a:latin typeface="Helvetica"/>
                <a:cs typeface="Helvetica"/>
              </a:rPr>
              <a:t> </a:t>
            </a:r>
            <a:r>
              <a:rPr dirty="0" sz="450" spc="60" b="1">
                <a:latin typeface="Helvetica"/>
                <a:cs typeface="Helvetica"/>
              </a:rPr>
              <a:t>10</a:t>
            </a:r>
            <a:endParaRPr sz="450">
              <a:latin typeface="Helvetica"/>
              <a:cs typeface="Helvetic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24760" y="898161"/>
            <a:ext cx="344805" cy="819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70">
                <a:solidFill>
                  <a:srgbClr val="9400D3"/>
                </a:solidFill>
                <a:latin typeface="Helvetica"/>
                <a:cs typeface="Helvetica"/>
              </a:rPr>
              <a:t>no</a:t>
            </a:r>
            <a:r>
              <a:rPr dirty="0" sz="350" spc="45">
                <a:solidFill>
                  <a:srgbClr val="9400D3"/>
                </a:solidFill>
                <a:latin typeface="Helvetica"/>
                <a:cs typeface="Helvetica"/>
              </a:rPr>
              <a:t> </a:t>
            </a:r>
            <a:r>
              <a:rPr dirty="0" sz="350" spc="50">
                <a:solidFill>
                  <a:srgbClr val="9400D3"/>
                </a:solidFill>
                <a:latin typeface="Helvetica"/>
                <a:cs typeface="Helvetica"/>
              </a:rPr>
              <a:t>failed=</a:t>
            </a:r>
            <a:r>
              <a:rPr dirty="0" sz="350" spc="45">
                <a:solidFill>
                  <a:srgbClr val="9400D3"/>
                </a:solidFill>
                <a:latin typeface="Helvetica"/>
                <a:cs typeface="Helvetica"/>
              </a:rPr>
              <a:t> </a:t>
            </a:r>
            <a:r>
              <a:rPr dirty="0" sz="350" spc="20">
                <a:solidFill>
                  <a:srgbClr val="9400D3"/>
                </a:solidFill>
                <a:latin typeface="Helvetica"/>
                <a:cs typeface="Helvetica"/>
              </a:rPr>
              <a:t>0</a:t>
            </a:r>
            <a:endParaRPr sz="350">
              <a:latin typeface="Helvetica"/>
              <a:cs typeface="Helvetic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1919940" y="530423"/>
            <a:ext cx="881380" cy="995680"/>
            <a:chOff x="1919940" y="530423"/>
            <a:chExt cx="881380" cy="995680"/>
          </a:xfrm>
        </p:grpSpPr>
        <p:sp>
          <p:nvSpPr>
            <p:cNvPr id="16" name="object 16" descr=""/>
            <p:cNvSpPr/>
            <p:nvPr/>
          </p:nvSpPr>
          <p:spPr>
            <a:xfrm>
              <a:off x="1919940" y="533104"/>
              <a:ext cx="878205" cy="993140"/>
            </a:xfrm>
            <a:custGeom>
              <a:avLst/>
              <a:gdLst/>
              <a:ahLst/>
              <a:cxnLst/>
              <a:rect l="l" t="t" r="r" b="b"/>
              <a:pathLst>
                <a:path w="878205" h="993140">
                  <a:moveTo>
                    <a:pt x="86865" y="964975"/>
                  </a:moveTo>
                  <a:lnTo>
                    <a:pt x="864485" y="964975"/>
                  </a:lnTo>
                </a:path>
                <a:path w="878205" h="993140">
                  <a:moveTo>
                    <a:pt x="86865" y="964975"/>
                  </a:moveTo>
                  <a:lnTo>
                    <a:pt x="86865" y="992828"/>
                  </a:lnTo>
                </a:path>
                <a:path w="878205" h="993140">
                  <a:moveTo>
                    <a:pt x="197953" y="964975"/>
                  </a:moveTo>
                  <a:lnTo>
                    <a:pt x="197953" y="992828"/>
                  </a:lnTo>
                </a:path>
                <a:path w="878205" h="993140">
                  <a:moveTo>
                    <a:pt x="309042" y="964975"/>
                  </a:moveTo>
                  <a:lnTo>
                    <a:pt x="309042" y="992828"/>
                  </a:lnTo>
                </a:path>
                <a:path w="878205" h="993140">
                  <a:moveTo>
                    <a:pt x="420131" y="964975"/>
                  </a:moveTo>
                  <a:lnTo>
                    <a:pt x="420131" y="992828"/>
                  </a:lnTo>
                </a:path>
                <a:path w="878205" h="993140">
                  <a:moveTo>
                    <a:pt x="531219" y="964975"/>
                  </a:moveTo>
                  <a:lnTo>
                    <a:pt x="531219" y="992828"/>
                  </a:lnTo>
                </a:path>
                <a:path w="878205" h="993140">
                  <a:moveTo>
                    <a:pt x="642308" y="964975"/>
                  </a:moveTo>
                  <a:lnTo>
                    <a:pt x="642308" y="992828"/>
                  </a:lnTo>
                </a:path>
                <a:path w="878205" h="993140">
                  <a:moveTo>
                    <a:pt x="753396" y="964975"/>
                  </a:moveTo>
                  <a:lnTo>
                    <a:pt x="753396" y="992828"/>
                  </a:lnTo>
                </a:path>
                <a:path w="878205" h="993140">
                  <a:moveTo>
                    <a:pt x="864485" y="964975"/>
                  </a:moveTo>
                  <a:lnTo>
                    <a:pt x="864485" y="992828"/>
                  </a:lnTo>
                </a:path>
                <a:path w="878205" h="993140">
                  <a:moveTo>
                    <a:pt x="36720" y="941284"/>
                  </a:moveTo>
                  <a:lnTo>
                    <a:pt x="36720" y="216849"/>
                  </a:lnTo>
                </a:path>
                <a:path w="878205" h="993140">
                  <a:moveTo>
                    <a:pt x="36720" y="941284"/>
                  </a:moveTo>
                  <a:lnTo>
                    <a:pt x="0" y="941284"/>
                  </a:lnTo>
                </a:path>
                <a:path w="878205" h="993140">
                  <a:moveTo>
                    <a:pt x="36720" y="699806"/>
                  </a:moveTo>
                  <a:lnTo>
                    <a:pt x="0" y="699806"/>
                  </a:lnTo>
                </a:path>
                <a:path w="878205" h="993140">
                  <a:moveTo>
                    <a:pt x="36720" y="458327"/>
                  </a:moveTo>
                  <a:lnTo>
                    <a:pt x="0" y="458327"/>
                  </a:lnTo>
                </a:path>
                <a:path w="878205" h="993140">
                  <a:moveTo>
                    <a:pt x="36720" y="216849"/>
                  </a:moveTo>
                  <a:lnTo>
                    <a:pt x="0" y="216849"/>
                  </a:lnTo>
                </a:path>
                <a:path w="878205" h="993140">
                  <a:moveTo>
                    <a:pt x="36720" y="964975"/>
                  </a:moveTo>
                  <a:lnTo>
                    <a:pt x="878140" y="964975"/>
                  </a:lnTo>
                  <a:lnTo>
                    <a:pt x="878140" y="0"/>
                  </a:lnTo>
                  <a:lnTo>
                    <a:pt x="36720" y="0"/>
                  </a:lnTo>
                  <a:lnTo>
                    <a:pt x="36720" y="964975"/>
                  </a:lnTo>
                </a:path>
              </a:pathLst>
            </a:custGeom>
            <a:ln w="50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151066" y="568815"/>
              <a:ext cx="381635" cy="894080"/>
            </a:xfrm>
            <a:custGeom>
              <a:avLst/>
              <a:gdLst/>
              <a:ahLst/>
              <a:cxnLst/>
              <a:rect l="l" t="t" r="r" b="b"/>
              <a:pathLst>
                <a:path w="381635" h="894080">
                  <a:moveTo>
                    <a:pt x="71821" y="893493"/>
                  </a:moveTo>
                  <a:lnTo>
                    <a:pt x="266612" y="893493"/>
                  </a:lnTo>
                </a:path>
                <a:path w="381635" h="894080">
                  <a:moveTo>
                    <a:pt x="75987" y="881472"/>
                  </a:moveTo>
                  <a:lnTo>
                    <a:pt x="270701" y="881472"/>
                  </a:lnTo>
                </a:path>
                <a:path w="381635" h="894080">
                  <a:moveTo>
                    <a:pt x="20520" y="869392"/>
                  </a:moveTo>
                  <a:lnTo>
                    <a:pt x="215234" y="869392"/>
                  </a:lnTo>
                </a:path>
                <a:path w="381635" h="894080">
                  <a:moveTo>
                    <a:pt x="119805" y="857312"/>
                  </a:moveTo>
                  <a:lnTo>
                    <a:pt x="314519" y="857312"/>
                  </a:lnTo>
                </a:path>
                <a:path w="381635" h="894080">
                  <a:moveTo>
                    <a:pt x="186613" y="845232"/>
                  </a:moveTo>
                  <a:lnTo>
                    <a:pt x="381327" y="845232"/>
                  </a:lnTo>
                </a:path>
                <a:path w="381635" h="894080">
                  <a:moveTo>
                    <a:pt x="27077" y="821073"/>
                  </a:moveTo>
                  <a:lnTo>
                    <a:pt x="221791" y="821073"/>
                  </a:lnTo>
                </a:path>
                <a:path w="381635" h="894080">
                  <a:moveTo>
                    <a:pt x="88022" y="808993"/>
                  </a:moveTo>
                  <a:lnTo>
                    <a:pt x="282813" y="808993"/>
                  </a:lnTo>
                </a:path>
                <a:path w="381635" h="894080">
                  <a:moveTo>
                    <a:pt x="89333" y="796913"/>
                  </a:moveTo>
                  <a:lnTo>
                    <a:pt x="284047" y="796913"/>
                  </a:lnTo>
                </a:path>
                <a:path w="381635" h="894080">
                  <a:moveTo>
                    <a:pt x="168870" y="784833"/>
                  </a:moveTo>
                  <a:lnTo>
                    <a:pt x="363583" y="784833"/>
                  </a:lnTo>
                </a:path>
                <a:path w="381635" h="894080">
                  <a:moveTo>
                    <a:pt x="124048" y="760674"/>
                  </a:moveTo>
                  <a:lnTo>
                    <a:pt x="318762" y="760674"/>
                  </a:lnTo>
                </a:path>
                <a:path w="381635" h="894080">
                  <a:moveTo>
                    <a:pt x="103605" y="736573"/>
                  </a:moveTo>
                  <a:lnTo>
                    <a:pt x="298319" y="736573"/>
                  </a:lnTo>
                </a:path>
                <a:path w="381635" h="894080">
                  <a:moveTo>
                    <a:pt x="69893" y="724493"/>
                  </a:moveTo>
                  <a:lnTo>
                    <a:pt x="264606" y="724493"/>
                  </a:lnTo>
                </a:path>
                <a:path w="381635" h="894080">
                  <a:moveTo>
                    <a:pt x="64647" y="712413"/>
                  </a:moveTo>
                  <a:lnTo>
                    <a:pt x="259361" y="712413"/>
                  </a:lnTo>
                </a:path>
                <a:path w="381635" h="894080">
                  <a:moveTo>
                    <a:pt x="617" y="700334"/>
                  </a:moveTo>
                  <a:lnTo>
                    <a:pt x="195407" y="700334"/>
                  </a:lnTo>
                </a:path>
                <a:path w="381635" h="894080">
                  <a:moveTo>
                    <a:pt x="87868" y="688254"/>
                  </a:moveTo>
                  <a:lnTo>
                    <a:pt x="282581" y="688254"/>
                  </a:lnTo>
                </a:path>
                <a:path w="381635" h="894080">
                  <a:moveTo>
                    <a:pt x="94193" y="676174"/>
                  </a:moveTo>
                  <a:lnTo>
                    <a:pt x="288907" y="676174"/>
                  </a:lnTo>
                </a:path>
                <a:path w="381635" h="894080">
                  <a:moveTo>
                    <a:pt x="87713" y="664094"/>
                  </a:moveTo>
                  <a:lnTo>
                    <a:pt x="282427" y="664094"/>
                  </a:lnTo>
                </a:path>
                <a:path w="381635" h="894080">
                  <a:moveTo>
                    <a:pt x="119497" y="652014"/>
                  </a:moveTo>
                  <a:lnTo>
                    <a:pt x="314288" y="652014"/>
                  </a:lnTo>
                </a:path>
                <a:path w="381635" h="894080">
                  <a:moveTo>
                    <a:pt x="70741" y="639935"/>
                  </a:moveTo>
                  <a:lnTo>
                    <a:pt x="265532" y="639935"/>
                  </a:lnTo>
                </a:path>
                <a:path w="381635" h="894080">
                  <a:moveTo>
                    <a:pt x="0" y="627855"/>
                  </a:moveTo>
                  <a:lnTo>
                    <a:pt x="194790" y="627855"/>
                  </a:lnTo>
                </a:path>
                <a:path w="381635" h="894080">
                  <a:moveTo>
                    <a:pt x="59401" y="615834"/>
                  </a:moveTo>
                  <a:lnTo>
                    <a:pt x="254115" y="615834"/>
                  </a:lnTo>
                </a:path>
                <a:path w="381635" h="894080">
                  <a:moveTo>
                    <a:pt x="105765" y="603754"/>
                  </a:moveTo>
                  <a:lnTo>
                    <a:pt x="300479" y="603754"/>
                  </a:lnTo>
                </a:path>
                <a:path w="381635" h="894080">
                  <a:moveTo>
                    <a:pt x="161001" y="591674"/>
                  </a:moveTo>
                  <a:lnTo>
                    <a:pt x="355792" y="591674"/>
                  </a:lnTo>
                </a:path>
                <a:path w="381635" h="894080">
                  <a:moveTo>
                    <a:pt x="8794" y="579594"/>
                  </a:moveTo>
                  <a:lnTo>
                    <a:pt x="203508" y="579594"/>
                  </a:lnTo>
                </a:path>
                <a:path w="381635" h="894080">
                  <a:moveTo>
                    <a:pt x="100365" y="555435"/>
                  </a:moveTo>
                  <a:lnTo>
                    <a:pt x="295079" y="555435"/>
                  </a:lnTo>
                </a:path>
                <a:path w="381635" h="894080">
                  <a:moveTo>
                    <a:pt x="81773" y="543355"/>
                  </a:moveTo>
                  <a:lnTo>
                    <a:pt x="276487" y="543355"/>
                  </a:lnTo>
                </a:path>
                <a:path w="381635" h="894080">
                  <a:moveTo>
                    <a:pt x="170104" y="531275"/>
                  </a:moveTo>
                  <a:lnTo>
                    <a:pt x="364818" y="531275"/>
                  </a:lnTo>
                </a:path>
                <a:path w="381635" h="894080">
                  <a:moveTo>
                    <a:pt x="29855" y="519195"/>
                  </a:moveTo>
                  <a:lnTo>
                    <a:pt x="224568" y="519195"/>
                  </a:lnTo>
                </a:path>
                <a:path w="381635" h="894080">
                  <a:moveTo>
                    <a:pt x="138089" y="507116"/>
                  </a:moveTo>
                  <a:lnTo>
                    <a:pt x="332880" y="507116"/>
                  </a:lnTo>
                </a:path>
                <a:path w="381635" h="894080">
                  <a:moveTo>
                    <a:pt x="73750" y="495036"/>
                  </a:moveTo>
                  <a:lnTo>
                    <a:pt x="268541" y="495036"/>
                  </a:lnTo>
                </a:path>
                <a:path w="381635" h="894080">
                  <a:moveTo>
                    <a:pt x="164550" y="483015"/>
                  </a:moveTo>
                  <a:lnTo>
                    <a:pt x="359340" y="483015"/>
                  </a:lnTo>
                </a:path>
                <a:path w="381635" h="894080">
                  <a:moveTo>
                    <a:pt x="53615" y="470935"/>
                  </a:moveTo>
                  <a:lnTo>
                    <a:pt x="248329" y="470935"/>
                  </a:lnTo>
                </a:path>
                <a:path w="381635" h="894080">
                  <a:moveTo>
                    <a:pt x="39189" y="458855"/>
                  </a:moveTo>
                  <a:lnTo>
                    <a:pt x="233903" y="458855"/>
                  </a:lnTo>
                </a:path>
                <a:path w="381635" h="894080">
                  <a:moveTo>
                    <a:pt x="163161" y="446775"/>
                  </a:moveTo>
                  <a:lnTo>
                    <a:pt x="357875" y="446775"/>
                  </a:lnTo>
                </a:path>
                <a:path w="381635" h="894080">
                  <a:moveTo>
                    <a:pt x="146035" y="434696"/>
                  </a:moveTo>
                  <a:lnTo>
                    <a:pt x="340748" y="434696"/>
                  </a:lnTo>
                </a:path>
                <a:path w="381635" h="894080">
                  <a:moveTo>
                    <a:pt x="21754" y="422616"/>
                  </a:moveTo>
                  <a:lnTo>
                    <a:pt x="216545" y="422616"/>
                  </a:lnTo>
                </a:path>
                <a:path w="381635" h="894080">
                  <a:moveTo>
                    <a:pt x="134849" y="410536"/>
                  </a:moveTo>
                  <a:lnTo>
                    <a:pt x="329562" y="410536"/>
                  </a:lnTo>
                </a:path>
                <a:path w="381635" h="894080">
                  <a:moveTo>
                    <a:pt x="113094" y="386377"/>
                  </a:moveTo>
                  <a:lnTo>
                    <a:pt x="307808" y="386377"/>
                  </a:lnTo>
                </a:path>
                <a:path w="381635" h="894080">
                  <a:moveTo>
                    <a:pt x="129757" y="374297"/>
                  </a:moveTo>
                  <a:lnTo>
                    <a:pt x="324471" y="374297"/>
                  </a:lnTo>
                </a:path>
                <a:path w="381635" h="894080">
                  <a:moveTo>
                    <a:pt x="152052" y="362217"/>
                  </a:moveTo>
                  <a:lnTo>
                    <a:pt x="346843" y="362217"/>
                  </a:lnTo>
                </a:path>
                <a:path w="381635" h="894080">
                  <a:moveTo>
                    <a:pt x="119188" y="350196"/>
                  </a:moveTo>
                  <a:lnTo>
                    <a:pt x="313979" y="350196"/>
                  </a:lnTo>
                </a:path>
                <a:path w="381635" h="894080">
                  <a:moveTo>
                    <a:pt x="54387" y="338116"/>
                  </a:moveTo>
                  <a:lnTo>
                    <a:pt x="249177" y="338116"/>
                  </a:lnTo>
                </a:path>
                <a:path w="381635" h="894080">
                  <a:moveTo>
                    <a:pt x="128060" y="326036"/>
                  </a:moveTo>
                  <a:lnTo>
                    <a:pt x="322774" y="326036"/>
                  </a:lnTo>
                </a:path>
                <a:path w="381635" h="894080">
                  <a:moveTo>
                    <a:pt x="85322" y="313957"/>
                  </a:moveTo>
                  <a:lnTo>
                    <a:pt x="280035" y="313957"/>
                  </a:lnTo>
                </a:path>
                <a:path w="381635" h="894080">
                  <a:moveTo>
                    <a:pt x="89025" y="301877"/>
                  </a:moveTo>
                  <a:lnTo>
                    <a:pt x="283738" y="301877"/>
                  </a:lnTo>
                </a:path>
                <a:path w="381635" h="894080">
                  <a:moveTo>
                    <a:pt x="81619" y="289797"/>
                  </a:moveTo>
                  <a:lnTo>
                    <a:pt x="276332" y="289797"/>
                  </a:lnTo>
                </a:path>
                <a:path w="381635" h="894080">
                  <a:moveTo>
                    <a:pt x="141560" y="277717"/>
                  </a:moveTo>
                  <a:lnTo>
                    <a:pt x="336274" y="277717"/>
                  </a:lnTo>
                </a:path>
                <a:path w="381635" h="894080">
                  <a:moveTo>
                    <a:pt x="23374" y="265637"/>
                  </a:moveTo>
                  <a:lnTo>
                    <a:pt x="218165" y="265637"/>
                  </a:lnTo>
                </a:path>
                <a:path w="381635" h="894080">
                  <a:moveTo>
                    <a:pt x="40809" y="253558"/>
                  </a:moveTo>
                  <a:lnTo>
                    <a:pt x="235600" y="253558"/>
                  </a:lnTo>
                </a:path>
                <a:path w="381635" h="894080">
                  <a:moveTo>
                    <a:pt x="53075" y="241478"/>
                  </a:moveTo>
                  <a:lnTo>
                    <a:pt x="247866" y="241478"/>
                  </a:lnTo>
                </a:path>
                <a:path w="381635" h="894080">
                  <a:moveTo>
                    <a:pt x="73210" y="229398"/>
                  </a:moveTo>
                  <a:lnTo>
                    <a:pt x="267924" y="229398"/>
                  </a:lnTo>
                </a:path>
                <a:path w="381635" h="894080">
                  <a:moveTo>
                    <a:pt x="132766" y="217377"/>
                  </a:moveTo>
                  <a:lnTo>
                    <a:pt x="327557" y="217377"/>
                  </a:lnTo>
                </a:path>
                <a:path w="381635" h="894080">
                  <a:moveTo>
                    <a:pt x="84242" y="205297"/>
                  </a:moveTo>
                  <a:lnTo>
                    <a:pt x="278955" y="205297"/>
                  </a:lnTo>
                </a:path>
                <a:path w="381635" h="894080">
                  <a:moveTo>
                    <a:pt x="124666" y="193217"/>
                  </a:moveTo>
                  <a:lnTo>
                    <a:pt x="319379" y="193217"/>
                  </a:lnTo>
                </a:path>
                <a:path w="381635" h="894080">
                  <a:moveTo>
                    <a:pt x="101445" y="181138"/>
                  </a:moveTo>
                  <a:lnTo>
                    <a:pt x="296159" y="181138"/>
                  </a:lnTo>
                </a:path>
                <a:path w="381635" h="894080">
                  <a:moveTo>
                    <a:pt x="111782" y="169058"/>
                  </a:moveTo>
                  <a:lnTo>
                    <a:pt x="306573" y="169058"/>
                  </a:lnTo>
                </a:path>
                <a:path w="381635" h="894080">
                  <a:moveTo>
                    <a:pt x="157761" y="156978"/>
                  </a:moveTo>
                  <a:lnTo>
                    <a:pt x="352474" y="156978"/>
                  </a:lnTo>
                </a:path>
                <a:path w="381635" h="894080">
                  <a:moveTo>
                    <a:pt x="63721" y="144898"/>
                  </a:moveTo>
                  <a:lnTo>
                    <a:pt x="258435" y="144898"/>
                  </a:lnTo>
                </a:path>
                <a:path w="381635" h="894080">
                  <a:moveTo>
                    <a:pt x="132149" y="132818"/>
                  </a:moveTo>
                  <a:lnTo>
                    <a:pt x="326862" y="132818"/>
                  </a:lnTo>
                </a:path>
                <a:path w="381635" h="894080">
                  <a:moveTo>
                    <a:pt x="74984" y="120739"/>
                  </a:moveTo>
                  <a:lnTo>
                    <a:pt x="269698" y="120739"/>
                  </a:lnTo>
                </a:path>
                <a:path w="381635" h="894080">
                  <a:moveTo>
                    <a:pt x="170875" y="108659"/>
                  </a:moveTo>
                  <a:lnTo>
                    <a:pt x="365589" y="108659"/>
                  </a:lnTo>
                </a:path>
                <a:path w="381635" h="894080">
                  <a:moveTo>
                    <a:pt x="186536" y="96579"/>
                  </a:moveTo>
                  <a:lnTo>
                    <a:pt x="381327" y="96579"/>
                  </a:lnTo>
                </a:path>
                <a:path w="381635" h="894080">
                  <a:moveTo>
                    <a:pt x="158532" y="84558"/>
                  </a:moveTo>
                  <a:lnTo>
                    <a:pt x="353323" y="84558"/>
                  </a:lnTo>
                </a:path>
                <a:path w="381635" h="894080">
                  <a:moveTo>
                    <a:pt x="104839" y="60398"/>
                  </a:moveTo>
                  <a:lnTo>
                    <a:pt x="299553" y="60398"/>
                  </a:lnTo>
                </a:path>
                <a:path w="381635" h="894080">
                  <a:moveTo>
                    <a:pt x="17357" y="48319"/>
                  </a:moveTo>
                  <a:lnTo>
                    <a:pt x="212071" y="48319"/>
                  </a:lnTo>
                </a:path>
                <a:path w="381635" h="894080">
                  <a:moveTo>
                    <a:pt x="116565" y="36239"/>
                  </a:moveTo>
                  <a:lnTo>
                    <a:pt x="311279" y="36239"/>
                  </a:lnTo>
                </a:path>
                <a:path w="381635" h="894080">
                  <a:moveTo>
                    <a:pt x="162698" y="24159"/>
                  </a:moveTo>
                  <a:lnTo>
                    <a:pt x="357412" y="24159"/>
                  </a:lnTo>
                </a:path>
                <a:path w="381635" h="894080">
                  <a:moveTo>
                    <a:pt x="41503" y="12079"/>
                  </a:moveTo>
                  <a:lnTo>
                    <a:pt x="236217" y="12079"/>
                  </a:lnTo>
                </a:path>
                <a:path w="381635" h="894080">
                  <a:moveTo>
                    <a:pt x="135312" y="0"/>
                  </a:moveTo>
                  <a:lnTo>
                    <a:pt x="330102" y="0"/>
                  </a:lnTo>
                </a:path>
              </a:pathLst>
            </a:custGeom>
            <a:ln w="50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2098916" y="641294"/>
              <a:ext cx="501650" cy="760730"/>
            </a:xfrm>
            <a:custGeom>
              <a:avLst/>
              <a:gdLst/>
              <a:ahLst/>
              <a:cxnLst/>
              <a:rect l="l" t="t" r="r" b="b"/>
              <a:pathLst>
                <a:path w="501650" h="760730">
                  <a:moveTo>
                    <a:pt x="0" y="760674"/>
                  </a:moveTo>
                  <a:lnTo>
                    <a:pt x="194713" y="760674"/>
                  </a:lnTo>
                </a:path>
                <a:path w="501650" h="760730">
                  <a:moveTo>
                    <a:pt x="250952" y="700275"/>
                  </a:moveTo>
                  <a:lnTo>
                    <a:pt x="445665" y="700275"/>
                  </a:lnTo>
                </a:path>
                <a:path w="501650" h="760730">
                  <a:moveTo>
                    <a:pt x="276718" y="676174"/>
                  </a:moveTo>
                  <a:lnTo>
                    <a:pt x="471509" y="676174"/>
                  </a:lnTo>
                </a:path>
                <a:path w="501650" h="760730">
                  <a:moveTo>
                    <a:pt x="24686" y="495036"/>
                  </a:moveTo>
                  <a:lnTo>
                    <a:pt x="219400" y="495036"/>
                  </a:lnTo>
                </a:path>
                <a:path w="501650" h="760730">
                  <a:moveTo>
                    <a:pt x="306650" y="325978"/>
                  </a:moveTo>
                  <a:lnTo>
                    <a:pt x="501364" y="325978"/>
                  </a:lnTo>
                </a:path>
                <a:path w="501650" h="760730">
                  <a:moveTo>
                    <a:pt x="32169" y="0"/>
                  </a:moveTo>
                  <a:lnTo>
                    <a:pt x="226960" y="0"/>
                  </a:lnTo>
                </a:path>
              </a:pathLst>
            </a:custGeom>
            <a:ln w="760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340071" y="533104"/>
              <a:ext cx="0" cy="965200"/>
            </a:xfrm>
            <a:custGeom>
              <a:avLst/>
              <a:gdLst/>
              <a:ahLst/>
              <a:cxnLst/>
              <a:rect l="l" t="t" r="r" b="b"/>
              <a:pathLst>
                <a:path w="0" h="965200">
                  <a:moveTo>
                    <a:pt x="0" y="964975"/>
                  </a:moveTo>
                  <a:lnTo>
                    <a:pt x="0" y="0"/>
                  </a:lnTo>
                </a:path>
              </a:pathLst>
            </a:custGeom>
            <a:ln w="57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1933238" y="1538799"/>
            <a:ext cx="796290" cy="819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96595" algn="l"/>
              </a:tabLst>
            </a:pPr>
            <a:r>
              <a:rPr dirty="0" sz="350" spc="60">
                <a:latin typeface="Helvetica"/>
                <a:cs typeface="Helvetica"/>
              </a:rPr>
              <a:t>−1.5</a:t>
            </a:r>
            <a:r>
              <a:rPr dirty="0" sz="350" spc="310">
                <a:latin typeface="Helvetica"/>
                <a:cs typeface="Helvetica"/>
              </a:rPr>
              <a:t>  </a:t>
            </a:r>
            <a:r>
              <a:rPr dirty="0" sz="350" spc="60">
                <a:latin typeface="Helvetica"/>
                <a:cs typeface="Helvetica"/>
              </a:rPr>
              <a:t>−0.5</a:t>
            </a:r>
            <a:r>
              <a:rPr dirty="0" sz="350" spc="390">
                <a:latin typeface="Helvetica"/>
                <a:cs typeface="Helvetica"/>
              </a:rPr>
              <a:t>  </a:t>
            </a:r>
            <a:r>
              <a:rPr dirty="0" sz="350" spc="30">
                <a:latin typeface="Helvetica"/>
                <a:cs typeface="Helvetica"/>
              </a:rPr>
              <a:t>0.5</a:t>
            </a:r>
            <a:r>
              <a:rPr dirty="0" sz="350">
                <a:latin typeface="Helvetica"/>
                <a:cs typeface="Helvetica"/>
              </a:rPr>
              <a:t>	</a:t>
            </a:r>
            <a:r>
              <a:rPr dirty="0" sz="350" spc="30">
                <a:latin typeface="Helvetica"/>
                <a:cs typeface="Helvetica"/>
              </a:rPr>
              <a:t>1.5</a:t>
            </a:r>
            <a:endParaRPr sz="350">
              <a:latin typeface="Helvetica"/>
              <a:cs typeface="Helvetic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800069" y="1448675"/>
            <a:ext cx="94615" cy="52069"/>
          </a:xfrm>
          <a:prstGeom prst="rect">
            <a:avLst/>
          </a:prstGeom>
        </p:spPr>
        <p:txBody>
          <a:bodyPr wrap="square" lIns="0" tIns="1143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-50">
                <a:latin typeface="Helvetica"/>
                <a:cs typeface="Helvetica"/>
              </a:rPr>
              <a:t>0</a:t>
            </a:r>
            <a:endParaRPr sz="450">
              <a:latin typeface="Helvetica"/>
              <a:cs typeface="Helvetic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800069" y="1194124"/>
            <a:ext cx="94615" cy="78105"/>
          </a:xfrm>
          <a:prstGeom prst="rect">
            <a:avLst/>
          </a:prstGeom>
        </p:spPr>
        <p:txBody>
          <a:bodyPr wrap="square" lIns="0" tIns="1143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-25">
                <a:latin typeface="Helvetica"/>
                <a:cs typeface="Helvetica"/>
              </a:rPr>
              <a:t>20</a:t>
            </a:r>
            <a:endParaRPr sz="450">
              <a:latin typeface="Helvetica"/>
              <a:cs typeface="Helvetic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800069" y="952646"/>
            <a:ext cx="94615" cy="78105"/>
          </a:xfrm>
          <a:prstGeom prst="rect">
            <a:avLst/>
          </a:prstGeom>
        </p:spPr>
        <p:txBody>
          <a:bodyPr wrap="square" lIns="0" tIns="1143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-25">
                <a:latin typeface="Helvetica"/>
                <a:cs typeface="Helvetica"/>
              </a:rPr>
              <a:t>40</a:t>
            </a:r>
            <a:endParaRPr sz="450">
              <a:latin typeface="Helvetica"/>
              <a:cs typeface="Helvetica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800069" y="711168"/>
            <a:ext cx="94615" cy="78105"/>
          </a:xfrm>
          <a:prstGeom prst="rect">
            <a:avLst/>
          </a:prstGeom>
        </p:spPr>
        <p:txBody>
          <a:bodyPr wrap="square" lIns="0" tIns="1143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-25">
                <a:latin typeface="Helvetica"/>
                <a:cs typeface="Helvetica"/>
              </a:rPr>
              <a:t>60</a:t>
            </a:r>
            <a:endParaRPr sz="450">
              <a:latin typeface="Helvetica"/>
              <a:cs typeface="Helvetica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2084982" y="1650215"/>
            <a:ext cx="585470" cy="819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60">
                <a:latin typeface="Helvetica"/>
                <a:cs typeface="Helvetica"/>
              </a:rPr>
              <a:t>Confidence</a:t>
            </a:r>
            <a:r>
              <a:rPr dirty="0" sz="350" spc="80">
                <a:latin typeface="Helvetica"/>
                <a:cs typeface="Helvetica"/>
              </a:rPr>
              <a:t> </a:t>
            </a:r>
            <a:r>
              <a:rPr dirty="0" sz="350" spc="40">
                <a:latin typeface="Helvetica"/>
                <a:cs typeface="Helvetica"/>
              </a:rPr>
              <a:t>intervals</a:t>
            </a:r>
            <a:endParaRPr sz="350">
              <a:latin typeface="Helvetica"/>
              <a:cs typeface="Helvetica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653417" y="886796"/>
            <a:ext cx="94615" cy="257810"/>
          </a:xfrm>
          <a:prstGeom prst="rect">
            <a:avLst/>
          </a:prstGeom>
        </p:spPr>
        <p:txBody>
          <a:bodyPr wrap="square" lIns="0" tIns="1143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-40">
                <a:latin typeface="Helvetica"/>
                <a:cs typeface="Helvetica"/>
              </a:rPr>
              <a:t>Replication</a:t>
            </a:r>
            <a:endParaRPr sz="450">
              <a:latin typeface="Helvetica"/>
              <a:cs typeface="Helvetica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797077" y="368527"/>
            <a:ext cx="1157605" cy="958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50" spc="85" b="1">
                <a:latin typeface="Helvetica"/>
                <a:cs typeface="Helvetica"/>
              </a:rPr>
              <a:t>75</a:t>
            </a:r>
            <a:r>
              <a:rPr dirty="0" sz="450" spc="45" b="1">
                <a:latin typeface="Helvetica"/>
                <a:cs typeface="Helvetica"/>
              </a:rPr>
              <a:t> </a:t>
            </a:r>
            <a:r>
              <a:rPr dirty="0" sz="450" spc="55" b="1">
                <a:latin typeface="Helvetica"/>
                <a:cs typeface="Helvetica"/>
              </a:rPr>
              <a:t>CI's</a:t>
            </a:r>
            <a:r>
              <a:rPr dirty="0" sz="450" spc="45" b="1">
                <a:latin typeface="Helvetica"/>
                <a:cs typeface="Helvetica"/>
              </a:rPr>
              <a:t> </a:t>
            </a:r>
            <a:r>
              <a:rPr dirty="0" sz="450" spc="80" b="1">
                <a:latin typeface="Helvetica"/>
                <a:cs typeface="Helvetica"/>
              </a:rPr>
              <a:t>from</a:t>
            </a:r>
            <a:r>
              <a:rPr dirty="0" sz="450" spc="45" b="1">
                <a:latin typeface="Helvetica"/>
                <a:cs typeface="Helvetica"/>
              </a:rPr>
              <a:t> </a:t>
            </a:r>
            <a:r>
              <a:rPr dirty="0" sz="450" spc="90" b="1">
                <a:latin typeface="Helvetica"/>
                <a:cs typeface="Helvetica"/>
              </a:rPr>
              <a:t>samples</a:t>
            </a:r>
            <a:r>
              <a:rPr dirty="0" sz="450" spc="45" b="1">
                <a:latin typeface="Helvetica"/>
                <a:cs typeface="Helvetica"/>
              </a:rPr>
              <a:t> </a:t>
            </a:r>
            <a:r>
              <a:rPr dirty="0" sz="450" spc="70" b="1">
                <a:latin typeface="Helvetica"/>
                <a:cs typeface="Helvetica"/>
              </a:rPr>
              <a:t>of</a:t>
            </a:r>
            <a:r>
              <a:rPr dirty="0" sz="450" spc="45" b="1">
                <a:latin typeface="Helvetica"/>
                <a:cs typeface="Helvetica"/>
              </a:rPr>
              <a:t> </a:t>
            </a:r>
            <a:r>
              <a:rPr dirty="0" sz="450" spc="75" b="1">
                <a:latin typeface="Helvetica"/>
                <a:cs typeface="Helvetica"/>
              </a:rPr>
              <a:t>size</a:t>
            </a:r>
            <a:r>
              <a:rPr dirty="0" sz="450" spc="45" b="1">
                <a:latin typeface="Helvetica"/>
                <a:cs typeface="Helvetica"/>
              </a:rPr>
              <a:t> </a:t>
            </a:r>
            <a:r>
              <a:rPr dirty="0" sz="450" spc="60" b="1">
                <a:latin typeface="Helvetica"/>
                <a:cs typeface="Helvetica"/>
              </a:rPr>
              <a:t>20</a:t>
            </a:r>
            <a:endParaRPr sz="450">
              <a:latin typeface="Helvetica"/>
              <a:cs typeface="Helvetica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2412308" y="646596"/>
            <a:ext cx="344805" cy="819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70">
                <a:solidFill>
                  <a:srgbClr val="9400D3"/>
                </a:solidFill>
                <a:latin typeface="Helvetica"/>
                <a:cs typeface="Helvetica"/>
              </a:rPr>
              <a:t>no</a:t>
            </a:r>
            <a:r>
              <a:rPr dirty="0" sz="350" spc="45">
                <a:solidFill>
                  <a:srgbClr val="9400D3"/>
                </a:solidFill>
                <a:latin typeface="Helvetica"/>
                <a:cs typeface="Helvetica"/>
              </a:rPr>
              <a:t> </a:t>
            </a:r>
            <a:r>
              <a:rPr dirty="0" sz="350" spc="50">
                <a:solidFill>
                  <a:srgbClr val="9400D3"/>
                </a:solidFill>
                <a:latin typeface="Helvetica"/>
                <a:cs typeface="Helvetica"/>
              </a:rPr>
              <a:t>failed=</a:t>
            </a:r>
            <a:r>
              <a:rPr dirty="0" sz="350" spc="45">
                <a:solidFill>
                  <a:srgbClr val="9400D3"/>
                </a:solidFill>
                <a:latin typeface="Helvetica"/>
                <a:cs typeface="Helvetica"/>
              </a:rPr>
              <a:t> </a:t>
            </a:r>
            <a:r>
              <a:rPr dirty="0" sz="350" spc="20">
                <a:solidFill>
                  <a:srgbClr val="9400D3"/>
                </a:solidFill>
                <a:latin typeface="Helvetica"/>
                <a:cs typeface="Helvetica"/>
              </a:rPr>
              <a:t>6</a:t>
            </a:r>
            <a:endParaRPr sz="350">
              <a:latin typeface="Helvetica"/>
              <a:cs typeface="Helvetica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3215974" y="530423"/>
            <a:ext cx="881380" cy="995680"/>
            <a:chOff x="3215974" y="530423"/>
            <a:chExt cx="881380" cy="995680"/>
          </a:xfrm>
        </p:grpSpPr>
        <p:sp>
          <p:nvSpPr>
            <p:cNvPr id="30" name="object 30" descr=""/>
            <p:cNvSpPr/>
            <p:nvPr/>
          </p:nvSpPr>
          <p:spPr>
            <a:xfrm>
              <a:off x="3215974" y="533104"/>
              <a:ext cx="878205" cy="993140"/>
            </a:xfrm>
            <a:custGeom>
              <a:avLst/>
              <a:gdLst/>
              <a:ahLst/>
              <a:cxnLst/>
              <a:rect l="l" t="t" r="r" b="b"/>
              <a:pathLst>
                <a:path w="878204" h="993140">
                  <a:moveTo>
                    <a:pt x="124203" y="964975"/>
                  </a:moveTo>
                  <a:lnTo>
                    <a:pt x="817349" y="964975"/>
                  </a:lnTo>
                </a:path>
                <a:path w="878204" h="993140">
                  <a:moveTo>
                    <a:pt x="124203" y="964975"/>
                  </a:moveTo>
                  <a:lnTo>
                    <a:pt x="124203" y="992828"/>
                  </a:lnTo>
                </a:path>
                <a:path w="878204" h="993140">
                  <a:moveTo>
                    <a:pt x="262832" y="964975"/>
                  </a:moveTo>
                  <a:lnTo>
                    <a:pt x="262832" y="992828"/>
                  </a:lnTo>
                </a:path>
                <a:path w="878204" h="993140">
                  <a:moveTo>
                    <a:pt x="401461" y="964975"/>
                  </a:moveTo>
                  <a:lnTo>
                    <a:pt x="401461" y="992828"/>
                  </a:lnTo>
                </a:path>
                <a:path w="878204" h="993140">
                  <a:moveTo>
                    <a:pt x="540091" y="964975"/>
                  </a:moveTo>
                  <a:lnTo>
                    <a:pt x="540091" y="992828"/>
                  </a:lnTo>
                </a:path>
                <a:path w="878204" h="993140">
                  <a:moveTo>
                    <a:pt x="678720" y="964975"/>
                  </a:moveTo>
                  <a:lnTo>
                    <a:pt x="678720" y="992828"/>
                  </a:lnTo>
                </a:path>
                <a:path w="878204" h="993140">
                  <a:moveTo>
                    <a:pt x="817349" y="964975"/>
                  </a:moveTo>
                  <a:lnTo>
                    <a:pt x="817349" y="992828"/>
                  </a:lnTo>
                </a:path>
                <a:path w="878204" h="993140">
                  <a:moveTo>
                    <a:pt x="36720" y="938235"/>
                  </a:moveTo>
                  <a:lnTo>
                    <a:pt x="36720" y="35711"/>
                  </a:lnTo>
                </a:path>
                <a:path w="878204" h="993140">
                  <a:moveTo>
                    <a:pt x="36720" y="938235"/>
                  </a:moveTo>
                  <a:lnTo>
                    <a:pt x="0" y="938235"/>
                  </a:lnTo>
                </a:path>
                <a:path w="878204" h="993140">
                  <a:moveTo>
                    <a:pt x="36720" y="757742"/>
                  </a:moveTo>
                  <a:lnTo>
                    <a:pt x="0" y="757742"/>
                  </a:lnTo>
                </a:path>
                <a:path w="878204" h="993140">
                  <a:moveTo>
                    <a:pt x="36720" y="577249"/>
                  </a:moveTo>
                  <a:lnTo>
                    <a:pt x="0" y="577249"/>
                  </a:lnTo>
                </a:path>
                <a:path w="878204" h="993140">
                  <a:moveTo>
                    <a:pt x="36720" y="396756"/>
                  </a:moveTo>
                  <a:lnTo>
                    <a:pt x="0" y="396756"/>
                  </a:lnTo>
                </a:path>
                <a:path w="878204" h="993140">
                  <a:moveTo>
                    <a:pt x="36720" y="216204"/>
                  </a:moveTo>
                  <a:lnTo>
                    <a:pt x="0" y="216204"/>
                  </a:lnTo>
                </a:path>
                <a:path w="878204" h="993140">
                  <a:moveTo>
                    <a:pt x="36720" y="35711"/>
                  </a:moveTo>
                  <a:lnTo>
                    <a:pt x="0" y="35711"/>
                  </a:lnTo>
                </a:path>
                <a:path w="878204" h="993140">
                  <a:moveTo>
                    <a:pt x="36720" y="964975"/>
                  </a:moveTo>
                  <a:lnTo>
                    <a:pt x="878140" y="964975"/>
                  </a:lnTo>
                  <a:lnTo>
                    <a:pt x="878140" y="0"/>
                  </a:lnTo>
                  <a:lnTo>
                    <a:pt x="36720" y="0"/>
                  </a:lnTo>
                  <a:lnTo>
                    <a:pt x="36720" y="964975"/>
                  </a:lnTo>
                </a:path>
              </a:pathLst>
            </a:custGeom>
            <a:ln w="50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3422491" y="568815"/>
              <a:ext cx="391160" cy="894080"/>
            </a:xfrm>
            <a:custGeom>
              <a:avLst/>
              <a:gdLst/>
              <a:ahLst/>
              <a:cxnLst/>
              <a:rect l="l" t="t" r="r" b="b"/>
              <a:pathLst>
                <a:path w="391160" h="894080">
                  <a:moveTo>
                    <a:pt x="104762" y="893493"/>
                  </a:moveTo>
                  <a:lnTo>
                    <a:pt x="303179" y="893493"/>
                  </a:lnTo>
                </a:path>
                <a:path w="391160" h="894080">
                  <a:moveTo>
                    <a:pt x="100442" y="884521"/>
                  </a:moveTo>
                  <a:lnTo>
                    <a:pt x="298859" y="884521"/>
                  </a:lnTo>
                </a:path>
                <a:path w="391160" h="894080">
                  <a:moveTo>
                    <a:pt x="115408" y="875490"/>
                  </a:moveTo>
                  <a:lnTo>
                    <a:pt x="313825" y="875490"/>
                  </a:lnTo>
                </a:path>
                <a:path w="391160" h="894080">
                  <a:moveTo>
                    <a:pt x="94965" y="866460"/>
                  </a:moveTo>
                  <a:lnTo>
                    <a:pt x="293381" y="866460"/>
                  </a:lnTo>
                </a:path>
                <a:path w="391160" h="894080">
                  <a:moveTo>
                    <a:pt x="78224" y="857429"/>
                  </a:moveTo>
                  <a:lnTo>
                    <a:pt x="276641" y="857429"/>
                  </a:lnTo>
                </a:path>
                <a:path w="391160" h="894080">
                  <a:moveTo>
                    <a:pt x="122660" y="848399"/>
                  </a:moveTo>
                  <a:lnTo>
                    <a:pt x="321076" y="848399"/>
                  </a:lnTo>
                </a:path>
                <a:path w="391160" h="894080">
                  <a:moveTo>
                    <a:pt x="100519" y="839368"/>
                  </a:moveTo>
                  <a:lnTo>
                    <a:pt x="298936" y="839368"/>
                  </a:lnTo>
                </a:path>
                <a:path w="391160" h="894080">
                  <a:moveTo>
                    <a:pt x="66807" y="830338"/>
                  </a:moveTo>
                  <a:lnTo>
                    <a:pt x="265224" y="830338"/>
                  </a:lnTo>
                </a:path>
                <a:path w="391160" h="894080">
                  <a:moveTo>
                    <a:pt x="56547" y="821307"/>
                  </a:moveTo>
                  <a:lnTo>
                    <a:pt x="254963" y="821307"/>
                  </a:lnTo>
                </a:path>
                <a:path w="391160" h="894080">
                  <a:moveTo>
                    <a:pt x="67270" y="812277"/>
                  </a:moveTo>
                  <a:lnTo>
                    <a:pt x="265764" y="812277"/>
                  </a:lnTo>
                </a:path>
                <a:path w="391160" h="894080">
                  <a:moveTo>
                    <a:pt x="73827" y="803246"/>
                  </a:moveTo>
                  <a:lnTo>
                    <a:pt x="272244" y="803246"/>
                  </a:lnTo>
                </a:path>
                <a:path w="391160" h="894080">
                  <a:moveTo>
                    <a:pt x="24532" y="794216"/>
                  </a:moveTo>
                  <a:lnTo>
                    <a:pt x="222948" y="794216"/>
                  </a:lnTo>
                </a:path>
                <a:path w="391160" h="894080">
                  <a:moveTo>
                    <a:pt x="86247" y="785244"/>
                  </a:moveTo>
                  <a:lnTo>
                    <a:pt x="284741" y="785244"/>
                  </a:lnTo>
                </a:path>
                <a:path w="391160" h="894080">
                  <a:moveTo>
                    <a:pt x="75216" y="776213"/>
                  </a:moveTo>
                  <a:lnTo>
                    <a:pt x="273632" y="776213"/>
                  </a:lnTo>
                </a:path>
                <a:path w="391160" h="894080">
                  <a:moveTo>
                    <a:pt x="78687" y="767183"/>
                  </a:moveTo>
                  <a:lnTo>
                    <a:pt x="277104" y="767183"/>
                  </a:lnTo>
                </a:path>
                <a:path w="391160" h="894080">
                  <a:moveTo>
                    <a:pt x="44821" y="758152"/>
                  </a:moveTo>
                  <a:lnTo>
                    <a:pt x="243237" y="758152"/>
                  </a:lnTo>
                </a:path>
                <a:path w="391160" h="894080">
                  <a:moveTo>
                    <a:pt x="69353" y="749122"/>
                  </a:moveTo>
                  <a:lnTo>
                    <a:pt x="267769" y="749122"/>
                  </a:lnTo>
                </a:path>
                <a:path w="391160" h="894080">
                  <a:moveTo>
                    <a:pt x="117568" y="740091"/>
                  </a:moveTo>
                  <a:lnTo>
                    <a:pt x="315985" y="740091"/>
                  </a:lnTo>
                </a:path>
                <a:path w="391160" h="894080">
                  <a:moveTo>
                    <a:pt x="82005" y="731061"/>
                  </a:moveTo>
                  <a:lnTo>
                    <a:pt x="280421" y="731061"/>
                  </a:lnTo>
                </a:path>
                <a:path w="391160" h="894080">
                  <a:moveTo>
                    <a:pt x="94425" y="722030"/>
                  </a:moveTo>
                  <a:lnTo>
                    <a:pt x="292841" y="722030"/>
                  </a:lnTo>
                </a:path>
                <a:path w="391160" h="894080">
                  <a:moveTo>
                    <a:pt x="29237" y="713000"/>
                  </a:moveTo>
                  <a:lnTo>
                    <a:pt x="227654" y="713000"/>
                  </a:lnTo>
                </a:path>
                <a:path w="391160" h="894080">
                  <a:moveTo>
                    <a:pt x="71204" y="703969"/>
                  </a:moveTo>
                  <a:lnTo>
                    <a:pt x="269698" y="703969"/>
                  </a:lnTo>
                </a:path>
                <a:path w="391160" h="894080">
                  <a:moveTo>
                    <a:pt x="83702" y="685908"/>
                  </a:moveTo>
                  <a:lnTo>
                    <a:pt x="282118" y="685908"/>
                  </a:lnTo>
                </a:path>
                <a:path w="391160" h="894080">
                  <a:moveTo>
                    <a:pt x="108079" y="676936"/>
                  </a:moveTo>
                  <a:lnTo>
                    <a:pt x="306496" y="676936"/>
                  </a:lnTo>
                </a:path>
                <a:path w="391160" h="894080">
                  <a:moveTo>
                    <a:pt x="192245" y="667906"/>
                  </a:moveTo>
                  <a:lnTo>
                    <a:pt x="390738" y="667906"/>
                  </a:lnTo>
                </a:path>
                <a:path w="391160" h="894080">
                  <a:moveTo>
                    <a:pt x="132380" y="658875"/>
                  </a:moveTo>
                  <a:lnTo>
                    <a:pt x="330797" y="658875"/>
                  </a:lnTo>
                </a:path>
                <a:path w="391160" h="894080">
                  <a:moveTo>
                    <a:pt x="87096" y="649845"/>
                  </a:moveTo>
                  <a:lnTo>
                    <a:pt x="285513" y="649845"/>
                  </a:lnTo>
                </a:path>
                <a:path w="391160" h="894080">
                  <a:moveTo>
                    <a:pt x="70433" y="640814"/>
                  </a:moveTo>
                  <a:lnTo>
                    <a:pt x="268849" y="640814"/>
                  </a:lnTo>
                </a:path>
                <a:path w="391160" h="894080">
                  <a:moveTo>
                    <a:pt x="173498" y="631784"/>
                  </a:moveTo>
                  <a:lnTo>
                    <a:pt x="371915" y="631784"/>
                  </a:lnTo>
                </a:path>
                <a:path w="391160" h="894080">
                  <a:moveTo>
                    <a:pt x="134386" y="622753"/>
                  </a:moveTo>
                  <a:lnTo>
                    <a:pt x="332880" y="622753"/>
                  </a:lnTo>
                </a:path>
                <a:path w="391160" h="894080">
                  <a:moveTo>
                    <a:pt x="150972" y="613723"/>
                  </a:moveTo>
                  <a:lnTo>
                    <a:pt x="349389" y="613723"/>
                  </a:lnTo>
                </a:path>
                <a:path w="391160" h="894080">
                  <a:moveTo>
                    <a:pt x="0" y="604692"/>
                  </a:moveTo>
                  <a:lnTo>
                    <a:pt x="198416" y="604692"/>
                  </a:lnTo>
                </a:path>
                <a:path w="391160" h="894080">
                  <a:moveTo>
                    <a:pt x="134077" y="595662"/>
                  </a:moveTo>
                  <a:lnTo>
                    <a:pt x="332494" y="595662"/>
                  </a:lnTo>
                </a:path>
                <a:path w="391160" h="894080">
                  <a:moveTo>
                    <a:pt x="29546" y="586631"/>
                  </a:moveTo>
                  <a:lnTo>
                    <a:pt x="228040" y="586631"/>
                  </a:lnTo>
                </a:path>
                <a:path w="391160" h="894080">
                  <a:moveTo>
                    <a:pt x="115871" y="577659"/>
                  </a:moveTo>
                  <a:lnTo>
                    <a:pt x="314288" y="577659"/>
                  </a:lnTo>
                </a:path>
                <a:path w="391160" h="894080">
                  <a:moveTo>
                    <a:pt x="88639" y="568629"/>
                  </a:moveTo>
                  <a:lnTo>
                    <a:pt x="287056" y="568629"/>
                  </a:lnTo>
                </a:path>
                <a:path w="391160" h="894080">
                  <a:moveTo>
                    <a:pt x="42043" y="559598"/>
                  </a:moveTo>
                  <a:lnTo>
                    <a:pt x="240537" y="559598"/>
                  </a:lnTo>
                </a:path>
                <a:path w="391160" h="894080">
                  <a:moveTo>
                    <a:pt x="45592" y="550568"/>
                  </a:moveTo>
                  <a:lnTo>
                    <a:pt x="244009" y="550568"/>
                  </a:lnTo>
                </a:path>
                <a:path w="391160" h="894080">
                  <a:moveTo>
                    <a:pt x="106382" y="541537"/>
                  </a:moveTo>
                  <a:lnTo>
                    <a:pt x="304799" y="541537"/>
                  </a:lnTo>
                </a:path>
                <a:path w="391160" h="894080">
                  <a:moveTo>
                    <a:pt x="179593" y="532507"/>
                  </a:moveTo>
                  <a:lnTo>
                    <a:pt x="378087" y="532507"/>
                  </a:lnTo>
                </a:path>
                <a:path w="391160" h="894080">
                  <a:moveTo>
                    <a:pt x="173730" y="523476"/>
                  </a:moveTo>
                  <a:lnTo>
                    <a:pt x="372146" y="523476"/>
                  </a:lnTo>
                </a:path>
                <a:path w="391160" h="894080">
                  <a:moveTo>
                    <a:pt x="111937" y="514446"/>
                  </a:moveTo>
                  <a:lnTo>
                    <a:pt x="310353" y="514446"/>
                  </a:lnTo>
                </a:path>
                <a:path w="391160" h="894080">
                  <a:moveTo>
                    <a:pt x="70664" y="505415"/>
                  </a:moveTo>
                  <a:lnTo>
                    <a:pt x="269081" y="505415"/>
                  </a:lnTo>
                </a:path>
                <a:path w="391160" h="894080">
                  <a:moveTo>
                    <a:pt x="50992" y="496385"/>
                  </a:moveTo>
                  <a:lnTo>
                    <a:pt x="249409" y="496385"/>
                  </a:lnTo>
                </a:path>
                <a:path w="391160" h="894080">
                  <a:moveTo>
                    <a:pt x="100442" y="487354"/>
                  </a:moveTo>
                  <a:lnTo>
                    <a:pt x="298936" y="487354"/>
                  </a:lnTo>
                </a:path>
                <a:path w="391160" h="894080">
                  <a:moveTo>
                    <a:pt x="125437" y="478324"/>
                  </a:moveTo>
                  <a:lnTo>
                    <a:pt x="323854" y="478324"/>
                  </a:lnTo>
                </a:path>
                <a:path w="391160" h="894080">
                  <a:moveTo>
                    <a:pt x="123663" y="469352"/>
                  </a:moveTo>
                  <a:lnTo>
                    <a:pt x="322079" y="469352"/>
                  </a:lnTo>
                </a:path>
                <a:path w="391160" h="894080">
                  <a:moveTo>
                    <a:pt x="174347" y="460321"/>
                  </a:moveTo>
                  <a:lnTo>
                    <a:pt x="372764" y="460321"/>
                  </a:lnTo>
                </a:path>
                <a:path w="391160" h="894080">
                  <a:moveTo>
                    <a:pt x="123586" y="451291"/>
                  </a:moveTo>
                  <a:lnTo>
                    <a:pt x="322002" y="451291"/>
                  </a:lnTo>
                </a:path>
                <a:path w="391160" h="894080">
                  <a:moveTo>
                    <a:pt x="108157" y="442260"/>
                  </a:moveTo>
                  <a:lnTo>
                    <a:pt x="306573" y="442260"/>
                  </a:lnTo>
                </a:path>
                <a:path w="391160" h="894080">
                  <a:moveTo>
                    <a:pt x="136315" y="433230"/>
                  </a:moveTo>
                  <a:lnTo>
                    <a:pt x="334808" y="433230"/>
                  </a:lnTo>
                </a:path>
                <a:path w="391160" h="894080">
                  <a:moveTo>
                    <a:pt x="123508" y="415169"/>
                  </a:moveTo>
                  <a:lnTo>
                    <a:pt x="321925" y="415169"/>
                  </a:lnTo>
                </a:path>
                <a:path w="391160" h="894080">
                  <a:moveTo>
                    <a:pt x="64338" y="406138"/>
                  </a:moveTo>
                  <a:lnTo>
                    <a:pt x="262755" y="406138"/>
                  </a:lnTo>
                </a:path>
                <a:path w="391160" h="894080">
                  <a:moveTo>
                    <a:pt x="168175" y="397108"/>
                  </a:moveTo>
                  <a:lnTo>
                    <a:pt x="366592" y="397108"/>
                  </a:lnTo>
                </a:path>
                <a:path w="391160" h="894080">
                  <a:moveTo>
                    <a:pt x="125128" y="388077"/>
                  </a:moveTo>
                  <a:lnTo>
                    <a:pt x="323622" y="388077"/>
                  </a:lnTo>
                </a:path>
                <a:path w="391160" h="894080">
                  <a:moveTo>
                    <a:pt x="49835" y="379047"/>
                  </a:moveTo>
                  <a:lnTo>
                    <a:pt x="248252" y="379047"/>
                  </a:lnTo>
                </a:path>
                <a:path w="391160" h="894080">
                  <a:moveTo>
                    <a:pt x="130451" y="370075"/>
                  </a:moveTo>
                  <a:lnTo>
                    <a:pt x="328868" y="370075"/>
                  </a:lnTo>
                </a:path>
                <a:path w="391160" h="894080">
                  <a:moveTo>
                    <a:pt x="55312" y="361044"/>
                  </a:moveTo>
                  <a:lnTo>
                    <a:pt x="253729" y="361044"/>
                  </a:lnTo>
                </a:path>
                <a:path w="391160" h="894080">
                  <a:moveTo>
                    <a:pt x="86016" y="352014"/>
                  </a:moveTo>
                  <a:lnTo>
                    <a:pt x="284433" y="352014"/>
                  </a:lnTo>
                </a:path>
                <a:path w="391160" h="894080">
                  <a:moveTo>
                    <a:pt x="149969" y="342983"/>
                  </a:moveTo>
                  <a:lnTo>
                    <a:pt x="348386" y="342983"/>
                  </a:lnTo>
                </a:path>
                <a:path w="391160" h="894080">
                  <a:moveTo>
                    <a:pt x="25072" y="333953"/>
                  </a:moveTo>
                  <a:lnTo>
                    <a:pt x="223488" y="333953"/>
                  </a:lnTo>
                </a:path>
                <a:path w="391160" h="894080">
                  <a:moveTo>
                    <a:pt x="18360" y="324922"/>
                  </a:moveTo>
                  <a:lnTo>
                    <a:pt x="216777" y="324922"/>
                  </a:lnTo>
                </a:path>
                <a:path w="391160" h="894080">
                  <a:moveTo>
                    <a:pt x="48369" y="315892"/>
                  </a:moveTo>
                  <a:lnTo>
                    <a:pt x="246863" y="315892"/>
                  </a:lnTo>
                </a:path>
                <a:path w="391160" h="894080">
                  <a:moveTo>
                    <a:pt x="119805" y="306861"/>
                  </a:moveTo>
                  <a:lnTo>
                    <a:pt x="318222" y="306861"/>
                  </a:lnTo>
                </a:path>
                <a:path w="391160" h="894080">
                  <a:moveTo>
                    <a:pt x="119265" y="297831"/>
                  </a:moveTo>
                  <a:lnTo>
                    <a:pt x="317682" y="297831"/>
                  </a:lnTo>
                </a:path>
                <a:path w="391160" h="894080">
                  <a:moveTo>
                    <a:pt x="94348" y="288800"/>
                  </a:moveTo>
                  <a:lnTo>
                    <a:pt x="292764" y="288800"/>
                  </a:lnTo>
                </a:path>
                <a:path w="391160" h="894080">
                  <a:moveTo>
                    <a:pt x="107154" y="279770"/>
                  </a:moveTo>
                  <a:lnTo>
                    <a:pt x="305570" y="279770"/>
                  </a:lnTo>
                </a:path>
                <a:path w="391160" h="894080">
                  <a:moveTo>
                    <a:pt x="115794" y="270798"/>
                  </a:moveTo>
                  <a:lnTo>
                    <a:pt x="314288" y="270798"/>
                  </a:lnTo>
                </a:path>
                <a:path w="391160" h="894080">
                  <a:moveTo>
                    <a:pt x="36180" y="261767"/>
                  </a:moveTo>
                  <a:lnTo>
                    <a:pt x="234597" y="261767"/>
                  </a:lnTo>
                </a:path>
                <a:path w="391160" h="894080">
                  <a:moveTo>
                    <a:pt x="159844" y="252737"/>
                  </a:moveTo>
                  <a:lnTo>
                    <a:pt x="358260" y="252737"/>
                  </a:lnTo>
                </a:path>
                <a:path w="391160" h="894080">
                  <a:moveTo>
                    <a:pt x="166787" y="243706"/>
                  </a:moveTo>
                  <a:lnTo>
                    <a:pt x="365203" y="243706"/>
                  </a:lnTo>
                </a:path>
                <a:path w="391160" h="894080">
                  <a:moveTo>
                    <a:pt x="180441" y="234676"/>
                  </a:moveTo>
                  <a:lnTo>
                    <a:pt x="378858" y="234676"/>
                  </a:lnTo>
                </a:path>
                <a:path w="391160" h="894080">
                  <a:moveTo>
                    <a:pt x="136932" y="225645"/>
                  </a:moveTo>
                  <a:lnTo>
                    <a:pt x="335348" y="225645"/>
                  </a:lnTo>
                </a:path>
                <a:path w="391160" h="894080">
                  <a:moveTo>
                    <a:pt x="72516" y="216615"/>
                  </a:moveTo>
                  <a:lnTo>
                    <a:pt x="270932" y="216615"/>
                  </a:lnTo>
                </a:path>
                <a:path w="391160" h="894080">
                  <a:moveTo>
                    <a:pt x="122737" y="207584"/>
                  </a:moveTo>
                  <a:lnTo>
                    <a:pt x="321154" y="207584"/>
                  </a:lnTo>
                </a:path>
                <a:path w="391160" h="894080">
                  <a:moveTo>
                    <a:pt x="113094" y="198554"/>
                  </a:moveTo>
                  <a:lnTo>
                    <a:pt x="311511" y="198554"/>
                  </a:lnTo>
                </a:path>
                <a:path w="391160" h="894080">
                  <a:moveTo>
                    <a:pt x="53152" y="189523"/>
                  </a:moveTo>
                  <a:lnTo>
                    <a:pt x="251646" y="189523"/>
                  </a:lnTo>
                </a:path>
                <a:path w="391160" h="894080">
                  <a:moveTo>
                    <a:pt x="90799" y="180493"/>
                  </a:moveTo>
                  <a:lnTo>
                    <a:pt x="289216" y="180493"/>
                  </a:lnTo>
                </a:path>
                <a:path w="391160" h="894080">
                  <a:moveTo>
                    <a:pt x="54772" y="171462"/>
                  </a:moveTo>
                  <a:lnTo>
                    <a:pt x="253189" y="171462"/>
                  </a:lnTo>
                </a:path>
                <a:path w="391160" h="894080">
                  <a:moveTo>
                    <a:pt x="136623" y="162490"/>
                  </a:moveTo>
                  <a:lnTo>
                    <a:pt x="335040" y="162490"/>
                  </a:lnTo>
                </a:path>
                <a:path w="391160" h="894080">
                  <a:moveTo>
                    <a:pt x="104608" y="153460"/>
                  </a:moveTo>
                  <a:lnTo>
                    <a:pt x="303025" y="153460"/>
                  </a:lnTo>
                </a:path>
                <a:path w="391160" h="894080">
                  <a:moveTo>
                    <a:pt x="66190" y="144429"/>
                  </a:moveTo>
                  <a:lnTo>
                    <a:pt x="264606" y="144429"/>
                  </a:lnTo>
                </a:path>
                <a:path w="391160" h="894080">
                  <a:moveTo>
                    <a:pt x="82930" y="135399"/>
                  </a:moveTo>
                  <a:lnTo>
                    <a:pt x="281347" y="135399"/>
                  </a:lnTo>
                </a:path>
                <a:path w="391160" h="894080">
                  <a:moveTo>
                    <a:pt x="121734" y="126368"/>
                  </a:moveTo>
                  <a:lnTo>
                    <a:pt x="320151" y="126368"/>
                  </a:lnTo>
                </a:path>
                <a:path w="391160" h="894080">
                  <a:moveTo>
                    <a:pt x="141637" y="117338"/>
                  </a:moveTo>
                  <a:lnTo>
                    <a:pt x="340054" y="117338"/>
                  </a:lnTo>
                </a:path>
                <a:path w="391160" h="894080">
                  <a:moveTo>
                    <a:pt x="59401" y="108307"/>
                  </a:moveTo>
                  <a:lnTo>
                    <a:pt x="257818" y="108307"/>
                  </a:lnTo>
                </a:path>
                <a:path w="391160" h="894080">
                  <a:moveTo>
                    <a:pt x="147346" y="99277"/>
                  </a:moveTo>
                  <a:lnTo>
                    <a:pt x="345763" y="99277"/>
                  </a:lnTo>
                </a:path>
                <a:path w="391160" h="894080">
                  <a:moveTo>
                    <a:pt x="110394" y="90246"/>
                  </a:moveTo>
                  <a:lnTo>
                    <a:pt x="308810" y="90246"/>
                  </a:lnTo>
                </a:path>
                <a:path w="391160" h="894080">
                  <a:moveTo>
                    <a:pt x="98976" y="81215"/>
                  </a:moveTo>
                  <a:lnTo>
                    <a:pt x="297393" y="81215"/>
                  </a:lnTo>
                </a:path>
                <a:path w="391160" h="894080">
                  <a:moveTo>
                    <a:pt x="78764" y="72185"/>
                  </a:moveTo>
                  <a:lnTo>
                    <a:pt x="277181" y="72185"/>
                  </a:lnTo>
                </a:path>
                <a:path w="391160" h="894080">
                  <a:moveTo>
                    <a:pt x="113557" y="63213"/>
                  </a:moveTo>
                  <a:lnTo>
                    <a:pt x="312051" y="63213"/>
                  </a:lnTo>
                </a:path>
                <a:path w="391160" h="894080">
                  <a:moveTo>
                    <a:pt x="110008" y="45152"/>
                  </a:moveTo>
                  <a:lnTo>
                    <a:pt x="308425" y="45152"/>
                  </a:lnTo>
                </a:path>
                <a:path w="391160" h="894080">
                  <a:moveTo>
                    <a:pt x="184144" y="36122"/>
                  </a:moveTo>
                  <a:lnTo>
                    <a:pt x="382561" y="36122"/>
                  </a:lnTo>
                </a:path>
                <a:path w="391160" h="894080">
                  <a:moveTo>
                    <a:pt x="140712" y="27091"/>
                  </a:moveTo>
                  <a:lnTo>
                    <a:pt x="339128" y="27091"/>
                  </a:lnTo>
                </a:path>
                <a:path w="391160" h="894080">
                  <a:moveTo>
                    <a:pt x="87790" y="18061"/>
                  </a:moveTo>
                  <a:lnTo>
                    <a:pt x="286284" y="18061"/>
                  </a:lnTo>
                </a:path>
                <a:path w="391160" h="894080">
                  <a:moveTo>
                    <a:pt x="103682" y="9030"/>
                  </a:moveTo>
                  <a:lnTo>
                    <a:pt x="302176" y="9030"/>
                  </a:lnTo>
                </a:path>
                <a:path w="391160" h="894080">
                  <a:moveTo>
                    <a:pt x="154058" y="0"/>
                  </a:moveTo>
                  <a:lnTo>
                    <a:pt x="352552" y="0"/>
                  </a:lnTo>
                </a:path>
              </a:pathLst>
            </a:custGeom>
            <a:ln w="50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3626539" y="622998"/>
              <a:ext cx="228600" cy="641350"/>
            </a:xfrm>
            <a:custGeom>
              <a:avLst/>
              <a:gdLst/>
              <a:ahLst/>
              <a:cxnLst/>
              <a:rect l="l" t="t" r="r" b="b"/>
              <a:pathLst>
                <a:path w="228600" h="641350">
                  <a:moveTo>
                    <a:pt x="9874" y="640756"/>
                  </a:moveTo>
                  <a:lnTo>
                    <a:pt x="208291" y="640756"/>
                  </a:lnTo>
                </a:path>
                <a:path w="228600" h="641350">
                  <a:moveTo>
                    <a:pt x="30009" y="370016"/>
                  </a:moveTo>
                  <a:lnTo>
                    <a:pt x="228503" y="370016"/>
                  </a:lnTo>
                </a:path>
                <a:path w="228600" h="641350">
                  <a:moveTo>
                    <a:pt x="0" y="0"/>
                  </a:moveTo>
                  <a:lnTo>
                    <a:pt x="198416" y="0"/>
                  </a:lnTo>
                </a:path>
              </a:pathLst>
            </a:custGeom>
            <a:ln w="760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617436" y="533104"/>
              <a:ext cx="0" cy="965200"/>
            </a:xfrm>
            <a:custGeom>
              <a:avLst/>
              <a:gdLst/>
              <a:ahLst/>
              <a:cxnLst/>
              <a:rect l="l" t="t" r="r" b="b"/>
              <a:pathLst>
                <a:path w="0" h="965200">
                  <a:moveTo>
                    <a:pt x="0" y="964975"/>
                  </a:moveTo>
                  <a:lnTo>
                    <a:pt x="0" y="0"/>
                  </a:lnTo>
                </a:path>
              </a:pathLst>
            </a:custGeom>
            <a:ln w="57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3266533" y="1538799"/>
            <a:ext cx="147320" cy="819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40">
                <a:latin typeface="Helvetica"/>
                <a:cs typeface="Helvetica"/>
              </a:rPr>
              <a:t>−1.0</a:t>
            </a:r>
            <a:endParaRPr sz="350">
              <a:latin typeface="Helvetica"/>
              <a:cs typeface="Helvetica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3561844" y="1538799"/>
            <a:ext cx="527685" cy="819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55">
                <a:latin typeface="Helvetica"/>
                <a:cs typeface="Helvetica"/>
              </a:rPr>
              <a:t>0.0</a:t>
            </a:r>
            <a:r>
              <a:rPr dirty="0" sz="350" spc="335">
                <a:latin typeface="Helvetica"/>
                <a:cs typeface="Helvetica"/>
              </a:rPr>
              <a:t> </a:t>
            </a:r>
            <a:r>
              <a:rPr dirty="0" sz="350" spc="55">
                <a:latin typeface="Helvetica"/>
                <a:cs typeface="Helvetica"/>
              </a:rPr>
              <a:t>0.5</a:t>
            </a:r>
            <a:r>
              <a:rPr dirty="0" sz="350" spc="335">
                <a:latin typeface="Helvetica"/>
                <a:cs typeface="Helvetica"/>
              </a:rPr>
              <a:t> </a:t>
            </a:r>
            <a:r>
              <a:rPr dirty="0" sz="350" spc="55">
                <a:latin typeface="Helvetica"/>
                <a:cs typeface="Helvetica"/>
              </a:rPr>
              <a:t>1.0</a:t>
            </a:r>
            <a:r>
              <a:rPr dirty="0" sz="350" spc="335">
                <a:latin typeface="Helvetica"/>
                <a:cs typeface="Helvetica"/>
              </a:rPr>
              <a:t> </a:t>
            </a:r>
            <a:r>
              <a:rPr dirty="0" sz="350" spc="30">
                <a:latin typeface="Helvetica"/>
                <a:cs typeface="Helvetica"/>
              </a:rPr>
              <a:t>1.5</a:t>
            </a:r>
            <a:endParaRPr sz="350">
              <a:latin typeface="Helvetica"/>
              <a:cs typeface="Helvetica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3096103" y="1445626"/>
            <a:ext cx="94615" cy="52069"/>
          </a:xfrm>
          <a:prstGeom prst="rect">
            <a:avLst/>
          </a:prstGeom>
        </p:spPr>
        <p:txBody>
          <a:bodyPr wrap="square" lIns="0" tIns="1143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-50">
                <a:latin typeface="Helvetica"/>
                <a:cs typeface="Helvetica"/>
              </a:rPr>
              <a:t>0</a:t>
            </a:r>
            <a:endParaRPr sz="450">
              <a:latin typeface="Helvetica"/>
              <a:cs typeface="Helvetica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3096103" y="1252060"/>
            <a:ext cx="94615" cy="78105"/>
          </a:xfrm>
          <a:prstGeom prst="rect">
            <a:avLst/>
          </a:prstGeom>
        </p:spPr>
        <p:txBody>
          <a:bodyPr wrap="square" lIns="0" tIns="1143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-25">
                <a:latin typeface="Helvetica"/>
                <a:cs typeface="Helvetica"/>
              </a:rPr>
              <a:t>20</a:t>
            </a:r>
            <a:endParaRPr sz="450">
              <a:latin typeface="Helvetica"/>
              <a:cs typeface="Helvetica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3096103" y="891016"/>
            <a:ext cx="94615" cy="258445"/>
          </a:xfrm>
          <a:prstGeom prst="rect">
            <a:avLst/>
          </a:prstGeom>
        </p:spPr>
        <p:txBody>
          <a:bodyPr wrap="square" lIns="0" tIns="1143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93040" algn="l"/>
              </a:tabLst>
            </a:pPr>
            <a:r>
              <a:rPr dirty="0" sz="450" spc="-25">
                <a:latin typeface="Helvetica"/>
                <a:cs typeface="Helvetica"/>
              </a:rPr>
              <a:t>40</a:t>
            </a:r>
            <a:r>
              <a:rPr dirty="0" sz="450">
                <a:latin typeface="Helvetica"/>
                <a:cs typeface="Helvetica"/>
              </a:rPr>
              <a:t>	</a:t>
            </a:r>
            <a:r>
              <a:rPr dirty="0" sz="450" spc="-25">
                <a:latin typeface="Helvetica"/>
                <a:cs typeface="Helvetica"/>
              </a:rPr>
              <a:t>60</a:t>
            </a:r>
            <a:endParaRPr sz="450">
              <a:latin typeface="Helvetica"/>
              <a:cs typeface="Helvetica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3096103" y="710523"/>
            <a:ext cx="94615" cy="78105"/>
          </a:xfrm>
          <a:prstGeom prst="rect">
            <a:avLst/>
          </a:prstGeom>
        </p:spPr>
        <p:txBody>
          <a:bodyPr wrap="square" lIns="0" tIns="1143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-25">
                <a:latin typeface="Helvetica"/>
                <a:cs typeface="Helvetica"/>
              </a:rPr>
              <a:t>80</a:t>
            </a:r>
            <a:endParaRPr sz="450">
              <a:latin typeface="Helvetica"/>
              <a:cs typeface="Helvetica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3096103" y="516958"/>
            <a:ext cx="94615" cy="104139"/>
          </a:xfrm>
          <a:prstGeom prst="rect">
            <a:avLst/>
          </a:prstGeom>
        </p:spPr>
        <p:txBody>
          <a:bodyPr wrap="square" lIns="0" tIns="1143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-35">
                <a:latin typeface="Helvetica"/>
                <a:cs typeface="Helvetica"/>
              </a:rPr>
              <a:t>100</a:t>
            </a:r>
            <a:endParaRPr sz="450">
              <a:latin typeface="Helvetica"/>
              <a:cs typeface="Helvetica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3381016" y="1650215"/>
            <a:ext cx="585470" cy="819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60">
                <a:latin typeface="Helvetica"/>
                <a:cs typeface="Helvetica"/>
              </a:rPr>
              <a:t>Confidence</a:t>
            </a:r>
            <a:r>
              <a:rPr dirty="0" sz="350" spc="80">
                <a:latin typeface="Helvetica"/>
                <a:cs typeface="Helvetica"/>
              </a:rPr>
              <a:t> </a:t>
            </a:r>
            <a:r>
              <a:rPr dirty="0" sz="350" spc="40">
                <a:latin typeface="Helvetica"/>
                <a:cs typeface="Helvetica"/>
              </a:rPr>
              <a:t>intervals</a:t>
            </a:r>
            <a:endParaRPr sz="350">
              <a:latin typeface="Helvetica"/>
              <a:cs typeface="Helvetica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2949451" y="886796"/>
            <a:ext cx="94615" cy="257810"/>
          </a:xfrm>
          <a:prstGeom prst="rect">
            <a:avLst/>
          </a:prstGeom>
        </p:spPr>
        <p:txBody>
          <a:bodyPr wrap="square" lIns="0" tIns="1143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-40">
                <a:latin typeface="Helvetica"/>
                <a:cs typeface="Helvetica"/>
              </a:rPr>
              <a:t>Replication</a:t>
            </a:r>
            <a:endParaRPr sz="450">
              <a:latin typeface="Helvetica"/>
              <a:cs typeface="Helvetica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3071665" y="368527"/>
            <a:ext cx="1200785" cy="958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50" spc="85" b="1">
                <a:latin typeface="Helvetica"/>
                <a:cs typeface="Helvetica"/>
              </a:rPr>
              <a:t>100</a:t>
            </a:r>
            <a:r>
              <a:rPr dirty="0" sz="450" spc="45" b="1">
                <a:latin typeface="Helvetica"/>
                <a:cs typeface="Helvetica"/>
              </a:rPr>
              <a:t> </a:t>
            </a:r>
            <a:r>
              <a:rPr dirty="0" sz="450" spc="55" b="1">
                <a:latin typeface="Helvetica"/>
                <a:cs typeface="Helvetica"/>
              </a:rPr>
              <a:t>CI's</a:t>
            </a:r>
            <a:r>
              <a:rPr dirty="0" sz="450" spc="45" b="1">
                <a:latin typeface="Helvetica"/>
                <a:cs typeface="Helvetica"/>
              </a:rPr>
              <a:t> </a:t>
            </a:r>
            <a:r>
              <a:rPr dirty="0" sz="450" spc="80" b="1">
                <a:latin typeface="Helvetica"/>
                <a:cs typeface="Helvetica"/>
              </a:rPr>
              <a:t>from</a:t>
            </a:r>
            <a:r>
              <a:rPr dirty="0" sz="450" spc="45" b="1">
                <a:latin typeface="Helvetica"/>
                <a:cs typeface="Helvetica"/>
              </a:rPr>
              <a:t> </a:t>
            </a:r>
            <a:r>
              <a:rPr dirty="0" sz="450" spc="90" b="1">
                <a:latin typeface="Helvetica"/>
                <a:cs typeface="Helvetica"/>
              </a:rPr>
              <a:t>samples</a:t>
            </a:r>
            <a:r>
              <a:rPr dirty="0" sz="450" spc="45" b="1">
                <a:latin typeface="Helvetica"/>
                <a:cs typeface="Helvetica"/>
              </a:rPr>
              <a:t> </a:t>
            </a:r>
            <a:r>
              <a:rPr dirty="0" sz="450" spc="70" b="1">
                <a:latin typeface="Helvetica"/>
                <a:cs typeface="Helvetica"/>
              </a:rPr>
              <a:t>of</a:t>
            </a:r>
            <a:r>
              <a:rPr dirty="0" sz="450" spc="45" b="1">
                <a:latin typeface="Helvetica"/>
                <a:cs typeface="Helvetica"/>
              </a:rPr>
              <a:t> </a:t>
            </a:r>
            <a:r>
              <a:rPr dirty="0" sz="450" spc="75" b="1">
                <a:latin typeface="Helvetica"/>
                <a:cs typeface="Helvetica"/>
              </a:rPr>
              <a:t>size</a:t>
            </a:r>
            <a:r>
              <a:rPr dirty="0" sz="450" spc="45" b="1">
                <a:latin typeface="Helvetica"/>
                <a:cs typeface="Helvetica"/>
              </a:rPr>
              <a:t> </a:t>
            </a:r>
            <a:r>
              <a:rPr dirty="0" sz="450" spc="60" b="1">
                <a:latin typeface="Helvetica"/>
                <a:cs typeface="Helvetica"/>
              </a:rPr>
              <a:t>30</a:t>
            </a:r>
            <a:endParaRPr sz="450">
              <a:latin typeface="Helvetica"/>
              <a:cs typeface="Helvetica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3750231" y="616104"/>
            <a:ext cx="344805" cy="819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70">
                <a:solidFill>
                  <a:srgbClr val="9400D3"/>
                </a:solidFill>
                <a:latin typeface="Helvetica"/>
                <a:cs typeface="Helvetica"/>
              </a:rPr>
              <a:t>no</a:t>
            </a:r>
            <a:r>
              <a:rPr dirty="0" sz="350" spc="45">
                <a:solidFill>
                  <a:srgbClr val="9400D3"/>
                </a:solidFill>
                <a:latin typeface="Helvetica"/>
                <a:cs typeface="Helvetica"/>
              </a:rPr>
              <a:t> </a:t>
            </a:r>
            <a:r>
              <a:rPr dirty="0" sz="350" spc="50">
                <a:solidFill>
                  <a:srgbClr val="9400D3"/>
                </a:solidFill>
                <a:latin typeface="Helvetica"/>
                <a:cs typeface="Helvetica"/>
              </a:rPr>
              <a:t>failed=</a:t>
            </a:r>
            <a:r>
              <a:rPr dirty="0" sz="350" spc="45">
                <a:solidFill>
                  <a:srgbClr val="9400D3"/>
                </a:solidFill>
                <a:latin typeface="Helvetica"/>
                <a:cs typeface="Helvetica"/>
              </a:rPr>
              <a:t> </a:t>
            </a:r>
            <a:r>
              <a:rPr dirty="0" sz="350" spc="20">
                <a:solidFill>
                  <a:srgbClr val="9400D3"/>
                </a:solidFill>
                <a:latin typeface="Helvetica"/>
                <a:cs typeface="Helvetica"/>
              </a:rPr>
              <a:t>3</a:t>
            </a:r>
            <a:endParaRPr sz="350">
              <a:latin typeface="Helvetica"/>
              <a:cs typeface="Helvetica"/>
            </a:endParaRPr>
          </a:p>
        </p:txBody>
      </p:sp>
      <p:grpSp>
        <p:nvGrpSpPr>
          <p:cNvPr id="45" name="object 45" descr=""/>
          <p:cNvGrpSpPr/>
          <p:nvPr/>
        </p:nvGrpSpPr>
        <p:grpSpPr>
          <a:xfrm>
            <a:off x="623906" y="2008143"/>
            <a:ext cx="881380" cy="995680"/>
            <a:chOff x="623906" y="2008143"/>
            <a:chExt cx="881380" cy="995680"/>
          </a:xfrm>
        </p:grpSpPr>
        <p:sp>
          <p:nvSpPr>
            <p:cNvPr id="46" name="object 46" descr=""/>
            <p:cNvSpPr/>
            <p:nvPr/>
          </p:nvSpPr>
          <p:spPr>
            <a:xfrm>
              <a:off x="623906" y="2010824"/>
              <a:ext cx="878205" cy="993140"/>
            </a:xfrm>
            <a:custGeom>
              <a:avLst/>
              <a:gdLst/>
              <a:ahLst/>
              <a:cxnLst/>
              <a:rect l="l" t="t" r="r" b="b"/>
              <a:pathLst>
                <a:path w="878205" h="993139">
                  <a:moveTo>
                    <a:pt x="55852" y="964975"/>
                  </a:moveTo>
                  <a:lnTo>
                    <a:pt x="776848" y="964975"/>
                  </a:lnTo>
                </a:path>
                <a:path w="878205" h="993139">
                  <a:moveTo>
                    <a:pt x="55852" y="964975"/>
                  </a:moveTo>
                  <a:lnTo>
                    <a:pt x="55852" y="992828"/>
                  </a:lnTo>
                </a:path>
                <a:path w="878205" h="993139">
                  <a:moveTo>
                    <a:pt x="236140" y="964975"/>
                  </a:moveTo>
                  <a:lnTo>
                    <a:pt x="236140" y="992828"/>
                  </a:lnTo>
                </a:path>
                <a:path w="878205" h="993139">
                  <a:moveTo>
                    <a:pt x="416350" y="964975"/>
                  </a:moveTo>
                  <a:lnTo>
                    <a:pt x="416350" y="992828"/>
                  </a:lnTo>
                </a:path>
                <a:path w="878205" h="993139">
                  <a:moveTo>
                    <a:pt x="596638" y="964975"/>
                  </a:moveTo>
                  <a:lnTo>
                    <a:pt x="596638" y="992828"/>
                  </a:lnTo>
                </a:path>
                <a:path w="878205" h="993139">
                  <a:moveTo>
                    <a:pt x="776848" y="964975"/>
                  </a:moveTo>
                  <a:lnTo>
                    <a:pt x="776848" y="992828"/>
                  </a:lnTo>
                </a:path>
                <a:path w="878205" h="993139">
                  <a:moveTo>
                    <a:pt x="36720" y="932840"/>
                  </a:moveTo>
                  <a:lnTo>
                    <a:pt x="36720" y="35711"/>
                  </a:lnTo>
                </a:path>
                <a:path w="878205" h="993139">
                  <a:moveTo>
                    <a:pt x="36720" y="932840"/>
                  </a:moveTo>
                  <a:lnTo>
                    <a:pt x="0" y="932840"/>
                  </a:lnTo>
                </a:path>
                <a:path w="878205" h="993139">
                  <a:moveTo>
                    <a:pt x="36720" y="753402"/>
                  </a:moveTo>
                  <a:lnTo>
                    <a:pt x="0" y="753402"/>
                  </a:lnTo>
                </a:path>
                <a:path w="878205" h="993139">
                  <a:moveTo>
                    <a:pt x="36720" y="573965"/>
                  </a:moveTo>
                  <a:lnTo>
                    <a:pt x="0" y="573965"/>
                  </a:lnTo>
                </a:path>
                <a:path w="878205" h="993139">
                  <a:moveTo>
                    <a:pt x="36720" y="394586"/>
                  </a:moveTo>
                  <a:lnTo>
                    <a:pt x="0" y="394586"/>
                  </a:lnTo>
                </a:path>
                <a:path w="878205" h="993139">
                  <a:moveTo>
                    <a:pt x="36720" y="215149"/>
                  </a:moveTo>
                  <a:lnTo>
                    <a:pt x="0" y="215149"/>
                  </a:lnTo>
                </a:path>
                <a:path w="878205" h="993139">
                  <a:moveTo>
                    <a:pt x="36720" y="35711"/>
                  </a:moveTo>
                  <a:lnTo>
                    <a:pt x="0" y="35711"/>
                  </a:lnTo>
                </a:path>
                <a:path w="878205" h="993139">
                  <a:moveTo>
                    <a:pt x="36720" y="964975"/>
                  </a:moveTo>
                  <a:lnTo>
                    <a:pt x="878140" y="964975"/>
                  </a:lnTo>
                  <a:lnTo>
                    <a:pt x="878140" y="0"/>
                  </a:lnTo>
                  <a:lnTo>
                    <a:pt x="36720" y="0"/>
                  </a:lnTo>
                  <a:lnTo>
                    <a:pt x="36720" y="964975"/>
                  </a:lnTo>
                </a:path>
              </a:pathLst>
            </a:custGeom>
            <a:ln w="50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819237" y="2046536"/>
              <a:ext cx="443865" cy="894080"/>
            </a:xfrm>
            <a:custGeom>
              <a:avLst/>
              <a:gdLst/>
              <a:ahLst/>
              <a:cxnLst/>
              <a:rect l="l" t="t" r="r" b="b"/>
              <a:pathLst>
                <a:path w="443865" h="894080">
                  <a:moveTo>
                    <a:pt x="117954" y="893493"/>
                  </a:moveTo>
                  <a:lnTo>
                    <a:pt x="341366" y="893493"/>
                  </a:lnTo>
                </a:path>
                <a:path w="443865" h="894080">
                  <a:moveTo>
                    <a:pt x="137317" y="889916"/>
                  </a:moveTo>
                  <a:lnTo>
                    <a:pt x="360729" y="889916"/>
                  </a:lnTo>
                </a:path>
                <a:path w="443865" h="894080">
                  <a:moveTo>
                    <a:pt x="113094" y="886339"/>
                  </a:moveTo>
                  <a:lnTo>
                    <a:pt x="336505" y="886339"/>
                  </a:lnTo>
                </a:path>
                <a:path w="443865" h="894080">
                  <a:moveTo>
                    <a:pt x="122043" y="882762"/>
                  </a:moveTo>
                  <a:lnTo>
                    <a:pt x="345454" y="882762"/>
                  </a:lnTo>
                </a:path>
                <a:path w="443865" h="894080">
                  <a:moveTo>
                    <a:pt x="169101" y="879185"/>
                  </a:moveTo>
                  <a:lnTo>
                    <a:pt x="392513" y="879185"/>
                  </a:lnTo>
                </a:path>
                <a:path w="443865" h="894080">
                  <a:moveTo>
                    <a:pt x="185456" y="875549"/>
                  </a:moveTo>
                  <a:lnTo>
                    <a:pt x="408867" y="875549"/>
                  </a:lnTo>
                </a:path>
                <a:path w="443865" h="894080">
                  <a:moveTo>
                    <a:pt x="87868" y="871972"/>
                  </a:moveTo>
                  <a:lnTo>
                    <a:pt x="311356" y="871972"/>
                  </a:lnTo>
                </a:path>
                <a:path w="443865" h="894080">
                  <a:moveTo>
                    <a:pt x="75910" y="868395"/>
                  </a:moveTo>
                  <a:lnTo>
                    <a:pt x="299322" y="868395"/>
                  </a:lnTo>
                </a:path>
                <a:path w="443865" h="894080">
                  <a:moveTo>
                    <a:pt x="0" y="861241"/>
                  </a:moveTo>
                  <a:lnTo>
                    <a:pt x="223488" y="861241"/>
                  </a:lnTo>
                </a:path>
                <a:path w="443865" h="894080">
                  <a:moveTo>
                    <a:pt x="184916" y="857664"/>
                  </a:moveTo>
                  <a:lnTo>
                    <a:pt x="408404" y="857664"/>
                  </a:lnTo>
                </a:path>
                <a:path w="443865" h="894080">
                  <a:moveTo>
                    <a:pt x="184453" y="854028"/>
                  </a:moveTo>
                  <a:lnTo>
                    <a:pt x="407942" y="854028"/>
                  </a:lnTo>
                </a:path>
                <a:path w="443865" h="894080">
                  <a:moveTo>
                    <a:pt x="35100" y="850451"/>
                  </a:moveTo>
                  <a:lnTo>
                    <a:pt x="258512" y="850451"/>
                  </a:lnTo>
                </a:path>
                <a:path w="443865" h="894080">
                  <a:moveTo>
                    <a:pt x="186304" y="846874"/>
                  </a:moveTo>
                  <a:lnTo>
                    <a:pt x="409716" y="846874"/>
                  </a:lnTo>
                </a:path>
                <a:path w="443865" h="894080">
                  <a:moveTo>
                    <a:pt x="80153" y="843297"/>
                  </a:moveTo>
                  <a:lnTo>
                    <a:pt x="303565" y="843297"/>
                  </a:lnTo>
                </a:path>
                <a:path w="443865" h="894080">
                  <a:moveTo>
                    <a:pt x="209988" y="839720"/>
                  </a:moveTo>
                  <a:lnTo>
                    <a:pt x="433399" y="839720"/>
                  </a:lnTo>
                </a:path>
                <a:path w="443865" h="894080">
                  <a:moveTo>
                    <a:pt x="63953" y="836084"/>
                  </a:moveTo>
                  <a:lnTo>
                    <a:pt x="287441" y="836084"/>
                  </a:lnTo>
                </a:path>
                <a:path w="443865" h="894080">
                  <a:moveTo>
                    <a:pt x="74290" y="832507"/>
                  </a:moveTo>
                  <a:lnTo>
                    <a:pt x="297702" y="832507"/>
                  </a:lnTo>
                </a:path>
                <a:path w="443865" h="894080">
                  <a:moveTo>
                    <a:pt x="31475" y="828930"/>
                  </a:moveTo>
                  <a:lnTo>
                    <a:pt x="254886" y="828930"/>
                  </a:lnTo>
                </a:path>
                <a:path w="443865" h="894080">
                  <a:moveTo>
                    <a:pt x="17974" y="825353"/>
                  </a:moveTo>
                  <a:lnTo>
                    <a:pt x="241386" y="825353"/>
                  </a:lnTo>
                </a:path>
                <a:path w="443865" h="894080">
                  <a:moveTo>
                    <a:pt x="91725" y="821776"/>
                  </a:moveTo>
                  <a:lnTo>
                    <a:pt x="315136" y="821776"/>
                  </a:lnTo>
                </a:path>
                <a:path w="443865" h="894080">
                  <a:moveTo>
                    <a:pt x="113480" y="818141"/>
                  </a:moveTo>
                  <a:lnTo>
                    <a:pt x="336968" y="818141"/>
                  </a:lnTo>
                </a:path>
                <a:path w="443865" h="894080">
                  <a:moveTo>
                    <a:pt x="78764" y="814564"/>
                  </a:moveTo>
                  <a:lnTo>
                    <a:pt x="302176" y="814564"/>
                  </a:lnTo>
                </a:path>
                <a:path w="443865" h="894080">
                  <a:moveTo>
                    <a:pt x="177047" y="810987"/>
                  </a:moveTo>
                  <a:lnTo>
                    <a:pt x="400536" y="810987"/>
                  </a:lnTo>
                </a:path>
                <a:path w="443865" h="894080">
                  <a:moveTo>
                    <a:pt x="126826" y="807410"/>
                  </a:moveTo>
                  <a:lnTo>
                    <a:pt x="350237" y="807410"/>
                  </a:lnTo>
                </a:path>
                <a:path w="443865" h="894080">
                  <a:moveTo>
                    <a:pt x="93962" y="803833"/>
                  </a:moveTo>
                  <a:lnTo>
                    <a:pt x="317374" y="803833"/>
                  </a:lnTo>
                </a:path>
                <a:path w="443865" h="894080">
                  <a:moveTo>
                    <a:pt x="17357" y="800197"/>
                  </a:moveTo>
                  <a:lnTo>
                    <a:pt x="240769" y="800197"/>
                  </a:lnTo>
                </a:path>
                <a:path w="443865" h="894080">
                  <a:moveTo>
                    <a:pt x="148812" y="793043"/>
                  </a:moveTo>
                  <a:lnTo>
                    <a:pt x="372301" y="793043"/>
                  </a:lnTo>
                </a:path>
                <a:path w="443865" h="894080">
                  <a:moveTo>
                    <a:pt x="81156" y="785889"/>
                  </a:moveTo>
                  <a:lnTo>
                    <a:pt x="304567" y="785889"/>
                  </a:lnTo>
                </a:path>
                <a:path w="443865" h="894080">
                  <a:moveTo>
                    <a:pt x="109314" y="778676"/>
                  </a:moveTo>
                  <a:lnTo>
                    <a:pt x="332725" y="778676"/>
                  </a:lnTo>
                </a:path>
                <a:path w="443865" h="894080">
                  <a:moveTo>
                    <a:pt x="155986" y="775099"/>
                  </a:moveTo>
                  <a:lnTo>
                    <a:pt x="379475" y="775099"/>
                  </a:lnTo>
                </a:path>
                <a:path w="443865" h="894080">
                  <a:moveTo>
                    <a:pt x="117800" y="771522"/>
                  </a:moveTo>
                  <a:lnTo>
                    <a:pt x="341211" y="771522"/>
                  </a:lnTo>
                </a:path>
                <a:path w="443865" h="894080">
                  <a:moveTo>
                    <a:pt x="85476" y="767945"/>
                  </a:moveTo>
                  <a:lnTo>
                    <a:pt x="308888" y="767945"/>
                  </a:lnTo>
                </a:path>
                <a:path w="443865" h="894080">
                  <a:moveTo>
                    <a:pt x="71821" y="764309"/>
                  </a:moveTo>
                  <a:lnTo>
                    <a:pt x="295233" y="764309"/>
                  </a:lnTo>
                </a:path>
                <a:path w="443865" h="894080">
                  <a:moveTo>
                    <a:pt x="75833" y="760732"/>
                  </a:moveTo>
                  <a:lnTo>
                    <a:pt x="299244" y="760732"/>
                  </a:lnTo>
                </a:path>
                <a:path w="443865" h="894080">
                  <a:moveTo>
                    <a:pt x="192013" y="757155"/>
                  </a:moveTo>
                  <a:lnTo>
                    <a:pt x="415502" y="757155"/>
                  </a:lnTo>
                </a:path>
                <a:path w="443865" h="894080">
                  <a:moveTo>
                    <a:pt x="133152" y="753578"/>
                  </a:moveTo>
                  <a:lnTo>
                    <a:pt x="356640" y="753578"/>
                  </a:lnTo>
                </a:path>
                <a:path w="443865" h="894080">
                  <a:moveTo>
                    <a:pt x="61561" y="750001"/>
                  </a:moveTo>
                  <a:lnTo>
                    <a:pt x="284973" y="750001"/>
                  </a:lnTo>
                </a:path>
                <a:path w="443865" h="894080">
                  <a:moveTo>
                    <a:pt x="99748" y="746424"/>
                  </a:moveTo>
                  <a:lnTo>
                    <a:pt x="323237" y="746424"/>
                  </a:lnTo>
                </a:path>
                <a:path w="443865" h="894080">
                  <a:moveTo>
                    <a:pt x="96353" y="742789"/>
                  </a:moveTo>
                  <a:lnTo>
                    <a:pt x="319842" y="742789"/>
                  </a:lnTo>
                </a:path>
                <a:path w="443865" h="894080">
                  <a:moveTo>
                    <a:pt x="64801" y="739212"/>
                  </a:moveTo>
                  <a:lnTo>
                    <a:pt x="288213" y="739212"/>
                  </a:lnTo>
                </a:path>
                <a:path w="443865" h="894080">
                  <a:moveTo>
                    <a:pt x="47444" y="735635"/>
                  </a:moveTo>
                  <a:lnTo>
                    <a:pt x="270932" y="735635"/>
                  </a:lnTo>
                </a:path>
                <a:path w="443865" h="894080">
                  <a:moveTo>
                    <a:pt x="97819" y="732058"/>
                  </a:moveTo>
                  <a:lnTo>
                    <a:pt x="321231" y="732058"/>
                  </a:lnTo>
                </a:path>
                <a:path w="443865" h="894080">
                  <a:moveTo>
                    <a:pt x="77222" y="728481"/>
                  </a:moveTo>
                  <a:lnTo>
                    <a:pt x="300710" y="728481"/>
                  </a:lnTo>
                </a:path>
                <a:path w="443865" h="894080">
                  <a:moveTo>
                    <a:pt x="147732" y="724845"/>
                  </a:moveTo>
                  <a:lnTo>
                    <a:pt x="371144" y="724845"/>
                  </a:lnTo>
                </a:path>
                <a:path w="443865" h="894080">
                  <a:moveTo>
                    <a:pt x="111782" y="721268"/>
                  </a:moveTo>
                  <a:lnTo>
                    <a:pt x="335271" y="721268"/>
                  </a:lnTo>
                </a:path>
                <a:path w="443865" h="894080">
                  <a:moveTo>
                    <a:pt x="92110" y="714114"/>
                  </a:moveTo>
                  <a:lnTo>
                    <a:pt x="315522" y="714114"/>
                  </a:lnTo>
                </a:path>
                <a:path w="443865" h="894080">
                  <a:moveTo>
                    <a:pt x="25766" y="710537"/>
                  </a:moveTo>
                  <a:lnTo>
                    <a:pt x="249177" y="710537"/>
                  </a:lnTo>
                </a:path>
                <a:path w="443865" h="894080">
                  <a:moveTo>
                    <a:pt x="158764" y="706901"/>
                  </a:moveTo>
                  <a:lnTo>
                    <a:pt x="382175" y="706901"/>
                  </a:lnTo>
                </a:path>
                <a:path w="443865" h="894080">
                  <a:moveTo>
                    <a:pt x="62564" y="703324"/>
                  </a:moveTo>
                  <a:lnTo>
                    <a:pt x="285976" y="703324"/>
                  </a:lnTo>
                </a:path>
                <a:path w="443865" h="894080">
                  <a:moveTo>
                    <a:pt x="74136" y="699747"/>
                  </a:moveTo>
                  <a:lnTo>
                    <a:pt x="297547" y="699747"/>
                  </a:lnTo>
                </a:path>
                <a:path w="443865" h="894080">
                  <a:moveTo>
                    <a:pt x="161078" y="696170"/>
                  </a:moveTo>
                  <a:lnTo>
                    <a:pt x="384567" y="696170"/>
                  </a:lnTo>
                </a:path>
                <a:path w="443865" h="894080">
                  <a:moveTo>
                    <a:pt x="69353" y="692593"/>
                  </a:moveTo>
                  <a:lnTo>
                    <a:pt x="292764" y="692593"/>
                  </a:lnTo>
                </a:path>
                <a:path w="443865" h="894080">
                  <a:moveTo>
                    <a:pt x="76373" y="688957"/>
                  </a:moveTo>
                  <a:lnTo>
                    <a:pt x="299785" y="688957"/>
                  </a:lnTo>
                </a:path>
                <a:path w="443865" h="894080">
                  <a:moveTo>
                    <a:pt x="120808" y="685380"/>
                  </a:moveTo>
                  <a:lnTo>
                    <a:pt x="344220" y="685380"/>
                  </a:lnTo>
                </a:path>
                <a:path w="443865" h="894080">
                  <a:moveTo>
                    <a:pt x="99131" y="681803"/>
                  </a:moveTo>
                  <a:lnTo>
                    <a:pt x="322619" y="681803"/>
                  </a:lnTo>
                </a:path>
                <a:path w="443865" h="894080">
                  <a:moveTo>
                    <a:pt x="217779" y="674649"/>
                  </a:moveTo>
                  <a:lnTo>
                    <a:pt x="441191" y="674649"/>
                  </a:lnTo>
                </a:path>
                <a:path w="443865" h="894080">
                  <a:moveTo>
                    <a:pt x="154289" y="671014"/>
                  </a:moveTo>
                  <a:lnTo>
                    <a:pt x="377778" y="671014"/>
                  </a:lnTo>
                </a:path>
                <a:path w="443865" h="894080">
                  <a:moveTo>
                    <a:pt x="115717" y="667437"/>
                  </a:moveTo>
                  <a:lnTo>
                    <a:pt x="339128" y="667437"/>
                  </a:lnTo>
                </a:path>
                <a:path w="443865" h="894080">
                  <a:moveTo>
                    <a:pt x="149043" y="663860"/>
                  </a:moveTo>
                  <a:lnTo>
                    <a:pt x="372455" y="663860"/>
                  </a:lnTo>
                </a:path>
                <a:path w="443865" h="894080">
                  <a:moveTo>
                    <a:pt x="100365" y="660283"/>
                  </a:moveTo>
                  <a:lnTo>
                    <a:pt x="323777" y="660283"/>
                  </a:lnTo>
                </a:path>
                <a:path w="443865" h="894080">
                  <a:moveTo>
                    <a:pt x="163624" y="656706"/>
                  </a:moveTo>
                  <a:lnTo>
                    <a:pt x="387113" y="656706"/>
                  </a:lnTo>
                </a:path>
                <a:path w="443865" h="894080">
                  <a:moveTo>
                    <a:pt x="176198" y="653070"/>
                  </a:moveTo>
                  <a:lnTo>
                    <a:pt x="399687" y="653070"/>
                  </a:lnTo>
                </a:path>
                <a:path w="443865" h="894080">
                  <a:moveTo>
                    <a:pt x="111705" y="649493"/>
                  </a:moveTo>
                  <a:lnTo>
                    <a:pt x="335194" y="649493"/>
                  </a:lnTo>
                </a:path>
                <a:path w="443865" h="894080">
                  <a:moveTo>
                    <a:pt x="172881" y="645916"/>
                  </a:moveTo>
                  <a:lnTo>
                    <a:pt x="396370" y="645916"/>
                  </a:lnTo>
                </a:path>
                <a:path w="443865" h="894080">
                  <a:moveTo>
                    <a:pt x="203739" y="642339"/>
                  </a:moveTo>
                  <a:lnTo>
                    <a:pt x="427151" y="642339"/>
                  </a:lnTo>
                </a:path>
                <a:path w="443865" h="894080">
                  <a:moveTo>
                    <a:pt x="123123" y="638762"/>
                  </a:moveTo>
                  <a:lnTo>
                    <a:pt x="346534" y="638762"/>
                  </a:lnTo>
                </a:path>
                <a:path w="443865" h="894080">
                  <a:moveTo>
                    <a:pt x="56238" y="635126"/>
                  </a:moveTo>
                  <a:lnTo>
                    <a:pt x="279650" y="635126"/>
                  </a:lnTo>
                </a:path>
                <a:path w="443865" h="894080">
                  <a:moveTo>
                    <a:pt x="88099" y="631549"/>
                  </a:moveTo>
                  <a:lnTo>
                    <a:pt x="311511" y="631549"/>
                  </a:lnTo>
                </a:path>
                <a:path w="443865" h="894080">
                  <a:moveTo>
                    <a:pt x="109622" y="627972"/>
                  </a:moveTo>
                  <a:lnTo>
                    <a:pt x="333111" y="627972"/>
                  </a:lnTo>
                </a:path>
                <a:path w="443865" h="894080">
                  <a:moveTo>
                    <a:pt x="164935" y="624395"/>
                  </a:moveTo>
                  <a:lnTo>
                    <a:pt x="388347" y="624395"/>
                  </a:lnTo>
                </a:path>
                <a:path w="443865" h="894080">
                  <a:moveTo>
                    <a:pt x="152901" y="617241"/>
                  </a:moveTo>
                  <a:lnTo>
                    <a:pt x="376312" y="617241"/>
                  </a:lnTo>
                </a:path>
                <a:path w="443865" h="894080">
                  <a:moveTo>
                    <a:pt x="148503" y="613605"/>
                  </a:moveTo>
                  <a:lnTo>
                    <a:pt x="371915" y="613605"/>
                  </a:lnTo>
                </a:path>
                <a:path w="443865" h="894080">
                  <a:moveTo>
                    <a:pt x="107925" y="610028"/>
                  </a:moveTo>
                  <a:lnTo>
                    <a:pt x="331337" y="610028"/>
                  </a:lnTo>
                </a:path>
                <a:path w="443865" h="894080">
                  <a:moveTo>
                    <a:pt x="187770" y="606451"/>
                  </a:moveTo>
                  <a:lnTo>
                    <a:pt x="411182" y="606451"/>
                  </a:lnTo>
                </a:path>
                <a:path w="443865" h="894080">
                  <a:moveTo>
                    <a:pt x="75679" y="602874"/>
                  </a:moveTo>
                  <a:lnTo>
                    <a:pt x="299090" y="602874"/>
                  </a:lnTo>
                </a:path>
                <a:path w="443865" h="894080">
                  <a:moveTo>
                    <a:pt x="106845" y="599297"/>
                  </a:moveTo>
                  <a:lnTo>
                    <a:pt x="330334" y="599297"/>
                  </a:lnTo>
                </a:path>
                <a:path w="443865" h="894080">
                  <a:moveTo>
                    <a:pt x="106922" y="595662"/>
                  </a:moveTo>
                  <a:lnTo>
                    <a:pt x="330411" y="595662"/>
                  </a:lnTo>
                </a:path>
                <a:path w="443865" h="894080">
                  <a:moveTo>
                    <a:pt x="120731" y="592085"/>
                  </a:moveTo>
                  <a:lnTo>
                    <a:pt x="344220" y="592085"/>
                  </a:lnTo>
                </a:path>
                <a:path w="443865" h="894080">
                  <a:moveTo>
                    <a:pt x="90953" y="588508"/>
                  </a:moveTo>
                  <a:lnTo>
                    <a:pt x="314442" y="588508"/>
                  </a:lnTo>
                </a:path>
                <a:path w="443865" h="894080">
                  <a:moveTo>
                    <a:pt x="141175" y="584931"/>
                  </a:moveTo>
                  <a:lnTo>
                    <a:pt x="364663" y="584931"/>
                  </a:lnTo>
                </a:path>
                <a:path w="443865" h="894080">
                  <a:moveTo>
                    <a:pt x="102988" y="581354"/>
                  </a:moveTo>
                  <a:lnTo>
                    <a:pt x="326399" y="581354"/>
                  </a:lnTo>
                </a:path>
                <a:path w="443865" h="894080">
                  <a:moveTo>
                    <a:pt x="201116" y="577718"/>
                  </a:moveTo>
                  <a:lnTo>
                    <a:pt x="424528" y="577718"/>
                  </a:lnTo>
                </a:path>
                <a:path w="443865" h="894080">
                  <a:moveTo>
                    <a:pt x="128600" y="574141"/>
                  </a:moveTo>
                  <a:lnTo>
                    <a:pt x="352012" y="574141"/>
                  </a:lnTo>
                </a:path>
                <a:path w="443865" h="894080">
                  <a:moveTo>
                    <a:pt x="91108" y="570564"/>
                  </a:moveTo>
                  <a:lnTo>
                    <a:pt x="314596" y="570564"/>
                  </a:lnTo>
                </a:path>
                <a:path w="443865" h="894080">
                  <a:moveTo>
                    <a:pt x="61330" y="566987"/>
                  </a:moveTo>
                  <a:lnTo>
                    <a:pt x="284741" y="566987"/>
                  </a:lnTo>
                </a:path>
                <a:path w="443865" h="894080">
                  <a:moveTo>
                    <a:pt x="67347" y="563410"/>
                  </a:moveTo>
                  <a:lnTo>
                    <a:pt x="290759" y="563410"/>
                  </a:lnTo>
                </a:path>
                <a:path w="443865" h="894080">
                  <a:moveTo>
                    <a:pt x="96508" y="559774"/>
                  </a:moveTo>
                  <a:lnTo>
                    <a:pt x="319996" y="559774"/>
                  </a:lnTo>
                </a:path>
                <a:path w="443865" h="894080">
                  <a:moveTo>
                    <a:pt x="61021" y="556197"/>
                  </a:moveTo>
                  <a:lnTo>
                    <a:pt x="284510" y="556197"/>
                  </a:lnTo>
                </a:path>
                <a:path w="443865" h="894080">
                  <a:moveTo>
                    <a:pt x="44204" y="552620"/>
                  </a:moveTo>
                  <a:lnTo>
                    <a:pt x="267615" y="552620"/>
                  </a:lnTo>
                </a:path>
                <a:path w="443865" h="894080">
                  <a:moveTo>
                    <a:pt x="137009" y="549043"/>
                  </a:moveTo>
                  <a:lnTo>
                    <a:pt x="360498" y="549043"/>
                  </a:lnTo>
                </a:path>
                <a:path w="443865" h="894080">
                  <a:moveTo>
                    <a:pt x="118571" y="545466"/>
                  </a:moveTo>
                  <a:lnTo>
                    <a:pt x="341983" y="545466"/>
                  </a:lnTo>
                </a:path>
                <a:path w="443865" h="894080">
                  <a:moveTo>
                    <a:pt x="49064" y="541830"/>
                  </a:moveTo>
                  <a:lnTo>
                    <a:pt x="272475" y="541830"/>
                  </a:lnTo>
                </a:path>
                <a:path w="443865" h="894080">
                  <a:moveTo>
                    <a:pt x="57241" y="538253"/>
                  </a:moveTo>
                  <a:lnTo>
                    <a:pt x="280730" y="538253"/>
                  </a:lnTo>
                </a:path>
                <a:path w="443865" h="894080">
                  <a:moveTo>
                    <a:pt x="113480" y="534676"/>
                  </a:moveTo>
                  <a:lnTo>
                    <a:pt x="336891" y="534676"/>
                  </a:lnTo>
                </a:path>
                <a:path w="443865" h="894080">
                  <a:moveTo>
                    <a:pt x="25612" y="531099"/>
                  </a:moveTo>
                  <a:lnTo>
                    <a:pt x="249023" y="531099"/>
                  </a:lnTo>
                </a:path>
                <a:path w="443865" h="894080">
                  <a:moveTo>
                    <a:pt x="186536" y="527522"/>
                  </a:moveTo>
                  <a:lnTo>
                    <a:pt x="410025" y="527522"/>
                  </a:lnTo>
                </a:path>
                <a:path w="443865" h="894080">
                  <a:moveTo>
                    <a:pt x="165707" y="523887"/>
                  </a:moveTo>
                  <a:lnTo>
                    <a:pt x="389118" y="523887"/>
                  </a:lnTo>
                </a:path>
                <a:path w="443865" h="894080">
                  <a:moveTo>
                    <a:pt x="99748" y="520310"/>
                  </a:moveTo>
                  <a:lnTo>
                    <a:pt x="323237" y="520310"/>
                  </a:lnTo>
                </a:path>
                <a:path w="443865" h="894080">
                  <a:moveTo>
                    <a:pt x="219862" y="516733"/>
                  </a:moveTo>
                  <a:lnTo>
                    <a:pt x="443351" y="516733"/>
                  </a:lnTo>
                </a:path>
                <a:path w="443865" h="894080">
                  <a:moveTo>
                    <a:pt x="163469" y="513156"/>
                  </a:moveTo>
                  <a:lnTo>
                    <a:pt x="386958" y="513156"/>
                  </a:lnTo>
                </a:path>
                <a:path w="443865" h="894080">
                  <a:moveTo>
                    <a:pt x="128754" y="509579"/>
                  </a:moveTo>
                  <a:lnTo>
                    <a:pt x="352243" y="509579"/>
                  </a:lnTo>
                </a:path>
                <a:path w="443865" h="894080">
                  <a:moveTo>
                    <a:pt x="143412" y="506002"/>
                  </a:moveTo>
                  <a:lnTo>
                    <a:pt x="366901" y="506002"/>
                  </a:lnTo>
                </a:path>
                <a:path w="443865" h="894080">
                  <a:moveTo>
                    <a:pt x="148735" y="502366"/>
                  </a:moveTo>
                  <a:lnTo>
                    <a:pt x="372224" y="502366"/>
                  </a:lnTo>
                </a:path>
                <a:path w="443865" h="894080">
                  <a:moveTo>
                    <a:pt x="57087" y="498789"/>
                  </a:moveTo>
                  <a:lnTo>
                    <a:pt x="280498" y="498789"/>
                  </a:lnTo>
                </a:path>
                <a:path w="443865" h="894080">
                  <a:moveTo>
                    <a:pt x="60790" y="495212"/>
                  </a:moveTo>
                  <a:lnTo>
                    <a:pt x="284201" y="495212"/>
                  </a:lnTo>
                </a:path>
                <a:path w="443865" h="894080">
                  <a:moveTo>
                    <a:pt x="53924" y="491635"/>
                  </a:moveTo>
                  <a:lnTo>
                    <a:pt x="277335" y="491635"/>
                  </a:lnTo>
                </a:path>
                <a:path w="443865" h="894080">
                  <a:moveTo>
                    <a:pt x="17126" y="488058"/>
                  </a:moveTo>
                  <a:lnTo>
                    <a:pt x="240537" y="488058"/>
                  </a:lnTo>
                </a:path>
                <a:path w="443865" h="894080">
                  <a:moveTo>
                    <a:pt x="158687" y="484422"/>
                  </a:moveTo>
                  <a:lnTo>
                    <a:pt x="382175" y="484422"/>
                  </a:lnTo>
                </a:path>
                <a:path w="443865" h="894080">
                  <a:moveTo>
                    <a:pt x="74984" y="480845"/>
                  </a:moveTo>
                  <a:lnTo>
                    <a:pt x="298396" y="480845"/>
                  </a:lnTo>
                </a:path>
                <a:path w="443865" h="894080">
                  <a:moveTo>
                    <a:pt x="47829" y="477268"/>
                  </a:moveTo>
                  <a:lnTo>
                    <a:pt x="271241" y="477268"/>
                  </a:lnTo>
                </a:path>
                <a:path w="443865" h="894080">
                  <a:moveTo>
                    <a:pt x="39035" y="473691"/>
                  </a:moveTo>
                  <a:lnTo>
                    <a:pt x="262446" y="473691"/>
                  </a:lnTo>
                </a:path>
                <a:path w="443865" h="894080">
                  <a:moveTo>
                    <a:pt x="150123" y="470114"/>
                  </a:moveTo>
                  <a:lnTo>
                    <a:pt x="373612" y="470114"/>
                  </a:lnTo>
                </a:path>
                <a:path w="443865" h="894080">
                  <a:moveTo>
                    <a:pt x="125900" y="466478"/>
                  </a:moveTo>
                  <a:lnTo>
                    <a:pt x="349389" y="466478"/>
                  </a:lnTo>
                </a:path>
                <a:path w="443865" h="894080">
                  <a:moveTo>
                    <a:pt x="136700" y="462901"/>
                  </a:moveTo>
                  <a:lnTo>
                    <a:pt x="360189" y="462901"/>
                  </a:lnTo>
                </a:path>
                <a:path w="443865" h="894080">
                  <a:moveTo>
                    <a:pt x="179438" y="459324"/>
                  </a:moveTo>
                  <a:lnTo>
                    <a:pt x="402927" y="459324"/>
                  </a:lnTo>
                </a:path>
                <a:path w="443865" h="894080">
                  <a:moveTo>
                    <a:pt x="37800" y="455747"/>
                  </a:moveTo>
                  <a:lnTo>
                    <a:pt x="261212" y="455747"/>
                  </a:lnTo>
                </a:path>
                <a:path w="443865" h="894080">
                  <a:moveTo>
                    <a:pt x="78996" y="452170"/>
                  </a:moveTo>
                  <a:lnTo>
                    <a:pt x="302407" y="452170"/>
                  </a:lnTo>
                </a:path>
                <a:path w="443865" h="894080">
                  <a:moveTo>
                    <a:pt x="145649" y="448535"/>
                  </a:moveTo>
                  <a:lnTo>
                    <a:pt x="369138" y="448535"/>
                  </a:lnTo>
                </a:path>
                <a:path w="443865" h="894080">
                  <a:moveTo>
                    <a:pt x="203816" y="441381"/>
                  </a:moveTo>
                  <a:lnTo>
                    <a:pt x="427228" y="441381"/>
                  </a:lnTo>
                </a:path>
                <a:path w="443865" h="894080">
                  <a:moveTo>
                    <a:pt x="103142" y="437804"/>
                  </a:moveTo>
                  <a:lnTo>
                    <a:pt x="326554" y="437804"/>
                  </a:lnTo>
                </a:path>
                <a:path w="443865" h="894080">
                  <a:moveTo>
                    <a:pt x="137395" y="434227"/>
                  </a:moveTo>
                  <a:lnTo>
                    <a:pt x="360883" y="434227"/>
                  </a:lnTo>
                </a:path>
                <a:path w="443865" h="894080">
                  <a:moveTo>
                    <a:pt x="41041" y="430591"/>
                  </a:moveTo>
                  <a:lnTo>
                    <a:pt x="264529" y="430591"/>
                  </a:lnTo>
                </a:path>
                <a:path w="443865" h="894080">
                  <a:moveTo>
                    <a:pt x="25766" y="427014"/>
                  </a:moveTo>
                  <a:lnTo>
                    <a:pt x="249255" y="427014"/>
                  </a:lnTo>
                </a:path>
                <a:path w="443865" h="894080">
                  <a:moveTo>
                    <a:pt x="56392" y="423437"/>
                  </a:moveTo>
                  <a:lnTo>
                    <a:pt x="279804" y="423437"/>
                  </a:lnTo>
                </a:path>
                <a:path w="443865" h="894080">
                  <a:moveTo>
                    <a:pt x="187230" y="419860"/>
                  </a:moveTo>
                  <a:lnTo>
                    <a:pt x="410642" y="419860"/>
                  </a:lnTo>
                </a:path>
                <a:path w="443865" h="894080">
                  <a:moveTo>
                    <a:pt x="153672" y="416283"/>
                  </a:moveTo>
                  <a:lnTo>
                    <a:pt x="377084" y="416283"/>
                  </a:lnTo>
                </a:path>
                <a:path w="443865" h="894080">
                  <a:moveTo>
                    <a:pt x="121657" y="412647"/>
                  </a:moveTo>
                  <a:lnTo>
                    <a:pt x="345069" y="412647"/>
                  </a:lnTo>
                </a:path>
                <a:path w="443865" h="894080">
                  <a:moveTo>
                    <a:pt x="34869" y="409070"/>
                  </a:moveTo>
                  <a:lnTo>
                    <a:pt x="258281" y="409070"/>
                  </a:lnTo>
                </a:path>
                <a:path w="443865" h="894080">
                  <a:moveTo>
                    <a:pt x="193710" y="405493"/>
                  </a:moveTo>
                  <a:lnTo>
                    <a:pt x="417199" y="405493"/>
                  </a:lnTo>
                </a:path>
                <a:path w="443865" h="894080">
                  <a:moveTo>
                    <a:pt x="35872" y="401916"/>
                  </a:moveTo>
                  <a:lnTo>
                    <a:pt x="259283" y="401916"/>
                  </a:lnTo>
                </a:path>
                <a:path w="443865" h="894080">
                  <a:moveTo>
                    <a:pt x="123817" y="398339"/>
                  </a:moveTo>
                  <a:lnTo>
                    <a:pt x="347229" y="398339"/>
                  </a:lnTo>
                </a:path>
                <a:path w="443865" h="894080">
                  <a:moveTo>
                    <a:pt x="114251" y="394703"/>
                  </a:moveTo>
                  <a:lnTo>
                    <a:pt x="337663" y="394703"/>
                  </a:lnTo>
                </a:path>
                <a:path w="443865" h="894080">
                  <a:moveTo>
                    <a:pt x="92342" y="391126"/>
                  </a:moveTo>
                  <a:lnTo>
                    <a:pt x="315831" y="391126"/>
                  </a:lnTo>
                </a:path>
                <a:path w="443865" h="894080">
                  <a:moveTo>
                    <a:pt x="44126" y="387549"/>
                  </a:moveTo>
                  <a:lnTo>
                    <a:pt x="267615" y="387549"/>
                  </a:lnTo>
                </a:path>
                <a:path w="443865" h="894080">
                  <a:moveTo>
                    <a:pt x="72053" y="383972"/>
                  </a:moveTo>
                  <a:lnTo>
                    <a:pt x="295542" y="383972"/>
                  </a:lnTo>
                </a:path>
                <a:path w="443865" h="894080">
                  <a:moveTo>
                    <a:pt x="167712" y="380395"/>
                  </a:moveTo>
                  <a:lnTo>
                    <a:pt x="391124" y="380395"/>
                  </a:lnTo>
                </a:path>
                <a:path w="443865" h="894080">
                  <a:moveTo>
                    <a:pt x="81464" y="376818"/>
                  </a:moveTo>
                  <a:lnTo>
                    <a:pt x="304953" y="376818"/>
                  </a:lnTo>
                </a:path>
                <a:path w="443865" h="894080">
                  <a:moveTo>
                    <a:pt x="83393" y="373183"/>
                  </a:moveTo>
                  <a:lnTo>
                    <a:pt x="306882" y="373183"/>
                  </a:lnTo>
                </a:path>
                <a:path w="443865" h="894080">
                  <a:moveTo>
                    <a:pt x="28389" y="369606"/>
                  </a:moveTo>
                  <a:lnTo>
                    <a:pt x="251878" y="369606"/>
                  </a:lnTo>
                </a:path>
                <a:path w="443865" h="894080">
                  <a:moveTo>
                    <a:pt x="83393" y="366029"/>
                  </a:moveTo>
                  <a:lnTo>
                    <a:pt x="306882" y="366029"/>
                  </a:lnTo>
                </a:path>
                <a:path w="443865" h="894080">
                  <a:moveTo>
                    <a:pt x="129989" y="362452"/>
                  </a:moveTo>
                  <a:lnTo>
                    <a:pt x="353477" y="362452"/>
                  </a:lnTo>
                </a:path>
                <a:path w="443865" h="894080">
                  <a:moveTo>
                    <a:pt x="54155" y="358875"/>
                  </a:moveTo>
                  <a:lnTo>
                    <a:pt x="277567" y="358875"/>
                  </a:lnTo>
                </a:path>
                <a:path w="443865" h="894080">
                  <a:moveTo>
                    <a:pt x="164087" y="355239"/>
                  </a:moveTo>
                  <a:lnTo>
                    <a:pt x="387575" y="355239"/>
                  </a:lnTo>
                </a:path>
                <a:path w="443865" h="894080">
                  <a:moveTo>
                    <a:pt x="115485" y="351662"/>
                  </a:moveTo>
                  <a:lnTo>
                    <a:pt x="338897" y="351662"/>
                  </a:lnTo>
                </a:path>
                <a:path w="443865" h="894080">
                  <a:moveTo>
                    <a:pt x="44666" y="348085"/>
                  </a:moveTo>
                  <a:lnTo>
                    <a:pt x="268155" y="348085"/>
                  </a:lnTo>
                </a:path>
                <a:path w="443865" h="894080">
                  <a:moveTo>
                    <a:pt x="185224" y="344508"/>
                  </a:moveTo>
                  <a:lnTo>
                    <a:pt x="408636" y="344508"/>
                  </a:lnTo>
                </a:path>
                <a:path w="443865" h="894080">
                  <a:moveTo>
                    <a:pt x="82776" y="340931"/>
                  </a:moveTo>
                  <a:lnTo>
                    <a:pt x="306188" y="340931"/>
                  </a:lnTo>
                </a:path>
                <a:path w="443865" h="894080">
                  <a:moveTo>
                    <a:pt x="191165" y="337295"/>
                  </a:moveTo>
                  <a:lnTo>
                    <a:pt x="414653" y="337295"/>
                  </a:lnTo>
                </a:path>
                <a:path w="443865" h="894080">
                  <a:moveTo>
                    <a:pt x="128986" y="333718"/>
                  </a:moveTo>
                  <a:lnTo>
                    <a:pt x="352474" y="333718"/>
                  </a:lnTo>
                </a:path>
                <a:path w="443865" h="894080">
                  <a:moveTo>
                    <a:pt x="50761" y="330141"/>
                  </a:moveTo>
                  <a:lnTo>
                    <a:pt x="274172" y="330141"/>
                  </a:lnTo>
                </a:path>
                <a:path w="443865" h="894080">
                  <a:moveTo>
                    <a:pt x="74676" y="326564"/>
                  </a:moveTo>
                  <a:lnTo>
                    <a:pt x="298087" y="326564"/>
                  </a:lnTo>
                </a:path>
                <a:path w="443865" h="894080">
                  <a:moveTo>
                    <a:pt x="64184" y="322987"/>
                  </a:moveTo>
                  <a:lnTo>
                    <a:pt x="287673" y="322987"/>
                  </a:lnTo>
                </a:path>
                <a:path w="443865" h="894080">
                  <a:moveTo>
                    <a:pt x="112785" y="319351"/>
                  </a:moveTo>
                  <a:lnTo>
                    <a:pt x="336274" y="319351"/>
                  </a:lnTo>
                </a:path>
                <a:path w="443865" h="894080">
                  <a:moveTo>
                    <a:pt x="31320" y="315774"/>
                  </a:moveTo>
                  <a:lnTo>
                    <a:pt x="254732" y="315774"/>
                  </a:lnTo>
                </a:path>
                <a:path w="443865" h="894080">
                  <a:moveTo>
                    <a:pt x="60944" y="312197"/>
                  </a:moveTo>
                  <a:lnTo>
                    <a:pt x="284356" y="312197"/>
                  </a:lnTo>
                </a:path>
                <a:path w="443865" h="894080">
                  <a:moveTo>
                    <a:pt x="28312" y="308620"/>
                  </a:moveTo>
                  <a:lnTo>
                    <a:pt x="251723" y="308620"/>
                  </a:lnTo>
                </a:path>
                <a:path w="443865" h="894080">
                  <a:moveTo>
                    <a:pt x="9411" y="305043"/>
                  </a:moveTo>
                  <a:lnTo>
                    <a:pt x="232900" y="305043"/>
                  </a:lnTo>
                </a:path>
                <a:path w="443865" h="894080">
                  <a:moveTo>
                    <a:pt x="132997" y="301408"/>
                  </a:moveTo>
                  <a:lnTo>
                    <a:pt x="356409" y="301408"/>
                  </a:lnTo>
                </a:path>
                <a:path w="443865" h="894080">
                  <a:moveTo>
                    <a:pt x="133074" y="297831"/>
                  </a:moveTo>
                  <a:lnTo>
                    <a:pt x="356563" y="297831"/>
                  </a:lnTo>
                </a:path>
                <a:path w="443865" h="894080">
                  <a:moveTo>
                    <a:pt x="102294" y="294254"/>
                  </a:moveTo>
                  <a:lnTo>
                    <a:pt x="325782" y="294254"/>
                  </a:lnTo>
                </a:path>
                <a:path w="443865" h="894080">
                  <a:moveTo>
                    <a:pt x="85630" y="290677"/>
                  </a:moveTo>
                  <a:lnTo>
                    <a:pt x="309042" y="290677"/>
                  </a:lnTo>
                </a:path>
                <a:path w="443865" h="894080">
                  <a:moveTo>
                    <a:pt x="71436" y="287100"/>
                  </a:moveTo>
                  <a:lnTo>
                    <a:pt x="294924" y="287100"/>
                  </a:lnTo>
                </a:path>
                <a:path w="443865" h="894080">
                  <a:moveTo>
                    <a:pt x="52458" y="283464"/>
                  </a:moveTo>
                  <a:lnTo>
                    <a:pt x="275870" y="283464"/>
                  </a:lnTo>
                </a:path>
                <a:path w="443865" h="894080">
                  <a:moveTo>
                    <a:pt x="60018" y="279887"/>
                  </a:moveTo>
                  <a:lnTo>
                    <a:pt x="283430" y="279887"/>
                  </a:lnTo>
                </a:path>
                <a:path w="443865" h="894080">
                  <a:moveTo>
                    <a:pt x="143720" y="276310"/>
                  </a:moveTo>
                  <a:lnTo>
                    <a:pt x="367132" y="276310"/>
                  </a:lnTo>
                </a:path>
                <a:path w="443865" h="894080">
                  <a:moveTo>
                    <a:pt x="105225" y="272733"/>
                  </a:moveTo>
                  <a:lnTo>
                    <a:pt x="328637" y="272733"/>
                  </a:lnTo>
                </a:path>
                <a:path w="443865" h="894080">
                  <a:moveTo>
                    <a:pt x="159381" y="269156"/>
                  </a:moveTo>
                  <a:lnTo>
                    <a:pt x="382870" y="269156"/>
                  </a:lnTo>
                </a:path>
                <a:path w="443865" h="894080">
                  <a:moveTo>
                    <a:pt x="90028" y="265520"/>
                  </a:moveTo>
                  <a:lnTo>
                    <a:pt x="313439" y="265520"/>
                  </a:lnTo>
                </a:path>
                <a:path w="443865" h="894080">
                  <a:moveTo>
                    <a:pt x="51069" y="261943"/>
                  </a:moveTo>
                  <a:lnTo>
                    <a:pt x="274481" y="261943"/>
                  </a:lnTo>
                </a:path>
                <a:path w="443865" h="894080">
                  <a:moveTo>
                    <a:pt x="146420" y="258366"/>
                  </a:moveTo>
                  <a:lnTo>
                    <a:pt x="369832" y="258366"/>
                  </a:lnTo>
                </a:path>
                <a:path w="443865" h="894080">
                  <a:moveTo>
                    <a:pt x="126517" y="254789"/>
                  </a:moveTo>
                  <a:lnTo>
                    <a:pt x="349929" y="254789"/>
                  </a:lnTo>
                </a:path>
                <a:path w="443865" h="894080">
                  <a:moveTo>
                    <a:pt x="91416" y="247635"/>
                  </a:moveTo>
                  <a:lnTo>
                    <a:pt x="314828" y="247635"/>
                  </a:lnTo>
                </a:path>
                <a:path w="443865" h="894080">
                  <a:moveTo>
                    <a:pt x="111011" y="243999"/>
                  </a:moveTo>
                  <a:lnTo>
                    <a:pt x="334500" y="243999"/>
                  </a:lnTo>
                </a:path>
                <a:path w="443865" h="894080">
                  <a:moveTo>
                    <a:pt x="127289" y="240422"/>
                  </a:moveTo>
                  <a:lnTo>
                    <a:pt x="350777" y="240422"/>
                  </a:lnTo>
                </a:path>
                <a:path w="443865" h="894080">
                  <a:moveTo>
                    <a:pt x="188387" y="236845"/>
                  </a:moveTo>
                  <a:lnTo>
                    <a:pt x="411799" y="236845"/>
                  </a:lnTo>
                </a:path>
                <a:path w="443865" h="894080">
                  <a:moveTo>
                    <a:pt x="164858" y="233268"/>
                  </a:moveTo>
                  <a:lnTo>
                    <a:pt x="388347" y="233268"/>
                  </a:lnTo>
                </a:path>
                <a:path w="443865" h="894080">
                  <a:moveTo>
                    <a:pt x="45052" y="229691"/>
                  </a:moveTo>
                  <a:lnTo>
                    <a:pt x="268464" y="229691"/>
                  </a:lnTo>
                </a:path>
                <a:path w="443865" h="894080">
                  <a:moveTo>
                    <a:pt x="41041" y="226056"/>
                  </a:moveTo>
                  <a:lnTo>
                    <a:pt x="264529" y="226056"/>
                  </a:lnTo>
                </a:path>
                <a:path w="443865" h="894080">
                  <a:moveTo>
                    <a:pt x="135929" y="222479"/>
                  </a:moveTo>
                  <a:lnTo>
                    <a:pt x="359417" y="222479"/>
                  </a:lnTo>
                </a:path>
                <a:path w="443865" h="894080">
                  <a:moveTo>
                    <a:pt x="171184" y="218902"/>
                  </a:moveTo>
                  <a:lnTo>
                    <a:pt x="394673" y="218902"/>
                  </a:lnTo>
                </a:path>
                <a:path w="443865" h="894080">
                  <a:moveTo>
                    <a:pt x="123123" y="215325"/>
                  </a:moveTo>
                  <a:lnTo>
                    <a:pt x="346534" y="215325"/>
                  </a:lnTo>
                </a:path>
                <a:path w="443865" h="894080">
                  <a:moveTo>
                    <a:pt x="91802" y="211747"/>
                  </a:moveTo>
                  <a:lnTo>
                    <a:pt x="315291" y="211747"/>
                  </a:lnTo>
                </a:path>
                <a:path w="443865" h="894080">
                  <a:moveTo>
                    <a:pt x="153981" y="208112"/>
                  </a:moveTo>
                  <a:lnTo>
                    <a:pt x="377392" y="208112"/>
                  </a:lnTo>
                </a:path>
                <a:path w="443865" h="894080">
                  <a:moveTo>
                    <a:pt x="61638" y="204535"/>
                  </a:moveTo>
                  <a:lnTo>
                    <a:pt x="285050" y="204535"/>
                  </a:lnTo>
                </a:path>
                <a:path w="443865" h="894080">
                  <a:moveTo>
                    <a:pt x="142563" y="200958"/>
                  </a:moveTo>
                  <a:lnTo>
                    <a:pt x="366052" y="200958"/>
                  </a:lnTo>
                </a:path>
                <a:path w="443865" h="894080">
                  <a:moveTo>
                    <a:pt x="111011" y="197381"/>
                  </a:moveTo>
                  <a:lnTo>
                    <a:pt x="334423" y="197381"/>
                  </a:lnTo>
                </a:path>
                <a:path w="443865" h="894080">
                  <a:moveTo>
                    <a:pt x="156449" y="193804"/>
                  </a:moveTo>
                  <a:lnTo>
                    <a:pt x="379861" y="193804"/>
                  </a:lnTo>
                </a:path>
                <a:path w="443865" h="894080">
                  <a:moveTo>
                    <a:pt x="166787" y="190168"/>
                  </a:moveTo>
                  <a:lnTo>
                    <a:pt x="390198" y="190168"/>
                  </a:lnTo>
                </a:path>
                <a:path w="443865" h="894080">
                  <a:moveTo>
                    <a:pt x="111397" y="186591"/>
                  </a:moveTo>
                  <a:lnTo>
                    <a:pt x="334808" y="186591"/>
                  </a:lnTo>
                </a:path>
                <a:path w="443865" h="894080">
                  <a:moveTo>
                    <a:pt x="48138" y="183014"/>
                  </a:moveTo>
                  <a:lnTo>
                    <a:pt x="271549" y="183014"/>
                  </a:lnTo>
                </a:path>
                <a:path w="443865" h="894080">
                  <a:moveTo>
                    <a:pt x="122737" y="175860"/>
                  </a:moveTo>
                  <a:lnTo>
                    <a:pt x="346149" y="175860"/>
                  </a:lnTo>
                </a:path>
                <a:path w="443865" h="894080">
                  <a:moveTo>
                    <a:pt x="56932" y="172224"/>
                  </a:moveTo>
                  <a:lnTo>
                    <a:pt x="280421" y="172224"/>
                  </a:lnTo>
                </a:path>
                <a:path w="443865" h="894080">
                  <a:moveTo>
                    <a:pt x="196256" y="165070"/>
                  </a:moveTo>
                  <a:lnTo>
                    <a:pt x="419668" y="165070"/>
                  </a:lnTo>
                </a:path>
                <a:path w="443865" h="894080">
                  <a:moveTo>
                    <a:pt x="108697" y="161493"/>
                  </a:moveTo>
                  <a:lnTo>
                    <a:pt x="332185" y="161493"/>
                  </a:lnTo>
                </a:path>
                <a:path w="443865" h="894080">
                  <a:moveTo>
                    <a:pt x="83702" y="157916"/>
                  </a:moveTo>
                  <a:lnTo>
                    <a:pt x="307190" y="157916"/>
                  </a:lnTo>
                </a:path>
                <a:path w="443865" h="894080">
                  <a:moveTo>
                    <a:pt x="130760" y="154281"/>
                  </a:moveTo>
                  <a:lnTo>
                    <a:pt x="354172" y="154281"/>
                  </a:lnTo>
                </a:path>
                <a:path w="443865" h="894080">
                  <a:moveTo>
                    <a:pt x="166710" y="150704"/>
                  </a:moveTo>
                  <a:lnTo>
                    <a:pt x="390121" y="150704"/>
                  </a:lnTo>
                </a:path>
                <a:path w="443865" h="894080">
                  <a:moveTo>
                    <a:pt x="97202" y="147127"/>
                  </a:moveTo>
                  <a:lnTo>
                    <a:pt x="320691" y="147127"/>
                  </a:lnTo>
                </a:path>
                <a:path w="443865" h="894080">
                  <a:moveTo>
                    <a:pt x="86093" y="143550"/>
                  </a:moveTo>
                  <a:lnTo>
                    <a:pt x="309505" y="143550"/>
                  </a:lnTo>
                </a:path>
                <a:path w="443865" h="894080">
                  <a:moveTo>
                    <a:pt x="142872" y="139972"/>
                  </a:moveTo>
                  <a:lnTo>
                    <a:pt x="366361" y="139972"/>
                  </a:lnTo>
                </a:path>
                <a:path w="443865" h="894080">
                  <a:moveTo>
                    <a:pt x="84473" y="136395"/>
                  </a:moveTo>
                  <a:lnTo>
                    <a:pt x="307962" y="136395"/>
                  </a:lnTo>
                </a:path>
                <a:path w="443865" h="894080">
                  <a:moveTo>
                    <a:pt x="16277" y="132760"/>
                  </a:moveTo>
                  <a:lnTo>
                    <a:pt x="239689" y="132760"/>
                  </a:lnTo>
                </a:path>
                <a:path w="443865" h="894080">
                  <a:moveTo>
                    <a:pt x="105688" y="129183"/>
                  </a:moveTo>
                  <a:lnTo>
                    <a:pt x="329177" y="129183"/>
                  </a:lnTo>
                </a:path>
                <a:path w="443865" h="894080">
                  <a:moveTo>
                    <a:pt x="4860" y="125606"/>
                  </a:moveTo>
                  <a:lnTo>
                    <a:pt x="228271" y="125606"/>
                  </a:lnTo>
                </a:path>
                <a:path w="443865" h="894080">
                  <a:moveTo>
                    <a:pt x="136700" y="122029"/>
                  </a:moveTo>
                  <a:lnTo>
                    <a:pt x="360112" y="122029"/>
                  </a:lnTo>
                </a:path>
                <a:path w="443865" h="894080">
                  <a:moveTo>
                    <a:pt x="205513" y="118452"/>
                  </a:moveTo>
                  <a:lnTo>
                    <a:pt x="428925" y="118452"/>
                  </a:lnTo>
                </a:path>
                <a:path w="443865" h="894080">
                  <a:moveTo>
                    <a:pt x="130143" y="114816"/>
                  </a:moveTo>
                  <a:lnTo>
                    <a:pt x="353554" y="114816"/>
                  </a:lnTo>
                </a:path>
                <a:path w="443865" h="894080">
                  <a:moveTo>
                    <a:pt x="172495" y="111239"/>
                  </a:moveTo>
                  <a:lnTo>
                    <a:pt x="395984" y="111239"/>
                  </a:lnTo>
                </a:path>
                <a:path w="443865" h="894080">
                  <a:moveTo>
                    <a:pt x="77299" y="107662"/>
                  </a:moveTo>
                  <a:lnTo>
                    <a:pt x="300787" y="107662"/>
                  </a:lnTo>
                </a:path>
                <a:path w="443865" h="894080">
                  <a:moveTo>
                    <a:pt x="116951" y="104085"/>
                  </a:moveTo>
                  <a:lnTo>
                    <a:pt x="340363" y="104085"/>
                  </a:lnTo>
                </a:path>
                <a:path w="443865" h="894080">
                  <a:moveTo>
                    <a:pt x="103374" y="100508"/>
                  </a:moveTo>
                  <a:lnTo>
                    <a:pt x="326862" y="100508"/>
                  </a:lnTo>
                </a:path>
                <a:path w="443865" h="894080">
                  <a:moveTo>
                    <a:pt x="108079" y="96872"/>
                  </a:moveTo>
                  <a:lnTo>
                    <a:pt x="331491" y="96872"/>
                  </a:lnTo>
                </a:path>
                <a:path w="443865" h="894080">
                  <a:moveTo>
                    <a:pt x="74984" y="93295"/>
                  </a:moveTo>
                  <a:lnTo>
                    <a:pt x="298396" y="93295"/>
                  </a:lnTo>
                </a:path>
                <a:path w="443865" h="894080">
                  <a:moveTo>
                    <a:pt x="114020" y="89718"/>
                  </a:moveTo>
                  <a:lnTo>
                    <a:pt x="337431" y="89718"/>
                  </a:lnTo>
                </a:path>
                <a:path w="443865" h="894080">
                  <a:moveTo>
                    <a:pt x="135466" y="86141"/>
                  </a:moveTo>
                  <a:lnTo>
                    <a:pt x="358955" y="86141"/>
                  </a:lnTo>
                </a:path>
                <a:path w="443865" h="894080">
                  <a:moveTo>
                    <a:pt x="14657" y="82564"/>
                  </a:moveTo>
                  <a:lnTo>
                    <a:pt x="238146" y="82564"/>
                  </a:lnTo>
                </a:path>
                <a:path w="443865" h="894080">
                  <a:moveTo>
                    <a:pt x="56778" y="78929"/>
                  </a:moveTo>
                  <a:lnTo>
                    <a:pt x="280190" y="78929"/>
                  </a:lnTo>
                </a:path>
                <a:path w="443865" h="894080">
                  <a:moveTo>
                    <a:pt x="108234" y="75352"/>
                  </a:moveTo>
                  <a:lnTo>
                    <a:pt x="331645" y="75352"/>
                  </a:lnTo>
                </a:path>
                <a:path w="443865" h="894080">
                  <a:moveTo>
                    <a:pt x="65264" y="71775"/>
                  </a:moveTo>
                  <a:lnTo>
                    <a:pt x="288676" y="71775"/>
                  </a:lnTo>
                </a:path>
                <a:path w="443865" h="894080">
                  <a:moveTo>
                    <a:pt x="184221" y="68197"/>
                  </a:moveTo>
                  <a:lnTo>
                    <a:pt x="407710" y="68197"/>
                  </a:lnTo>
                </a:path>
                <a:path w="443865" h="894080">
                  <a:moveTo>
                    <a:pt x="58630" y="64620"/>
                  </a:moveTo>
                  <a:lnTo>
                    <a:pt x="282118" y="64620"/>
                  </a:lnTo>
                </a:path>
                <a:path w="443865" h="894080">
                  <a:moveTo>
                    <a:pt x="96122" y="60985"/>
                  </a:moveTo>
                  <a:lnTo>
                    <a:pt x="319534" y="60985"/>
                  </a:lnTo>
                </a:path>
                <a:path w="443865" h="894080">
                  <a:moveTo>
                    <a:pt x="27077" y="57408"/>
                  </a:moveTo>
                  <a:lnTo>
                    <a:pt x="250489" y="57408"/>
                  </a:lnTo>
                </a:path>
                <a:path w="443865" h="894080">
                  <a:moveTo>
                    <a:pt x="186150" y="53831"/>
                  </a:moveTo>
                  <a:lnTo>
                    <a:pt x="409562" y="53831"/>
                  </a:lnTo>
                </a:path>
                <a:path w="443865" h="894080">
                  <a:moveTo>
                    <a:pt x="122120" y="50254"/>
                  </a:moveTo>
                  <a:lnTo>
                    <a:pt x="345531" y="50254"/>
                  </a:lnTo>
                </a:path>
                <a:path w="443865" h="894080">
                  <a:moveTo>
                    <a:pt x="129834" y="46677"/>
                  </a:moveTo>
                  <a:lnTo>
                    <a:pt x="353323" y="46677"/>
                  </a:lnTo>
                </a:path>
                <a:path w="443865" h="894080">
                  <a:moveTo>
                    <a:pt x="84165" y="43041"/>
                  </a:moveTo>
                  <a:lnTo>
                    <a:pt x="307576" y="43041"/>
                  </a:lnTo>
                </a:path>
                <a:path w="443865" h="894080">
                  <a:moveTo>
                    <a:pt x="48755" y="39464"/>
                  </a:moveTo>
                  <a:lnTo>
                    <a:pt x="272167" y="39464"/>
                  </a:lnTo>
                </a:path>
                <a:path w="443865" h="894080">
                  <a:moveTo>
                    <a:pt x="1080" y="35887"/>
                  </a:moveTo>
                  <a:lnTo>
                    <a:pt x="224491" y="35887"/>
                  </a:lnTo>
                </a:path>
                <a:path w="443865" h="894080">
                  <a:moveTo>
                    <a:pt x="168330" y="32310"/>
                  </a:moveTo>
                  <a:lnTo>
                    <a:pt x="391741" y="32310"/>
                  </a:lnTo>
                </a:path>
                <a:path w="443865" h="894080">
                  <a:moveTo>
                    <a:pt x="74599" y="28733"/>
                  </a:moveTo>
                  <a:lnTo>
                    <a:pt x="298087" y="28733"/>
                  </a:lnTo>
                </a:path>
                <a:path w="443865" h="894080">
                  <a:moveTo>
                    <a:pt x="112322" y="25097"/>
                  </a:moveTo>
                  <a:lnTo>
                    <a:pt x="335734" y="25097"/>
                  </a:lnTo>
                </a:path>
                <a:path w="443865" h="894080">
                  <a:moveTo>
                    <a:pt x="134000" y="21520"/>
                  </a:moveTo>
                  <a:lnTo>
                    <a:pt x="357489" y="21520"/>
                  </a:lnTo>
                </a:path>
                <a:path w="443865" h="894080">
                  <a:moveTo>
                    <a:pt x="214694" y="14366"/>
                  </a:moveTo>
                  <a:lnTo>
                    <a:pt x="438105" y="14366"/>
                  </a:lnTo>
                </a:path>
                <a:path w="443865" h="894080">
                  <a:moveTo>
                    <a:pt x="184144" y="10789"/>
                  </a:moveTo>
                  <a:lnTo>
                    <a:pt x="407633" y="10789"/>
                  </a:lnTo>
                </a:path>
                <a:path w="443865" h="894080">
                  <a:moveTo>
                    <a:pt x="88870" y="7212"/>
                  </a:moveTo>
                  <a:lnTo>
                    <a:pt x="312359" y="7212"/>
                  </a:lnTo>
                </a:path>
                <a:path w="443865" h="894080">
                  <a:moveTo>
                    <a:pt x="155909" y="3577"/>
                  </a:moveTo>
                  <a:lnTo>
                    <a:pt x="379321" y="3577"/>
                  </a:lnTo>
                </a:path>
                <a:path w="443865" h="894080">
                  <a:moveTo>
                    <a:pt x="24223" y="0"/>
                  </a:moveTo>
                  <a:lnTo>
                    <a:pt x="247635" y="0"/>
                  </a:lnTo>
                </a:path>
              </a:pathLst>
            </a:custGeom>
            <a:ln w="50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781899" y="2064480"/>
              <a:ext cx="554355" cy="847090"/>
            </a:xfrm>
            <a:custGeom>
              <a:avLst/>
              <a:gdLst/>
              <a:ahLst/>
              <a:cxnLst/>
              <a:rect l="l" t="t" r="r" b="b"/>
              <a:pathLst>
                <a:path w="554355" h="847089">
                  <a:moveTo>
                    <a:pt x="21369" y="846874"/>
                  </a:moveTo>
                  <a:lnTo>
                    <a:pt x="244857" y="846874"/>
                  </a:lnTo>
                </a:path>
                <a:path w="554355" h="847089">
                  <a:moveTo>
                    <a:pt x="16740" y="778676"/>
                  </a:moveTo>
                  <a:lnTo>
                    <a:pt x="240152" y="778676"/>
                  </a:lnTo>
                </a:path>
                <a:path w="554355" h="847089">
                  <a:moveTo>
                    <a:pt x="0" y="771522"/>
                  </a:moveTo>
                  <a:lnTo>
                    <a:pt x="223488" y="771522"/>
                  </a:lnTo>
                </a:path>
                <a:path w="554355" h="847089">
                  <a:moveTo>
                    <a:pt x="278261" y="764309"/>
                  </a:moveTo>
                  <a:lnTo>
                    <a:pt x="501673" y="764309"/>
                  </a:lnTo>
                </a:path>
                <a:path w="554355" h="847089">
                  <a:moveTo>
                    <a:pt x="289910" y="699747"/>
                  </a:moveTo>
                  <a:lnTo>
                    <a:pt x="513399" y="699747"/>
                  </a:lnTo>
                </a:path>
                <a:path w="554355" h="847089">
                  <a:moveTo>
                    <a:pt x="259901" y="660283"/>
                  </a:moveTo>
                  <a:lnTo>
                    <a:pt x="483312" y="660283"/>
                  </a:lnTo>
                </a:path>
                <a:path w="554355" h="847089">
                  <a:moveTo>
                    <a:pt x="2622" y="602874"/>
                  </a:moveTo>
                  <a:lnTo>
                    <a:pt x="226111" y="602874"/>
                  </a:lnTo>
                </a:path>
                <a:path w="554355" h="847089">
                  <a:moveTo>
                    <a:pt x="22834" y="427014"/>
                  </a:moveTo>
                  <a:lnTo>
                    <a:pt x="246246" y="427014"/>
                  </a:lnTo>
                </a:path>
                <a:path w="554355" h="847089">
                  <a:moveTo>
                    <a:pt x="20983" y="233268"/>
                  </a:moveTo>
                  <a:lnTo>
                    <a:pt x="244472" y="233268"/>
                  </a:lnTo>
                </a:path>
                <a:path w="554355" h="847089">
                  <a:moveTo>
                    <a:pt x="330334" y="161493"/>
                  </a:moveTo>
                  <a:lnTo>
                    <a:pt x="553823" y="161493"/>
                  </a:lnTo>
                </a:path>
                <a:path w="554355" h="847089">
                  <a:moveTo>
                    <a:pt x="0" y="150704"/>
                  </a:moveTo>
                  <a:lnTo>
                    <a:pt x="223411" y="150704"/>
                  </a:lnTo>
                </a:path>
                <a:path w="554355" h="847089">
                  <a:moveTo>
                    <a:pt x="275561" y="0"/>
                  </a:moveTo>
                  <a:lnTo>
                    <a:pt x="499050" y="0"/>
                  </a:lnTo>
                </a:path>
              </a:pathLst>
            </a:custGeom>
            <a:ln w="760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040257" y="2010824"/>
              <a:ext cx="0" cy="965200"/>
            </a:xfrm>
            <a:custGeom>
              <a:avLst/>
              <a:gdLst/>
              <a:ahLst/>
              <a:cxnLst/>
              <a:rect l="l" t="t" r="r" b="b"/>
              <a:pathLst>
                <a:path w="0" h="965200">
                  <a:moveTo>
                    <a:pt x="0" y="964975"/>
                  </a:moveTo>
                  <a:lnTo>
                    <a:pt x="0" y="0"/>
                  </a:lnTo>
                </a:path>
              </a:pathLst>
            </a:custGeom>
            <a:ln w="57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 txBox="1"/>
          <p:nvPr/>
        </p:nvSpPr>
        <p:spPr>
          <a:xfrm>
            <a:off x="631881" y="3016520"/>
            <a:ext cx="798830" cy="819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91160" algn="l"/>
                <a:tab pos="570865" algn="l"/>
                <a:tab pos="751205" algn="l"/>
              </a:tabLst>
            </a:pPr>
            <a:r>
              <a:rPr dirty="0" sz="350" spc="75">
                <a:latin typeface="Helvetica"/>
                <a:cs typeface="Helvetica"/>
              </a:rPr>
              <a:t>−2</a:t>
            </a:r>
            <a:r>
              <a:rPr dirty="0" sz="350" spc="345">
                <a:latin typeface="Helvetica"/>
                <a:cs typeface="Helvetica"/>
              </a:rPr>
              <a:t>  </a:t>
            </a:r>
            <a:r>
              <a:rPr dirty="0" sz="350" spc="50">
                <a:latin typeface="Helvetica"/>
                <a:cs typeface="Helvetica"/>
              </a:rPr>
              <a:t>−1</a:t>
            </a:r>
            <a:r>
              <a:rPr dirty="0" sz="350">
                <a:latin typeface="Helvetica"/>
                <a:cs typeface="Helvetica"/>
              </a:rPr>
              <a:t>	</a:t>
            </a:r>
            <a:r>
              <a:rPr dirty="0" sz="350" spc="20">
                <a:latin typeface="Helvetica"/>
                <a:cs typeface="Helvetica"/>
              </a:rPr>
              <a:t>0</a:t>
            </a:r>
            <a:r>
              <a:rPr dirty="0" sz="350">
                <a:latin typeface="Helvetica"/>
                <a:cs typeface="Helvetica"/>
              </a:rPr>
              <a:t>	</a:t>
            </a:r>
            <a:r>
              <a:rPr dirty="0" sz="350" spc="20">
                <a:latin typeface="Helvetica"/>
                <a:cs typeface="Helvetica"/>
              </a:rPr>
              <a:t>1</a:t>
            </a:r>
            <a:r>
              <a:rPr dirty="0" sz="350">
                <a:latin typeface="Helvetica"/>
                <a:cs typeface="Helvetica"/>
              </a:rPr>
              <a:t>	</a:t>
            </a:r>
            <a:r>
              <a:rPr dirty="0" sz="350" spc="20">
                <a:latin typeface="Helvetica"/>
                <a:cs typeface="Helvetica"/>
              </a:rPr>
              <a:t>2</a:t>
            </a:r>
            <a:endParaRPr sz="350">
              <a:latin typeface="Helvetica"/>
              <a:cs typeface="Helvetica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504035" y="2917893"/>
            <a:ext cx="94615" cy="52069"/>
          </a:xfrm>
          <a:prstGeom prst="rect">
            <a:avLst/>
          </a:prstGeom>
        </p:spPr>
        <p:txBody>
          <a:bodyPr wrap="square" lIns="0" tIns="1143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-50">
                <a:latin typeface="Helvetica"/>
                <a:cs typeface="Helvetica"/>
              </a:rPr>
              <a:t>0</a:t>
            </a:r>
            <a:endParaRPr sz="450">
              <a:latin typeface="Helvetica"/>
              <a:cs typeface="Helvetica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504035" y="2353553"/>
            <a:ext cx="94615" cy="449580"/>
          </a:xfrm>
          <a:prstGeom prst="rect">
            <a:avLst/>
          </a:prstGeom>
        </p:spPr>
        <p:txBody>
          <a:bodyPr wrap="square" lIns="0" tIns="1143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>
                <a:latin typeface="Helvetica"/>
                <a:cs typeface="Helvetica"/>
              </a:rPr>
              <a:t>50</a:t>
            </a:r>
            <a:r>
              <a:rPr dirty="0" sz="450" spc="260">
                <a:latin typeface="Helvetica"/>
                <a:cs typeface="Helvetica"/>
              </a:rPr>
              <a:t>  </a:t>
            </a:r>
            <a:r>
              <a:rPr dirty="0" sz="450">
                <a:latin typeface="Helvetica"/>
                <a:cs typeface="Helvetica"/>
              </a:rPr>
              <a:t>100</a:t>
            </a:r>
            <a:r>
              <a:rPr dirty="0" sz="450" spc="220">
                <a:latin typeface="Helvetica"/>
                <a:cs typeface="Helvetica"/>
              </a:rPr>
              <a:t>  </a:t>
            </a:r>
            <a:r>
              <a:rPr dirty="0" sz="450" spc="-35">
                <a:latin typeface="Helvetica"/>
                <a:cs typeface="Helvetica"/>
              </a:rPr>
              <a:t>150</a:t>
            </a:r>
            <a:endParaRPr sz="450">
              <a:latin typeface="Helvetica"/>
              <a:cs typeface="Helvetica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504035" y="2174116"/>
            <a:ext cx="94615" cy="104139"/>
          </a:xfrm>
          <a:prstGeom prst="rect">
            <a:avLst/>
          </a:prstGeom>
        </p:spPr>
        <p:txBody>
          <a:bodyPr wrap="square" lIns="0" tIns="1143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-35">
                <a:latin typeface="Helvetica"/>
                <a:cs typeface="Helvetica"/>
              </a:rPr>
              <a:t>200</a:t>
            </a:r>
            <a:endParaRPr sz="450">
              <a:latin typeface="Helvetica"/>
              <a:cs typeface="Helvetica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504035" y="1994678"/>
            <a:ext cx="94615" cy="104139"/>
          </a:xfrm>
          <a:prstGeom prst="rect">
            <a:avLst/>
          </a:prstGeom>
        </p:spPr>
        <p:txBody>
          <a:bodyPr wrap="square" lIns="0" tIns="1143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-35">
                <a:latin typeface="Helvetica"/>
                <a:cs typeface="Helvetica"/>
              </a:rPr>
              <a:t>250</a:t>
            </a:r>
            <a:endParaRPr sz="450">
              <a:latin typeface="Helvetica"/>
              <a:cs typeface="Helvetica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788948" y="3127936"/>
            <a:ext cx="585470" cy="819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60">
                <a:latin typeface="Helvetica"/>
                <a:cs typeface="Helvetica"/>
              </a:rPr>
              <a:t>Confidence</a:t>
            </a:r>
            <a:r>
              <a:rPr dirty="0" sz="350" spc="80">
                <a:latin typeface="Helvetica"/>
                <a:cs typeface="Helvetica"/>
              </a:rPr>
              <a:t> </a:t>
            </a:r>
            <a:r>
              <a:rPr dirty="0" sz="350" spc="40">
                <a:latin typeface="Helvetica"/>
                <a:cs typeface="Helvetica"/>
              </a:rPr>
              <a:t>intervals</a:t>
            </a:r>
            <a:endParaRPr sz="350">
              <a:latin typeface="Helvetica"/>
              <a:cs typeface="Helvetica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357383" y="2364516"/>
            <a:ext cx="94615" cy="257810"/>
          </a:xfrm>
          <a:prstGeom prst="rect">
            <a:avLst/>
          </a:prstGeom>
        </p:spPr>
        <p:txBody>
          <a:bodyPr wrap="square" lIns="0" tIns="1143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-40">
                <a:latin typeface="Helvetica"/>
                <a:cs typeface="Helvetica"/>
              </a:rPr>
              <a:t>Replication</a:t>
            </a:r>
            <a:endParaRPr sz="450">
              <a:latin typeface="Helvetica"/>
              <a:cs typeface="Helvetica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479597" y="1846247"/>
            <a:ext cx="1200785" cy="958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50" spc="85" b="1">
                <a:latin typeface="Helvetica"/>
                <a:cs typeface="Helvetica"/>
              </a:rPr>
              <a:t>250</a:t>
            </a:r>
            <a:r>
              <a:rPr dirty="0" sz="450" spc="45" b="1">
                <a:latin typeface="Helvetica"/>
                <a:cs typeface="Helvetica"/>
              </a:rPr>
              <a:t> </a:t>
            </a:r>
            <a:r>
              <a:rPr dirty="0" sz="450" spc="55" b="1">
                <a:latin typeface="Helvetica"/>
                <a:cs typeface="Helvetica"/>
              </a:rPr>
              <a:t>CI's</a:t>
            </a:r>
            <a:r>
              <a:rPr dirty="0" sz="450" spc="45" b="1">
                <a:latin typeface="Helvetica"/>
                <a:cs typeface="Helvetica"/>
              </a:rPr>
              <a:t> </a:t>
            </a:r>
            <a:r>
              <a:rPr dirty="0" sz="450" spc="80" b="1">
                <a:latin typeface="Helvetica"/>
                <a:cs typeface="Helvetica"/>
              </a:rPr>
              <a:t>from</a:t>
            </a:r>
            <a:r>
              <a:rPr dirty="0" sz="450" spc="45" b="1">
                <a:latin typeface="Helvetica"/>
                <a:cs typeface="Helvetica"/>
              </a:rPr>
              <a:t> </a:t>
            </a:r>
            <a:r>
              <a:rPr dirty="0" sz="450" spc="90" b="1">
                <a:latin typeface="Helvetica"/>
                <a:cs typeface="Helvetica"/>
              </a:rPr>
              <a:t>samples</a:t>
            </a:r>
            <a:r>
              <a:rPr dirty="0" sz="450" spc="45" b="1">
                <a:latin typeface="Helvetica"/>
                <a:cs typeface="Helvetica"/>
              </a:rPr>
              <a:t> </a:t>
            </a:r>
            <a:r>
              <a:rPr dirty="0" sz="450" spc="70" b="1">
                <a:latin typeface="Helvetica"/>
                <a:cs typeface="Helvetica"/>
              </a:rPr>
              <a:t>of</a:t>
            </a:r>
            <a:r>
              <a:rPr dirty="0" sz="450" spc="45" b="1">
                <a:latin typeface="Helvetica"/>
                <a:cs typeface="Helvetica"/>
              </a:rPr>
              <a:t> </a:t>
            </a:r>
            <a:r>
              <a:rPr dirty="0" sz="450" spc="75" b="1">
                <a:latin typeface="Helvetica"/>
                <a:cs typeface="Helvetica"/>
              </a:rPr>
              <a:t>size</a:t>
            </a:r>
            <a:r>
              <a:rPr dirty="0" sz="450" spc="45" b="1">
                <a:latin typeface="Helvetica"/>
                <a:cs typeface="Helvetica"/>
              </a:rPr>
              <a:t> </a:t>
            </a:r>
            <a:r>
              <a:rPr dirty="0" sz="450" spc="60" b="1">
                <a:latin typeface="Helvetica"/>
                <a:cs typeface="Helvetica"/>
              </a:rPr>
              <a:t>10</a:t>
            </a:r>
            <a:endParaRPr sz="450">
              <a:latin typeface="Helvetica"/>
              <a:cs typeface="Helvetica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1049235" y="2039524"/>
            <a:ext cx="379095" cy="819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70">
                <a:solidFill>
                  <a:srgbClr val="9400D3"/>
                </a:solidFill>
                <a:latin typeface="Helvetica"/>
                <a:cs typeface="Helvetica"/>
              </a:rPr>
              <a:t>no</a:t>
            </a:r>
            <a:r>
              <a:rPr dirty="0" sz="350" spc="45">
                <a:solidFill>
                  <a:srgbClr val="9400D3"/>
                </a:solidFill>
                <a:latin typeface="Helvetica"/>
                <a:cs typeface="Helvetica"/>
              </a:rPr>
              <a:t> </a:t>
            </a:r>
            <a:r>
              <a:rPr dirty="0" sz="350" spc="50">
                <a:solidFill>
                  <a:srgbClr val="9400D3"/>
                </a:solidFill>
                <a:latin typeface="Helvetica"/>
                <a:cs typeface="Helvetica"/>
              </a:rPr>
              <a:t>failed=</a:t>
            </a:r>
            <a:r>
              <a:rPr dirty="0" sz="350" spc="45">
                <a:solidFill>
                  <a:srgbClr val="9400D3"/>
                </a:solidFill>
                <a:latin typeface="Helvetica"/>
                <a:cs typeface="Helvetica"/>
              </a:rPr>
              <a:t> 12</a:t>
            </a:r>
            <a:endParaRPr sz="350">
              <a:latin typeface="Helvetica"/>
              <a:cs typeface="Helvetica"/>
            </a:endParaRPr>
          </a:p>
        </p:txBody>
      </p:sp>
      <p:grpSp>
        <p:nvGrpSpPr>
          <p:cNvPr id="59" name="object 59" descr=""/>
          <p:cNvGrpSpPr/>
          <p:nvPr/>
        </p:nvGrpSpPr>
        <p:grpSpPr>
          <a:xfrm>
            <a:off x="1919940" y="2008143"/>
            <a:ext cx="881380" cy="995680"/>
            <a:chOff x="1919940" y="2008143"/>
            <a:chExt cx="881380" cy="995680"/>
          </a:xfrm>
        </p:grpSpPr>
        <p:sp>
          <p:nvSpPr>
            <p:cNvPr id="60" name="object 60" descr=""/>
            <p:cNvSpPr/>
            <p:nvPr/>
          </p:nvSpPr>
          <p:spPr>
            <a:xfrm>
              <a:off x="1919940" y="2010824"/>
              <a:ext cx="878205" cy="993140"/>
            </a:xfrm>
            <a:custGeom>
              <a:avLst/>
              <a:gdLst/>
              <a:ahLst/>
              <a:cxnLst/>
              <a:rect l="l" t="t" r="r" b="b"/>
              <a:pathLst>
                <a:path w="878205" h="993139">
                  <a:moveTo>
                    <a:pt x="104608" y="964975"/>
                  </a:moveTo>
                  <a:lnTo>
                    <a:pt x="869345" y="964975"/>
                  </a:lnTo>
                </a:path>
                <a:path w="878205" h="993139">
                  <a:moveTo>
                    <a:pt x="104608" y="964975"/>
                  </a:moveTo>
                  <a:lnTo>
                    <a:pt x="104608" y="992828"/>
                  </a:lnTo>
                </a:path>
                <a:path w="878205" h="993139">
                  <a:moveTo>
                    <a:pt x="213845" y="964975"/>
                  </a:moveTo>
                  <a:lnTo>
                    <a:pt x="213845" y="992828"/>
                  </a:lnTo>
                </a:path>
                <a:path w="878205" h="993139">
                  <a:moveTo>
                    <a:pt x="323082" y="964975"/>
                  </a:moveTo>
                  <a:lnTo>
                    <a:pt x="323082" y="992828"/>
                  </a:lnTo>
                </a:path>
                <a:path w="878205" h="993139">
                  <a:moveTo>
                    <a:pt x="432319" y="964975"/>
                  </a:moveTo>
                  <a:lnTo>
                    <a:pt x="432319" y="992828"/>
                  </a:lnTo>
                </a:path>
                <a:path w="878205" h="993139">
                  <a:moveTo>
                    <a:pt x="541557" y="964975"/>
                  </a:moveTo>
                  <a:lnTo>
                    <a:pt x="541557" y="992828"/>
                  </a:lnTo>
                </a:path>
                <a:path w="878205" h="993139">
                  <a:moveTo>
                    <a:pt x="650794" y="964975"/>
                  </a:moveTo>
                  <a:lnTo>
                    <a:pt x="650794" y="992828"/>
                  </a:lnTo>
                </a:path>
                <a:path w="878205" h="993139">
                  <a:moveTo>
                    <a:pt x="760031" y="964975"/>
                  </a:moveTo>
                  <a:lnTo>
                    <a:pt x="760031" y="992828"/>
                  </a:lnTo>
                </a:path>
                <a:path w="878205" h="993139">
                  <a:moveTo>
                    <a:pt x="869345" y="964975"/>
                  </a:moveTo>
                  <a:lnTo>
                    <a:pt x="869345" y="992828"/>
                  </a:lnTo>
                </a:path>
                <a:path w="878205" h="993139">
                  <a:moveTo>
                    <a:pt x="36720" y="930436"/>
                  </a:moveTo>
                  <a:lnTo>
                    <a:pt x="36720" y="214679"/>
                  </a:lnTo>
                </a:path>
                <a:path w="878205" h="993139">
                  <a:moveTo>
                    <a:pt x="36720" y="930436"/>
                  </a:moveTo>
                  <a:lnTo>
                    <a:pt x="0" y="930436"/>
                  </a:lnTo>
                </a:path>
                <a:path w="878205" h="993139">
                  <a:moveTo>
                    <a:pt x="36720" y="691831"/>
                  </a:moveTo>
                  <a:lnTo>
                    <a:pt x="0" y="691831"/>
                  </a:lnTo>
                </a:path>
                <a:path w="878205" h="993139">
                  <a:moveTo>
                    <a:pt x="36720" y="453226"/>
                  </a:moveTo>
                  <a:lnTo>
                    <a:pt x="0" y="453226"/>
                  </a:lnTo>
                </a:path>
                <a:path w="878205" h="993139">
                  <a:moveTo>
                    <a:pt x="36720" y="214679"/>
                  </a:moveTo>
                  <a:lnTo>
                    <a:pt x="0" y="214679"/>
                  </a:lnTo>
                </a:path>
                <a:path w="878205" h="993139">
                  <a:moveTo>
                    <a:pt x="36720" y="964975"/>
                  </a:moveTo>
                  <a:lnTo>
                    <a:pt x="878140" y="964975"/>
                  </a:lnTo>
                  <a:lnTo>
                    <a:pt x="878140" y="0"/>
                  </a:lnTo>
                  <a:lnTo>
                    <a:pt x="36720" y="0"/>
                  </a:lnTo>
                  <a:lnTo>
                    <a:pt x="36720" y="964975"/>
                  </a:lnTo>
                </a:path>
              </a:pathLst>
            </a:custGeom>
            <a:ln w="50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2161095" y="2046536"/>
              <a:ext cx="382270" cy="892810"/>
            </a:xfrm>
            <a:custGeom>
              <a:avLst/>
              <a:gdLst/>
              <a:ahLst/>
              <a:cxnLst/>
              <a:rect l="l" t="t" r="r" b="b"/>
              <a:pathLst>
                <a:path w="382269" h="892810">
                  <a:moveTo>
                    <a:pt x="132920" y="892320"/>
                  </a:moveTo>
                  <a:lnTo>
                    <a:pt x="324471" y="892320"/>
                  </a:lnTo>
                </a:path>
                <a:path w="382269" h="892810">
                  <a:moveTo>
                    <a:pt x="141946" y="891147"/>
                  </a:moveTo>
                  <a:lnTo>
                    <a:pt x="333497" y="891147"/>
                  </a:lnTo>
                </a:path>
                <a:path w="382269" h="892810">
                  <a:moveTo>
                    <a:pt x="90182" y="889916"/>
                  </a:moveTo>
                  <a:lnTo>
                    <a:pt x="281733" y="889916"/>
                  </a:lnTo>
                </a:path>
                <a:path w="382269" h="892810">
                  <a:moveTo>
                    <a:pt x="78687" y="888743"/>
                  </a:moveTo>
                  <a:lnTo>
                    <a:pt x="270238" y="888743"/>
                  </a:lnTo>
                </a:path>
                <a:path w="382269" h="892810">
                  <a:moveTo>
                    <a:pt x="106768" y="887570"/>
                  </a:moveTo>
                  <a:lnTo>
                    <a:pt x="298319" y="887570"/>
                  </a:lnTo>
                </a:path>
                <a:path w="382269" h="892810">
                  <a:moveTo>
                    <a:pt x="142640" y="886339"/>
                  </a:moveTo>
                  <a:lnTo>
                    <a:pt x="334191" y="886339"/>
                  </a:lnTo>
                </a:path>
                <a:path w="382269" h="892810">
                  <a:moveTo>
                    <a:pt x="54155" y="885166"/>
                  </a:moveTo>
                  <a:lnTo>
                    <a:pt x="245706" y="885166"/>
                  </a:lnTo>
                </a:path>
                <a:path w="382269" h="892810">
                  <a:moveTo>
                    <a:pt x="134232" y="883993"/>
                  </a:moveTo>
                  <a:lnTo>
                    <a:pt x="325705" y="883993"/>
                  </a:lnTo>
                </a:path>
                <a:path w="382269" h="892810">
                  <a:moveTo>
                    <a:pt x="53769" y="882762"/>
                  </a:moveTo>
                  <a:lnTo>
                    <a:pt x="245243" y="882762"/>
                  </a:lnTo>
                </a:path>
                <a:path w="382269" h="892810">
                  <a:moveTo>
                    <a:pt x="27772" y="881589"/>
                  </a:moveTo>
                  <a:lnTo>
                    <a:pt x="219322" y="881589"/>
                  </a:lnTo>
                </a:path>
                <a:path w="382269" h="892810">
                  <a:moveTo>
                    <a:pt x="40963" y="880416"/>
                  </a:moveTo>
                  <a:lnTo>
                    <a:pt x="232514" y="880416"/>
                  </a:lnTo>
                </a:path>
                <a:path w="382269" h="892810">
                  <a:moveTo>
                    <a:pt x="85862" y="879185"/>
                  </a:moveTo>
                  <a:lnTo>
                    <a:pt x="277412" y="879185"/>
                  </a:lnTo>
                </a:path>
                <a:path w="382269" h="892810">
                  <a:moveTo>
                    <a:pt x="81233" y="878012"/>
                  </a:moveTo>
                  <a:lnTo>
                    <a:pt x="272784" y="878012"/>
                  </a:lnTo>
                </a:path>
                <a:path w="382269" h="892810">
                  <a:moveTo>
                    <a:pt x="50607" y="876839"/>
                  </a:moveTo>
                  <a:lnTo>
                    <a:pt x="242157" y="876839"/>
                  </a:lnTo>
                </a:path>
                <a:path w="382269" h="892810">
                  <a:moveTo>
                    <a:pt x="96431" y="875608"/>
                  </a:moveTo>
                  <a:lnTo>
                    <a:pt x="287981" y="875608"/>
                  </a:lnTo>
                </a:path>
                <a:path w="382269" h="892810">
                  <a:moveTo>
                    <a:pt x="78224" y="874435"/>
                  </a:moveTo>
                  <a:lnTo>
                    <a:pt x="269698" y="874435"/>
                  </a:lnTo>
                </a:path>
                <a:path w="382269" h="892810">
                  <a:moveTo>
                    <a:pt x="89642" y="873262"/>
                  </a:moveTo>
                  <a:lnTo>
                    <a:pt x="281193" y="873262"/>
                  </a:lnTo>
                </a:path>
                <a:path w="382269" h="892810">
                  <a:moveTo>
                    <a:pt x="148272" y="872031"/>
                  </a:moveTo>
                  <a:lnTo>
                    <a:pt x="339746" y="872031"/>
                  </a:lnTo>
                </a:path>
                <a:path w="382269" h="892810">
                  <a:moveTo>
                    <a:pt x="117723" y="870858"/>
                  </a:moveTo>
                  <a:lnTo>
                    <a:pt x="309273" y="870858"/>
                  </a:lnTo>
                </a:path>
                <a:path w="382269" h="892810">
                  <a:moveTo>
                    <a:pt x="55081" y="869685"/>
                  </a:moveTo>
                  <a:lnTo>
                    <a:pt x="246632" y="869685"/>
                  </a:lnTo>
                </a:path>
                <a:path w="382269" h="892810">
                  <a:moveTo>
                    <a:pt x="137317" y="868454"/>
                  </a:moveTo>
                  <a:lnTo>
                    <a:pt x="328791" y="868454"/>
                  </a:lnTo>
                </a:path>
                <a:path w="382269" h="892810">
                  <a:moveTo>
                    <a:pt x="151281" y="867281"/>
                  </a:moveTo>
                  <a:lnTo>
                    <a:pt x="342754" y="867281"/>
                  </a:lnTo>
                </a:path>
                <a:path w="382269" h="892810">
                  <a:moveTo>
                    <a:pt x="56007" y="866108"/>
                  </a:moveTo>
                  <a:lnTo>
                    <a:pt x="247480" y="866108"/>
                  </a:lnTo>
                </a:path>
                <a:path w="382269" h="892810">
                  <a:moveTo>
                    <a:pt x="151589" y="864877"/>
                  </a:moveTo>
                  <a:lnTo>
                    <a:pt x="343140" y="864877"/>
                  </a:lnTo>
                </a:path>
                <a:path w="382269" h="892810">
                  <a:moveTo>
                    <a:pt x="116874" y="863704"/>
                  </a:moveTo>
                  <a:lnTo>
                    <a:pt x="308425" y="863704"/>
                  </a:lnTo>
                </a:path>
                <a:path w="382269" h="892810">
                  <a:moveTo>
                    <a:pt x="92188" y="862531"/>
                  </a:moveTo>
                  <a:lnTo>
                    <a:pt x="283661" y="862531"/>
                  </a:lnTo>
                </a:path>
                <a:path w="382269" h="892810">
                  <a:moveTo>
                    <a:pt x="137317" y="861300"/>
                  </a:moveTo>
                  <a:lnTo>
                    <a:pt x="328868" y="861300"/>
                  </a:lnTo>
                </a:path>
                <a:path w="382269" h="892810">
                  <a:moveTo>
                    <a:pt x="152901" y="860127"/>
                  </a:moveTo>
                  <a:lnTo>
                    <a:pt x="344451" y="860127"/>
                  </a:lnTo>
                </a:path>
                <a:path w="382269" h="892810">
                  <a:moveTo>
                    <a:pt x="44126" y="858954"/>
                  </a:moveTo>
                  <a:lnTo>
                    <a:pt x="235600" y="858954"/>
                  </a:lnTo>
                </a:path>
                <a:path w="382269" h="892810">
                  <a:moveTo>
                    <a:pt x="124434" y="856550"/>
                  </a:moveTo>
                  <a:lnTo>
                    <a:pt x="315908" y="856550"/>
                  </a:lnTo>
                </a:path>
                <a:path w="382269" h="892810">
                  <a:moveTo>
                    <a:pt x="56932" y="855318"/>
                  </a:moveTo>
                  <a:lnTo>
                    <a:pt x="248406" y="855318"/>
                  </a:lnTo>
                </a:path>
                <a:path w="382269" h="892810">
                  <a:moveTo>
                    <a:pt x="73596" y="854146"/>
                  </a:moveTo>
                  <a:lnTo>
                    <a:pt x="265146" y="854146"/>
                  </a:lnTo>
                </a:path>
                <a:path w="382269" h="892810">
                  <a:moveTo>
                    <a:pt x="36489" y="852973"/>
                  </a:moveTo>
                  <a:lnTo>
                    <a:pt x="228040" y="852973"/>
                  </a:lnTo>
                </a:path>
                <a:path w="382269" h="892810">
                  <a:moveTo>
                    <a:pt x="134926" y="851741"/>
                  </a:moveTo>
                  <a:lnTo>
                    <a:pt x="326477" y="851741"/>
                  </a:lnTo>
                </a:path>
                <a:path w="382269" h="892810">
                  <a:moveTo>
                    <a:pt x="43046" y="850568"/>
                  </a:moveTo>
                  <a:lnTo>
                    <a:pt x="234520" y="850568"/>
                  </a:lnTo>
                </a:path>
                <a:path w="382269" h="892810">
                  <a:moveTo>
                    <a:pt x="61793" y="849396"/>
                  </a:moveTo>
                  <a:lnTo>
                    <a:pt x="253343" y="849396"/>
                  </a:lnTo>
                </a:path>
                <a:path w="382269" h="892810">
                  <a:moveTo>
                    <a:pt x="75987" y="848164"/>
                  </a:moveTo>
                  <a:lnTo>
                    <a:pt x="267538" y="848164"/>
                  </a:lnTo>
                </a:path>
                <a:path w="382269" h="892810">
                  <a:moveTo>
                    <a:pt x="123740" y="846991"/>
                  </a:moveTo>
                  <a:lnTo>
                    <a:pt x="315291" y="846991"/>
                  </a:lnTo>
                </a:path>
                <a:path w="382269" h="892810">
                  <a:moveTo>
                    <a:pt x="155909" y="845819"/>
                  </a:moveTo>
                  <a:lnTo>
                    <a:pt x="347383" y="845819"/>
                  </a:lnTo>
                </a:path>
                <a:path w="382269" h="892810">
                  <a:moveTo>
                    <a:pt x="171955" y="844587"/>
                  </a:moveTo>
                  <a:lnTo>
                    <a:pt x="363506" y="844587"/>
                  </a:lnTo>
                </a:path>
                <a:path w="382269" h="892810">
                  <a:moveTo>
                    <a:pt x="108542" y="843414"/>
                  </a:moveTo>
                  <a:lnTo>
                    <a:pt x="300093" y="843414"/>
                  </a:lnTo>
                </a:path>
                <a:path w="382269" h="892810">
                  <a:moveTo>
                    <a:pt x="41426" y="842242"/>
                  </a:moveTo>
                  <a:lnTo>
                    <a:pt x="232977" y="842242"/>
                  </a:lnTo>
                </a:path>
                <a:path w="382269" h="892810">
                  <a:moveTo>
                    <a:pt x="98668" y="841010"/>
                  </a:moveTo>
                  <a:lnTo>
                    <a:pt x="290219" y="841010"/>
                  </a:lnTo>
                </a:path>
                <a:path w="382269" h="892810">
                  <a:moveTo>
                    <a:pt x="124820" y="838665"/>
                  </a:moveTo>
                  <a:lnTo>
                    <a:pt x="316371" y="838665"/>
                  </a:lnTo>
                </a:path>
                <a:path w="382269" h="892810">
                  <a:moveTo>
                    <a:pt x="34715" y="837433"/>
                  </a:moveTo>
                  <a:lnTo>
                    <a:pt x="226265" y="837433"/>
                  </a:lnTo>
                </a:path>
                <a:path w="382269" h="892810">
                  <a:moveTo>
                    <a:pt x="126131" y="836260"/>
                  </a:moveTo>
                  <a:lnTo>
                    <a:pt x="317605" y="836260"/>
                  </a:lnTo>
                </a:path>
                <a:path w="382269" h="892810">
                  <a:moveTo>
                    <a:pt x="170027" y="835088"/>
                  </a:moveTo>
                  <a:lnTo>
                    <a:pt x="361500" y="835088"/>
                  </a:lnTo>
                </a:path>
                <a:path w="382269" h="892810">
                  <a:moveTo>
                    <a:pt x="69121" y="833856"/>
                  </a:moveTo>
                  <a:lnTo>
                    <a:pt x="260595" y="833856"/>
                  </a:lnTo>
                </a:path>
                <a:path w="382269" h="892810">
                  <a:moveTo>
                    <a:pt x="101676" y="832683"/>
                  </a:moveTo>
                  <a:lnTo>
                    <a:pt x="293227" y="832683"/>
                  </a:lnTo>
                </a:path>
                <a:path w="382269" h="892810">
                  <a:moveTo>
                    <a:pt x="97588" y="831511"/>
                  </a:moveTo>
                  <a:lnTo>
                    <a:pt x="289061" y="831511"/>
                  </a:lnTo>
                </a:path>
                <a:path w="382269" h="892810">
                  <a:moveTo>
                    <a:pt x="46286" y="830279"/>
                  </a:moveTo>
                  <a:lnTo>
                    <a:pt x="237837" y="830279"/>
                  </a:lnTo>
                </a:path>
                <a:path w="382269" h="892810">
                  <a:moveTo>
                    <a:pt x="171878" y="829106"/>
                  </a:moveTo>
                  <a:lnTo>
                    <a:pt x="363352" y="829106"/>
                  </a:lnTo>
                </a:path>
                <a:path w="382269" h="892810">
                  <a:moveTo>
                    <a:pt x="97665" y="826702"/>
                  </a:moveTo>
                  <a:lnTo>
                    <a:pt x="289216" y="826702"/>
                  </a:lnTo>
                </a:path>
                <a:path w="382269" h="892810">
                  <a:moveTo>
                    <a:pt x="114791" y="825529"/>
                  </a:moveTo>
                  <a:lnTo>
                    <a:pt x="306265" y="825529"/>
                  </a:lnTo>
                </a:path>
                <a:path w="382269" h="892810">
                  <a:moveTo>
                    <a:pt x="23529" y="824357"/>
                  </a:moveTo>
                  <a:lnTo>
                    <a:pt x="215079" y="824357"/>
                  </a:lnTo>
                </a:path>
                <a:path w="382269" h="892810">
                  <a:moveTo>
                    <a:pt x="66421" y="823125"/>
                  </a:moveTo>
                  <a:lnTo>
                    <a:pt x="257895" y="823125"/>
                  </a:lnTo>
                </a:path>
                <a:path w="382269" h="892810">
                  <a:moveTo>
                    <a:pt x="68581" y="821952"/>
                  </a:moveTo>
                  <a:lnTo>
                    <a:pt x="260132" y="821952"/>
                  </a:lnTo>
                </a:path>
                <a:path w="382269" h="892810">
                  <a:moveTo>
                    <a:pt x="71976" y="820780"/>
                  </a:moveTo>
                  <a:lnTo>
                    <a:pt x="263449" y="820780"/>
                  </a:lnTo>
                </a:path>
                <a:path w="382269" h="892810">
                  <a:moveTo>
                    <a:pt x="86325" y="819548"/>
                  </a:moveTo>
                  <a:lnTo>
                    <a:pt x="277798" y="819548"/>
                  </a:lnTo>
                </a:path>
                <a:path w="382269" h="892810">
                  <a:moveTo>
                    <a:pt x="72593" y="818375"/>
                  </a:moveTo>
                  <a:lnTo>
                    <a:pt x="264066" y="818375"/>
                  </a:lnTo>
                </a:path>
                <a:path w="382269" h="892810">
                  <a:moveTo>
                    <a:pt x="58552" y="817144"/>
                  </a:moveTo>
                  <a:lnTo>
                    <a:pt x="250026" y="817144"/>
                  </a:lnTo>
                </a:path>
                <a:path w="382269" h="892810">
                  <a:moveTo>
                    <a:pt x="134232" y="815971"/>
                  </a:moveTo>
                  <a:lnTo>
                    <a:pt x="325782" y="815971"/>
                  </a:lnTo>
                </a:path>
                <a:path w="382269" h="892810">
                  <a:moveTo>
                    <a:pt x="138629" y="814798"/>
                  </a:moveTo>
                  <a:lnTo>
                    <a:pt x="330180" y="814798"/>
                  </a:lnTo>
                </a:path>
                <a:path w="382269" h="892810">
                  <a:moveTo>
                    <a:pt x="60173" y="812394"/>
                  </a:moveTo>
                  <a:lnTo>
                    <a:pt x="251723" y="812394"/>
                  </a:lnTo>
                </a:path>
                <a:path w="382269" h="892810">
                  <a:moveTo>
                    <a:pt x="91956" y="811221"/>
                  </a:moveTo>
                  <a:lnTo>
                    <a:pt x="283430" y="811221"/>
                  </a:lnTo>
                </a:path>
                <a:path w="382269" h="892810">
                  <a:moveTo>
                    <a:pt x="51918" y="809990"/>
                  </a:moveTo>
                  <a:lnTo>
                    <a:pt x="243469" y="809990"/>
                  </a:lnTo>
                </a:path>
                <a:path w="382269" h="892810">
                  <a:moveTo>
                    <a:pt x="85476" y="808817"/>
                  </a:moveTo>
                  <a:lnTo>
                    <a:pt x="276950" y="808817"/>
                  </a:lnTo>
                </a:path>
                <a:path w="382269" h="892810">
                  <a:moveTo>
                    <a:pt x="170335" y="807644"/>
                  </a:moveTo>
                  <a:lnTo>
                    <a:pt x="361886" y="807644"/>
                  </a:lnTo>
                </a:path>
                <a:path w="382269" h="892810">
                  <a:moveTo>
                    <a:pt x="94965" y="806413"/>
                  </a:moveTo>
                  <a:lnTo>
                    <a:pt x="286516" y="806413"/>
                  </a:lnTo>
                </a:path>
                <a:path w="382269" h="892810">
                  <a:moveTo>
                    <a:pt x="140326" y="805240"/>
                  </a:moveTo>
                  <a:lnTo>
                    <a:pt x="331800" y="805240"/>
                  </a:lnTo>
                </a:path>
                <a:path w="382269" h="892810">
                  <a:moveTo>
                    <a:pt x="33789" y="804067"/>
                  </a:moveTo>
                  <a:lnTo>
                    <a:pt x="225340" y="804067"/>
                  </a:lnTo>
                </a:path>
                <a:path w="382269" h="892810">
                  <a:moveTo>
                    <a:pt x="20983" y="802836"/>
                  </a:moveTo>
                  <a:lnTo>
                    <a:pt x="212456" y="802836"/>
                  </a:lnTo>
                </a:path>
                <a:path w="382269" h="892810">
                  <a:moveTo>
                    <a:pt x="55312" y="801663"/>
                  </a:moveTo>
                  <a:lnTo>
                    <a:pt x="246786" y="801663"/>
                  </a:lnTo>
                </a:path>
                <a:path w="382269" h="892810">
                  <a:moveTo>
                    <a:pt x="142023" y="800490"/>
                  </a:moveTo>
                  <a:lnTo>
                    <a:pt x="333497" y="800490"/>
                  </a:lnTo>
                </a:path>
                <a:path w="382269" h="892810">
                  <a:moveTo>
                    <a:pt x="139015" y="799259"/>
                  </a:moveTo>
                  <a:lnTo>
                    <a:pt x="330565" y="799259"/>
                  </a:lnTo>
                </a:path>
                <a:path w="382269" h="892810">
                  <a:moveTo>
                    <a:pt x="65341" y="798086"/>
                  </a:moveTo>
                  <a:lnTo>
                    <a:pt x="256892" y="798086"/>
                  </a:lnTo>
                </a:path>
                <a:path w="382269" h="892810">
                  <a:moveTo>
                    <a:pt x="96508" y="796913"/>
                  </a:moveTo>
                  <a:lnTo>
                    <a:pt x="287981" y="796913"/>
                  </a:lnTo>
                </a:path>
                <a:path w="382269" h="892810">
                  <a:moveTo>
                    <a:pt x="85245" y="795682"/>
                  </a:moveTo>
                  <a:lnTo>
                    <a:pt x="276795" y="795682"/>
                  </a:lnTo>
                </a:path>
                <a:path w="382269" h="892810">
                  <a:moveTo>
                    <a:pt x="155292" y="794509"/>
                  </a:moveTo>
                  <a:lnTo>
                    <a:pt x="346843" y="794509"/>
                  </a:lnTo>
                </a:path>
                <a:path w="382269" h="892810">
                  <a:moveTo>
                    <a:pt x="163315" y="793336"/>
                  </a:moveTo>
                  <a:lnTo>
                    <a:pt x="354789" y="793336"/>
                  </a:lnTo>
                </a:path>
                <a:path w="382269" h="892810">
                  <a:moveTo>
                    <a:pt x="117028" y="792105"/>
                  </a:moveTo>
                  <a:lnTo>
                    <a:pt x="308579" y="792105"/>
                  </a:lnTo>
                </a:path>
                <a:path w="382269" h="892810">
                  <a:moveTo>
                    <a:pt x="155832" y="790932"/>
                  </a:moveTo>
                  <a:lnTo>
                    <a:pt x="347383" y="790932"/>
                  </a:lnTo>
                </a:path>
                <a:path w="382269" h="892810">
                  <a:moveTo>
                    <a:pt x="112554" y="788528"/>
                  </a:moveTo>
                  <a:lnTo>
                    <a:pt x="304027" y="788528"/>
                  </a:lnTo>
                </a:path>
                <a:path w="382269" h="892810">
                  <a:moveTo>
                    <a:pt x="98436" y="787355"/>
                  </a:moveTo>
                  <a:lnTo>
                    <a:pt x="289987" y="787355"/>
                  </a:lnTo>
                </a:path>
                <a:path w="382269" h="892810">
                  <a:moveTo>
                    <a:pt x="95736" y="786182"/>
                  </a:moveTo>
                  <a:lnTo>
                    <a:pt x="287287" y="786182"/>
                  </a:lnTo>
                </a:path>
                <a:path w="382269" h="892810">
                  <a:moveTo>
                    <a:pt x="112477" y="784951"/>
                  </a:moveTo>
                  <a:lnTo>
                    <a:pt x="303950" y="784951"/>
                  </a:lnTo>
                </a:path>
                <a:path w="382269" h="892810">
                  <a:moveTo>
                    <a:pt x="62101" y="783778"/>
                  </a:moveTo>
                  <a:lnTo>
                    <a:pt x="253652" y="783778"/>
                  </a:lnTo>
                </a:path>
                <a:path w="382269" h="892810">
                  <a:moveTo>
                    <a:pt x="137240" y="782605"/>
                  </a:moveTo>
                  <a:lnTo>
                    <a:pt x="328791" y="782605"/>
                  </a:lnTo>
                </a:path>
                <a:path w="382269" h="892810">
                  <a:moveTo>
                    <a:pt x="106228" y="781374"/>
                  </a:moveTo>
                  <a:lnTo>
                    <a:pt x="297779" y="781374"/>
                  </a:lnTo>
                </a:path>
                <a:path w="382269" h="892810">
                  <a:moveTo>
                    <a:pt x="76990" y="780201"/>
                  </a:moveTo>
                  <a:lnTo>
                    <a:pt x="268541" y="780201"/>
                  </a:lnTo>
                </a:path>
                <a:path w="382269" h="892810">
                  <a:moveTo>
                    <a:pt x="166632" y="778969"/>
                  </a:moveTo>
                  <a:lnTo>
                    <a:pt x="358106" y="778969"/>
                  </a:lnTo>
                </a:path>
                <a:path w="382269" h="892810">
                  <a:moveTo>
                    <a:pt x="92419" y="777797"/>
                  </a:moveTo>
                  <a:lnTo>
                    <a:pt x="283970" y="777797"/>
                  </a:lnTo>
                </a:path>
                <a:path w="382269" h="892810">
                  <a:moveTo>
                    <a:pt x="116411" y="776624"/>
                  </a:moveTo>
                  <a:lnTo>
                    <a:pt x="307885" y="776624"/>
                  </a:lnTo>
                </a:path>
                <a:path w="382269" h="892810">
                  <a:moveTo>
                    <a:pt x="68736" y="773047"/>
                  </a:moveTo>
                  <a:lnTo>
                    <a:pt x="260209" y="773047"/>
                  </a:lnTo>
                </a:path>
                <a:path w="382269" h="892810">
                  <a:moveTo>
                    <a:pt x="53152" y="771815"/>
                  </a:moveTo>
                  <a:lnTo>
                    <a:pt x="244703" y="771815"/>
                  </a:lnTo>
                </a:path>
                <a:path w="382269" h="892810">
                  <a:moveTo>
                    <a:pt x="95351" y="770643"/>
                  </a:moveTo>
                  <a:lnTo>
                    <a:pt x="286901" y="770643"/>
                  </a:lnTo>
                </a:path>
                <a:path w="382269" h="892810">
                  <a:moveTo>
                    <a:pt x="148272" y="769470"/>
                  </a:moveTo>
                  <a:lnTo>
                    <a:pt x="339746" y="769470"/>
                  </a:lnTo>
                </a:path>
                <a:path w="382269" h="892810">
                  <a:moveTo>
                    <a:pt x="58552" y="768238"/>
                  </a:moveTo>
                  <a:lnTo>
                    <a:pt x="250103" y="768238"/>
                  </a:lnTo>
                </a:path>
                <a:path w="382269" h="892810">
                  <a:moveTo>
                    <a:pt x="142409" y="767066"/>
                  </a:moveTo>
                  <a:lnTo>
                    <a:pt x="333960" y="767066"/>
                  </a:lnTo>
                </a:path>
                <a:path w="382269" h="892810">
                  <a:moveTo>
                    <a:pt x="74599" y="765893"/>
                  </a:moveTo>
                  <a:lnTo>
                    <a:pt x="266149" y="765893"/>
                  </a:lnTo>
                </a:path>
                <a:path w="382269" h="892810">
                  <a:moveTo>
                    <a:pt x="130066" y="764661"/>
                  </a:moveTo>
                  <a:lnTo>
                    <a:pt x="321617" y="764661"/>
                  </a:lnTo>
                </a:path>
                <a:path w="382269" h="892810">
                  <a:moveTo>
                    <a:pt x="119034" y="763489"/>
                  </a:moveTo>
                  <a:lnTo>
                    <a:pt x="310585" y="763489"/>
                  </a:lnTo>
                </a:path>
                <a:path w="382269" h="892810">
                  <a:moveTo>
                    <a:pt x="85399" y="762316"/>
                  </a:moveTo>
                  <a:lnTo>
                    <a:pt x="276872" y="762316"/>
                  </a:lnTo>
                </a:path>
                <a:path w="382269" h="892810">
                  <a:moveTo>
                    <a:pt x="81310" y="761084"/>
                  </a:moveTo>
                  <a:lnTo>
                    <a:pt x="272861" y="761084"/>
                  </a:lnTo>
                </a:path>
                <a:path w="382269" h="892810">
                  <a:moveTo>
                    <a:pt x="91262" y="758739"/>
                  </a:moveTo>
                  <a:lnTo>
                    <a:pt x="282735" y="758739"/>
                  </a:lnTo>
                </a:path>
                <a:path w="382269" h="892810">
                  <a:moveTo>
                    <a:pt x="55852" y="757507"/>
                  </a:moveTo>
                  <a:lnTo>
                    <a:pt x="247403" y="757507"/>
                  </a:lnTo>
                </a:path>
                <a:path w="382269" h="892810">
                  <a:moveTo>
                    <a:pt x="98359" y="756334"/>
                  </a:moveTo>
                  <a:lnTo>
                    <a:pt x="289910" y="756334"/>
                  </a:lnTo>
                </a:path>
                <a:path w="382269" h="892810">
                  <a:moveTo>
                    <a:pt x="130914" y="755162"/>
                  </a:moveTo>
                  <a:lnTo>
                    <a:pt x="322388" y="755162"/>
                  </a:lnTo>
                </a:path>
                <a:path w="382269" h="892810">
                  <a:moveTo>
                    <a:pt x="84627" y="753930"/>
                  </a:moveTo>
                  <a:lnTo>
                    <a:pt x="276178" y="753930"/>
                  </a:lnTo>
                </a:path>
                <a:path w="382269" h="892810">
                  <a:moveTo>
                    <a:pt x="69816" y="752757"/>
                  </a:moveTo>
                  <a:lnTo>
                    <a:pt x="261366" y="752757"/>
                  </a:lnTo>
                </a:path>
                <a:path w="382269" h="892810">
                  <a:moveTo>
                    <a:pt x="47289" y="751585"/>
                  </a:moveTo>
                  <a:lnTo>
                    <a:pt x="238840" y="751585"/>
                  </a:lnTo>
                </a:path>
                <a:path w="382269" h="892810">
                  <a:moveTo>
                    <a:pt x="6094" y="750353"/>
                  </a:moveTo>
                  <a:lnTo>
                    <a:pt x="197645" y="750353"/>
                  </a:lnTo>
                </a:path>
                <a:path w="382269" h="892810">
                  <a:moveTo>
                    <a:pt x="29237" y="749180"/>
                  </a:moveTo>
                  <a:lnTo>
                    <a:pt x="220788" y="749180"/>
                  </a:lnTo>
                </a:path>
                <a:path w="382269" h="892810">
                  <a:moveTo>
                    <a:pt x="119651" y="748008"/>
                  </a:moveTo>
                  <a:lnTo>
                    <a:pt x="311202" y="748008"/>
                  </a:lnTo>
                </a:path>
                <a:path w="382269" h="892810">
                  <a:moveTo>
                    <a:pt x="142178" y="746776"/>
                  </a:moveTo>
                  <a:lnTo>
                    <a:pt x="333728" y="746776"/>
                  </a:lnTo>
                </a:path>
                <a:path w="382269" h="892810">
                  <a:moveTo>
                    <a:pt x="111937" y="745603"/>
                  </a:moveTo>
                  <a:lnTo>
                    <a:pt x="303487" y="745603"/>
                  </a:lnTo>
                </a:path>
                <a:path w="382269" h="892810">
                  <a:moveTo>
                    <a:pt x="149121" y="744431"/>
                  </a:moveTo>
                  <a:lnTo>
                    <a:pt x="340671" y="744431"/>
                  </a:lnTo>
                </a:path>
                <a:path w="382269" h="892810">
                  <a:moveTo>
                    <a:pt x="62795" y="743199"/>
                  </a:moveTo>
                  <a:lnTo>
                    <a:pt x="254346" y="743199"/>
                  </a:lnTo>
                </a:path>
                <a:path w="382269" h="892810">
                  <a:moveTo>
                    <a:pt x="117105" y="742026"/>
                  </a:moveTo>
                  <a:lnTo>
                    <a:pt x="308656" y="742026"/>
                  </a:lnTo>
                </a:path>
                <a:path w="382269" h="892810">
                  <a:moveTo>
                    <a:pt x="94811" y="740795"/>
                  </a:moveTo>
                  <a:lnTo>
                    <a:pt x="286361" y="740795"/>
                  </a:lnTo>
                </a:path>
                <a:path w="382269" h="892810">
                  <a:moveTo>
                    <a:pt x="32709" y="739622"/>
                  </a:moveTo>
                  <a:lnTo>
                    <a:pt x="224183" y="739622"/>
                  </a:lnTo>
                </a:path>
                <a:path w="382269" h="892810">
                  <a:moveTo>
                    <a:pt x="108928" y="738449"/>
                  </a:moveTo>
                  <a:lnTo>
                    <a:pt x="300479" y="738449"/>
                  </a:lnTo>
                </a:path>
                <a:path w="382269" h="892810">
                  <a:moveTo>
                    <a:pt x="147269" y="737218"/>
                  </a:moveTo>
                  <a:lnTo>
                    <a:pt x="338820" y="737218"/>
                  </a:lnTo>
                </a:path>
                <a:path w="382269" h="892810">
                  <a:moveTo>
                    <a:pt x="35640" y="736045"/>
                  </a:moveTo>
                  <a:lnTo>
                    <a:pt x="227114" y="736045"/>
                  </a:lnTo>
                </a:path>
                <a:path w="382269" h="892810">
                  <a:moveTo>
                    <a:pt x="53229" y="734872"/>
                  </a:moveTo>
                  <a:lnTo>
                    <a:pt x="244703" y="734872"/>
                  </a:lnTo>
                </a:path>
                <a:path w="382269" h="892810">
                  <a:moveTo>
                    <a:pt x="89179" y="733641"/>
                  </a:moveTo>
                  <a:lnTo>
                    <a:pt x="280653" y="733641"/>
                  </a:lnTo>
                </a:path>
                <a:path w="382269" h="892810">
                  <a:moveTo>
                    <a:pt x="83702" y="732468"/>
                  </a:moveTo>
                  <a:lnTo>
                    <a:pt x="275252" y="732468"/>
                  </a:lnTo>
                </a:path>
                <a:path w="382269" h="892810">
                  <a:moveTo>
                    <a:pt x="181676" y="731295"/>
                  </a:moveTo>
                  <a:lnTo>
                    <a:pt x="373226" y="731295"/>
                  </a:lnTo>
                </a:path>
                <a:path w="382269" h="892810">
                  <a:moveTo>
                    <a:pt x="73364" y="730064"/>
                  </a:moveTo>
                  <a:lnTo>
                    <a:pt x="264915" y="730064"/>
                  </a:lnTo>
                </a:path>
                <a:path w="382269" h="892810">
                  <a:moveTo>
                    <a:pt x="94039" y="728891"/>
                  </a:moveTo>
                  <a:lnTo>
                    <a:pt x="285590" y="728891"/>
                  </a:lnTo>
                </a:path>
                <a:path w="382269" h="892810">
                  <a:moveTo>
                    <a:pt x="160307" y="727718"/>
                  </a:moveTo>
                  <a:lnTo>
                    <a:pt x="351857" y="727718"/>
                  </a:lnTo>
                </a:path>
                <a:path w="382269" h="892810">
                  <a:moveTo>
                    <a:pt x="27154" y="726487"/>
                  </a:moveTo>
                  <a:lnTo>
                    <a:pt x="218628" y="726487"/>
                  </a:lnTo>
                </a:path>
                <a:path w="382269" h="892810">
                  <a:moveTo>
                    <a:pt x="117645" y="725314"/>
                  </a:moveTo>
                  <a:lnTo>
                    <a:pt x="309119" y="725314"/>
                  </a:lnTo>
                </a:path>
                <a:path w="382269" h="892810">
                  <a:moveTo>
                    <a:pt x="156064" y="724141"/>
                  </a:moveTo>
                  <a:lnTo>
                    <a:pt x="347614" y="724141"/>
                  </a:lnTo>
                </a:path>
                <a:path w="382269" h="892810">
                  <a:moveTo>
                    <a:pt x="68890" y="722910"/>
                  </a:moveTo>
                  <a:lnTo>
                    <a:pt x="260441" y="722910"/>
                  </a:lnTo>
                </a:path>
                <a:path w="382269" h="892810">
                  <a:moveTo>
                    <a:pt x="89333" y="721737"/>
                  </a:moveTo>
                  <a:lnTo>
                    <a:pt x="280807" y="721737"/>
                  </a:lnTo>
                </a:path>
                <a:path w="382269" h="892810">
                  <a:moveTo>
                    <a:pt x="70587" y="720564"/>
                  </a:moveTo>
                  <a:lnTo>
                    <a:pt x="262138" y="720564"/>
                  </a:lnTo>
                </a:path>
                <a:path w="382269" h="892810">
                  <a:moveTo>
                    <a:pt x="85322" y="719333"/>
                  </a:moveTo>
                  <a:lnTo>
                    <a:pt x="276872" y="719333"/>
                  </a:lnTo>
                </a:path>
                <a:path w="382269" h="892810">
                  <a:moveTo>
                    <a:pt x="102139" y="718160"/>
                  </a:moveTo>
                  <a:lnTo>
                    <a:pt x="293690" y="718160"/>
                  </a:lnTo>
                </a:path>
                <a:path w="382269" h="892810">
                  <a:moveTo>
                    <a:pt x="82930" y="715756"/>
                  </a:moveTo>
                  <a:lnTo>
                    <a:pt x="274481" y="715756"/>
                  </a:lnTo>
                </a:path>
                <a:path w="382269" h="892810">
                  <a:moveTo>
                    <a:pt x="85630" y="714583"/>
                  </a:moveTo>
                  <a:lnTo>
                    <a:pt x="277181" y="714583"/>
                  </a:lnTo>
                </a:path>
                <a:path w="382269" h="892810">
                  <a:moveTo>
                    <a:pt x="69353" y="713410"/>
                  </a:moveTo>
                  <a:lnTo>
                    <a:pt x="260903" y="713410"/>
                  </a:lnTo>
                </a:path>
                <a:path w="382269" h="892810">
                  <a:moveTo>
                    <a:pt x="80307" y="712179"/>
                  </a:moveTo>
                  <a:lnTo>
                    <a:pt x="271858" y="712179"/>
                  </a:lnTo>
                </a:path>
                <a:path w="382269" h="892810">
                  <a:moveTo>
                    <a:pt x="135620" y="711006"/>
                  </a:moveTo>
                  <a:lnTo>
                    <a:pt x="327171" y="711006"/>
                  </a:lnTo>
                </a:path>
                <a:path w="382269" h="892810">
                  <a:moveTo>
                    <a:pt x="54927" y="709833"/>
                  </a:moveTo>
                  <a:lnTo>
                    <a:pt x="246400" y="709833"/>
                  </a:lnTo>
                </a:path>
                <a:path w="382269" h="892810">
                  <a:moveTo>
                    <a:pt x="99362" y="708602"/>
                  </a:moveTo>
                  <a:lnTo>
                    <a:pt x="290836" y="708602"/>
                  </a:lnTo>
                </a:path>
                <a:path w="382269" h="892810">
                  <a:moveTo>
                    <a:pt x="121888" y="707429"/>
                  </a:moveTo>
                  <a:lnTo>
                    <a:pt x="313439" y="707429"/>
                  </a:lnTo>
                </a:path>
                <a:path w="382269" h="892810">
                  <a:moveTo>
                    <a:pt x="169410" y="706256"/>
                  </a:moveTo>
                  <a:lnTo>
                    <a:pt x="360960" y="706256"/>
                  </a:lnTo>
                </a:path>
                <a:path w="382269" h="892810">
                  <a:moveTo>
                    <a:pt x="61330" y="705025"/>
                  </a:moveTo>
                  <a:lnTo>
                    <a:pt x="252803" y="705025"/>
                  </a:lnTo>
                </a:path>
                <a:path w="382269" h="892810">
                  <a:moveTo>
                    <a:pt x="44281" y="703852"/>
                  </a:moveTo>
                  <a:lnTo>
                    <a:pt x="235754" y="703852"/>
                  </a:lnTo>
                </a:path>
                <a:path w="382269" h="892810">
                  <a:moveTo>
                    <a:pt x="8331" y="702621"/>
                  </a:moveTo>
                  <a:lnTo>
                    <a:pt x="199882" y="702621"/>
                  </a:lnTo>
                </a:path>
                <a:path w="382269" h="892810">
                  <a:moveTo>
                    <a:pt x="81850" y="701448"/>
                  </a:moveTo>
                  <a:lnTo>
                    <a:pt x="273324" y="701448"/>
                  </a:lnTo>
                </a:path>
                <a:path w="382269" h="892810">
                  <a:moveTo>
                    <a:pt x="29546" y="700275"/>
                  </a:moveTo>
                  <a:lnTo>
                    <a:pt x="221020" y="700275"/>
                  </a:lnTo>
                </a:path>
                <a:path w="382269" h="892810">
                  <a:moveTo>
                    <a:pt x="171338" y="699043"/>
                  </a:moveTo>
                  <a:lnTo>
                    <a:pt x="362889" y="699043"/>
                  </a:lnTo>
                </a:path>
                <a:path w="382269" h="892810">
                  <a:moveTo>
                    <a:pt x="58630" y="697871"/>
                  </a:moveTo>
                  <a:lnTo>
                    <a:pt x="250180" y="697871"/>
                  </a:lnTo>
                </a:path>
                <a:path w="382269" h="892810">
                  <a:moveTo>
                    <a:pt x="126749" y="694294"/>
                  </a:moveTo>
                  <a:lnTo>
                    <a:pt x="318222" y="694294"/>
                  </a:lnTo>
                </a:path>
                <a:path w="382269" h="892810">
                  <a:moveTo>
                    <a:pt x="144029" y="693121"/>
                  </a:moveTo>
                  <a:lnTo>
                    <a:pt x="335503" y="693121"/>
                  </a:lnTo>
                </a:path>
                <a:path w="382269" h="892810">
                  <a:moveTo>
                    <a:pt x="183373" y="691889"/>
                  </a:moveTo>
                  <a:lnTo>
                    <a:pt x="374924" y="691889"/>
                  </a:lnTo>
                </a:path>
                <a:path w="382269" h="892810">
                  <a:moveTo>
                    <a:pt x="101445" y="690717"/>
                  </a:moveTo>
                  <a:lnTo>
                    <a:pt x="292919" y="690717"/>
                  </a:lnTo>
                </a:path>
                <a:path w="382269" h="892810">
                  <a:moveTo>
                    <a:pt x="131300" y="689544"/>
                  </a:moveTo>
                  <a:lnTo>
                    <a:pt x="322774" y="689544"/>
                  </a:lnTo>
                </a:path>
                <a:path w="382269" h="892810">
                  <a:moveTo>
                    <a:pt x="124203" y="688312"/>
                  </a:moveTo>
                  <a:lnTo>
                    <a:pt x="315676" y="688312"/>
                  </a:lnTo>
                </a:path>
                <a:path w="382269" h="892810">
                  <a:moveTo>
                    <a:pt x="68350" y="687140"/>
                  </a:moveTo>
                  <a:lnTo>
                    <a:pt x="259901" y="687140"/>
                  </a:lnTo>
                </a:path>
                <a:path w="382269" h="892810">
                  <a:moveTo>
                    <a:pt x="84165" y="685967"/>
                  </a:moveTo>
                  <a:lnTo>
                    <a:pt x="275715" y="685967"/>
                  </a:lnTo>
                </a:path>
                <a:path w="382269" h="892810">
                  <a:moveTo>
                    <a:pt x="38803" y="684735"/>
                  </a:moveTo>
                  <a:lnTo>
                    <a:pt x="230277" y="684735"/>
                  </a:lnTo>
                </a:path>
                <a:path w="382269" h="892810">
                  <a:moveTo>
                    <a:pt x="56778" y="683563"/>
                  </a:moveTo>
                  <a:lnTo>
                    <a:pt x="248329" y="683563"/>
                  </a:lnTo>
                </a:path>
                <a:path w="382269" h="892810">
                  <a:moveTo>
                    <a:pt x="45746" y="682390"/>
                  </a:moveTo>
                  <a:lnTo>
                    <a:pt x="237297" y="682390"/>
                  </a:lnTo>
                </a:path>
                <a:path w="382269" h="892810">
                  <a:moveTo>
                    <a:pt x="81387" y="681158"/>
                  </a:moveTo>
                  <a:lnTo>
                    <a:pt x="272861" y="681158"/>
                  </a:lnTo>
                </a:path>
                <a:path w="382269" h="892810">
                  <a:moveTo>
                    <a:pt x="105071" y="679986"/>
                  </a:moveTo>
                  <a:lnTo>
                    <a:pt x="296622" y="679986"/>
                  </a:lnTo>
                </a:path>
                <a:path w="382269" h="892810">
                  <a:moveTo>
                    <a:pt x="101368" y="678813"/>
                  </a:moveTo>
                  <a:lnTo>
                    <a:pt x="292919" y="678813"/>
                  </a:lnTo>
                </a:path>
                <a:path w="382269" h="892810">
                  <a:moveTo>
                    <a:pt x="143720" y="677581"/>
                  </a:moveTo>
                  <a:lnTo>
                    <a:pt x="335194" y="677581"/>
                  </a:lnTo>
                </a:path>
                <a:path w="382269" h="892810">
                  <a:moveTo>
                    <a:pt x="67501" y="676409"/>
                  </a:moveTo>
                  <a:lnTo>
                    <a:pt x="259052" y="676409"/>
                  </a:lnTo>
                </a:path>
                <a:path w="382269" h="892810">
                  <a:moveTo>
                    <a:pt x="127443" y="675236"/>
                  </a:moveTo>
                  <a:lnTo>
                    <a:pt x="318994" y="675236"/>
                  </a:lnTo>
                </a:path>
                <a:path w="382269" h="892810">
                  <a:moveTo>
                    <a:pt x="76836" y="674004"/>
                  </a:moveTo>
                  <a:lnTo>
                    <a:pt x="268387" y="674004"/>
                  </a:lnTo>
                </a:path>
                <a:path w="382269" h="892810">
                  <a:moveTo>
                    <a:pt x="120423" y="672832"/>
                  </a:moveTo>
                  <a:lnTo>
                    <a:pt x="311896" y="672832"/>
                  </a:lnTo>
                </a:path>
                <a:path w="382269" h="892810">
                  <a:moveTo>
                    <a:pt x="86479" y="671659"/>
                  </a:moveTo>
                  <a:lnTo>
                    <a:pt x="278030" y="671659"/>
                  </a:lnTo>
                </a:path>
                <a:path w="382269" h="892810">
                  <a:moveTo>
                    <a:pt x="141560" y="670427"/>
                  </a:moveTo>
                  <a:lnTo>
                    <a:pt x="333111" y="670427"/>
                  </a:lnTo>
                </a:path>
                <a:path w="382269" h="892810">
                  <a:moveTo>
                    <a:pt x="70896" y="669255"/>
                  </a:moveTo>
                  <a:lnTo>
                    <a:pt x="262369" y="669255"/>
                  </a:lnTo>
                </a:path>
                <a:path w="382269" h="892810">
                  <a:moveTo>
                    <a:pt x="113711" y="668082"/>
                  </a:moveTo>
                  <a:lnTo>
                    <a:pt x="305185" y="668082"/>
                  </a:lnTo>
                </a:path>
                <a:path w="382269" h="892810">
                  <a:moveTo>
                    <a:pt x="77839" y="666850"/>
                  </a:moveTo>
                  <a:lnTo>
                    <a:pt x="269389" y="666850"/>
                  </a:lnTo>
                </a:path>
                <a:path w="382269" h="892810">
                  <a:moveTo>
                    <a:pt x="101522" y="665677"/>
                  </a:moveTo>
                  <a:lnTo>
                    <a:pt x="293073" y="665677"/>
                  </a:lnTo>
                </a:path>
                <a:path w="382269" h="892810">
                  <a:moveTo>
                    <a:pt x="190393" y="664505"/>
                  </a:moveTo>
                  <a:lnTo>
                    <a:pt x="381867" y="664505"/>
                  </a:lnTo>
                </a:path>
                <a:path w="382269" h="892810">
                  <a:moveTo>
                    <a:pt x="79536" y="663273"/>
                  </a:moveTo>
                  <a:lnTo>
                    <a:pt x="271087" y="663273"/>
                  </a:lnTo>
                </a:path>
                <a:path w="382269" h="892810">
                  <a:moveTo>
                    <a:pt x="70741" y="662100"/>
                  </a:moveTo>
                  <a:lnTo>
                    <a:pt x="262292" y="662100"/>
                  </a:lnTo>
                </a:path>
                <a:path w="382269" h="892810">
                  <a:moveTo>
                    <a:pt x="148658" y="660869"/>
                  </a:moveTo>
                  <a:lnTo>
                    <a:pt x="340131" y="660869"/>
                  </a:lnTo>
                </a:path>
                <a:path w="382269" h="892810">
                  <a:moveTo>
                    <a:pt x="86942" y="659696"/>
                  </a:moveTo>
                  <a:lnTo>
                    <a:pt x="278415" y="659696"/>
                  </a:lnTo>
                </a:path>
                <a:path w="382269" h="892810">
                  <a:moveTo>
                    <a:pt x="162235" y="657292"/>
                  </a:moveTo>
                  <a:lnTo>
                    <a:pt x="353786" y="657292"/>
                  </a:lnTo>
                </a:path>
                <a:path w="382269" h="892810">
                  <a:moveTo>
                    <a:pt x="137240" y="656119"/>
                  </a:moveTo>
                  <a:lnTo>
                    <a:pt x="328791" y="656119"/>
                  </a:lnTo>
                </a:path>
                <a:path w="382269" h="892810">
                  <a:moveTo>
                    <a:pt x="128831" y="654946"/>
                  </a:moveTo>
                  <a:lnTo>
                    <a:pt x="320382" y="654946"/>
                  </a:lnTo>
                </a:path>
                <a:path w="382269" h="892810">
                  <a:moveTo>
                    <a:pt x="62873" y="653715"/>
                  </a:moveTo>
                  <a:lnTo>
                    <a:pt x="254423" y="653715"/>
                  </a:lnTo>
                </a:path>
                <a:path w="382269" h="892810">
                  <a:moveTo>
                    <a:pt x="52149" y="652542"/>
                  </a:moveTo>
                  <a:lnTo>
                    <a:pt x="243700" y="652542"/>
                  </a:lnTo>
                </a:path>
                <a:path w="382269" h="892810">
                  <a:moveTo>
                    <a:pt x="85245" y="651369"/>
                  </a:moveTo>
                  <a:lnTo>
                    <a:pt x="276795" y="651369"/>
                  </a:lnTo>
                </a:path>
                <a:path w="382269" h="892810">
                  <a:moveTo>
                    <a:pt x="96122" y="650138"/>
                  </a:moveTo>
                  <a:lnTo>
                    <a:pt x="287673" y="650138"/>
                  </a:lnTo>
                </a:path>
                <a:path w="382269" h="892810">
                  <a:moveTo>
                    <a:pt x="86402" y="648965"/>
                  </a:moveTo>
                  <a:lnTo>
                    <a:pt x="277875" y="648965"/>
                  </a:lnTo>
                </a:path>
                <a:path w="382269" h="892810">
                  <a:moveTo>
                    <a:pt x="129989" y="647792"/>
                  </a:moveTo>
                  <a:lnTo>
                    <a:pt x="321462" y="647792"/>
                  </a:lnTo>
                </a:path>
                <a:path w="382269" h="892810">
                  <a:moveTo>
                    <a:pt x="126517" y="646561"/>
                  </a:moveTo>
                  <a:lnTo>
                    <a:pt x="318068" y="646561"/>
                  </a:lnTo>
                </a:path>
                <a:path w="382269" h="892810">
                  <a:moveTo>
                    <a:pt x="145958" y="645388"/>
                  </a:moveTo>
                  <a:lnTo>
                    <a:pt x="337508" y="645388"/>
                  </a:lnTo>
                </a:path>
                <a:path w="382269" h="892810">
                  <a:moveTo>
                    <a:pt x="161001" y="644215"/>
                  </a:moveTo>
                  <a:lnTo>
                    <a:pt x="352552" y="644215"/>
                  </a:lnTo>
                </a:path>
                <a:path w="382269" h="892810">
                  <a:moveTo>
                    <a:pt x="36952" y="642984"/>
                  </a:moveTo>
                  <a:lnTo>
                    <a:pt x="228503" y="642984"/>
                  </a:lnTo>
                </a:path>
                <a:path w="382269" h="892810">
                  <a:moveTo>
                    <a:pt x="41349" y="641811"/>
                  </a:moveTo>
                  <a:lnTo>
                    <a:pt x="232900" y="641811"/>
                  </a:lnTo>
                </a:path>
                <a:path w="382269" h="892810">
                  <a:moveTo>
                    <a:pt x="26383" y="640638"/>
                  </a:moveTo>
                  <a:lnTo>
                    <a:pt x="217934" y="640638"/>
                  </a:lnTo>
                </a:path>
                <a:path w="382269" h="892810">
                  <a:moveTo>
                    <a:pt x="104608" y="639407"/>
                  </a:moveTo>
                  <a:lnTo>
                    <a:pt x="296159" y="639407"/>
                  </a:lnTo>
                </a:path>
                <a:path w="382269" h="892810">
                  <a:moveTo>
                    <a:pt x="38803" y="638234"/>
                  </a:moveTo>
                  <a:lnTo>
                    <a:pt x="230354" y="638234"/>
                  </a:lnTo>
                </a:path>
                <a:path w="382269" h="892810">
                  <a:moveTo>
                    <a:pt x="135080" y="635830"/>
                  </a:moveTo>
                  <a:lnTo>
                    <a:pt x="326631" y="635830"/>
                  </a:lnTo>
                </a:path>
                <a:path w="382269" h="892810">
                  <a:moveTo>
                    <a:pt x="118648" y="634657"/>
                  </a:moveTo>
                  <a:lnTo>
                    <a:pt x="310199" y="634657"/>
                  </a:lnTo>
                </a:path>
                <a:path w="382269" h="892810">
                  <a:moveTo>
                    <a:pt x="40038" y="633484"/>
                  </a:moveTo>
                  <a:lnTo>
                    <a:pt x="231588" y="633484"/>
                  </a:lnTo>
                </a:path>
                <a:path w="382269" h="892810">
                  <a:moveTo>
                    <a:pt x="114483" y="632253"/>
                  </a:moveTo>
                  <a:lnTo>
                    <a:pt x="305956" y="632253"/>
                  </a:lnTo>
                </a:path>
                <a:path w="382269" h="892810">
                  <a:moveTo>
                    <a:pt x="17126" y="631080"/>
                  </a:moveTo>
                  <a:lnTo>
                    <a:pt x="208599" y="631080"/>
                  </a:lnTo>
                </a:path>
                <a:path w="382269" h="892810">
                  <a:moveTo>
                    <a:pt x="130992" y="629907"/>
                  </a:moveTo>
                  <a:lnTo>
                    <a:pt x="322542" y="629907"/>
                  </a:lnTo>
                </a:path>
                <a:path w="382269" h="892810">
                  <a:moveTo>
                    <a:pt x="135003" y="628676"/>
                  </a:moveTo>
                  <a:lnTo>
                    <a:pt x="326554" y="628676"/>
                  </a:lnTo>
                </a:path>
                <a:path w="382269" h="892810">
                  <a:moveTo>
                    <a:pt x="87868" y="627503"/>
                  </a:moveTo>
                  <a:lnTo>
                    <a:pt x="279341" y="627503"/>
                  </a:lnTo>
                </a:path>
                <a:path w="382269" h="892810">
                  <a:moveTo>
                    <a:pt x="60558" y="626330"/>
                  </a:moveTo>
                  <a:lnTo>
                    <a:pt x="252109" y="626330"/>
                  </a:lnTo>
                </a:path>
                <a:path w="382269" h="892810">
                  <a:moveTo>
                    <a:pt x="30163" y="625099"/>
                  </a:moveTo>
                  <a:lnTo>
                    <a:pt x="221637" y="625099"/>
                  </a:lnTo>
                </a:path>
                <a:path w="382269" h="892810">
                  <a:moveTo>
                    <a:pt x="170875" y="623926"/>
                  </a:moveTo>
                  <a:lnTo>
                    <a:pt x="362349" y="623926"/>
                  </a:lnTo>
                </a:path>
                <a:path w="382269" h="892810">
                  <a:moveTo>
                    <a:pt x="82159" y="622695"/>
                  </a:moveTo>
                  <a:lnTo>
                    <a:pt x="273710" y="622695"/>
                  </a:lnTo>
                </a:path>
                <a:path w="382269" h="892810">
                  <a:moveTo>
                    <a:pt x="74907" y="621522"/>
                  </a:moveTo>
                  <a:lnTo>
                    <a:pt x="266458" y="621522"/>
                  </a:lnTo>
                </a:path>
                <a:path w="382269" h="892810">
                  <a:moveTo>
                    <a:pt x="121426" y="620349"/>
                  </a:moveTo>
                  <a:lnTo>
                    <a:pt x="312976" y="620349"/>
                  </a:lnTo>
                </a:path>
                <a:path w="382269" h="892810">
                  <a:moveTo>
                    <a:pt x="28157" y="619118"/>
                  </a:moveTo>
                  <a:lnTo>
                    <a:pt x="219708" y="619118"/>
                  </a:lnTo>
                </a:path>
                <a:path w="382269" h="892810">
                  <a:moveTo>
                    <a:pt x="56701" y="617945"/>
                  </a:moveTo>
                  <a:lnTo>
                    <a:pt x="248175" y="617945"/>
                  </a:lnTo>
                </a:path>
                <a:path w="382269" h="892810">
                  <a:moveTo>
                    <a:pt x="94579" y="616772"/>
                  </a:moveTo>
                  <a:lnTo>
                    <a:pt x="286130" y="616772"/>
                  </a:lnTo>
                </a:path>
                <a:path w="382269" h="892810">
                  <a:moveTo>
                    <a:pt x="113634" y="615541"/>
                  </a:moveTo>
                  <a:lnTo>
                    <a:pt x="305185" y="615541"/>
                  </a:lnTo>
                </a:path>
                <a:path w="382269" h="892810">
                  <a:moveTo>
                    <a:pt x="130220" y="614368"/>
                  </a:moveTo>
                  <a:lnTo>
                    <a:pt x="321694" y="614368"/>
                  </a:lnTo>
                </a:path>
                <a:path w="382269" h="892810">
                  <a:moveTo>
                    <a:pt x="65727" y="613195"/>
                  </a:moveTo>
                  <a:lnTo>
                    <a:pt x="257278" y="613195"/>
                  </a:lnTo>
                </a:path>
                <a:path w="382269" h="892810">
                  <a:moveTo>
                    <a:pt x="32169" y="611964"/>
                  </a:moveTo>
                  <a:lnTo>
                    <a:pt x="223720" y="611964"/>
                  </a:lnTo>
                </a:path>
                <a:path w="382269" h="892810">
                  <a:moveTo>
                    <a:pt x="47058" y="610791"/>
                  </a:moveTo>
                  <a:lnTo>
                    <a:pt x="238609" y="610791"/>
                  </a:lnTo>
                </a:path>
                <a:path w="382269" h="892810">
                  <a:moveTo>
                    <a:pt x="67964" y="609618"/>
                  </a:moveTo>
                  <a:lnTo>
                    <a:pt x="259515" y="609618"/>
                  </a:lnTo>
                </a:path>
                <a:path w="382269" h="892810">
                  <a:moveTo>
                    <a:pt x="113248" y="608386"/>
                  </a:moveTo>
                  <a:lnTo>
                    <a:pt x="304799" y="608386"/>
                  </a:lnTo>
                </a:path>
                <a:path w="382269" h="892810">
                  <a:moveTo>
                    <a:pt x="169410" y="607214"/>
                  </a:moveTo>
                  <a:lnTo>
                    <a:pt x="360960" y="607214"/>
                  </a:lnTo>
                </a:path>
                <a:path w="382269" h="892810">
                  <a:moveTo>
                    <a:pt x="87096" y="606041"/>
                  </a:moveTo>
                  <a:lnTo>
                    <a:pt x="278647" y="606041"/>
                  </a:lnTo>
                </a:path>
                <a:path w="382269" h="892810">
                  <a:moveTo>
                    <a:pt x="148118" y="604809"/>
                  </a:moveTo>
                  <a:lnTo>
                    <a:pt x="339668" y="604809"/>
                  </a:lnTo>
                </a:path>
                <a:path w="382269" h="892810">
                  <a:moveTo>
                    <a:pt x="137086" y="603637"/>
                  </a:moveTo>
                  <a:lnTo>
                    <a:pt x="328560" y="603637"/>
                  </a:lnTo>
                </a:path>
                <a:path w="382269" h="892810">
                  <a:moveTo>
                    <a:pt x="21986" y="602464"/>
                  </a:moveTo>
                  <a:lnTo>
                    <a:pt x="213459" y="602464"/>
                  </a:lnTo>
                </a:path>
                <a:path w="382269" h="892810">
                  <a:moveTo>
                    <a:pt x="55235" y="601232"/>
                  </a:moveTo>
                  <a:lnTo>
                    <a:pt x="246709" y="601232"/>
                  </a:lnTo>
                </a:path>
                <a:path w="382269" h="892810">
                  <a:moveTo>
                    <a:pt x="79999" y="600060"/>
                  </a:moveTo>
                  <a:lnTo>
                    <a:pt x="271549" y="600060"/>
                  </a:lnTo>
                </a:path>
                <a:path w="382269" h="892810">
                  <a:moveTo>
                    <a:pt x="100519" y="598887"/>
                  </a:moveTo>
                  <a:lnTo>
                    <a:pt x="292070" y="598887"/>
                  </a:lnTo>
                </a:path>
                <a:path w="382269" h="892810">
                  <a:moveTo>
                    <a:pt x="99208" y="597655"/>
                  </a:moveTo>
                  <a:lnTo>
                    <a:pt x="290759" y="597655"/>
                  </a:lnTo>
                </a:path>
                <a:path w="382269" h="892810">
                  <a:moveTo>
                    <a:pt x="165938" y="596483"/>
                  </a:moveTo>
                  <a:lnTo>
                    <a:pt x="357412" y="596483"/>
                  </a:lnTo>
                </a:path>
                <a:path w="382269" h="892810">
                  <a:moveTo>
                    <a:pt x="86325" y="595310"/>
                  </a:moveTo>
                  <a:lnTo>
                    <a:pt x="277798" y="595310"/>
                  </a:lnTo>
                </a:path>
                <a:path w="382269" h="892810">
                  <a:moveTo>
                    <a:pt x="116797" y="594078"/>
                  </a:moveTo>
                  <a:lnTo>
                    <a:pt x="308270" y="594078"/>
                  </a:lnTo>
                </a:path>
                <a:path w="382269" h="892810">
                  <a:moveTo>
                    <a:pt x="103528" y="592906"/>
                  </a:moveTo>
                  <a:lnTo>
                    <a:pt x="295002" y="592906"/>
                  </a:lnTo>
                </a:path>
                <a:path w="382269" h="892810">
                  <a:moveTo>
                    <a:pt x="68736" y="591733"/>
                  </a:moveTo>
                  <a:lnTo>
                    <a:pt x="260286" y="591733"/>
                  </a:lnTo>
                </a:path>
                <a:path w="382269" h="892810">
                  <a:moveTo>
                    <a:pt x="147886" y="590501"/>
                  </a:moveTo>
                  <a:lnTo>
                    <a:pt x="339437" y="590501"/>
                  </a:lnTo>
                </a:path>
                <a:path w="382269" h="892810">
                  <a:moveTo>
                    <a:pt x="126440" y="589329"/>
                  </a:moveTo>
                  <a:lnTo>
                    <a:pt x="317991" y="589329"/>
                  </a:lnTo>
                </a:path>
                <a:path w="382269" h="892810">
                  <a:moveTo>
                    <a:pt x="28235" y="588156"/>
                  </a:moveTo>
                  <a:lnTo>
                    <a:pt x="219785" y="588156"/>
                  </a:lnTo>
                </a:path>
                <a:path w="382269" h="892810">
                  <a:moveTo>
                    <a:pt x="102062" y="586924"/>
                  </a:moveTo>
                  <a:lnTo>
                    <a:pt x="293536" y="586924"/>
                  </a:lnTo>
                </a:path>
                <a:path w="382269" h="892810">
                  <a:moveTo>
                    <a:pt x="62873" y="585752"/>
                  </a:moveTo>
                  <a:lnTo>
                    <a:pt x="254346" y="585752"/>
                  </a:lnTo>
                </a:path>
                <a:path w="382269" h="892810">
                  <a:moveTo>
                    <a:pt x="134540" y="584520"/>
                  </a:moveTo>
                  <a:lnTo>
                    <a:pt x="326091" y="584520"/>
                  </a:lnTo>
                </a:path>
                <a:path w="382269" h="892810">
                  <a:moveTo>
                    <a:pt x="102988" y="583347"/>
                  </a:moveTo>
                  <a:lnTo>
                    <a:pt x="294539" y="583347"/>
                  </a:lnTo>
                </a:path>
                <a:path w="382269" h="892810">
                  <a:moveTo>
                    <a:pt x="90799" y="582175"/>
                  </a:moveTo>
                  <a:lnTo>
                    <a:pt x="282350" y="582175"/>
                  </a:lnTo>
                </a:path>
                <a:path w="382269" h="892810">
                  <a:moveTo>
                    <a:pt x="137935" y="580943"/>
                  </a:moveTo>
                  <a:lnTo>
                    <a:pt x="329485" y="580943"/>
                  </a:lnTo>
                </a:path>
                <a:path w="382269" h="892810">
                  <a:moveTo>
                    <a:pt x="125206" y="579770"/>
                  </a:moveTo>
                  <a:lnTo>
                    <a:pt x="316679" y="579770"/>
                  </a:lnTo>
                </a:path>
                <a:path w="382269" h="892810">
                  <a:moveTo>
                    <a:pt x="113094" y="578598"/>
                  </a:moveTo>
                  <a:lnTo>
                    <a:pt x="304645" y="578598"/>
                  </a:lnTo>
                </a:path>
                <a:path w="382269" h="892810">
                  <a:moveTo>
                    <a:pt x="153209" y="577366"/>
                  </a:moveTo>
                  <a:lnTo>
                    <a:pt x="344683" y="577366"/>
                  </a:lnTo>
                </a:path>
                <a:path w="382269" h="892810">
                  <a:moveTo>
                    <a:pt x="83933" y="576193"/>
                  </a:moveTo>
                  <a:lnTo>
                    <a:pt x="275484" y="576193"/>
                  </a:lnTo>
                </a:path>
                <a:path w="382269" h="892810">
                  <a:moveTo>
                    <a:pt x="27077" y="575021"/>
                  </a:moveTo>
                  <a:lnTo>
                    <a:pt x="218628" y="575021"/>
                  </a:lnTo>
                </a:path>
                <a:path w="382269" h="892810">
                  <a:moveTo>
                    <a:pt x="93808" y="573789"/>
                  </a:moveTo>
                  <a:lnTo>
                    <a:pt x="285281" y="573789"/>
                  </a:lnTo>
                </a:path>
                <a:path w="382269" h="892810">
                  <a:moveTo>
                    <a:pt x="85322" y="572616"/>
                  </a:moveTo>
                  <a:lnTo>
                    <a:pt x="276795" y="572616"/>
                  </a:lnTo>
                </a:path>
                <a:path w="382269" h="892810">
                  <a:moveTo>
                    <a:pt x="104068" y="571443"/>
                  </a:moveTo>
                  <a:lnTo>
                    <a:pt x="295542" y="571443"/>
                  </a:lnTo>
                </a:path>
                <a:path w="382269" h="892810">
                  <a:moveTo>
                    <a:pt x="93962" y="570212"/>
                  </a:moveTo>
                  <a:lnTo>
                    <a:pt x="285513" y="570212"/>
                  </a:lnTo>
                </a:path>
                <a:path w="382269" h="892810">
                  <a:moveTo>
                    <a:pt x="69584" y="569039"/>
                  </a:moveTo>
                  <a:lnTo>
                    <a:pt x="261058" y="569039"/>
                  </a:lnTo>
                </a:path>
                <a:path w="382269" h="892810">
                  <a:moveTo>
                    <a:pt x="42583" y="567866"/>
                  </a:moveTo>
                  <a:lnTo>
                    <a:pt x="234134" y="567866"/>
                  </a:lnTo>
                </a:path>
                <a:path w="382269" h="892810">
                  <a:moveTo>
                    <a:pt x="133614" y="566635"/>
                  </a:moveTo>
                  <a:lnTo>
                    <a:pt x="325165" y="566635"/>
                  </a:lnTo>
                </a:path>
                <a:path w="382269" h="892810">
                  <a:moveTo>
                    <a:pt x="62564" y="565462"/>
                  </a:moveTo>
                  <a:lnTo>
                    <a:pt x="254115" y="565462"/>
                  </a:lnTo>
                </a:path>
                <a:path w="382269" h="892810">
                  <a:moveTo>
                    <a:pt x="73133" y="564289"/>
                  </a:moveTo>
                  <a:lnTo>
                    <a:pt x="264684" y="564289"/>
                  </a:lnTo>
                </a:path>
                <a:path w="382269" h="892810">
                  <a:moveTo>
                    <a:pt x="100056" y="563058"/>
                  </a:moveTo>
                  <a:lnTo>
                    <a:pt x="291607" y="563058"/>
                  </a:lnTo>
                </a:path>
                <a:path w="382269" h="892810">
                  <a:moveTo>
                    <a:pt x="88253" y="561885"/>
                  </a:moveTo>
                  <a:lnTo>
                    <a:pt x="279804" y="561885"/>
                  </a:lnTo>
                </a:path>
                <a:path w="382269" h="892810">
                  <a:moveTo>
                    <a:pt x="61715" y="560712"/>
                  </a:moveTo>
                  <a:lnTo>
                    <a:pt x="253266" y="560712"/>
                  </a:lnTo>
                </a:path>
                <a:path w="382269" h="892810">
                  <a:moveTo>
                    <a:pt x="167018" y="559481"/>
                  </a:moveTo>
                  <a:lnTo>
                    <a:pt x="358569" y="559481"/>
                  </a:lnTo>
                </a:path>
                <a:path w="382269" h="892810">
                  <a:moveTo>
                    <a:pt x="80770" y="558308"/>
                  </a:moveTo>
                  <a:lnTo>
                    <a:pt x="272321" y="558308"/>
                  </a:lnTo>
                </a:path>
                <a:path w="382269" h="892810">
                  <a:moveTo>
                    <a:pt x="93653" y="557135"/>
                  </a:moveTo>
                  <a:lnTo>
                    <a:pt x="285204" y="557135"/>
                  </a:lnTo>
                </a:path>
                <a:path w="382269" h="892810">
                  <a:moveTo>
                    <a:pt x="21214" y="555904"/>
                  </a:moveTo>
                  <a:lnTo>
                    <a:pt x="212688" y="555904"/>
                  </a:lnTo>
                </a:path>
                <a:path w="382269" h="892810">
                  <a:moveTo>
                    <a:pt x="107077" y="554731"/>
                  </a:moveTo>
                  <a:lnTo>
                    <a:pt x="298627" y="554731"/>
                  </a:lnTo>
                </a:path>
                <a:path w="382269" h="892810">
                  <a:moveTo>
                    <a:pt x="80153" y="553558"/>
                  </a:moveTo>
                  <a:lnTo>
                    <a:pt x="271704" y="553558"/>
                  </a:lnTo>
                </a:path>
                <a:path w="382269" h="892810">
                  <a:moveTo>
                    <a:pt x="81619" y="552327"/>
                  </a:moveTo>
                  <a:lnTo>
                    <a:pt x="273170" y="552327"/>
                  </a:lnTo>
                </a:path>
                <a:path w="382269" h="892810">
                  <a:moveTo>
                    <a:pt x="136392" y="551154"/>
                  </a:moveTo>
                  <a:lnTo>
                    <a:pt x="327865" y="551154"/>
                  </a:lnTo>
                </a:path>
                <a:path w="382269" h="892810">
                  <a:moveTo>
                    <a:pt x="108311" y="549981"/>
                  </a:moveTo>
                  <a:lnTo>
                    <a:pt x="299862" y="549981"/>
                  </a:lnTo>
                </a:path>
                <a:path w="382269" h="892810">
                  <a:moveTo>
                    <a:pt x="174964" y="548750"/>
                  </a:moveTo>
                  <a:lnTo>
                    <a:pt x="366515" y="548750"/>
                  </a:lnTo>
                </a:path>
                <a:path w="382269" h="892810">
                  <a:moveTo>
                    <a:pt x="128291" y="547577"/>
                  </a:moveTo>
                  <a:lnTo>
                    <a:pt x="319842" y="547577"/>
                  </a:lnTo>
                </a:path>
                <a:path w="382269" h="892810">
                  <a:moveTo>
                    <a:pt x="50915" y="546346"/>
                  </a:moveTo>
                  <a:lnTo>
                    <a:pt x="242389" y="546346"/>
                  </a:lnTo>
                </a:path>
                <a:path w="382269" h="892810">
                  <a:moveTo>
                    <a:pt x="107154" y="545173"/>
                  </a:moveTo>
                  <a:lnTo>
                    <a:pt x="298627" y="545173"/>
                  </a:lnTo>
                </a:path>
                <a:path w="382269" h="892810">
                  <a:moveTo>
                    <a:pt x="62333" y="544000"/>
                  </a:moveTo>
                  <a:lnTo>
                    <a:pt x="253883" y="544000"/>
                  </a:lnTo>
                </a:path>
                <a:path w="382269" h="892810">
                  <a:moveTo>
                    <a:pt x="31320" y="542769"/>
                  </a:moveTo>
                  <a:lnTo>
                    <a:pt x="222871" y="542769"/>
                  </a:lnTo>
                </a:path>
                <a:path w="382269" h="892810">
                  <a:moveTo>
                    <a:pt x="120808" y="541596"/>
                  </a:moveTo>
                  <a:lnTo>
                    <a:pt x="312359" y="541596"/>
                  </a:lnTo>
                </a:path>
                <a:path w="382269" h="892810">
                  <a:moveTo>
                    <a:pt x="175581" y="540423"/>
                  </a:moveTo>
                  <a:lnTo>
                    <a:pt x="367132" y="540423"/>
                  </a:lnTo>
                </a:path>
                <a:path w="382269" h="892810">
                  <a:moveTo>
                    <a:pt x="141715" y="539192"/>
                  </a:moveTo>
                  <a:lnTo>
                    <a:pt x="333265" y="539192"/>
                  </a:lnTo>
                </a:path>
                <a:path w="382269" h="892810">
                  <a:moveTo>
                    <a:pt x="131454" y="538019"/>
                  </a:moveTo>
                  <a:lnTo>
                    <a:pt x="322928" y="538019"/>
                  </a:lnTo>
                </a:path>
                <a:path w="382269" h="892810">
                  <a:moveTo>
                    <a:pt x="75370" y="536846"/>
                  </a:moveTo>
                  <a:lnTo>
                    <a:pt x="266844" y="536846"/>
                  </a:lnTo>
                </a:path>
                <a:path w="382269" h="892810">
                  <a:moveTo>
                    <a:pt x="144183" y="535615"/>
                  </a:moveTo>
                  <a:lnTo>
                    <a:pt x="335734" y="535615"/>
                  </a:lnTo>
                </a:path>
                <a:path w="382269" h="892810">
                  <a:moveTo>
                    <a:pt x="53847" y="534442"/>
                  </a:moveTo>
                  <a:lnTo>
                    <a:pt x="245397" y="534442"/>
                  </a:lnTo>
                </a:path>
                <a:path w="382269" h="892810">
                  <a:moveTo>
                    <a:pt x="87482" y="533269"/>
                  </a:moveTo>
                  <a:lnTo>
                    <a:pt x="278955" y="533269"/>
                  </a:lnTo>
                </a:path>
                <a:path w="382269" h="892810">
                  <a:moveTo>
                    <a:pt x="49989" y="532038"/>
                  </a:moveTo>
                  <a:lnTo>
                    <a:pt x="241540" y="532038"/>
                  </a:lnTo>
                </a:path>
                <a:path w="382269" h="892810">
                  <a:moveTo>
                    <a:pt x="60481" y="529692"/>
                  </a:moveTo>
                  <a:lnTo>
                    <a:pt x="251955" y="529692"/>
                  </a:lnTo>
                </a:path>
                <a:path w="382269" h="892810">
                  <a:moveTo>
                    <a:pt x="124974" y="528461"/>
                  </a:moveTo>
                  <a:lnTo>
                    <a:pt x="316448" y="528461"/>
                  </a:lnTo>
                </a:path>
                <a:path w="382269" h="892810">
                  <a:moveTo>
                    <a:pt x="120654" y="527288"/>
                  </a:moveTo>
                  <a:lnTo>
                    <a:pt x="312205" y="527288"/>
                  </a:lnTo>
                </a:path>
                <a:path w="382269" h="892810">
                  <a:moveTo>
                    <a:pt x="114483" y="526115"/>
                  </a:moveTo>
                  <a:lnTo>
                    <a:pt x="305956" y="526115"/>
                  </a:lnTo>
                </a:path>
                <a:path w="382269" h="892810">
                  <a:moveTo>
                    <a:pt x="137395" y="524884"/>
                  </a:moveTo>
                  <a:lnTo>
                    <a:pt x="328945" y="524884"/>
                  </a:lnTo>
                </a:path>
                <a:path w="382269" h="892810">
                  <a:moveTo>
                    <a:pt x="27540" y="523711"/>
                  </a:moveTo>
                  <a:lnTo>
                    <a:pt x="219091" y="523711"/>
                  </a:lnTo>
                </a:path>
                <a:path w="382269" h="892810">
                  <a:moveTo>
                    <a:pt x="41658" y="522538"/>
                  </a:moveTo>
                  <a:lnTo>
                    <a:pt x="233208" y="522538"/>
                  </a:lnTo>
                </a:path>
                <a:path w="382269" h="892810">
                  <a:moveTo>
                    <a:pt x="145263" y="521307"/>
                  </a:moveTo>
                  <a:lnTo>
                    <a:pt x="336737" y="521307"/>
                  </a:lnTo>
                </a:path>
                <a:path w="382269" h="892810">
                  <a:moveTo>
                    <a:pt x="61253" y="520134"/>
                  </a:moveTo>
                  <a:lnTo>
                    <a:pt x="252803" y="520134"/>
                  </a:lnTo>
                </a:path>
                <a:path w="382269" h="892810">
                  <a:moveTo>
                    <a:pt x="152206" y="518961"/>
                  </a:moveTo>
                  <a:lnTo>
                    <a:pt x="343757" y="518961"/>
                  </a:lnTo>
                </a:path>
                <a:path w="382269" h="892810">
                  <a:moveTo>
                    <a:pt x="99671" y="517730"/>
                  </a:moveTo>
                  <a:lnTo>
                    <a:pt x="291144" y="517730"/>
                  </a:lnTo>
                </a:path>
                <a:path w="382269" h="892810">
                  <a:moveTo>
                    <a:pt x="142409" y="516557"/>
                  </a:moveTo>
                  <a:lnTo>
                    <a:pt x="333883" y="516557"/>
                  </a:lnTo>
                </a:path>
                <a:path w="382269" h="892810">
                  <a:moveTo>
                    <a:pt x="97665" y="515384"/>
                  </a:moveTo>
                  <a:lnTo>
                    <a:pt x="289216" y="515384"/>
                  </a:lnTo>
                </a:path>
                <a:path w="382269" h="892810">
                  <a:moveTo>
                    <a:pt x="62873" y="514152"/>
                  </a:moveTo>
                  <a:lnTo>
                    <a:pt x="254346" y="514152"/>
                  </a:lnTo>
                </a:path>
                <a:path w="382269" h="892810">
                  <a:moveTo>
                    <a:pt x="149121" y="512980"/>
                  </a:moveTo>
                  <a:lnTo>
                    <a:pt x="340671" y="512980"/>
                  </a:lnTo>
                </a:path>
                <a:path w="382269" h="892810">
                  <a:moveTo>
                    <a:pt x="74059" y="511807"/>
                  </a:moveTo>
                  <a:lnTo>
                    <a:pt x="265609" y="511807"/>
                  </a:lnTo>
                </a:path>
                <a:path w="382269" h="892810">
                  <a:moveTo>
                    <a:pt x="87328" y="510575"/>
                  </a:moveTo>
                  <a:lnTo>
                    <a:pt x="278878" y="510575"/>
                  </a:lnTo>
                </a:path>
                <a:path w="382269" h="892810">
                  <a:moveTo>
                    <a:pt x="103914" y="509403"/>
                  </a:moveTo>
                  <a:lnTo>
                    <a:pt x="295387" y="509403"/>
                  </a:lnTo>
                </a:path>
                <a:path w="382269" h="892810">
                  <a:moveTo>
                    <a:pt x="124048" y="508171"/>
                  </a:moveTo>
                  <a:lnTo>
                    <a:pt x="315522" y="508171"/>
                  </a:lnTo>
                </a:path>
                <a:path w="382269" h="892810">
                  <a:moveTo>
                    <a:pt x="73056" y="506998"/>
                  </a:moveTo>
                  <a:lnTo>
                    <a:pt x="264529" y="506998"/>
                  </a:lnTo>
                </a:path>
                <a:path w="382269" h="892810">
                  <a:moveTo>
                    <a:pt x="135080" y="505826"/>
                  </a:moveTo>
                  <a:lnTo>
                    <a:pt x="326554" y="505826"/>
                  </a:lnTo>
                </a:path>
                <a:path w="382269" h="892810">
                  <a:moveTo>
                    <a:pt x="156372" y="504594"/>
                  </a:moveTo>
                  <a:lnTo>
                    <a:pt x="347923" y="504594"/>
                  </a:lnTo>
                </a:path>
                <a:path w="382269" h="892810">
                  <a:moveTo>
                    <a:pt x="117954" y="503421"/>
                  </a:moveTo>
                  <a:lnTo>
                    <a:pt x="309505" y="503421"/>
                  </a:lnTo>
                </a:path>
                <a:path w="382269" h="892810">
                  <a:moveTo>
                    <a:pt x="161927" y="502249"/>
                  </a:moveTo>
                  <a:lnTo>
                    <a:pt x="353477" y="502249"/>
                  </a:lnTo>
                </a:path>
                <a:path w="382269" h="892810">
                  <a:moveTo>
                    <a:pt x="72979" y="501017"/>
                  </a:moveTo>
                  <a:lnTo>
                    <a:pt x="264452" y="501017"/>
                  </a:lnTo>
                </a:path>
                <a:path w="382269" h="892810">
                  <a:moveTo>
                    <a:pt x="176353" y="499844"/>
                  </a:moveTo>
                  <a:lnTo>
                    <a:pt x="367903" y="499844"/>
                  </a:lnTo>
                </a:path>
                <a:path w="382269" h="892810">
                  <a:moveTo>
                    <a:pt x="126594" y="498672"/>
                  </a:moveTo>
                  <a:lnTo>
                    <a:pt x="318145" y="498672"/>
                  </a:lnTo>
                </a:path>
                <a:path w="382269" h="892810">
                  <a:moveTo>
                    <a:pt x="99979" y="496267"/>
                  </a:moveTo>
                  <a:lnTo>
                    <a:pt x="291530" y="496267"/>
                  </a:lnTo>
                </a:path>
                <a:path w="382269" h="892810">
                  <a:moveTo>
                    <a:pt x="139632" y="495095"/>
                  </a:moveTo>
                  <a:lnTo>
                    <a:pt x="331105" y="495095"/>
                  </a:lnTo>
                </a:path>
                <a:path w="382269" h="892810">
                  <a:moveTo>
                    <a:pt x="127520" y="493863"/>
                  </a:moveTo>
                  <a:lnTo>
                    <a:pt x="318994" y="493863"/>
                  </a:lnTo>
                </a:path>
                <a:path w="382269" h="892810">
                  <a:moveTo>
                    <a:pt x="23914" y="492690"/>
                  </a:moveTo>
                  <a:lnTo>
                    <a:pt x="215465" y="492690"/>
                  </a:lnTo>
                </a:path>
                <a:path w="382269" h="892810">
                  <a:moveTo>
                    <a:pt x="40578" y="490286"/>
                  </a:moveTo>
                  <a:lnTo>
                    <a:pt x="232051" y="490286"/>
                  </a:lnTo>
                </a:path>
                <a:path w="382269" h="892810">
                  <a:moveTo>
                    <a:pt x="33018" y="489113"/>
                  </a:moveTo>
                  <a:lnTo>
                    <a:pt x="224491" y="489113"/>
                  </a:lnTo>
                </a:path>
                <a:path w="382269" h="892810">
                  <a:moveTo>
                    <a:pt x="79613" y="486709"/>
                  </a:moveTo>
                  <a:lnTo>
                    <a:pt x="271087" y="486709"/>
                  </a:lnTo>
                </a:path>
                <a:path w="382269" h="892810">
                  <a:moveTo>
                    <a:pt x="152746" y="485536"/>
                  </a:moveTo>
                  <a:lnTo>
                    <a:pt x="344297" y="485536"/>
                  </a:lnTo>
                </a:path>
                <a:path w="382269" h="892810">
                  <a:moveTo>
                    <a:pt x="100982" y="484364"/>
                  </a:moveTo>
                  <a:lnTo>
                    <a:pt x="292533" y="484364"/>
                  </a:lnTo>
                </a:path>
                <a:path w="382269" h="892810">
                  <a:moveTo>
                    <a:pt x="79536" y="483132"/>
                  </a:moveTo>
                  <a:lnTo>
                    <a:pt x="271087" y="483132"/>
                  </a:lnTo>
                </a:path>
                <a:path w="382269" h="892810">
                  <a:moveTo>
                    <a:pt x="61947" y="481959"/>
                  </a:moveTo>
                  <a:lnTo>
                    <a:pt x="253420" y="481959"/>
                  </a:lnTo>
                </a:path>
                <a:path w="382269" h="892810">
                  <a:moveTo>
                    <a:pt x="35640" y="478382"/>
                  </a:moveTo>
                  <a:lnTo>
                    <a:pt x="227114" y="478382"/>
                  </a:lnTo>
                </a:path>
                <a:path w="382269" h="892810">
                  <a:moveTo>
                    <a:pt x="55390" y="477209"/>
                  </a:moveTo>
                  <a:lnTo>
                    <a:pt x="246863" y="477209"/>
                  </a:lnTo>
                </a:path>
                <a:path w="382269" h="892810">
                  <a:moveTo>
                    <a:pt x="109700" y="475978"/>
                  </a:moveTo>
                  <a:lnTo>
                    <a:pt x="301250" y="475978"/>
                  </a:lnTo>
                </a:path>
                <a:path w="382269" h="892810">
                  <a:moveTo>
                    <a:pt x="124203" y="474805"/>
                  </a:moveTo>
                  <a:lnTo>
                    <a:pt x="315676" y="474805"/>
                  </a:lnTo>
                </a:path>
                <a:path w="382269" h="892810">
                  <a:moveTo>
                    <a:pt x="67578" y="473632"/>
                  </a:moveTo>
                  <a:lnTo>
                    <a:pt x="259052" y="473632"/>
                  </a:lnTo>
                </a:path>
                <a:path w="382269" h="892810">
                  <a:moveTo>
                    <a:pt x="113711" y="472401"/>
                  </a:moveTo>
                  <a:lnTo>
                    <a:pt x="305262" y="472401"/>
                  </a:lnTo>
                </a:path>
                <a:path w="382269" h="892810">
                  <a:moveTo>
                    <a:pt x="40346" y="471228"/>
                  </a:moveTo>
                  <a:lnTo>
                    <a:pt x="231897" y="471228"/>
                  </a:lnTo>
                </a:path>
                <a:path w="382269" h="892810">
                  <a:moveTo>
                    <a:pt x="70973" y="469997"/>
                  </a:moveTo>
                  <a:lnTo>
                    <a:pt x="262524" y="469997"/>
                  </a:lnTo>
                </a:path>
                <a:path w="382269" h="892810">
                  <a:moveTo>
                    <a:pt x="71359" y="468824"/>
                  </a:moveTo>
                  <a:lnTo>
                    <a:pt x="262832" y="468824"/>
                  </a:lnTo>
                </a:path>
                <a:path w="382269" h="892810">
                  <a:moveTo>
                    <a:pt x="128986" y="467651"/>
                  </a:moveTo>
                  <a:lnTo>
                    <a:pt x="320536" y="467651"/>
                  </a:lnTo>
                </a:path>
                <a:path w="382269" h="892810">
                  <a:moveTo>
                    <a:pt x="80230" y="466420"/>
                  </a:moveTo>
                  <a:lnTo>
                    <a:pt x="271781" y="466420"/>
                  </a:lnTo>
                </a:path>
                <a:path w="382269" h="892810">
                  <a:moveTo>
                    <a:pt x="142718" y="465247"/>
                  </a:moveTo>
                  <a:lnTo>
                    <a:pt x="334191" y="465247"/>
                  </a:lnTo>
                </a:path>
                <a:path w="382269" h="892810">
                  <a:moveTo>
                    <a:pt x="69121" y="464074"/>
                  </a:moveTo>
                  <a:lnTo>
                    <a:pt x="260595" y="464074"/>
                  </a:lnTo>
                </a:path>
                <a:path w="382269" h="892810">
                  <a:moveTo>
                    <a:pt x="101522" y="462843"/>
                  </a:moveTo>
                  <a:lnTo>
                    <a:pt x="293073" y="462843"/>
                  </a:lnTo>
                </a:path>
                <a:path w="382269" h="892810">
                  <a:moveTo>
                    <a:pt x="134926" y="461670"/>
                  </a:moveTo>
                  <a:lnTo>
                    <a:pt x="326477" y="461670"/>
                  </a:lnTo>
                </a:path>
                <a:path w="382269" h="892810">
                  <a:moveTo>
                    <a:pt x="50067" y="460497"/>
                  </a:moveTo>
                  <a:lnTo>
                    <a:pt x="241617" y="460497"/>
                  </a:lnTo>
                </a:path>
                <a:path w="382269" h="892810">
                  <a:moveTo>
                    <a:pt x="96045" y="459266"/>
                  </a:moveTo>
                  <a:lnTo>
                    <a:pt x="287596" y="459266"/>
                  </a:lnTo>
                </a:path>
                <a:path w="382269" h="892810">
                  <a:moveTo>
                    <a:pt x="92110" y="458093"/>
                  </a:moveTo>
                  <a:lnTo>
                    <a:pt x="283661" y="458093"/>
                  </a:lnTo>
                </a:path>
                <a:path w="382269" h="892810">
                  <a:moveTo>
                    <a:pt x="87019" y="456920"/>
                  </a:moveTo>
                  <a:lnTo>
                    <a:pt x="278493" y="456920"/>
                  </a:lnTo>
                </a:path>
                <a:path w="382269" h="892810">
                  <a:moveTo>
                    <a:pt x="128060" y="454516"/>
                  </a:moveTo>
                  <a:lnTo>
                    <a:pt x="319611" y="454516"/>
                  </a:lnTo>
                </a:path>
                <a:path w="382269" h="892810">
                  <a:moveTo>
                    <a:pt x="19054" y="453343"/>
                  </a:moveTo>
                  <a:lnTo>
                    <a:pt x="210605" y="453343"/>
                  </a:lnTo>
                </a:path>
                <a:path w="382269" h="892810">
                  <a:moveTo>
                    <a:pt x="31397" y="452112"/>
                  </a:moveTo>
                  <a:lnTo>
                    <a:pt x="222948" y="452112"/>
                  </a:lnTo>
                </a:path>
                <a:path w="382269" h="892810">
                  <a:moveTo>
                    <a:pt x="145958" y="450939"/>
                  </a:moveTo>
                  <a:lnTo>
                    <a:pt x="337508" y="450939"/>
                  </a:lnTo>
                </a:path>
                <a:path w="382269" h="892810">
                  <a:moveTo>
                    <a:pt x="79227" y="449766"/>
                  </a:moveTo>
                  <a:lnTo>
                    <a:pt x="270701" y="449766"/>
                  </a:lnTo>
                </a:path>
                <a:path w="382269" h="892810">
                  <a:moveTo>
                    <a:pt x="35332" y="448535"/>
                  </a:moveTo>
                  <a:lnTo>
                    <a:pt x="226805" y="448535"/>
                  </a:lnTo>
                </a:path>
                <a:path w="382269" h="892810">
                  <a:moveTo>
                    <a:pt x="135620" y="447362"/>
                  </a:moveTo>
                  <a:lnTo>
                    <a:pt x="327094" y="447362"/>
                  </a:lnTo>
                </a:path>
                <a:path w="382269" h="892810">
                  <a:moveTo>
                    <a:pt x="131532" y="446189"/>
                  </a:moveTo>
                  <a:lnTo>
                    <a:pt x="323005" y="446189"/>
                  </a:lnTo>
                </a:path>
                <a:path w="382269" h="892810">
                  <a:moveTo>
                    <a:pt x="186844" y="444958"/>
                  </a:moveTo>
                  <a:lnTo>
                    <a:pt x="378395" y="444958"/>
                  </a:lnTo>
                </a:path>
                <a:path w="382269" h="892810">
                  <a:moveTo>
                    <a:pt x="99131" y="443785"/>
                  </a:moveTo>
                  <a:lnTo>
                    <a:pt x="290681" y="443785"/>
                  </a:lnTo>
                </a:path>
                <a:path w="382269" h="892810">
                  <a:moveTo>
                    <a:pt x="178436" y="442612"/>
                  </a:moveTo>
                  <a:lnTo>
                    <a:pt x="369986" y="442612"/>
                  </a:lnTo>
                </a:path>
                <a:path w="382269" h="892810">
                  <a:moveTo>
                    <a:pt x="163161" y="441381"/>
                  </a:moveTo>
                  <a:lnTo>
                    <a:pt x="354635" y="441381"/>
                  </a:lnTo>
                </a:path>
                <a:path w="382269" h="892810">
                  <a:moveTo>
                    <a:pt x="90182" y="440208"/>
                  </a:moveTo>
                  <a:lnTo>
                    <a:pt x="281733" y="440208"/>
                  </a:lnTo>
                </a:path>
                <a:path w="382269" h="892810">
                  <a:moveTo>
                    <a:pt x="134154" y="439035"/>
                  </a:moveTo>
                  <a:lnTo>
                    <a:pt x="325628" y="439035"/>
                  </a:lnTo>
                </a:path>
                <a:path w="382269" h="892810">
                  <a:moveTo>
                    <a:pt x="80924" y="437804"/>
                  </a:moveTo>
                  <a:lnTo>
                    <a:pt x="272398" y="437804"/>
                  </a:lnTo>
                </a:path>
                <a:path w="382269" h="892810">
                  <a:moveTo>
                    <a:pt x="18591" y="436631"/>
                  </a:moveTo>
                  <a:lnTo>
                    <a:pt x="210065" y="436631"/>
                  </a:lnTo>
                </a:path>
                <a:path w="382269" h="892810">
                  <a:moveTo>
                    <a:pt x="65341" y="434227"/>
                  </a:moveTo>
                  <a:lnTo>
                    <a:pt x="256815" y="434227"/>
                  </a:lnTo>
                </a:path>
                <a:path w="382269" h="892810">
                  <a:moveTo>
                    <a:pt x="152052" y="433054"/>
                  </a:moveTo>
                  <a:lnTo>
                    <a:pt x="343526" y="433054"/>
                  </a:lnTo>
                </a:path>
                <a:path w="382269" h="892810">
                  <a:moveTo>
                    <a:pt x="90799" y="431881"/>
                  </a:moveTo>
                  <a:lnTo>
                    <a:pt x="282273" y="431881"/>
                  </a:lnTo>
                </a:path>
                <a:path w="382269" h="892810">
                  <a:moveTo>
                    <a:pt x="109082" y="430650"/>
                  </a:moveTo>
                  <a:lnTo>
                    <a:pt x="300556" y="430650"/>
                  </a:lnTo>
                </a:path>
                <a:path w="382269" h="892810">
                  <a:moveTo>
                    <a:pt x="91956" y="429477"/>
                  </a:moveTo>
                  <a:lnTo>
                    <a:pt x="283507" y="429477"/>
                  </a:lnTo>
                </a:path>
                <a:path w="382269" h="892810">
                  <a:moveTo>
                    <a:pt x="65264" y="428245"/>
                  </a:moveTo>
                  <a:lnTo>
                    <a:pt x="256815" y="428245"/>
                  </a:lnTo>
                </a:path>
                <a:path w="382269" h="892810">
                  <a:moveTo>
                    <a:pt x="52612" y="425900"/>
                  </a:moveTo>
                  <a:lnTo>
                    <a:pt x="244163" y="425900"/>
                  </a:lnTo>
                </a:path>
                <a:path w="382269" h="892810">
                  <a:moveTo>
                    <a:pt x="118725" y="424668"/>
                  </a:moveTo>
                  <a:lnTo>
                    <a:pt x="310276" y="424668"/>
                  </a:lnTo>
                </a:path>
                <a:path w="382269" h="892810">
                  <a:moveTo>
                    <a:pt x="86942" y="422323"/>
                  </a:moveTo>
                  <a:lnTo>
                    <a:pt x="278493" y="422323"/>
                  </a:lnTo>
                </a:path>
                <a:path w="382269" h="892810">
                  <a:moveTo>
                    <a:pt x="154366" y="421091"/>
                  </a:moveTo>
                  <a:lnTo>
                    <a:pt x="345840" y="421091"/>
                  </a:lnTo>
                </a:path>
                <a:path w="382269" h="892810">
                  <a:moveTo>
                    <a:pt x="107848" y="419918"/>
                  </a:moveTo>
                  <a:lnTo>
                    <a:pt x="299399" y="419918"/>
                  </a:lnTo>
                </a:path>
                <a:path w="382269" h="892810">
                  <a:moveTo>
                    <a:pt x="129217" y="418746"/>
                  </a:moveTo>
                  <a:lnTo>
                    <a:pt x="320691" y="418746"/>
                  </a:lnTo>
                </a:path>
                <a:path w="382269" h="892810">
                  <a:moveTo>
                    <a:pt x="29006" y="417514"/>
                  </a:moveTo>
                  <a:lnTo>
                    <a:pt x="220480" y="417514"/>
                  </a:lnTo>
                </a:path>
                <a:path w="382269" h="892810">
                  <a:moveTo>
                    <a:pt x="30549" y="416341"/>
                  </a:moveTo>
                  <a:lnTo>
                    <a:pt x="222100" y="416341"/>
                  </a:lnTo>
                </a:path>
                <a:path w="382269" h="892810">
                  <a:moveTo>
                    <a:pt x="65187" y="415169"/>
                  </a:moveTo>
                  <a:lnTo>
                    <a:pt x="256738" y="415169"/>
                  </a:lnTo>
                </a:path>
                <a:path w="382269" h="892810">
                  <a:moveTo>
                    <a:pt x="88485" y="413937"/>
                  </a:moveTo>
                  <a:lnTo>
                    <a:pt x="280035" y="413937"/>
                  </a:lnTo>
                </a:path>
                <a:path w="382269" h="892810">
                  <a:moveTo>
                    <a:pt x="86787" y="412764"/>
                  </a:moveTo>
                  <a:lnTo>
                    <a:pt x="278338" y="412764"/>
                  </a:lnTo>
                </a:path>
                <a:path w="382269" h="892810">
                  <a:moveTo>
                    <a:pt x="38803" y="411592"/>
                  </a:moveTo>
                  <a:lnTo>
                    <a:pt x="230277" y="411592"/>
                  </a:lnTo>
                </a:path>
                <a:path w="382269" h="892810">
                  <a:moveTo>
                    <a:pt x="111474" y="410360"/>
                  </a:moveTo>
                  <a:lnTo>
                    <a:pt x="302947" y="410360"/>
                  </a:lnTo>
                </a:path>
                <a:path w="382269" h="892810">
                  <a:moveTo>
                    <a:pt x="147809" y="409187"/>
                  </a:moveTo>
                  <a:lnTo>
                    <a:pt x="339360" y="409187"/>
                  </a:lnTo>
                </a:path>
                <a:path w="382269" h="892810">
                  <a:moveTo>
                    <a:pt x="17743" y="408015"/>
                  </a:moveTo>
                  <a:lnTo>
                    <a:pt x="209216" y="408015"/>
                  </a:lnTo>
                </a:path>
                <a:path w="382269" h="892810">
                  <a:moveTo>
                    <a:pt x="55004" y="406783"/>
                  </a:moveTo>
                  <a:lnTo>
                    <a:pt x="246555" y="406783"/>
                  </a:lnTo>
                </a:path>
                <a:path w="382269" h="892810">
                  <a:moveTo>
                    <a:pt x="48986" y="405610"/>
                  </a:moveTo>
                  <a:lnTo>
                    <a:pt x="240460" y="405610"/>
                  </a:lnTo>
                </a:path>
                <a:path w="382269" h="892810">
                  <a:moveTo>
                    <a:pt x="126054" y="404438"/>
                  </a:moveTo>
                  <a:lnTo>
                    <a:pt x="317605" y="404438"/>
                  </a:lnTo>
                </a:path>
                <a:path w="382269" h="892810">
                  <a:moveTo>
                    <a:pt x="131300" y="403206"/>
                  </a:moveTo>
                  <a:lnTo>
                    <a:pt x="322774" y="403206"/>
                  </a:lnTo>
                </a:path>
                <a:path w="382269" h="892810">
                  <a:moveTo>
                    <a:pt x="100519" y="402033"/>
                  </a:moveTo>
                  <a:lnTo>
                    <a:pt x="291993" y="402033"/>
                  </a:lnTo>
                </a:path>
                <a:path w="382269" h="892810">
                  <a:moveTo>
                    <a:pt x="60481" y="400861"/>
                  </a:moveTo>
                  <a:lnTo>
                    <a:pt x="252032" y="400861"/>
                  </a:lnTo>
                </a:path>
                <a:path w="382269" h="892810">
                  <a:moveTo>
                    <a:pt x="122968" y="399629"/>
                  </a:moveTo>
                  <a:lnTo>
                    <a:pt x="314519" y="399629"/>
                  </a:lnTo>
                </a:path>
                <a:path w="382269" h="892810">
                  <a:moveTo>
                    <a:pt x="181290" y="398456"/>
                  </a:moveTo>
                  <a:lnTo>
                    <a:pt x="372764" y="398456"/>
                  </a:lnTo>
                </a:path>
                <a:path w="382269" h="892810">
                  <a:moveTo>
                    <a:pt x="52921" y="397284"/>
                  </a:moveTo>
                  <a:lnTo>
                    <a:pt x="244472" y="397284"/>
                  </a:lnTo>
                </a:path>
                <a:path w="382269" h="892810">
                  <a:moveTo>
                    <a:pt x="125746" y="396052"/>
                  </a:moveTo>
                  <a:lnTo>
                    <a:pt x="317296" y="396052"/>
                  </a:lnTo>
                </a:path>
                <a:path w="382269" h="892810">
                  <a:moveTo>
                    <a:pt x="18591" y="394879"/>
                  </a:moveTo>
                  <a:lnTo>
                    <a:pt x="210142" y="394879"/>
                  </a:lnTo>
                </a:path>
                <a:path w="382269" h="892810">
                  <a:moveTo>
                    <a:pt x="63027" y="393707"/>
                  </a:moveTo>
                  <a:lnTo>
                    <a:pt x="254500" y="393707"/>
                  </a:lnTo>
                </a:path>
                <a:path w="382269" h="892810">
                  <a:moveTo>
                    <a:pt x="101059" y="391302"/>
                  </a:moveTo>
                  <a:lnTo>
                    <a:pt x="292610" y="391302"/>
                  </a:lnTo>
                </a:path>
                <a:path w="382269" h="892810">
                  <a:moveTo>
                    <a:pt x="86787" y="390071"/>
                  </a:moveTo>
                  <a:lnTo>
                    <a:pt x="278338" y="390071"/>
                  </a:lnTo>
                </a:path>
                <a:path w="382269" h="892810">
                  <a:moveTo>
                    <a:pt x="50144" y="388898"/>
                  </a:moveTo>
                  <a:lnTo>
                    <a:pt x="241694" y="388898"/>
                  </a:lnTo>
                </a:path>
                <a:path w="382269" h="892810">
                  <a:moveTo>
                    <a:pt x="164550" y="386494"/>
                  </a:moveTo>
                  <a:lnTo>
                    <a:pt x="356100" y="386494"/>
                  </a:lnTo>
                </a:path>
                <a:path w="382269" h="892810">
                  <a:moveTo>
                    <a:pt x="99439" y="385321"/>
                  </a:moveTo>
                  <a:lnTo>
                    <a:pt x="290990" y="385321"/>
                  </a:lnTo>
                </a:path>
                <a:path w="382269" h="892810">
                  <a:moveTo>
                    <a:pt x="54618" y="384148"/>
                  </a:moveTo>
                  <a:lnTo>
                    <a:pt x="246169" y="384148"/>
                  </a:lnTo>
                </a:path>
                <a:path w="382269" h="892810">
                  <a:moveTo>
                    <a:pt x="28775" y="382917"/>
                  </a:moveTo>
                  <a:lnTo>
                    <a:pt x="220325" y="382917"/>
                  </a:lnTo>
                </a:path>
                <a:path w="382269" h="892810">
                  <a:moveTo>
                    <a:pt x="93962" y="381744"/>
                  </a:moveTo>
                  <a:lnTo>
                    <a:pt x="285513" y="381744"/>
                  </a:lnTo>
                </a:path>
                <a:path w="382269" h="892810">
                  <a:moveTo>
                    <a:pt x="130297" y="380571"/>
                  </a:moveTo>
                  <a:lnTo>
                    <a:pt x="321848" y="380571"/>
                  </a:lnTo>
                </a:path>
                <a:path w="382269" h="892810">
                  <a:moveTo>
                    <a:pt x="50684" y="379340"/>
                  </a:moveTo>
                  <a:lnTo>
                    <a:pt x="242157" y="379340"/>
                  </a:lnTo>
                </a:path>
                <a:path w="382269" h="892810">
                  <a:moveTo>
                    <a:pt x="149892" y="378167"/>
                  </a:moveTo>
                  <a:lnTo>
                    <a:pt x="341443" y="378167"/>
                  </a:lnTo>
                </a:path>
                <a:path w="382269" h="892810">
                  <a:moveTo>
                    <a:pt x="84627" y="376994"/>
                  </a:moveTo>
                  <a:lnTo>
                    <a:pt x="276101" y="376994"/>
                  </a:lnTo>
                </a:path>
                <a:path w="382269" h="892810">
                  <a:moveTo>
                    <a:pt x="119960" y="375763"/>
                  </a:moveTo>
                  <a:lnTo>
                    <a:pt x="311433" y="375763"/>
                  </a:lnTo>
                </a:path>
                <a:path w="382269" h="892810">
                  <a:moveTo>
                    <a:pt x="52612" y="374590"/>
                  </a:moveTo>
                  <a:lnTo>
                    <a:pt x="244163" y="374590"/>
                  </a:lnTo>
                </a:path>
                <a:path w="382269" h="892810">
                  <a:moveTo>
                    <a:pt x="127211" y="373417"/>
                  </a:moveTo>
                  <a:lnTo>
                    <a:pt x="318685" y="373417"/>
                  </a:lnTo>
                </a:path>
                <a:path w="382269" h="892810">
                  <a:moveTo>
                    <a:pt x="94116" y="372186"/>
                  </a:moveTo>
                  <a:lnTo>
                    <a:pt x="285590" y="372186"/>
                  </a:lnTo>
                </a:path>
                <a:path w="382269" h="892810">
                  <a:moveTo>
                    <a:pt x="185070" y="371013"/>
                  </a:moveTo>
                  <a:lnTo>
                    <a:pt x="376544" y="371013"/>
                  </a:lnTo>
                </a:path>
                <a:path w="382269" h="892810">
                  <a:moveTo>
                    <a:pt x="41889" y="369840"/>
                  </a:moveTo>
                  <a:lnTo>
                    <a:pt x="233363" y="369840"/>
                  </a:lnTo>
                </a:path>
                <a:path w="382269" h="892810">
                  <a:moveTo>
                    <a:pt x="126440" y="368609"/>
                  </a:moveTo>
                  <a:lnTo>
                    <a:pt x="317991" y="368609"/>
                  </a:lnTo>
                </a:path>
                <a:path w="382269" h="892810">
                  <a:moveTo>
                    <a:pt x="65881" y="367436"/>
                  </a:moveTo>
                  <a:lnTo>
                    <a:pt x="257432" y="367436"/>
                  </a:lnTo>
                </a:path>
                <a:path w="382269" h="892810">
                  <a:moveTo>
                    <a:pt x="60635" y="365032"/>
                  </a:moveTo>
                  <a:lnTo>
                    <a:pt x="252186" y="365032"/>
                  </a:lnTo>
                </a:path>
                <a:path w="382269" h="892810">
                  <a:moveTo>
                    <a:pt x="63258" y="363859"/>
                  </a:moveTo>
                  <a:lnTo>
                    <a:pt x="254732" y="363859"/>
                  </a:lnTo>
                </a:path>
                <a:path w="382269" h="892810">
                  <a:moveTo>
                    <a:pt x="121194" y="362686"/>
                  </a:moveTo>
                  <a:lnTo>
                    <a:pt x="312745" y="362686"/>
                  </a:lnTo>
                </a:path>
                <a:path w="382269" h="892810">
                  <a:moveTo>
                    <a:pt x="156526" y="361455"/>
                  </a:moveTo>
                  <a:lnTo>
                    <a:pt x="348077" y="361455"/>
                  </a:lnTo>
                </a:path>
                <a:path w="382269" h="892810">
                  <a:moveTo>
                    <a:pt x="102679" y="360282"/>
                  </a:moveTo>
                  <a:lnTo>
                    <a:pt x="294153" y="360282"/>
                  </a:lnTo>
                </a:path>
                <a:path w="382269" h="892810">
                  <a:moveTo>
                    <a:pt x="142486" y="359109"/>
                  </a:moveTo>
                  <a:lnTo>
                    <a:pt x="333960" y="359109"/>
                  </a:lnTo>
                </a:path>
                <a:path w="382269" h="892810">
                  <a:moveTo>
                    <a:pt x="120500" y="357878"/>
                  </a:moveTo>
                  <a:lnTo>
                    <a:pt x="311973" y="357878"/>
                  </a:lnTo>
                </a:path>
                <a:path w="382269" h="892810">
                  <a:moveTo>
                    <a:pt x="112554" y="356705"/>
                  </a:moveTo>
                  <a:lnTo>
                    <a:pt x="304105" y="356705"/>
                  </a:lnTo>
                </a:path>
                <a:path w="382269" h="892810">
                  <a:moveTo>
                    <a:pt x="83933" y="355532"/>
                  </a:moveTo>
                  <a:lnTo>
                    <a:pt x="275407" y="355532"/>
                  </a:lnTo>
                </a:path>
                <a:path w="382269" h="892810">
                  <a:moveTo>
                    <a:pt x="28080" y="354301"/>
                  </a:moveTo>
                  <a:lnTo>
                    <a:pt x="219631" y="354301"/>
                  </a:lnTo>
                </a:path>
                <a:path w="382269" h="892810">
                  <a:moveTo>
                    <a:pt x="117800" y="353128"/>
                  </a:moveTo>
                  <a:lnTo>
                    <a:pt x="309350" y="353128"/>
                  </a:lnTo>
                </a:path>
                <a:path w="382269" h="892810">
                  <a:moveTo>
                    <a:pt x="58398" y="351896"/>
                  </a:moveTo>
                  <a:lnTo>
                    <a:pt x="249949" y="351896"/>
                  </a:lnTo>
                </a:path>
                <a:path w="382269" h="892810">
                  <a:moveTo>
                    <a:pt x="160538" y="350724"/>
                  </a:moveTo>
                  <a:lnTo>
                    <a:pt x="352089" y="350724"/>
                  </a:lnTo>
                </a:path>
                <a:path w="382269" h="892810">
                  <a:moveTo>
                    <a:pt x="188156" y="349551"/>
                  </a:moveTo>
                  <a:lnTo>
                    <a:pt x="379629" y="349551"/>
                  </a:lnTo>
                </a:path>
                <a:path w="382269" h="892810">
                  <a:moveTo>
                    <a:pt x="112477" y="348319"/>
                  </a:moveTo>
                  <a:lnTo>
                    <a:pt x="304027" y="348319"/>
                  </a:lnTo>
                </a:path>
                <a:path w="382269" h="892810">
                  <a:moveTo>
                    <a:pt x="160924" y="347147"/>
                  </a:moveTo>
                  <a:lnTo>
                    <a:pt x="352397" y="347147"/>
                  </a:lnTo>
                </a:path>
                <a:path w="382269" h="892810">
                  <a:moveTo>
                    <a:pt x="153981" y="345974"/>
                  </a:moveTo>
                  <a:lnTo>
                    <a:pt x="345454" y="345974"/>
                  </a:lnTo>
                </a:path>
                <a:path w="382269" h="892810">
                  <a:moveTo>
                    <a:pt x="147423" y="344742"/>
                  </a:moveTo>
                  <a:lnTo>
                    <a:pt x="338897" y="344742"/>
                  </a:lnTo>
                </a:path>
                <a:path w="382269" h="892810">
                  <a:moveTo>
                    <a:pt x="65033" y="343570"/>
                  </a:moveTo>
                  <a:lnTo>
                    <a:pt x="256506" y="343570"/>
                  </a:lnTo>
                </a:path>
                <a:path w="382269" h="892810">
                  <a:moveTo>
                    <a:pt x="107694" y="342397"/>
                  </a:moveTo>
                  <a:lnTo>
                    <a:pt x="299167" y="342397"/>
                  </a:lnTo>
                </a:path>
                <a:path w="382269" h="892810">
                  <a:moveTo>
                    <a:pt x="68041" y="339993"/>
                  </a:moveTo>
                  <a:lnTo>
                    <a:pt x="259592" y="339993"/>
                  </a:lnTo>
                </a:path>
                <a:path w="382269" h="892810">
                  <a:moveTo>
                    <a:pt x="177741" y="338820"/>
                  </a:moveTo>
                  <a:lnTo>
                    <a:pt x="369292" y="338820"/>
                  </a:lnTo>
                </a:path>
                <a:path w="382269" h="892810">
                  <a:moveTo>
                    <a:pt x="131454" y="337588"/>
                  </a:moveTo>
                  <a:lnTo>
                    <a:pt x="322928" y="337588"/>
                  </a:lnTo>
                </a:path>
                <a:path w="382269" h="892810">
                  <a:moveTo>
                    <a:pt x="78919" y="336416"/>
                  </a:moveTo>
                  <a:lnTo>
                    <a:pt x="270392" y="336416"/>
                  </a:lnTo>
                </a:path>
                <a:path w="382269" h="892810">
                  <a:moveTo>
                    <a:pt x="175350" y="335243"/>
                  </a:moveTo>
                  <a:lnTo>
                    <a:pt x="366901" y="335243"/>
                  </a:lnTo>
                </a:path>
                <a:path w="382269" h="892810">
                  <a:moveTo>
                    <a:pt x="53461" y="334011"/>
                  </a:moveTo>
                  <a:lnTo>
                    <a:pt x="245012" y="334011"/>
                  </a:lnTo>
                </a:path>
                <a:path w="382269" h="892810">
                  <a:moveTo>
                    <a:pt x="121271" y="332838"/>
                  </a:moveTo>
                  <a:lnTo>
                    <a:pt x="312745" y="332838"/>
                  </a:lnTo>
                </a:path>
                <a:path w="382269" h="892810">
                  <a:moveTo>
                    <a:pt x="62333" y="331666"/>
                  </a:moveTo>
                  <a:lnTo>
                    <a:pt x="253806" y="331666"/>
                  </a:lnTo>
                </a:path>
                <a:path w="382269" h="892810">
                  <a:moveTo>
                    <a:pt x="165321" y="330434"/>
                  </a:moveTo>
                  <a:lnTo>
                    <a:pt x="356872" y="330434"/>
                  </a:lnTo>
                </a:path>
                <a:path w="382269" h="892810">
                  <a:moveTo>
                    <a:pt x="36258" y="329261"/>
                  </a:moveTo>
                  <a:lnTo>
                    <a:pt x="227808" y="329261"/>
                  </a:lnTo>
                </a:path>
                <a:path w="382269" h="892810">
                  <a:moveTo>
                    <a:pt x="38186" y="328089"/>
                  </a:moveTo>
                  <a:lnTo>
                    <a:pt x="229660" y="328089"/>
                  </a:lnTo>
                </a:path>
                <a:path w="382269" h="892810">
                  <a:moveTo>
                    <a:pt x="171184" y="326857"/>
                  </a:moveTo>
                  <a:lnTo>
                    <a:pt x="362658" y="326857"/>
                  </a:lnTo>
                </a:path>
                <a:path w="382269" h="892810">
                  <a:moveTo>
                    <a:pt x="119265" y="325684"/>
                  </a:moveTo>
                  <a:lnTo>
                    <a:pt x="310739" y="325684"/>
                  </a:lnTo>
                </a:path>
                <a:path w="382269" h="892810">
                  <a:moveTo>
                    <a:pt x="36412" y="324512"/>
                  </a:moveTo>
                  <a:lnTo>
                    <a:pt x="227885" y="324512"/>
                  </a:lnTo>
                </a:path>
                <a:path w="382269" h="892810">
                  <a:moveTo>
                    <a:pt x="78842" y="323280"/>
                  </a:moveTo>
                  <a:lnTo>
                    <a:pt x="270392" y="323280"/>
                  </a:lnTo>
                </a:path>
                <a:path w="382269" h="892810">
                  <a:moveTo>
                    <a:pt x="70433" y="322107"/>
                  </a:moveTo>
                  <a:lnTo>
                    <a:pt x="261984" y="322107"/>
                  </a:lnTo>
                </a:path>
                <a:path w="382269" h="892810">
                  <a:moveTo>
                    <a:pt x="58861" y="320935"/>
                  </a:moveTo>
                  <a:lnTo>
                    <a:pt x="250412" y="320935"/>
                  </a:lnTo>
                </a:path>
                <a:path w="382269" h="892810">
                  <a:moveTo>
                    <a:pt x="2854" y="319703"/>
                  </a:moveTo>
                  <a:lnTo>
                    <a:pt x="194327" y="319703"/>
                  </a:lnTo>
                </a:path>
                <a:path w="382269" h="892810">
                  <a:moveTo>
                    <a:pt x="157452" y="318530"/>
                  </a:moveTo>
                  <a:lnTo>
                    <a:pt x="349003" y="318530"/>
                  </a:lnTo>
                </a:path>
                <a:path w="382269" h="892810">
                  <a:moveTo>
                    <a:pt x="127674" y="316126"/>
                  </a:moveTo>
                  <a:lnTo>
                    <a:pt x="319225" y="316126"/>
                  </a:lnTo>
                </a:path>
                <a:path w="382269" h="892810">
                  <a:moveTo>
                    <a:pt x="159381" y="314953"/>
                  </a:moveTo>
                  <a:lnTo>
                    <a:pt x="350854" y="314953"/>
                  </a:lnTo>
                </a:path>
                <a:path w="382269" h="892810">
                  <a:moveTo>
                    <a:pt x="138860" y="313722"/>
                  </a:moveTo>
                  <a:lnTo>
                    <a:pt x="330411" y="313722"/>
                  </a:lnTo>
                </a:path>
                <a:path w="382269" h="892810">
                  <a:moveTo>
                    <a:pt x="118957" y="312549"/>
                  </a:moveTo>
                  <a:lnTo>
                    <a:pt x="310430" y="312549"/>
                  </a:lnTo>
                </a:path>
                <a:path w="382269" h="892810">
                  <a:moveTo>
                    <a:pt x="124048" y="311376"/>
                  </a:moveTo>
                  <a:lnTo>
                    <a:pt x="315599" y="311376"/>
                  </a:lnTo>
                </a:path>
                <a:path w="382269" h="892810">
                  <a:moveTo>
                    <a:pt x="86016" y="310145"/>
                  </a:moveTo>
                  <a:lnTo>
                    <a:pt x="277567" y="310145"/>
                  </a:lnTo>
                </a:path>
                <a:path w="382269" h="892810">
                  <a:moveTo>
                    <a:pt x="151049" y="308972"/>
                  </a:moveTo>
                  <a:lnTo>
                    <a:pt x="342600" y="308972"/>
                  </a:lnTo>
                </a:path>
                <a:path w="382269" h="892810">
                  <a:moveTo>
                    <a:pt x="46672" y="307799"/>
                  </a:moveTo>
                  <a:lnTo>
                    <a:pt x="238223" y="307799"/>
                  </a:lnTo>
                </a:path>
                <a:path w="382269" h="892810">
                  <a:moveTo>
                    <a:pt x="75910" y="306568"/>
                  </a:moveTo>
                  <a:lnTo>
                    <a:pt x="267384" y="306568"/>
                  </a:lnTo>
                </a:path>
                <a:path w="382269" h="892810">
                  <a:moveTo>
                    <a:pt x="19517" y="305395"/>
                  </a:moveTo>
                  <a:lnTo>
                    <a:pt x="211068" y="305395"/>
                  </a:lnTo>
                </a:path>
                <a:path w="382269" h="892810">
                  <a:moveTo>
                    <a:pt x="174887" y="304222"/>
                  </a:moveTo>
                  <a:lnTo>
                    <a:pt x="366361" y="304222"/>
                  </a:lnTo>
                </a:path>
                <a:path w="382269" h="892810">
                  <a:moveTo>
                    <a:pt x="28003" y="302991"/>
                  </a:moveTo>
                  <a:lnTo>
                    <a:pt x="219554" y="302991"/>
                  </a:lnTo>
                </a:path>
                <a:path w="382269" h="892810">
                  <a:moveTo>
                    <a:pt x="81773" y="300645"/>
                  </a:moveTo>
                  <a:lnTo>
                    <a:pt x="273324" y="300645"/>
                  </a:lnTo>
                </a:path>
                <a:path w="382269" h="892810">
                  <a:moveTo>
                    <a:pt x="101136" y="299414"/>
                  </a:moveTo>
                  <a:lnTo>
                    <a:pt x="292687" y="299414"/>
                  </a:lnTo>
                </a:path>
                <a:path w="382269" h="892810">
                  <a:moveTo>
                    <a:pt x="16277" y="298241"/>
                  </a:moveTo>
                  <a:lnTo>
                    <a:pt x="207751" y="298241"/>
                  </a:lnTo>
                </a:path>
                <a:path w="382269" h="892810">
                  <a:moveTo>
                    <a:pt x="175813" y="297068"/>
                  </a:moveTo>
                  <a:lnTo>
                    <a:pt x="367286" y="297068"/>
                  </a:lnTo>
                </a:path>
                <a:path w="382269" h="892810">
                  <a:moveTo>
                    <a:pt x="85167" y="295837"/>
                  </a:moveTo>
                  <a:lnTo>
                    <a:pt x="276641" y="295837"/>
                  </a:lnTo>
                </a:path>
                <a:path w="382269" h="892810">
                  <a:moveTo>
                    <a:pt x="24994" y="292260"/>
                  </a:moveTo>
                  <a:lnTo>
                    <a:pt x="216545" y="292260"/>
                  </a:lnTo>
                </a:path>
                <a:path w="382269" h="892810">
                  <a:moveTo>
                    <a:pt x="84705" y="291087"/>
                  </a:moveTo>
                  <a:lnTo>
                    <a:pt x="276255" y="291087"/>
                  </a:lnTo>
                </a:path>
                <a:path w="382269" h="892810">
                  <a:moveTo>
                    <a:pt x="96739" y="289914"/>
                  </a:moveTo>
                  <a:lnTo>
                    <a:pt x="288290" y="289914"/>
                  </a:lnTo>
                </a:path>
                <a:path w="382269" h="892810">
                  <a:moveTo>
                    <a:pt x="91802" y="288683"/>
                  </a:moveTo>
                  <a:lnTo>
                    <a:pt x="283275" y="288683"/>
                  </a:lnTo>
                </a:path>
                <a:path w="382269" h="892810">
                  <a:moveTo>
                    <a:pt x="139940" y="286337"/>
                  </a:moveTo>
                  <a:lnTo>
                    <a:pt x="331491" y="286337"/>
                  </a:lnTo>
                </a:path>
                <a:path w="382269" h="892810">
                  <a:moveTo>
                    <a:pt x="70973" y="285106"/>
                  </a:moveTo>
                  <a:lnTo>
                    <a:pt x="262446" y="285106"/>
                  </a:lnTo>
                </a:path>
                <a:path w="382269" h="892810">
                  <a:moveTo>
                    <a:pt x="147192" y="283933"/>
                  </a:moveTo>
                  <a:lnTo>
                    <a:pt x="338666" y="283933"/>
                  </a:lnTo>
                </a:path>
                <a:path w="382269" h="892810">
                  <a:moveTo>
                    <a:pt x="54001" y="282760"/>
                  </a:moveTo>
                  <a:lnTo>
                    <a:pt x="245475" y="282760"/>
                  </a:lnTo>
                </a:path>
                <a:path w="382269" h="892810">
                  <a:moveTo>
                    <a:pt x="43664" y="281529"/>
                  </a:moveTo>
                  <a:lnTo>
                    <a:pt x="235137" y="281529"/>
                  </a:lnTo>
                </a:path>
                <a:path w="382269" h="892810">
                  <a:moveTo>
                    <a:pt x="88176" y="280356"/>
                  </a:moveTo>
                  <a:lnTo>
                    <a:pt x="279727" y="280356"/>
                  </a:lnTo>
                </a:path>
                <a:path w="382269" h="892810">
                  <a:moveTo>
                    <a:pt x="123123" y="279183"/>
                  </a:moveTo>
                  <a:lnTo>
                    <a:pt x="314673" y="279183"/>
                  </a:lnTo>
                </a:path>
                <a:path w="382269" h="892810">
                  <a:moveTo>
                    <a:pt x="108774" y="277952"/>
                  </a:moveTo>
                  <a:lnTo>
                    <a:pt x="300325" y="277952"/>
                  </a:lnTo>
                </a:path>
                <a:path w="382269" h="892810">
                  <a:moveTo>
                    <a:pt x="59015" y="276779"/>
                  </a:moveTo>
                  <a:lnTo>
                    <a:pt x="250489" y="276779"/>
                  </a:lnTo>
                </a:path>
                <a:path w="382269" h="892810">
                  <a:moveTo>
                    <a:pt x="48369" y="275547"/>
                  </a:moveTo>
                  <a:lnTo>
                    <a:pt x="239920" y="275547"/>
                  </a:lnTo>
                </a:path>
                <a:path w="382269" h="892810">
                  <a:moveTo>
                    <a:pt x="132920" y="274375"/>
                  </a:moveTo>
                  <a:lnTo>
                    <a:pt x="324471" y="274375"/>
                  </a:lnTo>
                </a:path>
                <a:path w="382269" h="892810">
                  <a:moveTo>
                    <a:pt x="69893" y="273202"/>
                  </a:moveTo>
                  <a:lnTo>
                    <a:pt x="261443" y="273202"/>
                  </a:lnTo>
                </a:path>
                <a:path w="382269" h="892810">
                  <a:moveTo>
                    <a:pt x="6248" y="271970"/>
                  </a:moveTo>
                  <a:lnTo>
                    <a:pt x="197722" y="271970"/>
                  </a:lnTo>
                </a:path>
                <a:path w="382269" h="892810">
                  <a:moveTo>
                    <a:pt x="84550" y="270798"/>
                  </a:moveTo>
                  <a:lnTo>
                    <a:pt x="276101" y="270798"/>
                  </a:lnTo>
                </a:path>
                <a:path w="382269" h="892810">
                  <a:moveTo>
                    <a:pt x="138089" y="269625"/>
                  </a:moveTo>
                  <a:lnTo>
                    <a:pt x="329640" y="269625"/>
                  </a:lnTo>
                </a:path>
                <a:path w="382269" h="892810">
                  <a:moveTo>
                    <a:pt x="32555" y="267221"/>
                  </a:moveTo>
                  <a:lnTo>
                    <a:pt x="224028" y="267221"/>
                  </a:lnTo>
                </a:path>
                <a:path w="382269" h="892810">
                  <a:moveTo>
                    <a:pt x="97279" y="266048"/>
                  </a:moveTo>
                  <a:lnTo>
                    <a:pt x="288830" y="266048"/>
                  </a:lnTo>
                </a:path>
                <a:path w="382269" h="892810">
                  <a:moveTo>
                    <a:pt x="26383" y="264816"/>
                  </a:moveTo>
                  <a:lnTo>
                    <a:pt x="217934" y="264816"/>
                  </a:lnTo>
                </a:path>
                <a:path w="382269" h="892810">
                  <a:moveTo>
                    <a:pt x="96276" y="263644"/>
                  </a:moveTo>
                  <a:lnTo>
                    <a:pt x="287750" y="263644"/>
                  </a:lnTo>
                </a:path>
                <a:path w="382269" h="892810">
                  <a:moveTo>
                    <a:pt x="113788" y="262471"/>
                  </a:moveTo>
                  <a:lnTo>
                    <a:pt x="305262" y="262471"/>
                  </a:lnTo>
                </a:path>
                <a:path w="382269" h="892810">
                  <a:moveTo>
                    <a:pt x="57164" y="261239"/>
                  </a:moveTo>
                  <a:lnTo>
                    <a:pt x="248637" y="261239"/>
                  </a:lnTo>
                </a:path>
                <a:path w="382269" h="892810">
                  <a:moveTo>
                    <a:pt x="71744" y="258894"/>
                  </a:moveTo>
                  <a:lnTo>
                    <a:pt x="263295" y="258894"/>
                  </a:lnTo>
                </a:path>
                <a:path w="382269" h="892810">
                  <a:moveTo>
                    <a:pt x="10183" y="257662"/>
                  </a:moveTo>
                  <a:lnTo>
                    <a:pt x="201733" y="257662"/>
                  </a:lnTo>
                </a:path>
                <a:path w="382269" h="892810">
                  <a:moveTo>
                    <a:pt x="143258" y="256490"/>
                  </a:moveTo>
                  <a:lnTo>
                    <a:pt x="334808" y="256490"/>
                  </a:lnTo>
                </a:path>
                <a:path w="382269" h="892810">
                  <a:moveTo>
                    <a:pt x="23297" y="255317"/>
                  </a:moveTo>
                  <a:lnTo>
                    <a:pt x="214848" y="255317"/>
                  </a:lnTo>
                </a:path>
                <a:path w="382269" h="892810">
                  <a:moveTo>
                    <a:pt x="107694" y="254085"/>
                  </a:moveTo>
                  <a:lnTo>
                    <a:pt x="299244" y="254085"/>
                  </a:lnTo>
                </a:path>
                <a:path w="382269" h="892810">
                  <a:moveTo>
                    <a:pt x="101908" y="252913"/>
                  </a:moveTo>
                  <a:lnTo>
                    <a:pt x="293459" y="252913"/>
                  </a:lnTo>
                </a:path>
                <a:path w="382269" h="892810">
                  <a:moveTo>
                    <a:pt x="72670" y="251740"/>
                  </a:moveTo>
                  <a:lnTo>
                    <a:pt x="264144" y="251740"/>
                  </a:lnTo>
                </a:path>
                <a:path w="382269" h="892810">
                  <a:moveTo>
                    <a:pt x="57395" y="250508"/>
                  </a:moveTo>
                  <a:lnTo>
                    <a:pt x="248869" y="250508"/>
                  </a:lnTo>
                </a:path>
                <a:path w="382269" h="892810">
                  <a:moveTo>
                    <a:pt x="178436" y="249336"/>
                  </a:moveTo>
                  <a:lnTo>
                    <a:pt x="369986" y="249336"/>
                  </a:lnTo>
                </a:path>
                <a:path w="382269" h="892810">
                  <a:moveTo>
                    <a:pt x="110008" y="248163"/>
                  </a:moveTo>
                  <a:lnTo>
                    <a:pt x="301482" y="248163"/>
                  </a:lnTo>
                </a:path>
                <a:path w="382269" h="892810">
                  <a:moveTo>
                    <a:pt x="176661" y="245759"/>
                  </a:moveTo>
                  <a:lnTo>
                    <a:pt x="368135" y="245759"/>
                  </a:lnTo>
                </a:path>
                <a:path w="382269" h="892810">
                  <a:moveTo>
                    <a:pt x="89796" y="244586"/>
                  </a:moveTo>
                  <a:lnTo>
                    <a:pt x="281347" y="244586"/>
                  </a:lnTo>
                </a:path>
                <a:path w="382269" h="892810">
                  <a:moveTo>
                    <a:pt x="62178" y="243354"/>
                  </a:moveTo>
                  <a:lnTo>
                    <a:pt x="253729" y="243354"/>
                  </a:lnTo>
                </a:path>
                <a:path w="382269" h="892810">
                  <a:moveTo>
                    <a:pt x="114560" y="242182"/>
                  </a:moveTo>
                  <a:lnTo>
                    <a:pt x="306110" y="242182"/>
                  </a:lnTo>
                </a:path>
                <a:path w="382269" h="892810">
                  <a:moveTo>
                    <a:pt x="182524" y="241009"/>
                  </a:moveTo>
                  <a:lnTo>
                    <a:pt x="374075" y="241009"/>
                  </a:lnTo>
                </a:path>
                <a:path w="382269" h="892810">
                  <a:moveTo>
                    <a:pt x="22912" y="239777"/>
                  </a:moveTo>
                  <a:lnTo>
                    <a:pt x="214462" y="239777"/>
                  </a:lnTo>
                </a:path>
                <a:path w="382269" h="892810">
                  <a:moveTo>
                    <a:pt x="99979" y="238604"/>
                  </a:moveTo>
                  <a:lnTo>
                    <a:pt x="291453" y="238604"/>
                  </a:lnTo>
                </a:path>
                <a:path w="382269" h="892810">
                  <a:moveTo>
                    <a:pt x="149121" y="237432"/>
                  </a:moveTo>
                  <a:lnTo>
                    <a:pt x="340594" y="237432"/>
                  </a:lnTo>
                </a:path>
                <a:path w="382269" h="892810">
                  <a:moveTo>
                    <a:pt x="138012" y="236200"/>
                  </a:moveTo>
                  <a:lnTo>
                    <a:pt x="329562" y="236200"/>
                  </a:lnTo>
                </a:path>
                <a:path w="382269" h="892810">
                  <a:moveTo>
                    <a:pt x="141637" y="235027"/>
                  </a:moveTo>
                  <a:lnTo>
                    <a:pt x="333188" y="235027"/>
                  </a:lnTo>
                </a:path>
                <a:path w="382269" h="892810">
                  <a:moveTo>
                    <a:pt x="117105" y="233796"/>
                  </a:moveTo>
                  <a:lnTo>
                    <a:pt x="308656" y="233796"/>
                  </a:lnTo>
                </a:path>
                <a:path w="382269" h="892810">
                  <a:moveTo>
                    <a:pt x="77762" y="232623"/>
                  </a:moveTo>
                  <a:lnTo>
                    <a:pt x="269312" y="232623"/>
                  </a:lnTo>
                </a:path>
                <a:path w="382269" h="892810">
                  <a:moveTo>
                    <a:pt x="105071" y="231450"/>
                  </a:moveTo>
                  <a:lnTo>
                    <a:pt x="296622" y="231450"/>
                  </a:lnTo>
                </a:path>
                <a:path w="382269" h="892810">
                  <a:moveTo>
                    <a:pt x="52535" y="230219"/>
                  </a:moveTo>
                  <a:lnTo>
                    <a:pt x="244009" y="230219"/>
                  </a:lnTo>
                </a:path>
                <a:path w="382269" h="892810">
                  <a:moveTo>
                    <a:pt x="148118" y="229046"/>
                  </a:moveTo>
                  <a:lnTo>
                    <a:pt x="339668" y="229046"/>
                  </a:lnTo>
                </a:path>
                <a:path w="382269" h="892810">
                  <a:moveTo>
                    <a:pt x="142795" y="227873"/>
                  </a:moveTo>
                  <a:lnTo>
                    <a:pt x="334268" y="227873"/>
                  </a:lnTo>
                </a:path>
                <a:path w="382269" h="892810">
                  <a:moveTo>
                    <a:pt x="36489" y="226642"/>
                  </a:moveTo>
                  <a:lnTo>
                    <a:pt x="227963" y="226642"/>
                  </a:lnTo>
                </a:path>
                <a:path w="382269" h="892810">
                  <a:moveTo>
                    <a:pt x="118803" y="225469"/>
                  </a:moveTo>
                  <a:lnTo>
                    <a:pt x="310276" y="225469"/>
                  </a:lnTo>
                </a:path>
                <a:path w="382269" h="892810">
                  <a:moveTo>
                    <a:pt x="10491" y="224296"/>
                  </a:moveTo>
                  <a:lnTo>
                    <a:pt x="201965" y="224296"/>
                  </a:lnTo>
                </a:path>
                <a:path w="382269" h="892810">
                  <a:moveTo>
                    <a:pt x="171493" y="223065"/>
                  </a:moveTo>
                  <a:lnTo>
                    <a:pt x="363043" y="223065"/>
                  </a:lnTo>
                </a:path>
                <a:path w="382269" h="892810">
                  <a:moveTo>
                    <a:pt x="55158" y="221892"/>
                  </a:moveTo>
                  <a:lnTo>
                    <a:pt x="246632" y="221892"/>
                  </a:lnTo>
                </a:path>
                <a:path w="382269" h="892810">
                  <a:moveTo>
                    <a:pt x="28929" y="220719"/>
                  </a:moveTo>
                  <a:lnTo>
                    <a:pt x="220480" y="220719"/>
                  </a:lnTo>
                </a:path>
                <a:path w="382269" h="892810">
                  <a:moveTo>
                    <a:pt x="72979" y="219488"/>
                  </a:moveTo>
                  <a:lnTo>
                    <a:pt x="264452" y="219488"/>
                  </a:lnTo>
                </a:path>
                <a:path w="382269" h="892810">
                  <a:moveTo>
                    <a:pt x="62178" y="218315"/>
                  </a:moveTo>
                  <a:lnTo>
                    <a:pt x="253729" y="218315"/>
                  </a:lnTo>
                </a:path>
                <a:path w="382269" h="892810">
                  <a:moveTo>
                    <a:pt x="90645" y="217142"/>
                  </a:moveTo>
                  <a:lnTo>
                    <a:pt x="282195" y="217142"/>
                  </a:lnTo>
                </a:path>
                <a:path w="382269" h="892810">
                  <a:moveTo>
                    <a:pt x="114328" y="215911"/>
                  </a:moveTo>
                  <a:lnTo>
                    <a:pt x="305879" y="215911"/>
                  </a:lnTo>
                </a:path>
                <a:path w="382269" h="892810">
                  <a:moveTo>
                    <a:pt x="45824" y="214738"/>
                  </a:moveTo>
                  <a:lnTo>
                    <a:pt x="237374" y="214738"/>
                  </a:lnTo>
                </a:path>
                <a:path w="382269" h="892810">
                  <a:moveTo>
                    <a:pt x="91493" y="213565"/>
                  </a:moveTo>
                  <a:lnTo>
                    <a:pt x="283044" y="213565"/>
                  </a:lnTo>
                </a:path>
                <a:path w="382269" h="892810">
                  <a:moveTo>
                    <a:pt x="164164" y="212334"/>
                  </a:moveTo>
                  <a:lnTo>
                    <a:pt x="355715" y="212334"/>
                  </a:lnTo>
                </a:path>
                <a:path w="382269" h="892810">
                  <a:moveTo>
                    <a:pt x="67193" y="211161"/>
                  </a:moveTo>
                  <a:lnTo>
                    <a:pt x="258743" y="211161"/>
                  </a:lnTo>
                </a:path>
                <a:path w="382269" h="892810">
                  <a:moveTo>
                    <a:pt x="84473" y="208757"/>
                  </a:moveTo>
                  <a:lnTo>
                    <a:pt x="276024" y="208757"/>
                  </a:lnTo>
                </a:path>
                <a:path w="382269" h="892810">
                  <a:moveTo>
                    <a:pt x="12266" y="207584"/>
                  </a:moveTo>
                  <a:lnTo>
                    <a:pt x="203816" y="207584"/>
                  </a:lnTo>
                </a:path>
                <a:path w="382269" h="892810">
                  <a:moveTo>
                    <a:pt x="85013" y="206411"/>
                  </a:moveTo>
                  <a:lnTo>
                    <a:pt x="276564" y="206411"/>
                  </a:lnTo>
                </a:path>
                <a:path w="382269" h="892810">
                  <a:moveTo>
                    <a:pt x="171647" y="205180"/>
                  </a:moveTo>
                  <a:lnTo>
                    <a:pt x="363198" y="205180"/>
                  </a:lnTo>
                </a:path>
                <a:path w="382269" h="892810">
                  <a:moveTo>
                    <a:pt x="64570" y="204007"/>
                  </a:moveTo>
                  <a:lnTo>
                    <a:pt x="256120" y="204007"/>
                  </a:lnTo>
                </a:path>
                <a:path w="382269" h="892810">
                  <a:moveTo>
                    <a:pt x="140557" y="201603"/>
                  </a:moveTo>
                  <a:lnTo>
                    <a:pt x="332108" y="201603"/>
                  </a:lnTo>
                </a:path>
                <a:path w="382269" h="892810">
                  <a:moveTo>
                    <a:pt x="45824" y="200430"/>
                  </a:moveTo>
                  <a:lnTo>
                    <a:pt x="237374" y="200430"/>
                  </a:lnTo>
                </a:path>
                <a:path w="382269" h="892810">
                  <a:moveTo>
                    <a:pt x="36566" y="199257"/>
                  </a:moveTo>
                  <a:lnTo>
                    <a:pt x="228040" y="199257"/>
                  </a:lnTo>
                </a:path>
                <a:path w="382269" h="892810">
                  <a:moveTo>
                    <a:pt x="51687" y="198026"/>
                  </a:moveTo>
                  <a:lnTo>
                    <a:pt x="243237" y="198026"/>
                  </a:lnTo>
                </a:path>
                <a:path w="382269" h="892810">
                  <a:moveTo>
                    <a:pt x="43201" y="196853"/>
                  </a:moveTo>
                  <a:lnTo>
                    <a:pt x="234751" y="196853"/>
                  </a:lnTo>
                </a:path>
                <a:path w="382269" h="892810">
                  <a:moveTo>
                    <a:pt x="79690" y="195622"/>
                  </a:moveTo>
                  <a:lnTo>
                    <a:pt x="271241" y="195622"/>
                  </a:lnTo>
                </a:path>
                <a:path w="382269" h="892810">
                  <a:moveTo>
                    <a:pt x="177124" y="194449"/>
                  </a:moveTo>
                  <a:lnTo>
                    <a:pt x="368598" y="194449"/>
                  </a:lnTo>
                </a:path>
                <a:path w="382269" h="892810">
                  <a:moveTo>
                    <a:pt x="140326" y="193276"/>
                  </a:moveTo>
                  <a:lnTo>
                    <a:pt x="331877" y="193276"/>
                  </a:lnTo>
                </a:path>
                <a:path w="382269" h="892810">
                  <a:moveTo>
                    <a:pt x="157838" y="192045"/>
                  </a:moveTo>
                  <a:lnTo>
                    <a:pt x="349389" y="192045"/>
                  </a:lnTo>
                </a:path>
                <a:path w="382269" h="892810">
                  <a:moveTo>
                    <a:pt x="135080" y="190872"/>
                  </a:moveTo>
                  <a:lnTo>
                    <a:pt x="326631" y="190872"/>
                  </a:lnTo>
                </a:path>
                <a:path w="382269" h="892810">
                  <a:moveTo>
                    <a:pt x="24686" y="189699"/>
                  </a:moveTo>
                  <a:lnTo>
                    <a:pt x="216159" y="189699"/>
                  </a:lnTo>
                </a:path>
                <a:path w="382269" h="892810">
                  <a:moveTo>
                    <a:pt x="151898" y="188468"/>
                  </a:moveTo>
                  <a:lnTo>
                    <a:pt x="343371" y="188468"/>
                  </a:lnTo>
                </a:path>
                <a:path w="382269" h="892810">
                  <a:moveTo>
                    <a:pt x="49064" y="187295"/>
                  </a:moveTo>
                  <a:lnTo>
                    <a:pt x="240537" y="187295"/>
                  </a:lnTo>
                </a:path>
                <a:path w="382269" h="892810">
                  <a:moveTo>
                    <a:pt x="77607" y="186122"/>
                  </a:moveTo>
                  <a:lnTo>
                    <a:pt x="269081" y="186122"/>
                  </a:lnTo>
                </a:path>
                <a:path w="382269" h="892810">
                  <a:moveTo>
                    <a:pt x="83547" y="183718"/>
                  </a:moveTo>
                  <a:lnTo>
                    <a:pt x="275098" y="183718"/>
                  </a:lnTo>
                </a:path>
                <a:path w="382269" h="892810">
                  <a:moveTo>
                    <a:pt x="140017" y="182545"/>
                  </a:moveTo>
                  <a:lnTo>
                    <a:pt x="331568" y="182545"/>
                  </a:lnTo>
                </a:path>
                <a:path w="382269" h="892810">
                  <a:moveTo>
                    <a:pt x="109622" y="181313"/>
                  </a:moveTo>
                  <a:lnTo>
                    <a:pt x="301173" y="181313"/>
                  </a:lnTo>
                </a:path>
                <a:path w="382269" h="892810">
                  <a:moveTo>
                    <a:pt x="72053" y="180141"/>
                  </a:moveTo>
                  <a:lnTo>
                    <a:pt x="263526" y="180141"/>
                  </a:lnTo>
                </a:path>
                <a:path w="382269" h="892810">
                  <a:moveTo>
                    <a:pt x="116874" y="178968"/>
                  </a:moveTo>
                  <a:lnTo>
                    <a:pt x="308425" y="178968"/>
                  </a:lnTo>
                </a:path>
                <a:path w="382269" h="892810">
                  <a:moveTo>
                    <a:pt x="131917" y="177736"/>
                  </a:moveTo>
                  <a:lnTo>
                    <a:pt x="323468" y="177736"/>
                  </a:lnTo>
                </a:path>
                <a:path w="382269" h="892810">
                  <a:moveTo>
                    <a:pt x="74444" y="176564"/>
                  </a:moveTo>
                  <a:lnTo>
                    <a:pt x="265995" y="176564"/>
                  </a:lnTo>
                </a:path>
                <a:path w="382269" h="892810">
                  <a:moveTo>
                    <a:pt x="95582" y="175391"/>
                  </a:moveTo>
                  <a:lnTo>
                    <a:pt x="287133" y="175391"/>
                  </a:lnTo>
                </a:path>
                <a:path w="382269" h="892810">
                  <a:moveTo>
                    <a:pt x="132226" y="174159"/>
                  </a:moveTo>
                  <a:lnTo>
                    <a:pt x="323777" y="174159"/>
                  </a:lnTo>
                </a:path>
                <a:path w="382269" h="892810">
                  <a:moveTo>
                    <a:pt x="36875" y="172987"/>
                  </a:moveTo>
                  <a:lnTo>
                    <a:pt x="228348" y="172987"/>
                  </a:lnTo>
                </a:path>
                <a:path w="382269" h="892810">
                  <a:moveTo>
                    <a:pt x="128137" y="171814"/>
                  </a:moveTo>
                  <a:lnTo>
                    <a:pt x="319611" y="171814"/>
                  </a:lnTo>
                </a:path>
                <a:path w="382269" h="892810">
                  <a:moveTo>
                    <a:pt x="68196" y="170582"/>
                  </a:moveTo>
                  <a:lnTo>
                    <a:pt x="259669" y="170582"/>
                  </a:lnTo>
                </a:path>
                <a:path w="382269" h="892810">
                  <a:moveTo>
                    <a:pt x="137549" y="169410"/>
                  </a:moveTo>
                  <a:lnTo>
                    <a:pt x="329100" y="169410"/>
                  </a:lnTo>
                </a:path>
                <a:path w="382269" h="892810">
                  <a:moveTo>
                    <a:pt x="94579" y="168237"/>
                  </a:moveTo>
                  <a:lnTo>
                    <a:pt x="286053" y="168237"/>
                  </a:lnTo>
                </a:path>
                <a:path w="382269" h="892810">
                  <a:moveTo>
                    <a:pt x="158069" y="167005"/>
                  </a:moveTo>
                  <a:lnTo>
                    <a:pt x="349543" y="167005"/>
                  </a:lnTo>
                </a:path>
                <a:path w="382269" h="892810">
                  <a:moveTo>
                    <a:pt x="38726" y="165833"/>
                  </a:moveTo>
                  <a:lnTo>
                    <a:pt x="230200" y="165833"/>
                  </a:lnTo>
                </a:path>
                <a:path w="382269" h="892810">
                  <a:moveTo>
                    <a:pt x="76604" y="164660"/>
                  </a:moveTo>
                  <a:lnTo>
                    <a:pt x="268155" y="164660"/>
                  </a:lnTo>
                </a:path>
                <a:path w="382269" h="892810">
                  <a:moveTo>
                    <a:pt x="123123" y="163428"/>
                  </a:moveTo>
                  <a:lnTo>
                    <a:pt x="314673" y="163428"/>
                  </a:lnTo>
                </a:path>
                <a:path w="382269" h="892810">
                  <a:moveTo>
                    <a:pt x="120654" y="162256"/>
                  </a:moveTo>
                  <a:lnTo>
                    <a:pt x="312128" y="162256"/>
                  </a:lnTo>
                </a:path>
                <a:path w="382269" h="892810">
                  <a:moveTo>
                    <a:pt x="60558" y="161083"/>
                  </a:moveTo>
                  <a:lnTo>
                    <a:pt x="252109" y="161083"/>
                  </a:lnTo>
                </a:path>
                <a:path w="382269" h="892810">
                  <a:moveTo>
                    <a:pt x="147963" y="159851"/>
                  </a:moveTo>
                  <a:lnTo>
                    <a:pt x="339514" y="159851"/>
                  </a:lnTo>
                </a:path>
                <a:path w="382269" h="892810">
                  <a:moveTo>
                    <a:pt x="40038" y="158679"/>
                  </a:moveTo>
                  <a:lnTo>
                    <a:pt x="231588" y="158679"/>
                  </a:lnTo>
                </a:path>
                <a:path w="382269" h="892810">
                  <a:moveTo>
                    <a:pt x="101059" y="157447"/>
                  </a:moveTo>
                  <a:lnTo>
                    <a:pt x="292533" y="157447"/>
                  </a:lnTo>
                </a:path>
                <a:path w="382269" h="892810">
                  <a:moveTo>
                    <a:pt x="103605" y="156274"/>
                  </a:moveTo>
                  <a:lnTo>
                    <a:pt x="295156" y="156274"/>
                  </a:lnTo>
                </a:path>
                <a:path w="382269" h="892810">
                  <a:moveTo>
                    <a:pt x="111705" y="155102"/>
                  </a:moveTo>
                  <a:lnTo>
                    <a:pt x="303256" y="155102"/>
                  </a:lnTo>
                </a:path>
                <a:path w="382269" h="892810">
                  <a:moveTo>
                    <a:pt x="158532" y="152697"/>
                  </a:moveTo>
                  <a:lnTo>
                    <a:pt x="350006" y="152697"/>
                  </a:lnTo>
                </a:path>
                <a:path w="382269" h="892810">
                  <a:moveTo>
                    <a:pt x="71127" y="151525"/>
                  </a:moveTo>
                  <a:lnTo>
                    <a:pt x="262678" y="151525"/>
                  </a:lnTo>
                </a:path>
                <a:path w="382269" h="892810">
                  <a:moveTo>
                    <a:pt x="163392" y="150293"/>
                  </a:moveTo>
                  <a:lnTo>
                    <a:pt x="354943" y="150293"/>
                  </a:lnTo>
                </a:path>
                <a:path w="382269" h="892810">
                  <a:moveTo>
                    <a:pt x="77762" y="149120"/>
                  </a:moveTo>
                  <a:lnTo>
                    <a:pt x="269312" y="149120"/>
                  </a:lnTo>
                </a:path>
                <a:path w="382269" h="892810">
                  <a:moveTo>
                    <a:pt x="102834" y="147947"/>
                  </a:moveTo>
                  <a:lnTo>
                    <a:pt x="294307" y="147947"/>
                  </a:lnTo>
                </a:path>
                <a:path w="382269" h="892810">
                  <a:moveTo>
                    <a:pt x="18051" y="146716"/>
                  </a:moveTo>
                  <a:lnTo>
                    <a:pt x="209602" y="146716"/>
                  </a:lnTo>
                </a:path>
                <a:path w="382269" h="892810">
                  <a:moveTo>
                    <a:pt x="79536" y="145543"/>
                  </a:moveTo>
                  <a:lnTo>
                    <a:pt x="271087" y="145543"/>
                  </a:lnTo>
                </a:path>
                <a:path w="382269" h="892810">
                  <a:moveTo>
                    <a:pt x="61947" y="143139"/>
                  </a:moveTo>
                  <a:lnTo>
                    <a:pt x="253498" y="143139"/>
                  </a:lnTo>
                </a:path>
                <a:path w="382269" h="892810">
                  <a:moveTo>
                    <a:pt x="34869" y="141966"/>
                  </a:moveTo>
                  <a:lnTo>
                    <a:pt x="226420" y="141966"/>
                  </a:lnTo>
                </a:path>
                <a:path w="382269" h="892810">
                  <a:moveTo>
                    <a:pt x="115563" y="140793"/>
                  </a:moveTo>
                  <a:lnTo>
                    <a:pt x="307113" y="140793"/>
                  </a:lnTo>
                </a:path>
                <a:path w="382269" h="892810">
                  <a:moveTo>
                    <a:pt x="170490" y="139562"/>
                  </a:moveTo>
                  <a:lnTo>
                    <a:pt x="361963" y="139562"/>
                  </a:lnTo>
                </a:path>
                <a:path w="382269" h="892810">
                  <a:moveTo>
                    <a:pt x="114020" y="138389"/>
                  </a:moveTo>
                  <a:lnTo>
                    <a:pt x="305570" y="138389"/>
                  </a:lnTo>
                </a:path>
                <a:path w="382269" h="892810">
                  <a:moveTo>
                    <a:pt x="145186" y="137216"/>
                  </a:moveTo>
                  <a:lnTo>
                    <a:pt x="336660" y="137216"/>
                  </a:lnTo>
                </a:path>
                <a:path w="382269" h="892810">
                  <a:moveTo>
                    <a:pt x="87713" y="135985"/>
                  </a:moveTo>
                  <a:lnTo>
                    <a:pt x="279187" y="135985"/>
                  </a:lnTo>
                </a:path>
                <a:path w="382269" h="892810">
                  <a:moveTo>
                    <a:pt x="94271" y="134812"/>
                  </a:moveTo>
                  <a:lnTo>
                    <a:pt x="285744" y="134812"/>
                  </a:lnTo>
                </a:path>
                <a:path w="382269" h="892810">
                  <a:moveTo>
                    <a:pt x="82390" y="133639"/>
                  </a:moveTo>
                  <a:lnTo>
                    <a:pt x="273941" y="133639"/>
                  </a:lnTo>
                </a:path>
                <a:path w="382269" h="892810">
                  <a:moveTo>
                    <a:pt x="125591" y="132408"/>
                  </a:moveTo>
                  <a:lnTo>
                    <a:pt x="317142" y="132408"/>
                  </a:lnTo>
                </a:path>
                <a:path w="382269" h="892810">
                  <a:moveTo>
                    <a:pt x="102525" y="130062"/>
                  </a:moveTo>
                  <a:lnTo>
                    <a:pt x="293999" y="130062"/>
                  </a:lnTo>
                </a:path>
                <a:path w="382269" h="892810">
                  <a:moveTo>
                    <a:pt x="75061" y="128831"/>
                  </a:moveTo>
                  <a:lnTo>
                    <a:pt x="266535" y="128831"/>
                  </a:lnTo>
                </a:path>
                <a:path w="382269" h="892810">
                  <a:moveTo>
                    <a:pt x="137549" y="127658"/>
                  </a:moveTo>
                  <a:lnTo>
                    <a:pt x="329100" y="127658"/>
                  </a:lnTo>
                </a:path>
                <a:path w="382269" h="892810">
                  <a:moveTo>
                    <a:pt x="80770" y="126485"/>
                  </a:moveTo>
                  <a:lnTo>
                    <a:pt x="272321" y="126485"/>
                  </a:lnTo>
                </a:path>
                <a:path w="382269" h="892810">
                  <a:moveTo>
                    <a:pt x="122891" y="125254"/>
                  </a:moveTo>
                  <a:lnTo>
                    <a:pt x="314442" y="125254"/>
                  </a:lnTo>
                </a:path>
                <a:path w="382269" h="892810">
                  <a:moveTo>
                    <a:pt x="87405" y="122908"/>
                  </a:moveTo>
                  <a:lnTo>
                    <a:pt x="278955" y="122908"/>
                  </a:lnTo>
                </a:path>
                <a:path w="382269" h="892810">
                  <a:moveTo>
                    <a:pt x="90413" y="121677"/>
                  </a:moveTo>
                  <a:lnTo>
                    <a:pt x="281964" y="121677"/>
                  </a:lnTo>
                </a:path>
                <a:path w="382269" h="892810">
                  <a:moveTo>
                    <a:pt x="59632" y="120504"/>
                  </a:moveTo>
                  <a:lnTo>
                    <a:pt x="251183" y="120504"/>
                  </a:lnTo>
                </a:path>
                <a:path w="382269" h="892810">
                  <a:moveTo>
                    <a:pt x="141329" y="119273"/>
                  </a:moveTo>
                  <a:lnTo>
                    <a:pt x="332880" y="119273"/>
                  </a:lnTo>
                </a:path>
                <a:path w="382269" h="892810">
                  <a:moveTo>
                    <a:pt x="27309" y="118100"/>
                  </a:moveTo>
                  <a:lnTo>
                    <a:pt x="218860" y="118100"/>
                  </a:lnTo>
                </a:path>
                <a:path w="382269" h="892810">
                  <a:moveTo>
                    <a:pt x="96276" y="116927"/>
                  </a:moveTo>
                  <a:lnTo>
                    <a:pt x="287827" y="116927"/>
                  </a:lnTo>
                </a:path>
                <a:path w="382269" h="892810">
                  <a:moveTo>
                    <a:pt x="97973" y="115696"/>
                  </a:moveTo>
                  <a:lnTo>
                    <a:pt x="289447" y="115696"/>
                  </a:lnTo>
                </a:path>
                <a:path w="382269" h="892810">
                  <a:moveTo>
                    <a:pt x="135389" y="114523"/>
                  </a:moveTo>
                  <a:lnTo>
                    <a:pt x="326939" y="114523"/>
                  </a:lnTo>
                </a:path>
                <a:path w="382269" h="892810">
                  <a:moveTo>
                    <a:pt x="32632" y="113350"/>
                  </a:moveTo>
                  <a:lnTo>
                    <a:pt x="224105" y="113350"/>
                  </a:lnTo>
                </a:path>
                <a:path w="382269" h="892810">
                  <a:moveTo>
                    <a:pt x="8331" y="112119"/>
                  </a:moveTo>
                  <a:lnTo>
                    <a:pt x="199805" y="112119"/>
                  </a:lnTo>
                </a:path>
                <a:path w="382269" h="892810">
                  <a:moveTo>
                    <a:pt x="58475" y="110946"/>
                  </a:moveTo>
                  <a:lnTo>
                    <a:pt x="249949" y="110946"/>
                  </a:lnTo>
                </a:path>
                <a:path w="382269" h="892810">
                  <a:moveTo>
                    <a:pt x="78533" y="109773"/>
                  </a:moveTo>
                  <a:lnTo>
                    <a:pt x="270084" y="109773"/>
                  </a:lnTo>
                </a:path>
                <a:path w="382269" h="892810">
                  <a:moveTo>
                    <a:pt x="122428" y="108542"/>
                  </a:moveTo>
                  <a:lnTo>
                    <a:pt x="313979" y="108542"/>
                  </a:lnTo>
                </a:path>
                <a:path w="382269" h="892810">
                  <a:moveTo>
                    <a:pt x="59710" y="107369"/>
                  </a:moveTo>
                  <a:lnTo>
                    <a:pt x="251260" y="107369"/>
                  </a:lnTo>
                </a:path>
                <a:path w="382269" h="892810">
                  <a:moveTo>
                    <a:pt x="96893" y="106196"/>
                  </a:moveTo>
                  <a:lnTo>
                    <a:pt x="288444" y="106196"/>
                  </a:lnTo>
                </a:path>
                <a:path w="382269" h="892810">
                  <a:moveTo>
                    <a:pt x="84087" y="104965"/>
                  </a:moveTo>
                  <a:lnTo>
                    <a:pt x="275638" y="104965"/>
                  </a:lnTo>
                </a:path>
                <a:path w="382269" h="892810">
                  <a:moveTo>
                    <a:pt x="62873" y="103792"/>
                  </a:moveTo>
                  <a:lnTo>
                    <a:pt x="254423" y="103792"/>
                  </a:lnTo>
                </a:path>
                <a:path w="382269" h="892810">
                  <a:moveTo>
                    <a:pt x="130374" y="102619"/>
                  </a:moveTo>
                  <a:lnTo>
                    <a:pt x="321925" y="102619"/>
                  </a:lnTo>
                </a:path>
                <a:path w="382269" h="892810">
                  <a:moveTo>
                    <a:pt x="55004" y="101388"/>
                  </a:moveTo>
                  <a:lnTo>
                    <a:pt x="246555" y="101388"/>
                  </a:lnTo>
                </a:path>
                <a:path w="382269" h="892810">
                  <a:moveTo>
                    <a:pt x="99131" y="100215"/>
                  </a:moveTo>
                  <a:lnTo>
                    <a:pt x="290681" y="100215"/>
                  </a:lnTo>
                </a:path>
                <a:path w="382269" h="892810">
                  <a:moveTo>
                    <a:pt x="98899" y="99042"/>
                  </a:moveTo>
                  <a:lnTo>
                    <a:pt x="290373" y="99042"/>
                  </a:lnTo>
                </a:path>
                <a:path w="382269" h="892810">
                  <a:moveTo>
                    <a:pt x="50298" y="96638"/>
                  </a:moveTo>
                  <a:lnTo>
                    <a:pt x="241772" y="96638"/>
                  </a:lnTo>
                </a:path>
                <a:path w="382269" h="892810">
                  <a:moveTo>
                    <a:pt x="135620" y="95465"/>
                  </a:moveTo>
                  <a:lnTo>
                    <a:pt x="327094" y="95465"/>
                  </a:lnTo>
                </a:path>
                <a:path w="382269" h="892810">
                  <a:moveTo>
                    <a:pt x="156835" y="94234"/>
                  </a:moveTo>
                  <a:lnTo>
                    <a:pt x="348309" y="94234"/>
                  </a:lnTo>
                </a:path>
                <a:path w="382269" h="892810">
                  <a:moveTo>
                    <a:pt x="42506" y="93061"/>
                  </a:moveTo>
                  <a:lnTo>
                    <a:pt x="234057" y="93061"/>
                  </a:lnTo>
                </a:path>
                <a:path w="382269" h="892810">
                  <a:moveTo>
                    <a:pt x="83085" y="91888"/>
                  </a:moveTo>
                  <a:lnTo>
                    <a:pt x="274635" y="91888"/>
                  </a:lnTo>
                </a:path>
                <a:path w="382269" h="892810">
                  <a:moveTo>
                    <a:pt x="153904" y="90656"/>
                  </a:moveTo>
                  <a:lnTo>
                    <a:pt x="345377" y="90656"/>
                  </a:lnTo>
                </a:path>
                <a:path w="382269" h="892810">
                  <a:moveTo>
                    <a:pt x="66961" y="89484"/>
                  </a:moveTo>
                  <a:lnTo>
                    <a:pt x="258512" y="89484"/>
                  </a:lnTo>
                </a:path>
                <a:path w="382269" h="892810">
                  <a:moveTo>
                    <a:pt x="93653" y="88311"/>
                  </a:moveTo>
                  <a:lnTo>
                    <a:pt x="285204" y="88311"/>
                  </a:lnTo>
                </a:path>
                <a:path w="382269" h="892810">
                  <a:moveTo>
                    <a:pt x="71821" y="87079"/>
                  </a:moveTo>
                  <a:lnTo>
                    <a:pt x="263372" y="87079"/>
                  </a:lnTo>
                </a:path>
                <a:path w="382269" h="892810">
                  <a:moveTo>
                    <a:pt x="81079" y="84734"/>
                  </a:moveTo>
                  <a:lnTo>
                    <a:pt x="272630" y="84734"/>
                  </a:lnTo>
                </a:path>
                <a:path w="382269" h="892810">
                  <a:moveTo>
                    <a:pt x="125900" y="83502"/>
                  </a:moveTo>
                  <a:lnTo>
                    <a:pt x="317374" y="83502"/>
                  </a:lnTo>
                </a:path>
                <a:path w="382269" h="892810">
                  <a:moveTo>
                    <a:pt x="58167" y="82330"/>
                  </a:moveTo>
                  <a:lnTo>
                    <a:pt x="249640" y="82330"/>
                  </a:lnTo>
                </a:path>
                <a:path w="382269" h="892810">
                  <a:moveTo>
                    <a:pt x="136855" y="81098"/>
                  </a:moveTo>
                  <a:lnTo>
                    <a:pt x="328328" y="81098"/>
                  </a:lnTo>
                </a:path>
                <a:path w="382269" h="892810">
                  <a:moveTo>
                    <a:pt x="51841" y="79925"/>
                  </a:moveTo>
                  <a:lnTo>
                    <a:pt x="243392" y="79925"/>
                  </a:lnTo>
                </a:path>
                <a:path w="382269" h="892810">
                  <a:moveTo>
                    <a:pt x="163238" y="78753"/>
                  </a:moveTo>
                  <a:lnTo>
                    <a:pt x="354789" y="78753"/>
                  </a:lnTo>
                </a:path>
                <a:path w="382269" h="892810">
                  <a:moveTo>
                    <a:pt x="126209" y="77521"/>
                  </a:moveTo>
                  <a:lnTo>
                    <a:pt x="317759" y="77521"/>
                  </a:lnTo>
                </a:path>
                <a:path w="382269" h="892810">
                  <a:moveTo>
                    <a:pt x="165012" y="76348"/>
                  </a:moveTo>
                  <a:lnTo>
                    <a:pt x="356563" y="76348"/>
                  </a:lnTo>
                </a:path>
                <a:path w="382269" h="892810">
                  <a:moveTo>
                    <a:pt x="53538" y="73944"/>
                  </a:moveTo>
                  <a:lnTo>
                    <a:pt x="245089" y="73944"/>
                  </a:lnTo>
                </a:path>
                <a:path w="382269" h="892810">
                  <a:moveTo>
                    <a:pt x="117954" y="72771"/>
                  </a:moveTo>
                  <a:lnTo>
                    <a:pt x="309428" y="72771"/>
                  </a:lnTo>
                </a:path>
                <a:path w="382269" h="892810">
                  <a:moveTo>
                    <a:pt x="105148" y="71599"/>
                  </a:moveTo>
                  <a:lnTo>
                    <a:pt x="296699" y="71599"/>
                  </a:lnTo>
                </a:path>
                <a:path w="382269" h="892810">
                  <a:moveTo>
                    <a:pt x="70664" y="70367"/>
                  </a:moveTo>
                  <a:lnTo>
                    <a:pt x="262215" y="70367"/>
                  </a:lnTo>
                </a:path>
                <a:path w="382269" h="892810">
                  <a:moveTo>
                    <a:pt x="79922" y="69194"/>
                  </a:moveTo>
                  <a:lnTo>
                    <a:pt x="271472" y="69194"/>
                  </a:lnTo>
                </a:path>
                <a:path w="382269" h="892810">
                  <a:moveTo>
                    <a:pt x="89488" y="68022"/>
                  </a:moveTo>
                  <a:lnTo>
                    <a:pt x="281038" y="68022"/>
                  </a:lnTo>
                </a:path>
                <a:path w="382269" h="892810">
                  <a:moveTo>
                    <a:pt x="112940" y="66790"/>
                  </a:moveTo>
                  <a:lnTo>
                    <a:pt x="304413" y="66790"/>
                  </a:lnTo>
                </a:path>
                <a:path w="382269" h="892810">
                  <a:moveTo>
                    <a:pt x="115177" y="65617"/>
                  </a:moveTo>
                  <a:lnTo>
                    <a:pt x="306728" y="65617"/>
                  </a:lnTo>
                </a:path>
                <a:path w="382269" h="892810">
                  <a:moveTo>
                    <a:pt x="134154" y="64445"/>
                  </a:moveTo>
                  <a:lnTo>
                    <a:pt x="325705" y="64445"/>
                  </a:lnTo>
                </a:path>
                <a:path w="382269" h="892810">
                  <a:moveTo>
                    <a:pt x="122968" y="63213"/>
                  </a:moveTo>
                  <a:lnTo>
                    <a:pt x="314442" y="63213"/>
                  </a:lnTo>
                </a:path>
                <a:path w="382269" h="892810">
                  <a:moveTo>
                    <a:pt x="48832" y="62040"/>
                  </a:moveTo>
                  <a:lnTo>
                    <a:pt x="240383" y="62040"/>
                  </a:lnTo>
                </a:path>
                <a:path w="382269" h="892810">
                  <a:moveTo>
                    <a:pt x="90413" y="60868"/>
                  </a:moveTo>
                  <a:lnTo>
                    <a:pt x="281964" y="60868"/>
                  </a:lnTo>
                </a:path>
                <a:path w="382269" h="892810">
                  <a:moveTo>
                    <a:pt x="98668" y="59636"/>
                  </a:moveTo>
                  <a:lnTo>
                    <a:pt x="290141" y="59636"/>
                  </a:lnTo>
                </a:path>
                <a:path w="382269" h="892810">
                  <a:moveTo>
                    <a:pt x="130837" y="58463"/>
                  </a:moveTo>
                  <a:lnTo>
                    <a:pt x="322388" y="58463"/>
                  </a:lnTo>
                </a:path>
                <a:path w="382269" h="892810">
                  <a:moveTo>
                    <a:pt x="101291" y="57290"/>
                  </a:moveTo>
                  <a:lnTo>
                    <a:pt x="292841" y="57290"/>
                  </a:lnTo>
                </a:path>
                <a:path w="382269" h="892810">
                  <a:moveTo>
                    <a:pt x="55235" y="56059"/>
                  </a:moveTo>
                  <a:lnTo>
                    <a:pt x="246786" y="56059"/>
                  </a:lnTo>
                </a:path>
                <a:path w="382269" h="892810">
                  <a:moveTo>
                    <a:pt x="158147" y="54886"/>
                  </a:moveTo>
                  <a:lnTo>
                    <a:pt x="349620" y="54886"/>
                  </a:lnTo>
                </a:path>
                <a:path w="382269" h="892810">
                  <a:moveTo>
                    <a:pt x="36412" y="53713"/>
                  </a:moveTo>
                  <a:lnTo>
                    <a:pt x="227885" y="53713"/>
                  </a:lnTo>
                </a:path>
                <a:path w="382269" h="892810">
                  <a:moveTo>
                    <a:pt x="0" y="52482"/>
                  </a:moveTo>
                  <a:lnTo>
                    <a:pt x="191550" y="52482"/>
                  </a:lnTo>
                </a:path>
                <a:path w="382269" h="892810">
                  <a:moveTo>
                    <a:pt x="52149" y="51309"/>
                  </a:moveTo>
                  <a:lnTo>
                    <a:pt x="243623" y="51309"/>
                  </a:lnTo>
                </a:path>
                <a:path w="382269" h="892810">
                  <a:moveTo>
                    <a:pt x="12266" y="48905"/>
                  </a:moveTo>
                  <a:lnTo>
                    <a:pt x="203739" y="48905"/>
                  </a:lnTo>
                </a:path>
                <a:path w="382269" h="892810">
                  <a:moveTo>
                    <a:pt x="121734" y="46559"/>
                  </a:moveTo>
                  <a:lnTo>
                    <a:pt x="313285" y="46559"/>
                  </a:lnTo>
                </a:path>
                <a:path w="382269" h="892810">
                  <a:moveTo>
                    <a:pt x="133614" y="45328"/>
                  </a:moveTo>
                  <a:lnTo>
                    <a:pt x="325165" y="45328"/>
                  </a:lnTo>
                </a:path>
                <a:path w="382269" h="892810">
                  <a:moveTo>
                    <a:pt x="30240" y="44155"/>
                  </a:moveTo>
                  <a:lnTo>
                    <a:pt x="221714" y="44155"/>
                  </a:lnTo>
                </a:path>
                <a:path w="382269" h="892810">
                  <a:moveTo>
                    <a:pt x="139092" y="42982"/>
                  </a:moveTo>
                  <a:lnTo>
                    <a:pt x="330642" y="42982"/>
                  </a:lnTo>
                </a:path>
                <a:path w="382269" h="892810">
                  <a:moveTo>
                    <a:pt x="102756" y="41751"/>
                  </a:moveTo>
                  <a:lnTo>
                    <a:pt x="294307" y="41751"/>
                  </a:lnTo>
                </a:path>
                <a:path w="382269" h="892810">
                  <a:moveTo>
                    <a:pt x="46672" y="40578"/>
                  </a:moveTo>
                  <a:lnTo>
                    <a:pt x="238223" y="40578"/>
                  </a:lnTo>
                </a:path>
                <a:path w="382269" h="892810">
                  <a:moveTo>
                    <a:pt x="116334" y="39347"/>
                  </a:moveTo>
                  <a:lnTo>
                    <a:pt x="307808" y="39347"/>
                  </a:lnTo>
                </a:path>
                <a:path w="382269" h="892810">
                  <a:moveTo>
                    <a:pt x="30857" y="38174"/>
                  </a:moveTo>
                  <a:lnTo>
                    <a:pt x="222408" y="38174"/>
                  </a:lnTo>
                </a:path>
                <a:path w="382269" h="892810">
                  <a:moveTo>
                    <a:pt x="135234" y="37001"/>
                  </a:moveTo>
                  <a:lnTo>
                    <a:pt x="326785" y="37001"/>
                  </a:lnTo>
                </a:path>
                <a:path w="382269" h="892810">
                  <a:moveTo>
                    <a:pt x="143643" y="35770"/>
                  </a:moveTo>
                  <a:lnTo>
                    <a:pt x="335117" y="35770"/>
                  </a:lnTo>
                </a:path>
                <a:path w="382269" h="892810">
                  <a:moveTo>
                    <a:pt x="106845" y="34597"/>
                  </a:moveTo>
                  <a:lnTo>
                    <a:pt x="298319" y="34597"/>
                  </a:lnTo>
                </a:path>
                <a:path w="382269" h="892810">
                  <a:moveTo>
                    <a:pt x="141637" y="33424"/>
                  </a:moveTo>
                  <a:lnTo>
                    <a:pt x="333188" y="33424"/>
                  </a:lnTo>
                </a:path>
                <a:path w="382269" h="892810">
                  <a:moveTo>
                    <a:pt x="51301" y="32193"/>
                  </a:moveTo>
                  <a:lnTo>
                    <a:pt x="242852" y="32193"/>
                  </a:lnTo>
                </a:path>
                <a:path w="382269" h="892810">
                  <a:moveTo>
                    <a:pt x="178204" y="31020"/>
                  </a:moveTo>
                  <a:lnTo>
                    <a:pt x="369678" y="31020"/>
                  </a:lnTo>
                </a:path>
                <a:path w="382269" h="892810">
                  <a:moveTo>
                    <a:pt x="102911" y="29847"/>
                  </a:moveTo>
                  <a:lnTo>
                    <a:pt x="294462" y="29847"/>
                  </a:lnTo>
                </a:path>
                <a:path w="382269" h="892810">
                  <a:moveTo>
                    <a:pt x="155601" y="28616"/>
                  </a:moveTo>
                  <a:lnTo>
                    <a:pt x="347151" y="28616"/>
                  </a:lnTo>
                </a:path>
                <a:path w="382269" h="892810">
                  <a:moveTo>
                    <a:pt x="85245" y="27443"/>
                  </a:moveTo>
                  <a:lnTo>
                    <a:pt x="276718" y="27443"/>
                  </a:lnTo>
                </a:path>
                <a:path w="382269" h="892810">
                  <a:moveTo>
                    <a:pt x="115563" y="26270"/>
                  </a:moveTo>
                  <a:lnTo>
                    <a:pt x="307113" y="26270"/>
                  </a:lnTo>
                </a:path>
                <a:path w="382269" h="892810">
                  <a:moveTo>
                    <a:pt x="57627" y="25039"/>
                  </a:moveTo>
                  <a:lnTo>
                    <a:pt x="249177" y="25039"/>
                  </a:lnTo>
                </a:path>
                <a:path w="382269" h="892810">
                  <a:moveTo>
                    <a:pt x="15428" y="23866"/>
                  </a:moveTo>
                  <a:lnTo>
                    <a:pt x="206979" y="23866"/>
                  </a:lnTo>
                </a:path>
                <a:path w="382269" h="892810">
                  <a:moveTo>
                    <a:pt x="110934" y="21462"/>
                  </a:moveTo>
                  <a:lnTo>
                    <a:pt x="302485" y="21462"/>
                  </a:lnTo>
                </a:path>
                <a:path w="382269" h="892810">
                  <a:moveTo>
                    <a:pt x="70047" y="20289"/>
                  </a:moveTo>
                  <a:lnTo>
                    <a:pt x="261598" y="20289"/>
                  </a:lnTo>
                </a:path>
                <a:path w="382269" h="892810">
                  <a:moveTo>
                    <a:pt x="166941" y="19116"/>
                  </a:moveTo>
                  <a:lnTo>
                    <a:pt x="358492" y="19116"/>
                  </a:lnTo>
                </a:path>
                <a:path w="382269" h="892810">
                  <a:moveTo>
                    <a:pt x="86093" y="17885"/>
                  </a:moveTo>
                  <a:lnTo>
                    <a:pt x="277567" y="17885"/>
                  </a:lnTo>
                </a:path>
                <a:path w="382269" h="892810">
                  <a:moveTo>
                    <a:pt x="108465" y="16712"/>
                  </a:moveTo>
                  <a:lnTo>
                    <a:pt x="299939" y="16712"/>
                  </a:lnTo>
                </a:path>
                <a:path w="382269" h="892810">
                  <a:moveTo>
                    <a:pt x="139555" y="15539"/>
                  </a:moveTo>
                  <a:lnTo>
                    <a:pt x="331105" y="15539"/>
                  </a:lnTo>
                </a:path>
                <a:path w="382269" h="892810">
                  <a:moveTo>
                    <a:pt x="30317" y="14308"/>
                  </a:moveTo>
                  <a:lnTo>
                    <a:pt x="221868" y="14308"/>
                  </a:lnTo>
                </a:path>
                <a:path w="382269" h="892810">
                  <a:moveTo>
                    <a:pt x="101676" y="13135"/>
                  </a:moveTo>
                  <a:lnTo>
                    <a:pt x="293227" y="13135"/>
                  </a:lnTo>
                </a:path>
                <a:path w="382269" h="892810">
                  <a:moveTo>
                    <a:pt x="147115" y="11962"/>
                  </a:moveTo>
                  <a:lnTo>
                    <a:pt x="338666" y="11962"/>
                  </a:lnTo>
                </a:path>
                <a:path w="382269" h="892810">
                  <a:moveTo>
                    <a:pt x="50838" y="10731"/>
                  </a:moveTo>
                  <a:lnTo>
                    <a:pt x="242312" y="10731"/>
                  </a:lnTo>
                </a:path>
                <a:path w="382269" h="892810">
                  <a:moveTo>
                    <a:pt x="63335" y="9558"/>
                  </a:moveTo>
                  <a:lnTo>
                    <a:pt x="254809" y="9558"/>
                  </a:lnTo>
                </a:path>
                <a:path w="382269" h="892810">
                  <a:moveTo>
                    <a:pt x="77993" y="8385"/>
                  </a:moveTo>
                  <a:lnTo>
                    <a:pt x="269544" y="8385"/>
                  </a:lnTo>
                </a:path>
                <a:path w="382269" h="892810">
                  <a:moveTo>
                    <a:pt x="164164" y="7154"/>
                  </a:moveTo>
                  <a:lnTo>
                    <a:pt x="355715" y="7154"/>
                  </a:lnTo>
                </a:path>
                <a:path w="382269" h="892810">
                  <a:moveTo>
                    <a:pt x="62024" y="5981"/>
                  </a:moveTo>
                  <a:lnTo>
                    <a:pt x="253498" y="5981"/>
                  </a:lnTo>
                </a:path>
                <a:path w="382269" h="892810">
                  <a:moveTo>
                    <a:pt x="58398" y="4808"/>
                  </a:moveTo>
                  <a:lnTo>
                    <a:pt x="249872" y="4808"/>
                  </a:lnTo>
                </a:path>
                <a:path w="382269" h="892810">
                  <a:moveTo>
                    <a:pt x="150355" y="3577"/>
                  </a:moveTo>
                  <a:lnTo>
                    <a:pt x="341828" y="3577"/>
                  </a:lnTo>
                </a:path>
                <a:path w="382269" h="892810">
                  <a:moveTo>
                    <a:pt x="120423" y="2404"/>
                  </a:moveTo>
                  <a:lnTo>
                    <a:pt x="311973" y="2404"/>
                  </a:lnTo>
                </a:path>
                <a:path w="382269" h="892810">
                  <a:moveTo>
                    <a:pt x="103605" y="1172"/>
                  </a:moveTo>
                  <a:lnTo>
                    <a:pt x="295079" y="1172"/>
                  </a:lnTo>
                </a:path>
                <a:path w="382269" h="892810">
                  <a:moveTo>
                    <a:pt x="96199" y="0"/>
                  </a:moveTo>
                  <a:lnTo>
                    <a:pt x="287673" y="0"/>
                  </a:lnTo>
                </a:path>
              </a:pathLst>
            </a:custGeom>
            <a:ln w="50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2097065" y="2577401"/>
              <a:ext cx="467995" cy="363220"/>
            </a:xfrm>
            <a:custGeom>
              <a:avLst/>
              <a:gdLst/>
              <a:ahLst/>
              <a:cxnLst/>
              <a:rect l="l" t="t" r="r" b="b"/>
              <a:pathLst>
                <a:path w="467994" h="363219">
                  <a:moveTo>
                    <a:pt x="42429" y="362627"/>
                  </a:moveTo>
                  <a:lnTo>
                    <a:pt x="233903" y="362627"/>
                  </a:lnTo>
                </a:path>
                <a:path w="467994" h="363219">
                  <a:moveTo>
                    <a:pt x="267152" y="326857"/>
                  </a:moveTo>
                  <a:lnTo>
                    <a:pt x="458703" y="326857"/>
                  </a:lnTo>
                </a:path>
                <a:path w="467994" h="363219">
                  <a:moveTo>
                    <a:pt x="257741" y="308972"/>
                  </a:moveTo>
                  <a:lnTo>
                    <a:pt x="449214" y="308972"/>
                  </a:lnTo>
                </a:path>
                <a:path w="467994" h="363219">
                  <a:moveTo>
                    <a:pt x="276410" y="297068"/>
                  </a:moveTo>
                  <a:lnTo>
                    <a:pt x="467960" y="297068"/>
                  </a:lnTo>
                </a:path>
                <a:path w="467994" h="363219">
                  <a:moveTo>
                    <a:pt x="59170" y="282702"/>
                  </a:moveTo>
                  <a:lnTo>
                    <a:pt x="250643" y="282702"/>
                  </a:lnTo>
                </a:path>
                <a:path w="467994" h="363219">
                  <a:moveTo>
                    <a:pt x="59864" y="258894"/>
                  </a:moveTo>
                  <a:lnTo>
                    <a:pt x="251415" y="258894"/>
                  </a:lnTo>
                </a:path>
                <a:path w="467994" h="363219">
                  <a:moveTo>
                    <a:pt x="262986" y="244527"/>
                  </a:moveTo>
                  <a:lnTo>
                    <a:pt x="454537" y="244527"/>
                  </a:lnTo>
                </a:path>
                <a:path w="467994" h="363219">
                  <a:moveTo>
                    <a:pt x="54232" y="243354"/>
                  </a:moveTo>
                  <a:lnTo>
                    <a:pt x="245783" y="243354"/>
                  </a:lnTo>
                </a:path>
                <a:path w="467994" h="363219">
                  <a:moveTo>
                    <a:pt x="269467" y="229046"/>
                  </a:moveTo>
                  <a:lnTo>
                    <a:pt x="460940" y="229046"/>
                  </a:lnTo>
                </a:path>
                <a:path w="467994" h="363219">
                  <a:moveTo>
                    <a:pt x="272552" y="186122"/>
                  </a:moveTo>
                  <a:lnTo>
                    <a:pt x="464103" y="186122"/>
                  </a:lnTo>
                </a:path>
                <a:path w="467994" h="363219">
                  <a:moveTo>
                    <a:pt x="268078" y="165833"/>
                  </a:moveTo>
                  <a:lnTo>
                    <a:pt x="459629" y="165833"/>
                  </a:lnTo>
                </a:path>
                <a:path w="467994" h="363219">
                  <a:moveTo>
                    <a:pt x="0" y="164601"/>
                  </a:moveTo>
                  <a:lnTo>
                    <a:pt x="191473" y="164601"/>
                  </a:lnTo>
                </a:path>
                <a:path w="467994" h="363219">
                  <a:moveTo>
                    <a:pt x="276410" y="127658"/>
                  </a:moveTo>
                  <a:lnTo>
                    <a:pt x="467883" y="127658"/>
                  </a:lnTo>
                </a:path>
                <a:path w="467994" h="363219">
                  <a:moveTo>
                    <a:pt x="264066" y="106196"/>
                  </a:moveTo>
                  <a:lnTo>
                    <a:pt x="455617" y="106196"/>
                  </a:lnTo>
                </a:path>
                <a:path w="467994" h="363219">
                  <a:moveTo>
                    <a:pt x="257818" y="0"/>
                  </a:moveTo>
                  <a:lnTo>
                    <a:pt x="449291" y="0"/>
                  </a:lnTo>
                </a:path>
              </a:pathLst>
            </a:custGeom>
            <a:ln w="760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2155456" y="2534780"/>
              <a:ext cx="193040" cy="12700"/>
            </a:xfrm>
            <a:custGeom>
              <a:avLst/>
              <a:gdLst/>
              <a:ahLst/>
              <a:cxnLst/>
              <a:rect l="l" t="t" r="r" b="b"/>
              <a:pathLst>
                <a:path w="193039" h="12700">
                  <a:moveTo>
                    <a:pt x="192786" y="5918"/>
                  </a:moveTo>
                  <a:lnTo>
                    <a:pt x="191554" y="5918"/>
                  </a:lnTo>
                  <a:lnTo>
                    <a:pt x="191554" y="0"/>
                  </a:lnTo>
                  <a:lnTo>
                    <a:pt x="0" y="0"/>
                  </a:lnTo>
                  <a:lnTo>
                    <a:pt x="0" y="6565"/>
                  </a:lnTo>
                  <a:lnTo>
                    <a:pt x="1308" y="6565"/>
                  </a:lnTo>
                  <a:lnTo>
                    <a:pt x="1308" y="12484"/>
                  </a:lnTo>
                  <a:lnTo>
                    <a:pt x="192786" y="12484"/>
                  </a:lnTo>
                  <a:lnTo>
                    <a:pt x="192786" y="591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2121443" y="2363894"/>
              <a:ext cx="460375" cy="170815"/>
            </a:xfrm>
            <a:custGeom>
              <a:avLst/>
              <a:gdLst/>
              <a:ahLst/>
              <a:cxnLst/>
              <a:rect l="l" t="t" r="r" b="b"/>
              <a:pathLst>
                <a:path w="460375" h="170814">
                  <a:moveTo>
                    <a:pt x="249409" y="170582"/>
                  </a:moveTo>
                  <a:lnTo>
                    <a:pt x="440882" y="170582"/>
                  </a:lnTo>
                </a:path>
                <a:path w="460375" h="170814">
                  <a:moveTo>
                    <a:pt x="0" y="163428"/>
                  </a:moveTo>
                  <a:lnTo>
                    <a:pt x="191550" y="163428"/>
                  </a:lnTo>
                </a:path>
                <a:path w="460375" h="170814">
                  <a:moveTo>
                    <a:pt x="20443" y="162197"/>
                  </a:moveTo>
                  <a:lnTo>
                    <a:pt x="211994" y="162197"/>
                  </a:lnTo>
                </a:path>
                <a:path w="460375" h="170814">
                  <a:moveTo>
                    <a:pt x="243546" y="138331"/>
                  </a:moveTo>
                  <a:lnTo>
                    <a:pt x="435097" y="138331"/>
                  </a:lnTo>
                </a:path>
                <a:path w="460375" h="170814">
                  <a:moveTo>
                    <a:pt x="243546" y="118100"/>
                  </a:moveTo>
                  <a:lnTo>
                    <a:pt x="435097" y="118100"/>
                  </a:lnTo>
                </a:path>
                <a:path w="460375" h="170814">
                  <a:moveTo>
                    <a:pt x="268387" y="109714"/>
                  </a:moveTo>
                  <a:lnTo>
                    <a:pt x="459937" y="109714"/>
                  </a:lnTo>
                </a:path>
                <a:path w="460375" h="170814">
                  <a:moveTo>
                    <a:pt x="32555" y="106137"/>
                  </a:moveTo>
                  <a:lnTo>
                    <a:pt x="224105" y="106137"/>
                  </a:lnTo>
                </a:path>
                <a:path w="460375" h="170814">
                  <a:moveTo>
                    <a:pt x="239534" y="75117"/>
                  </a:moveTo>
                  <a:lnTo>
                    <a:pt x="431085" y="75117"/>
                  </a:lnTo>
                </a:path>
                <a:path w="460375" h="170814">
                  <a:moveTo>
                    <a:pt x="251492" y="70367"/>
                  </a:moveTo>
                  <a:lnTo>
                    <a:pt x="442965" y="70367"/>
                  </a:lnTo>
                </a:path>
                <a:path w="460375" h="170814">
                  <a:moveTo>
                    <a:pt x="239380" y="48905"/>
                  </a:moveTo>
                  <a:lnTo>
                    <a:pt x="430931" y="48905"/>
                  </a:lnTo>
                </a:path>
                <a:path w="460375" h="170814">
                  <a:moveTo>
                    <a:pt x="262215" y="23807"/>
                  </a:moveTo>
                  <a:lnTo>
                    <a:pt x="453766" y="23807"/>
                  </a:lnTo>
                </a:path>
                <a:path w="460375" h="170814">
                  <a:moveTo>
                    <a:pt x="264066" y="0"/>
                  </a:moveTo>
                  <a:lnTo>
                    <a:pt x="455617" y="0"/>
                  </a:lnTo>
                </a:path>
              </a:pathLst>
            </a:custGeom>
            <a:ln w="760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2353106" y="2336749"/>
              <a:ext cx="200025" cy="15240"/>
            </a:xfrm>
            <a:custGeom>
              <a:avLst/>
              <a:gdLst/>
              <a:ahLst/>
              <a:cxnLst/>
              <a:rect l="l" t="t" r="r" b="b"/>
              <a:pathLst>
                <a:path w="200025" h="15239">
                  <a:moveTo>
                    <a:pt x="196875" y="8331"/>
                  </a:moveTo>
                  <a:lnTo>
                    <a:pt x="5321" y="8331"/>
                  </a:lnTo>
                  <a:lnTo>
                    <a:pt x="5321" y="14897"/>
                  </a:lnTo>
                  <a:lnTo>
                    <a:pt x="196875" y="14897"/>
                  </a:lnTo>
                  <a:lnTo>
                    <a:pt x="196875" y="8331"/>
                  </a:lnTo>
                  <a:close/>
                </a:path>
                <a:path w="200025" h="15239">
                  <a:moveTo>
                    <a:pt x="199720" y="1168"/>
                  </a:moveTo>
                  <a:lnTo>
                    <a:pt x="191465" y="1168"/>
                  </a:lnTo>
                  <a:lnTo>
                    <a:pt x="191465" y="0"/>
                  </a:lnTo>
                  <a:lnTo>
                    <a:pt x="0" y="0"/>
                  </a:lnTo>
                  <a:lnTo>
                    <a:pt x="0" y="6565"/>
                  </a:lnTo>
                  <a:lnTo>
                    <a:pt x="8255" y="6565"/>
                  </a:lnTo>
                  <a:lnTo>
                    <a:pt x="8255" y="7747"/>
                  </a:lnTo>
                  <a:lnTo>
                    <a:pt x="199720" y="7747"/>
                  </a:lnTo>
                  <a:lnTo>
                    <a:pt x="199720" y="116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2160247" y="2334046"/>
              <a:ext cx="191770" cy="0"/>
            </a:xfrm>
            <a:custGeom>
              <a:avLst/>
              <a:gdLst/>
              <a:ahLst/>
              <a:cxnLst/>
              <a:rect l="l" t="t" r="r" b="b"/>
              <a:pathLst>
                <a:path w="191769" h="0">
                  <a:moveTo>
                    <a:pt x="0" y="0"/>
                  </a:moveTo>
                  <a:lnTo>
                    <a:pt x="191473" y="0"/>
                  </a:lnTo>
                </a:path>
              </a:pathLst>
            </a:custGeom>
            <a:ln w="656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2365133" y="2303322"/>
              <a:ext cx="192405" cy="15240"/>
            </a:xfrm>
            <a:custGeom>
              <a:avLst/>
              <a:gdLst/>
              <a:ahLst/>
              <a:cxnLst/>
              <a:rect l="l" t="t" r="r" b="b"/>
              <a:pathLst>
                <a:path w="192405" h="15239">
                  <a:moveTo>
                    <a:pt x="191554" y="8331"/>
                  </a:moveTo>
                  <a:lnTo>
                    <a:pt x="0" y="8331"/>
                  </a:lnTo>
                  <a:lnTo>
                    <a:pt x="0" y="14897"/>
                  </a:lnTo>
                  <a:lnTo>
                    <a:pt x="191554" y="14897"/>
                  </a:lnTo>
                  <a:lnTo>
                    <a:pt x="191554" y="8331"/>
                  </a:lnTo>
                  <a:close/>
                </a:path>
                <a:path w="192405" h="15239">
                  <a:moveTo>
                    <a:pt x="192405" y="0"/>
                  </a:moveTo>
                  <a:lnTo>
                    <a:pt x="927" y="0"/>
                  </a:lnTo>
                  <a:lnTo>
                    <a:pt x="927" y="6565"/>
                  </a:lnTo>
                  <a:lnTo>
                    <a:pt x="192405" y="6565"/>
                  </a:lnTo>
                  <a:lnTo>
                    <a:pt x="19240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2110642" y="2231427"/>
              <a:ext cx="492759" cy="62230"/>
            </a:xfrm>
            <a:custGeom>
              <a:avLst/>
              <a:gdLst/>
              <a:ahLst/>
              <a:cxnLst/>
              <a:rect l="l" t="t" r="r" b="b"/>
              <a:pathLst>
                <a:path w="492760" h="62230">
                  <a:moveTo>
                    <a:pt x="0" y="62040"/>
                  </a:moveTo>
                  <a:lnTo>
                    <a:pt x="191473" y="62040"/>
                  </a:lnTo>
                </a:path>
                <a:path w="492760" h="62230">
                  <a:moveTo>
                    <a:pt x="245012" y="25097"/>
                  </a:moveTo>
                  <a:lnTo>
                    <a:pt x="436562" y="25097"/>
                  </a:lnTo>
                </a:path>
                <a:path w="492760" h="62230">
                  <a:moveTo>
                    <a:pt x="300865" y="17943"/>
                  </a:moveTo>
                  <a:lnTo>
                    <a:pt x="492415" y="17943"/>
                  </a:lnTo>
                </a:path>
                <a:path w="492760" h="62230">
                  <a:moveTo>
                    <a:pt x="39498" y="0"/>
                  </a:moveTo>
                  <a:lnTo>
                    <a:pt x="231048" y="0"/>
                  </a:lnTo>
                </a:path>
              </a:pathLst>
            </a:custGeom>
            <a:ln w="760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2156002" y="2167343"/>
              <a:ext cx="194945" cy="36830"/>
            </a:xfrm>
            <a:custGeom>
              <a:avLst/>
              <a:gdLst/>
              <a:ahLst/>
              <a:cxnLst/>
              <a:rect l="l" t="t" r="r" b="b"/>
              <a:pathLst>
                <a:path w="194944" h="36830">
                  <a:moveTo>
                    <a:pt x="191465" y="29781"/>
                  </a:moveTo>
                  <a:lnTo>
                    <a:pt x="0" y="29781"/>
                  </a:lnTo>
                  <a:lnTo>
                    <a:pt x="0" y="36347"/>
                  </a:lnTo>
                  <a:lnTo>
                    <a:pt x="191465" y="36347"/>
                  </a:lnTo>
                  <a:lnTo>
                    <a:pt x="191465" y="29781"/>
                  </a:lnTo>
                  <a:close/>
                </a:path>
                <a:path w="194944" h="36830">
                  <a:moveTo>
                    <a:pt x="192620" y="20281"/>
                  </a:moveTo>
                  <a:lnTo>
                    <a:pt x="1079" y="20281"/>
                  </a:lnTo>
                  <a:lnTo>
                    <a:pt x="1079" y="26847"/>
                  </a:lnTo>
                  <a:lnTo>
                    <a:pt x="192620" y="26847"/>
                  </a:lnTo>
                  <a:lnTo>
                    <a:pt x="192620" y="20281"/>
                  </a:lnTo>
                  <a:close/>
                </a:path>
                <a:path w="194944" h="36830">
                  <a:moveTo>
                    <a:pt x="194017" y="0"/>
                  </a:moveTo>
                  <a:lnTo>
                    <a:pt x="2540" y="0"/>
                  </a:lnTo>
                  <a:lnTo>
                    <a:pt x="2540" y="6565"/>
                  </a:lnTo>
                  <a:lnTo>
                    <a:pt x="194017" y="6565"/>
                  </a:lnTo>
                  <a:lnTo>
                    <a:pt x="194017" y="0"/>
                  </a:lnTo>
                  <a:close/>
                </a:path>
                <a:path w="194944" h="36830">
                  <a:moveTo>
                    <a:pt x="194551" y="7150"/>
                  </a:moveTo>
                  <a:lnTo>
                    <a:pt x="3009" y="7150"/>
                  </a:lnTo>
                  <a:lnTo>
                    <a:pt x="3009" y="13716"/>
                  </a:lnTo>
                  <a:lnTo>
                    <a:pt x="194551" y="13716"/>
                  </a:lnTo>
                  <a:lnTo>
                    <a:pt x="194551" y="715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2129774" y="2121712"/>
              <a:ext cx="441325" cy="22860"/>
            </a:xfrm>
            <a:custGeom>
              <a:avLst/>
              <a:gdLst/>
              <a:ahLst/>
              <a:cxnLst/>
              <a:rect l="l" t="t" r="r" b="b"/>
              <a:pathLst>
                <a:path w="441325" h="22860">
                  <a:moveTo>
                    <a:pt x="249640" y="22634"/>
                  </a:moveTo>
                  <a:lnTo>
                    <a:pt x="441114" y="22634"/>
                  </a:lnTo>
                </a:path>
                <a:path w="441325" h="22860">
                  <a:moveTo>
                    <a:pt x="26769" y="10731"/>
                  </a:moveTo>
                  <a:lnTo>
                    <a:pt x="218242" y="10731"/>
                  </a:lnTo>
                </a:path>
                <a:path w="441325" h="22860">
                  <a:moveTo>
                    <a:pt x="0" y="0"/>
                  </a:moveTo>
                  <a:lnTo>
                    <a:pt x="191550" y="0"/>
                  </a:lnTo>
                </a:path>
              </a:pathLst>
            </a:custGeom>
            <a:ln w="760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2357501" y="2090991"/>
              <a:ext cx="193040" cy="9525"/>
            </a:xfrm>
            <a:custGeom>
              <a:avLst/>
              <a:gdLst/>
              <a:ahLst/>
              <a:cxnLst/>
              <a:rect l="l" t="t" r="r" b="b"/>
              <a:pathLst>
                <a:path w="193039" h="9525">
                  <a:moveTo>
                    <a:pt x="192709" y="2400"/>
                  </a:moveTo>
                  <a:lnTo>
                    <a:pt x="191554" y="2400"/>
                  </a:lnTo>
                  <a:lnTo>
                    <a:pt x="191554" y="0"/>
                  </a:lnTo>
                  <a:lnTo>
                    <a:pt x="0" y="0"/>
                  </a:lnTo>
                  <a:lnTo>
                    <a:pt x="0" y="6565"/>
                  </a:lnTo>
                  <a:lnTo>
                    <a:pt x="1155" y="6565"/>
                  </a:lnTo>
                  <a:lnTo>
                    <a:pt x="1155" y="8966"/>
                  </a:lnTo>
                  <a:lnTo>
                    <a:pt x="192709" y="8966"/>
                  </a:lnTo>
                  <a:lnTo>
                    <a:pt x="192709" y="2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2146823" y="2069229"/>
              <a:ext cx="191770" cy="0"/>
            </a:xfrm>
            <a:custGeom>
              <a:avLst/>
              <a:gdLst/>
              <a:ahLst/>
              <a:cxnLst/>
              <a:rect l="l" t="t" r="r" b="b"/>
              <a:pathLst>
                <a:path w="191769" h="0">
                  <a:moveTo>
                    <a:pt x="0" y="0"/>
                  </a:moveTo>
                  <a:lnTo>
                    <a:pt x="191473" y="0"/>
                  </a:lnTo>
                </a:path>
              </a:pathLst>
            </a:custGeom>
            <a:ln w="656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2352260" y="2010824"/>
              <a:ext cx="0" cy="965200"/>
            </a:xfrm>
            <a:custGeom>
              <a:avLst/>
              <a:gdLst/>
              <a:ahLst/>
              <a:cxnLst/>
              <a:rect l="l" t="t" r="r" b="b"/>
              <a:pathLst>
                <a:path w="0" h="965200">
                  <a:moveTo>
                    <a:pt x="0" y="964975"/>
                  </a:moveTo>
                  <a:lnTo>
                    <a:pt x="0" y="0"/>
                  </a:lnTo>
                </a:path>
              </a:pathLst>
            </a:custGeom>
            <a:ln w="57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" name="object 74" descr=""/>
          <p:cNvSpPr txBox="1"/>
          <p:nvPr/>
        </p:nvSpPr>
        <p:spPr>
          <a:xfrm>
            <a:off x="1950904" y="3016520"/>
            <a:ext cx="784860" cy="819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85800" algn="l"/>
              </a:tabLst>
            </a:pPr>
            <a:r>
              <a:rPr dirty="0" sz="350" spc="60">
                <a:latin typeface="Helvetica"/>
                <a:cs typeface="Helvetica"/>
              </a:rPr>
              <a:t>−1.5</a:t>
            </a:r>
            <a:r>
              <a:rPr dirty="0" sz="350" spc="295">
                <a:latin typeface="Helvetica"/>
                <a:cs typeface="Helvetica"/>
              </a:rPr>
              <a:t>  </a:t>
            </a:r>
            <a:r>
              <a:rPr dirty="0" sz="350" spc="60">
                <a:latin typeface="Helvetica"/>
                <a:cs typeface="Helvetica"/>
              </a:rPr>
              <a:t>−0.5</a:t>
            </a:r>
            <a:r>
              <a:rPr dirty="0" sz="350" spc="375">
                <a:latin typeface="Helvetica"/>
                <a:cs typeface="Helvetica"/>
              </a:rPr>
              <a:t>  </a:t>
            </a:r>
            <a:r>
              <a:rPr dirty="0" sz="350" spc="30">
                <a:latin typeface="Helvetica"/>
                <a:cs typeface="Helvetica"/>
              </a:rPr>
              <a:t>0.5</a:t>
            </a:r>
            <a:r>
              <a:rPr dirty="0" sz="350">
                <a:latin typeface="Helvetica"/>
                <a:cs typeface="Helvetica"/>
              </a:rPr>
              <a:t>	</a:t>
            </a:r>
            <a:r>
              <a:rPr dirty="0" sz="350" spc="30">
                <a:latin typeface="Helvetica"/>
                <a:cs typeface="Helvetica"/>
              </a:rPr>
              <a:t>1.5</a:t>
            </a:r>
            <a:endParaRPr sz="350">
              <a:latin typeface="Helvetica"/>
              <a:cs typeface="Helvetica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1800069" y="2915489"/>
            <a:ext cx="94615" cy="52069"/>
          </a:xfrm>
          <a:prstGeom prst="rect">
            <a:avLst/>
          </a:prstGeom>
        </p:spPr>
        <p:txBody>
          <a:bodyPr wrap="square" lIns="0" tIns="1143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-50">
                <a:latin typeface="Helvetica"/>
                <a:cs typeface="Helvetica"/>
              </a:rPr>
              <a:t>0</a:t>
            </a:r>
            <a:endParaRPr sz="450">
              <a:latin typeface="Helvetica"/>
              <a:cs typeface="Helvetica"/>
            </a:endParaRPr>
          </a:p>
        </p:txBody>
      </p:sp>
      <p:sp>
        <p:nvSpPr>
          <p:cNvPr id="76" name="object 76" descr=""/>
          <p:cNvSpPr txBox="1"/>
          <p:nvPr/>
        </p:nvSpPr>
        <p:spPr>
          <a:xfrm>
            <a:off x="1800069" y="2650798"/>
            <a:ext cx="94615" cy="104139"/>
          </a:xfrm>
          <a:prstGeom prst="rect">
            <a:avLst/>
          </a:prstGeom>
        </p:spPr>
        <p:txBody>
          <a:bodyPr wrap="square" lIns="0" tIns="1143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-35">
                <a:latin typeface="Helvetica"/>
                <a:cs typeface="Helvetica"/>
              </a:rPr>
              <a:t>200</a:t>
            </a:r>
            <a:endParaRPr sz="450">
              <a:latin typeface="Helvetica"/>
              <a:cs typeface="Helvetica"/>
            </a:endParaRPr>
          </a:p>
        </p:txBody>
      </p:sp>
      <p:sp>
        <p:nvSpPr>
          <p:cNvPr id="77" name="object 77" descr=""/>
          <p:cNvSpPr txBox="1"/>
          <p:nvPr/>
        </p:nvSpPr>
        <p:spPr>
          <a:xfrm>
            <a:off x="1800069" y="2412252"/>
            <a:ext cx="94615" cy="104139"/>
          </a:xfrm>
          <a:prstGeom prst="rect">
            <a:avLst/>
          </a:prstGeom>
        </p:spPr>
        <p:txBody>
          <a:bodyPr wrap="square" lIns="0" tIns="1143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-35">
                <a:latin typeface="Helvetica"/>
                <a:cs typeface="Helvetica"/>
              </a:rPr>
              <a:t>400</a:t>
            </a:r>
            <a:endParaRPr sz="450">
              <a:latin typeface="Helvetica"/>
              <a:cs typeface="Helvetica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1800069" y="2173647"/>
            <a:ext cx="94615" cy="104139"/>
          </a:xfrm>
          <a:prstGeom prst="rect">
            <a:avLst/>
          </a:prstGeom>
        </p:spPr>
        <p:txBody>
          <a:bodyPr wrap="square" lIns="0" tIns="1143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-35">
                <a:latin typeface="Helvetica"/>
                <a:cs typeface="Helvetica"/>
              </a:rPr>
              <a:t>600</a:t>
            </a:r>
            <a:endParaRPr sz="450">
              <a:latin typeface="Helvetica"/>
              <a:cs typeface="Helvetica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2084982" y="3127936"/>
            <a:ext cx="585470" cy="819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60">
                <a:latin typeface="Helvetica"/>
                <a:cs typeface="Helvetica"/>
              </a:rPr>
              <a:t>Confidence</a:t>
            </a:r>
            <a:r>
              <a:rPr dirty="0" sz="350" spc="80">
                <a:latin typeface="Helvetica"/>
                <a:cs typeface="Helvetica"/>
              </a:rPr>
              <a:t> </a:t>
            </a:r>
            <a:r>
              <a:rPr dirty="0" sz="350" spc="40">
                <a:latin typeface="Helvetica"/>
                <a:cs typeface="Helvetica"/>
              </a:rPr>
              <a:t>intervals</a:t>
            </a:r>
            <a:endParaRPr sz="350">
              <a:latin typeface="Helvetica"/>
              <a:cs typeface="Helvetica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1653417" y="2364516"/>
            <a:ext cx="94615" cy="257810"/>
          </a:xfrm>
          <a:prstGeom prst="rect">
            <a:avLst/>
          </a:prstGeom>
        </p:spPr>
        <p:txBody>
          <a:bodyPr wrap="square" lIns="0" tIns="1143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-40">
                <a:latin typeface="Helvetica"/>
                <a:cs typeface="Helvetica"/>
              </a:rPr>
              <a:t>Replication</a:t>
            </a:r>
            <a:endParaRPr sz="450">
              <a:latin typeface="Helvetica"/>
              <a:cs typeface="Helvetica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1775631" y="1846247"/>
            <a:ext cx="1200785" cy="958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50" spc="85" b="1">
                <a:latin typeface="Helvetica"/>
                <a:cs typeface="Helvetica"/>
              </a:rPr>
              <a:t>750</a:t>
            </a:r>
            <a:r>
              <a:rPr dirty="0" sz="450" spc="45" b="1">
                <a:latin typeface="Helvetica"/>
                <a:cs typeface="Helvetica"/>
              </a:rPr>
              <a:t> </a:t>
            </a:r>
            <a:r>
              <a:rPr dirty="0" sz="450" spc="55" b="1">
                <a:latin typeface="Helvetica"/>
                <a:cs typeface="Helvetica"/>
              </a:rPr>
              <a:t>CI's</a:t>
            </a:r>
            <a:r>
              <a:rPr dirty="0" sz="450" spc="45" b="1">
                <a:latin typeface="Helvetica"/>
                <a:cs typeface="Helvetica"/>
              </a:rPr>
              <a:t> </a:t>
            </a:r>
            <a:r>
              <a:rPr dirty="0" sz="450" spc="80" b="1">
                <a:latin typeface="Helvetica"/>
                <a:cs typeface="Helvetica"/>
              </a:rPr>
              <a:t>from</a:t>
            </a:r>
            <a:r>
              <a:rPr dirty="0" sz="450" spc="45" b="1">
                <a:latin typeface="Helvetica"/>
                <a:cs typeface="Helvetica"/>
              </a:rPr>
              <a:t> </a:t>
            </a:r>
            <a:r>
              <a:rPr dirty="0" sz="450" spc="90" b="1">
                <a:latin typeface="Helvetica"/>
                <a:cs typeface="Helvetica"/>
              </a:rPr>
              <a:t>samples</a:t>
            </a:r>
            <a:r>
              <a:rPr dirty="0" sz="450" spc="45" b="1">
                <a:latin typeface="Helvetica"/>
                <a:cs typeface="Helvetica"/>
              </a:rPr>
              <a:t> </a:t>
            </a:r>
            <a:r>
              <a:rPr dirty="0" sz="450" spc="70" b="1">
                <a:latin typeface="Helvetica"/>
                <a:cs typeface="Helvetica"/>
              </a:rPr>
              <a:t>of</a:t>
            </a:r>
            <a:r>
              <a:rPr dirty="0" sz="450" spc="45" b="1">
                <a:latin typeface="Helvetica"/>
                <a:cs typeface="Helvetica"/>
              </a:rPr>
              <a:t> </a:t>
            </a:r>
            <a:r>
              <a:rPr dirty="0" sz="450" spc="75" b="1">
                <a:latin typeface="Helvetica"/>
                <a:cs typeface="Helvetica"/>
              </a:rPr>
              <a:t>size</a:t>
            </a:r>
            <a:r>
              <a:rPr dirty="0" sz="450" spc="45" b="1">
                <a:latin typeface="Helvetica"/>
                <a:cs typeface="Helvetica"/>
              </a:rPr>
              <a:t> </a:t>
            </a:r>
            <a:r>
              <a:rPr dirty="0" sz="450" spc="60" b="1">
                <a:latin typeface="Helvetica"/>
                <a:cs typeface="Helvetica"/>
              </a:rPr>
              <a:t>20</a:t>
            </a:r>
            <a:endParaRPr sz="450">
              <a:latin typeface="Helvetica"/>
              <a:cs typeface="Helvetica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2403282" y="2015482"/>
            <a:ext cx="379095" cy="819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70">
                <a:solidFill>
                  <a:srgbClr val="9400D3"/>
                </a:solidFill>
                <a:latin typeface="Helvetica"/>
                <a:cs typeface="Helvetica"/>
              </a:rPr>
              <a:t>no</a:t>
            </a:r>
            <a:r>
              <a:rPr dirty="0" sz="350" spc="45">
                <a:solidFill>
                  <a:srgbClr val="9400D3"/>
                </a:solidFill>
                <a:latin typeface="Helvetica"/>
                <a:cs typeface="Helvetica"/>
              </a:rPr>
              <a:t> </a:t>
            </a:r>
            <a:r>
              <a:rPr dirty="0" sz="350" spc="50">
                <a:solidFill>
                  <a:srgbClr val="9400D3"/>
                </a:solidFill>
                <a:latin typeface="Helvetica"/>
                <a:cs typeface="Helvetica"/>
              </a:rPr>
              <a:t>failed=</a:t>
            </a:r>
            <a:r>
              <a:rPr dirty="0" sz="350" spc="45">
                <a:solidFill>
                  <a:srgbClr val="9400D3"/>
                </a:solidFill>
                <a:latin typeface="Helvetica"/>
                <a:cs typeface="Helvetica"/>
              </a:rPr>
              <a:t> 49</a:t>
            </a:r>
            <a:endParaRPr sz="350">
              <a:latin typeface="Helvetica"/>
              <a:cs typeface="Helvetica"/>
            </a:endParaRPr>
          </a:p>
        </p:txBody>
      </p:sp>
      <p:grpSp>
        <p:nvGrpSpPr>
          <p:cNvPr id="83" name="object 83" descr=""/>
          <p:cNvGrpSpPr/>
          <p:nvPr/>
        </p:nvGrpSpPr>
        <p:grpSpPr>
          <a:xfrm>
            <a:off x="3215974" y="2008143"/>
            <a:ext cx="881380" cy="995680"/>
            <a:chOff x="3215974" y="2008143"/>
            <a:chExt cx="881380" cy="995680"/>
          </a:xfrm>
        </p:grpSpPr>
        <p:sp>
          <p:nvSpPr>
            <p:cNvPr id="84" name="object 84" descr=""/>
            <p:cNvSpPr/>
            <p:nvPr/>
          </p:nvSpPr>
          <p:spPr>
            <a:xfrm>
              <a:off x="3215974" y="2010824"/>
              <a:ext cx="878205" cy="993140"/>
            </a:xfrm>
            <a:custGeom>
              <a:avLst/>
              <a:gdLst/>
              <a:ahLst/>
              <a:cxnLst/>
              <a:rect l="l" t="t" r="r" b="b"/>
              <a:pathLst>
                <a:path w="878204" h="993139">
                  <a:moveTo>
                    <a:pt x="163855" y="964975"/>
                  </a:moveTo>
                  <a:lnTo>
                    <a:pt x="814804" y="964975"/>
                  </a:lnTo>
                </a:path>
                <a:path w="878204" h="993139">
                  <a:moveTo>
                    <a:pt x="163855" y="964975"/>
                  </a:moveTo>
                  <a:lnTo>
                    <a:pt x="163855" y="992828"/>
                  </a:lnTo>
                </a:path>
                <a:path w="878204" h="993139">
                  <a:moveTo>
                    <a:pt x="293999" y="964975"/>
                  </a:moveTo>
                  <a:lnTo>
                    <a:pt x="293999" y="992828"/>
                  </a:lnTo>
                </a:path>
                <a:path w="878204" h="993139">
                  <a:moveTo>
                    <a:pt x="424219" y="964975"/>
                  </a:moveTo>
                  <a:lnTo>
                    <a:pt x="424219" y="992828"/>
                  </a:lnTo>
                </a:path>
                <a:path w="878204" h="993139">
                  <a:moveTo>
                    <a:pt x="554440" y="964975"/>
                  </a:moveTo>
                  <a:lnTo>
                    <a:pt x="554440" y="992828"/>
                  </a:lnTo>
                </a:path>
                <a:path w="878204" h="993139">
                  <a:moveTo>
                    <a:pt x="684660" y="964975"/>
                  </a:moveTo>
                  <a:lnTo>
                    <a:pt x="684660" y="992828"/>
                  </a:lnTo>
                </a:path>
                <a:path w="878204" h="993139">
                  <a:moveTo>
                    <a:pt x="814804" y="964975"/>
                  </a:moveTo>
                  <a:lnTo>
                    <a:pt x="814804" y="992828"/>
                  </a:lnTo>
                </a:path>
                <a:path w="878204" h="993139">
                  <a:moveTo>
                    <a:pt x="36720" y="930143"/>
                  </a:moveTo>
                  <a:lnTo>
                    <a:pt x="36720" y="35711"/>
                  </a:lnTo>
                </a:path>
                <a:path w="878204" h="993139">
                  <a:moveTo>
                    <a:pt x="36720" y="930143"/>
                  </a:moveTo>
                  <a:lnTo>
                    <a:pt x="0" y="930143"/>
                  </a:lnTo>
                </a:path>
                <a:path w="878204" h="993139">
                  <a:moveTo>
                    <a:pt x="36720" y="751233"/>
                  </a:moveTo>
                  <a:lnTo>
                    <a:pt x="0" y="751233"/>
                  </a:lnTo>
                </a:path>
                <a:path w="878204" h="993139">
                  <a:moveTo>
                    <a:pt x="36720" y="572382"/>
                  </a:moveTo>
                  <a:lnTo>
                    <a:pt x="0" y="572382"/>
                  </a:lnTo>
                </a:path>
                <a:path w="878204" h="993139">
                  <a:moveTo>
                    <a:pt x="36720" y="393472"/>
                  </a:moveTo>
                  <a:lnTo>
                    <a:pt x="0" y="393472"/>
                  </a:lnTo>
                </a:path>
                <a:path w="878204" h="993139">
                  <a:moveTo>
                    <a:pt x="36720" y="214621"/>
                  </a:moveTo>
                  <a:lnTo>
                    <a:pt x="0" y="214621"/>
                  </a:lnTo>
                </a:path>
                <a:path w="878204" h="993139">
                  <a:moveTo>
                    <a:pt x="36720" y="35711"/>
                  </a:moveTo>
                  <a:lnTo>
                    <a:pt x="0" y="35711"/>
                  </a:lnTo>
                </a:path>
                <a:path w="878204" h="993139">
                  <a:moveTo>
                    <a:pt x="36720" y="964975"/>
                  </a:moveTo>
                  <a:lnTo>
                    <a:pt x="878140" y="964975"/>
                  </a:lnTo>
                  <a:lnTo>
                    <a:pt x="878140" y="0"/>
                  </a:lnTo>
                  <a:lnTo>
                    <a:pt x="36720" y="0"/>
                  </a:lnTo>
                  <a:lnTo>
                    <a:pt x="36720" y="964975"/>
                  </a:lnTo>
                </a:path>
              </a:pathLst>
            </a:custGeom>
            <a:ln w="50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3454275" y="2046536"/>
              <a:ext cx="372110" cy="894080"/>
            </a:xfrm>
            <a:custGeom>
              <a:avLst/>
              <a:gdLst/>
              <a:ahLst/>
              <a:cxnLst/>
              <a:rect l="l" t="t" r="r" b="b"/>
              <a:pathLst>
                <a:path w="372110" h="894080">
                  <a:moveTo>
                    <a:pt x="152978" y="893493"/>
                  </a:moveTo>
                  <a:lnTo>
                    <a:pt x="339360" y="893493"/>
                  </a:lnTo>
                </a:path>
                <a:path w="372110" h="894080">
                  <a:moveTo>
                    <a:pt x="27386" y="892613"/>
                  </a:moveTo>
                  <a:lnTo>
                    <a:pt x="213768" y="892613"/>
                  </a:lnTo>
                </a:path>
                <a:path w="372110" h="894080">
                  <a:moveTo>
                    <a:pt x="93268" y="891734"/>
                  </a:moveTo>
                  <a:lnTo>
                    <a:pt x="279573" y="891734"/>
                  </a:lnTo>
                </a:path>
                <a:path w="372110" h="894080">
                  <a:moveTo>
                    <a:pt x="103605" y="890854"/>
                  </a:moveTo>
                  <a:lnTo>
                    <a:pt x="289910" y="890854"/>
                  </a:lnTo>
                </a:path>
                <a:path w="372110" h="894080">
                  <a:moveTo>
                    <a:pt x="96353" y="889916"/>
                  </a:moveTo>
                  <a:lnTo>
                    <a:pt x="282735" y="889916"/>
                  </a:lnTo>
                </a:path>
                <a:path w="372110" h="894080">
                  <a:moveTo>
                    <a:pt x="133074" y="888157"/>
                  </a:moveTo>
                  <a:lnTo>
                    <a:pt x="319379" y="888157"/>
                  </a:lnTo>
                </a:path>
                <a:path w="372110" h="894080">
                  <a:moveTo>
                    <a:pt x="109931" y="887277"/>
                  </a:moveTo>
                  <a:lnTo>
                    <a:pt x="296313" y="887277"/>
                  </a:lnTo>
                </a:path>
                <a:path w="372110" h="894080">
                  <a:moveTo>
                    <a:pt x="121040" y="886339"/>
                  </a:moveTo>
                  <a:lnTo>
                    <a:pt x="307422" y="886339"/>
                  </a:lnTo>
                </a:path>
                <a:path w="372110" h="894080">
                  <a:moveTo>
                    <a:pt x="134617" y="885459"/>
                  </a:moveTo>
                  <a:lnTo>
                    <a:pt x="320922" y="885459"/>
                  </a:lnTo>
                </a:path>
                <a:path w="372110" h="894080">
                  <a:moveTo>
                    <a:pt x="119111" y="884580"/>
                  </a:moveTo>
                  <a:lnTo>
                    <a:pt x="305416" y="884580"/>
                  </a:lnTo>
                </a:path>
                <a:path w="372110" h="894080">
                  <a:moveTo>
                    <a:pt x="64261" y="883700"/>
                  </a:moveTo>
                  <a:lnTo>
                    <a:pt x="250643" y="883700"/>
                  </a:lnTo>
                </a:path>
                <a:path w="372110" h="894080">
                  <a:moveTo>
                    <a:pt x="92110" y="882762"/>
                  </a:moveTo>
                  <a:lnTo>
                    <a:pt x="278493" y="882762"/>
                  </a:lnTo>
                </a:path>
                <a:path w="372110" h="894080">
                  <a:moveTo>
                    <a:pt x="132303" y="881882"/>
                  </a:moveTo>
                  <a:lnTo>
                    <a:pt x="318608" y="881882"/>
                  </a:lnTo>
                </a:path>
                <a:path w="372110" h="894080">
                  <a:moveTo>
                    <a:pt x="182370" y="881003"/>
                  </a:moveTo>
                  <a:lnTo>
                    <a:pt x="368675" y="881003"/>
                  </a:lnTo>
                </a:path>
                <a:path w="372110" h="894080">
                  <a:moveTo>
                    <a:pt x="79459" y="880123"/>
                  </a:moveTo>
                  <a:lnTo>
                    <a:pt x="265764" y="880123"/>
                  </a:lnTo>
                </a:path>
                <a:path w="372110" h="894080">
                  <a:moveTo>
                    <a:pt x="85785" y="879185"/>
                  </a:moveTo>
                  <a:lnTo>
                    <a:pt x="272167" y="879185"/>
                  </a:lnTo>
                </a:path>
                <a:path w="372110" h="894080">
                  <a:moveTo>
                    <a:pt x="84550" y="878305"/>
                  </a:moveTo>
                  <a:lnTo>
                    <a:pt x="270932" y="878305"/>
                  </a:lnTo>
                </a:path>
                <a:path w="372110" h="894080">
                  <a:moveTo>
                    <a:pt x="37183" y="877425"/>
                  </a:moveTo>
                  <a:lnTo>
                    <a:pt x="223565" y="877425"/>
                  </a:lnTo>
                </a:path>
                <a:path w="372110" h="894080">
                  <a:moveTo>
                    <a:pt x="102448" y="876546"/>
                  </a:moveTo>
                  <a:lnTo>
                    <a:pt x="288830" y="876546"/>
                  </a:lnTo>
                </a:path>
                <a:path w="372110" h="894080">
                  <a:moveTo>
                    <a:pt x="69816" y="875608"/>
                  </a:moveTo>
                  <a:lnTo>
                    <a:pt x="256198" y="875608"/>
                  </a:lnTo>
                </a:path>
                <a:path w="372110" h="894080">
                  <a:moveTo>
                    <a:pt x="184221" y="874728"/>
                  </a:moveTo>
                  <a:lnTo>
                    <a:pt x="370604" y="874728"/>
                  </a:lnTo>
                </a:path>
                <a:path w="372110" h="894080">
                  <a:moveTo>
                    <a:pt x="123586" y="873848"/>
                  </a:moveTo>
                  <a:lnTo>
                    <a:pt x="309968" y="873848"/>
                  </a:lnTo>
                </a:path>
                <a:path w="372110" h="894080">
                  <a:moveTo>
                    <a:pt x="79613" y="871151"/>
                  </a:moveTo>
                  <a:lnTo>
                    <a:pt x="265995" y="871151"/>
                  </a:lnTo>
                </a:path>
                <a:path w="372110" h="894080">
                  <a:moveTo>
                    <a:pt x="110240" y="870271"/>
                  </a:moveTo>
                  <a:lnTo>
                    <a:pt x="296622" y="870271"/>
                  </a:lnTo>
                </a:path>
                <a:path w="372110" h="894080">
                  <a:moveTo>
                    <a:pt x="104762" y="869392"/>
                  </a:moveTo>
                  <a:lnTo>
                    <a:pt x="291144" y="869392"/>
                  </a:lnTo>
                </a:path>
                <a:path w="372110" h="894080">
                  <a:moveTo>
                    <a:pt x="81233" y="868454"/>
                  </a:moveTo>
                  <a:lnTo>
                    <a:pt x="267538" y="868454"/>
                  </a:lnTo>
                </a:path>
                <a:path w="372110" h="894080">
                  <a:moveTo>
                    <a:pt x="143566" y="867574"/>
                  </a:moveTo>
                  <a:lnTo>
                    <a:pt x="329948" y="867574"/>
                  </a:lnTo>
                </a:path>
                <a:path w="372110" h="894080">
                  <a:moveTo>
                    <a:pt x="52998" y="866694"/>
                  </a:moveTo>
                  <a:lnTo>
                    <a:pt x="239380" y="866694"/>
                  </a:lnTo>
                </a:path>
                <a:path w="372110" h="894080">
                  <a:moveTo>
                    <a:pt x="108774" y="865815"/>
                  </a:moveTo>
                  <a:lnTo>
                    <a:pt x="295156" y="865815"/>
                  </a:lnTo>
                </a:path>
                <a:path w="372110" h="894080">
                  <a:moveTo>
                    <a:pt x="70896" y="864877"/>
                  </a:moveTo>
                  <a:lnTo>
                    <a:pt x="257201" y="864877"/>
                  </a:lnTo>
                </a:path>
                <a:path w="372110" h="894080">
                  <a:moveTo>
                    <a:pt x="64493" y="863997"/>
                  </a:moveTo>
                  <a:lnTo>
                    <a:pt x="250798" y="863997"/>
                  </a:lnTo>
                </a:path>
                <a:path w="372110" h="894080">
                  <a:moveTo>
                    <a:pt x="94116" y="863117"/>
                  </a:moveTo>
                  <a:lnTo>
                    <a:pt x="280498" y="863117"/>
                  </a:lnTo>
                </a:path>
                <a:path w="372110" h="894080">
                  <a:moveTo>
                    <a:pt x="34483" y="862238"/>
                  </a:moveTo>
                  <a:lnTo>
                    <a:pt x="220865" y="862238"/>
                  </a:lnTo>
                </a:path>
                <a:path w="372110" h="894080">
                  <a:moveTo>
                    <a:pt x="91493" y="861300"/>
                  </a:moveTo>
                  <a:lnTo>
                    <a:pt x="277875" y="861300"/>
                  </a:lnTo>
                </a:path>
                <a:path w="372110" h="894080">
                  <a:moveTo>
                    <a:pt x="124434" y="860420"/>
                  </a:moveTo>
                  <a:lnTo>
                    <a:pt x="310816" y="860420"/>
                  </a:lnTo>
                </a:path>
                <a:path w="372110" h="894080">
                  <a:moveTo>
                    <a:pt x="87945" y="859540"/>
                  </a:moveTo>
                  <a:lnTo>
                    <a:pt x="274327" y="859540"/>
                  </a:lnTo>
                </a:path>
                <a:path w="372110" h="894080">
                  <a:moveTo>
                    <a:pt x="58784" y="858661"/>
                  </a:moveTo>
                  <a:lnTo>
                    <a:pt x="245166" y="858661"/>
                  </a:lnTo>
                </a:path>
                <a:path w="372110" h="894080">
                  <a:moveTo>
                    <a:pt x="72670" y="857723"/>
                  </a:moveTo>
                  <a:lnTo>
                    <a:pt x="258975" y="857723"/>
                  </a:lnTo>
                </a:path>
                <a:path w="372110" h="894080">
                  <a:moveTo>
                    <a:pt x="84396" y="856843"/>
                  </a:moveTo>
                  <a:lnTo>
                    <a:pt x="270701" y="856843"/>
                  </a:lnTo>
                </a:path>
                <a:path w="372110" h="894080">
                  <a:moveTo>
                    <a:pt x="59247" y="855963"/>
                  </a:moveTo>
                  <a:lnTo>
                    <a:pt x="245552" y="855963"/>
                  </a:lnTo>
                </a:path>
                <a:path w="372110" h="894080">
                  <a:moveTo>
                    <a:pt x="130220" y="855084"/>
                  </a:moveTo>
                  <a:lnTo>
                    <a:pt x="316602" y="855084"/>
                  </a:lnTo>
                </a:path>
                <a:path w="372110" h="894080">
                  <a:moveTo>
                    <a:pt x="88948" y="854146"/>
                  </a:moveTo>
                  <a:lnTo>
                    <a:pt x="275330" y="854146"/>
                  </a:lnTo>
                </a:path>
                <a:path w="372110" h="894080">
                  <a:moveTo>
                    <a:pt x="137086" y="853266"/>
                  </a:moveTo>
                  <a:lnTo>
                    <a:pt x="323468" y="853266"/>
                  </a:lnTo>
                </a:path>
                <a:path w="372110" h="894080">
                  <a:moveTo>
                    <a:pt x="45746" y="852386"/>
                  </a:moveTo>
                  <a:lnTo>
                    <a:pt x="232128" y="852386"/>
                  </a:lnTo>
                </a:path>
                <a:path w="372110" h="894080">
                  <a:moveTo>
                    <a:pt x="136160" y="851507"/>
                  </a:moveTo>
                  <a:lnTo>
                    <a:pt x="322542" y="851507"/>
                  </a:lnTo>
                </a:path>
                <a:path w="372110" h="894080">
                  <a:moveTo>
                    <a:pt x="130914" y="850568"/>
                  </a:moveTo>
                  <a:lnTo>
                    <a:pt x="317296" y="850568"/>
                  </a:lnTo>
                </a:path>
                <a:path w="372110" h="894080">
                  <a:moveTo>
                    <a:pt x="74521" y="849689"/>
                  </a:moveTo>
                  <a:lnTo>
                    <a:pt x="260903" y="849689"/>
                  </a:lnTo>
                </a:path>
                <a:path w="372110" h="894080">
                  <a:moveTo>
                    <a:pt x="47289" y="848809"/>
                  </a:moveTo>
                  <a:lnTo>
                    <a:pt x="233671" y="848809"/>
                  </a:lnTo>
                </a:path>
                <a:path w="372110" h="894080">
                  <a:moveTo>
                    <a:pt x="176893" y="847930"/>
                  </a:moveTo>
                  <a:lnTo>
                    <a:pt x="363275" y="847930"/>
                  </a:lnTo>
                </a:path>
                <a:path w="372110" h="894080">
                  <a:moveTo>
                    <a:pt x="135929" y="846991"/>
                  </a:moveTo>
                  <a:lnTo>
                    <a:pt x="322311" y="846991"/>
                  </a:lnTo>
                </a:path>
                <a:path w="372110" h="894080">
                  <a:moveTo>
                    <a:pt x="105302" y="846112"/>
                  </a:moveTo>
                  <a:lnTo>
                    <a:pt x="291607" y="846112"/>
                  </a:lnTo>
                </a:path>
                <a:path w="372110" h="894080">
                  <a:moveTo>
                    <a:pt x="61870" y="845232"/>
                  </a:moveTo>
                  <a:lnTo>
                    <a:pt x="248175" y="845232"/>
                  </a:lnTo>
                </a:path>
                <a:path w="372110" h="894080">
                  <a:moveTo>
                    <a:pt x="108542" y="844353"/>
                  </a:moveTo>
                  <a:lnTo>
                    <a:pt x="294924" y="844353"/>
                  </a:lnTo>
                </a:path>
                <a:path w="372110" h="894080">
                  <a:moveTo>
                    <a:pt x="69738" y="843414"/>
                  </a:moveTo>
                  <a:lnTo>
                    <a:pt x="256120" y="843414"/>
                  </a:lnTo>
                </a:path>
                <a:path w="372110" h="894080">
                  <a:moveTo>
                    <a:pt x="25766" y="842535"/>
                  </a:moveTo>
                  <a:lnTo>
                    <a:pt x="212148" y="842535"/>
                  </a:lnTo>
                </a:path>
                <a:path w="372110" h="894080">
                  <a:moveTo>
                    <a:pt x="142872" y="841655"/>
                  </a:moveTo>
                  <a:lnTo>
                    <a:pt x="329254" y="841655"/>
                  </a:lnTo>
                </a:path>
                <a:path w="372110" h="894080">
                  <a:moveTo>
                    <a:pt x="31475" y="840776"/>
                  </a:moveTo>
                  <a:lnTo>
                    <a:pt x="217857" y="840776"/>
                  </a:lnTo>
                </a:path>
                <a:path w="372110" h="894080">
                  <a:moveTo>
                    <a:pt x="97973" y="839837"/>
                  </a:moveTo>
                  <a:lnTo>
                    <a:pt x="284356" y="839837"/>
                  </a:lnTo>
                </a:path>
                <a:path w="372110" h="894080">
                  <a:moveTo>
                    <a:pt x="141637" y="838958"/>
                  </a:moveTo>
                  <a:lnTo>
                    <a:pt x="328020" y="838958"/>
                  </a:lnTo>
                </a:path>
                <a:path w="372110" h="894080">
                  <a:moveTo>
                    <a:pt x="40346" y="838078"/>
                  </a:moveTo>
                  <a:lnTo>
                    <a:pt x="226728" y="838078"/>
                  </a:lnTo>
                </a:path>
                <a:path w="372110" h="894080">
                  <a:moveTo>
                    <a:pt x="73673" y="837199"/>
                  </a:moveTo>
                  <a:lnTo>
                    <a:pt x="260055" y="837199"/>
                  </a:lnTo>
                </a:path>
                <a:path w="372110" h="894080">
                  <a:moveTo>
                    <a:pt x="87868" y="836260"/>
                  </a:moveTo>
                  <a:lnTo>
                    <a:pt x="274250" y="836260"/>
                  </a:lnTo>
                </a:path>
                <a:path w="372110" h="894080">
                  <a:moveTo>
                    <a:pt x="38803" y="835381"/>
                  </a:moveTo>
                  <a:lnTo>
                    <a:pt x="225185" y="835381"/>
                  </a:lnTo>
                </a:path>
                <a:path w="372110" h="894080">
                  <a:moveTo>
                    <a:pt x="117800" y="834501"/>
                  </a:moveTo>
                  <a:lnTo>
                    <a:pt x="304105" y="834501"/>
                  </a:lnTo>
                </a:path>
                <a:path w="372110" h="894080">
                  <a:moveTo>
                    <a:pt x="153981" y="833622"/>
                  </a:moveTo>
                  <a:lnTo>
                    <a:pt x="340363" y="833622"/>
                  </a:lnTo>
                </a:path>
                <a:path w="372110" h="894080">
                  <a:moveTo>
                    <a:pt x="169718" y="832683"/>
                  </a:moveTo>
                  <a:lnTo>
                    <a:pt x="356100" y="832683"/>
                  </a:lnTo>
                </a:path>
                <a:path w="372110" h="894080">
                  <a:moveTo>
                    <a:pt x="112091" y="831804"/>
                  </a:moveTo>
                  <a:lnTo>
                    <a:pt x="298473" y="831804"/>
                  </a:lnTo>
                </a:path>
                <a:path w="372110" h="894080">
                  <a:moveTo>
                    <a:pt x="150818" y="830924"/>
                  </a:moveTo>
                  <a:lnTo>
                    <a:pt x="337123" y="830924"/>
                  </a:lnTo>
                </a:path>
                <a:path w="372110" h="894080">
                  <a:moveTo>
                    <a:pt x="148658" y="830045"/>
                  </a:moveTo>
                  <a:lnTo>
                    <a:pt x="335040" y="830045"/>
                  </a:lnTo>
                </a:path>
                <a:path w="372110" h="894080">
                  <a:moveTo>
                    <a:pt x="38572" y="829106"/>
                  </a:moveTo>
                  <a:lnTo>
                    <a:pt x="224954" y="829106"/>
                  </a:lnTo>
                </a:path>
                <a:path w="372110" h="894080">
                  <a:moveTo>
                    <a:pt x="161078" y="828227"/>
                  </a:moveTo>
                  <a:lnTo>
                    <a:pt x="347383" y="828227"/>
                  </a:lnTo>
                </a:path>
                <a:path w="372110" h="894080">
                  <a:moveTo>
                    <a:pt x="62487" y="827347"/>
                  </a:moveTo>
                  <a:lnTo>
                    <a:pt x="248869" y="827347"/>
                  </a:lnTo>
                </a:path>
                <a:path w="372110" h="894080">
                  <a:moveTo>
                    <a:pt x="104377" y="826468"/>
                  </a:moveTo>
                  <a:lnTo>
                    <a:pt x="290759" y="826468"/>
                  </a:lnTo>
                </a:path>
                <a:path w="372110" h="894080">
                  <a:moveTo>
                    <a:pt x="74444" y="825529"/>
                  </a:moveTo>
                  <a:lnTo>
                    <a:pt x="260826" y="825529"/>
                  </a:lnTo>
                </a:path>
                <a:path w="372110" h="894080">
                  <a:moveTo>
                    <a:pt x="62333" y="824650"/>
                  </a:moveTo>
                  <a:lnTo>
                    <a:pt x="248715" y="824650"/>
                  </a:lnTo>
                </a:path>
                <a:path w="372110" h="894080">
                  <a:moveTo>
                    <a:pt x="133383" y="823770"/>
                  </a:moveTo>
                  <a:lnTo>
                    <a:pt x="319765" y="823770"/>
                  </a:lnTo>
                </a:path>
                <a:path w="372110" h="894080">
                  <a:moveTo>
                    <a:pt x="158069" y="822891"/>
                  </a:moveTo>
                  <a:lnTo>
                    <a:pt x="344451" y="822891"/>
                  </a:lnTo>
                </a:path>
                <a:path w="372110" h="894080">
                  <a:moveTo>
                    <a:pt x="72207" y="821952"/>
                  </a:moveTo>
                  <a:lnTo>
                    <a:pt x="258589" y="821952"/>
                  </a:lnTo>
                </a:path>
                <a:path w="372110" h="894080">
                  <a:moveTo>
                    <a:pt x="83625" y="821073"/>
                  </a:moveTo>
                  <a:lnTo>
                    <a:pt x="270007" y="821073"/>
                  </a:lnTo>
                </a:path>
                <a:path w="372110" h="894080">
                  <a:moveTo>
                    <a:pt x="75987" y="820193"/>
                  </a:moveTo>
                  <a:lnTo>
                    <a:pt x="262369" y="820193"/>
                  </a:lnTo>
                </a:path>
                <a:path w="372110" h="894080">
                  <a:moveTo>
                    <a:pt x="148195" y="819314"/>
                  </a:moveTo>
                  <a:lnTo>
                    <a:pt x="334577" y="819314"/>
                  </a:lnTo>
                </a:path>
                <a:path w="372110" h="894080">
                  <a:moveTo>
                    <a:pt x="63567" y="818375"/>
                  </a:moveTo>
                  <a:lnTo>
                    <a:pt x="249949" y="818375"/>
                  </a:lnTo>
                </a:path>
                <a:path w="372110" h="894080">
                  <a:moveTo>
                    <a:pt x="57935" y="817496"/>
                  </a:moveTo>
                  <a:lnTo>
                    <a:pt x="244317" y="817496"/>
                  </a:lnTo>
                </a:path>
                <a:path w="372110" h="894080">
                  <a:moveTo>
                    <a:pt x="156449" y="816616"/>
                  </a:moveTo>
                  <a:lnTo>
                    <a:pt x="342831" y="816616"/>
                  </a:lnTo>
                </a:path>
                <a:path w="372110" h="894080">
                  <a:moveTo>
                    <a:pt x="127520" y="815678"/>
                  </a:moveTo>
                  <a:lnTo>
                    <a:pt x="313902" y="815678"/>
                  </a:lnTo>
                </a:path>
                <a:path w="372110" h="894080">
                  <a:moveTo>
                    <a:pt x="100134" y="814798"/>
                  </a:moveTo>
                  <a:lnTo>
                    <a:pt x="286516" y="814798"/>
                  </a:lnTo>
                </a:path>
                <a:path w="372110" h="894080">
                  <a:moveTo>
                    <a:pt x="74753" y="813919"/>
                  </a:moveTo>
                  <a:lnTo>
                    <a:pt x="261135" y="813919"/>
                  </a:lnTo>
                </a:path>
                <a:path w="372110" h="894080">
                  <a:moveTo>
                    <a:pt x="18591" y="813039"/>
                  </a:moveTo>
                  <a:lnTo>
                    <a:pt x="204973" y="813039"/>
                  </a:lnTo>
                </a:path>
                <a:path w="372110" h="894080">
                  <a:moveTo>
                    <a:pt x="111242" y="812101"/>
                  </a:moveTo>
                  <a:lnTo>
                    <a:pt x="297547" y="812101"/>
                  </a:lnTo>
                </a:path>
                <a:path w="372110" h="894080">
                  <a:moveTo>
                    <a:pt x="2622" y="811221"/>
                  </a:moveTo>
                  <a:lnTo>
                    <a:pt x="189004" y="811221"/>
                  </a:lnTo>
                </a:path>
                <a:path w="372110" h="894080">
                  <a:moveTo>
                    <a:pt x="116103" y="810342"/>
                  </a:moveTo>
                  <a:lnTo>
                    <a:pt x="302485" y="810342"/>
                  </a:lnTo>
                </a:path>
                <a:path w="372110" h="894080">
                  <a:moveTo>
                    <a:pt x="101368" y="809462"/>
                  </a:moveTo>
                  <a:lnTo>
                    <a:pt x="287750" y="809462"/>
                  </a:lnTo>
                </a:path>
                <a:path w="372110" h="894080">
                  <a:moveTo>
                    <a:pt x="119111" y="808524"/>
                  </a:moveTo>
                  <a:lnTo>
                    <a:pt x="305493" y="808524"/>
                  </a:lnTo>
                </a:path>
                <a:path w="372110" h="894080">
                  <a:moveTo>
                    <a:pt x="21986" y="807644"/>
                  </a:moveTo>
                  <a:lnTo>
                    <a:pt x="208368" y="807644"/>
                  </a:lnTo>
                </a:path>
                <a:path w="372110" h="894080">
                  <a:moveTo>
                    <a:pt x="129603" y="806765"/>
                  </a:moveTo>
                  <a:lnTo>
                    <a:pt x="315985" y="806765"/>
                  </a:lnTo>
                </a:path>
                <a:path w="372110" h="894080">
                  <a:moveTo>
                    <a:pt x="142795" y="805885"/>
                  </a:moveTo>
                  <a:lnTo>
                    <a:pt x="329177" y="805885"/>
                  </a:lnTo>
                </a:path>
                <a:path w="372110" h="894080">
                  <a:moveTo>
                    <a:pt x="106768" y="804067"/>
                  </a:moveTo>
                  <a:lnTo>
                    <a:pt x="293150" y="804067"/>
                  </a:lnTo>
                </a:path>
                <a:path w="372110" h="894080">
                  <a:moveTo>
                    <a:pt x="145340" y="803188"/>
                  </a:moveTo>
                  <a:lnTo>
                    <a:pt x="331722" y="803188"/>
                  </a:lnTo>
                </a:path>
                <a:path w="372110" h="894080">
                  <a:moveTo>
                    <a:pt x="47906" y="802308"/>
                  </a:moveTo>
                  <a:lnTo>
                    <a:pt x="234288" y="802308"/>
                  </a:lnTo>
                </a:path>
                <a:path w="372110" h="894080">
                  <a:moveTo>
                    <a:pt x="81002" y="801370"/>
                  </a:moveTo>
                  <a:lnTo>
                    <a:pt x="267384" y="801370"/>
                  </a:lnTo>
                </a:path>
                <a:path w="372110" h="894080">
                  <a:moveTo>
                    <a:pt x="134540" y="800490"/>
                  </a:moveTo>
                  <a:lnTo>
                    <a:pt x="320845" y="800490"/>
                  </a:lnTo>
                </a:path>
                <a:path w="372110" h="894080">
                  <a:moveTo>
                    <a:pt x="106691" y="799611"/>
                  </a:moveTo>
                  <a:lnTo>
                    <a:pt x="293073" y="799611"/>
                  </a:lnTo>
                </a:path>
                <a:path w="372110" h="894080">
                  <a:moveTo>
                    <a:pt x="91725" y="798731"/>
                  </a:moveTo>
                  <a:lnTo>
                    <a:pt x="278030" y="798731"/>
                  </a:lnTo>
                </a:path>
                <a:path w="372110" h="894080">
                  <a:moveTo>
                    <a:pt x="134617" y="797793"/>
                  </a:moveTo>
                  <a:lnTo>
                    <a:pt x="320999" y="797793"/>
                  </a:lnTo>
                </a:path>
                <a:path w="372110" h="894080">
                  <a:moveTo>
                    <a:pt x="64878" y="796913"/>
                  </a:moveTo>
                  <a:lnTo>
                    <a:pt x="251183" y="796913"/>
                  </a:lnTo>
                </a:path>
                <a:path w="372110" h="894080">
                  <a:moveTo>
                    <a:pt x="175350" y="796034"/>
                  </a:moveTo>
                  <a:lnTo>
                    <a:pt x="361732" y="796034"/>
                  </a:lnTo>
                </a:path>
                <a:path w="372110" h="894080">
                  <a:moveTo>
                    <a:pt x="129140" y="795154"/>
                  </a:moveTo>
                  <a:lnTo>
                    <a:pt x="315522" y="795154"/>
                  </a:lnTo>
                </a:path>
                <a:path w="372110" h="894080">
                  <a:moveTo>
                    <a:pt x="14271" y="794216"/>
                  </a:moveTo>
                  <a:lnTo>
                    <a:pt x="200653" y="794216"/>
                  </a:lnTo>
                </a:path>
                <a:path w="372110" h="894080">
                  <a:moveTo>
                    <a:pt x="90876" y="793336"/>
                  </a:moveTo>
                  <a:lnTo>
                    <a:pt x="277258" y="793336"/>
                  </a:lnTo>
                </a:path>
                <a:path w="372110" h="894080">
                  <a:moveTo>
                    <a:pt x="58552" y="792457"/>
                  </a:moveTo>
                  <a:lnTo>
                    <a:pt x="244857" y="792457"/>
                  </a:lnTo>
                </a:path>
                <a:path w="372110" h="894080">
                  <a:moveTo>
                    <a:pt x="113171" y="791577"/>
                  </a:moveTo>
                  <a:lnTo>
                    <a:pt x="299476" y="791577"/>
                  </a:lnTo>
                </a:path>
                <a:path w="372110" h="894080">
                  <a:moveTo>
                    <a:pt x="106382" y="790639"/>
                  </a:moveTo>
                  <a:lnTo>
                    <a:pt x="292687" y="790639"/>
                  </a:lnTo>
                </a:path>
                <a:path w="372110" h="894080">
                  <a:moveTo>
                    <a:pt x="60558" y="789759"/>
                  </a:moveTo>
                  <a:lnTo>
                    <a:pt x="246863" y="789759"/>
                  </a:lnTo>
                </a:path>
                <a:path w="372110" h="894080">
                  <a:moveTo>
                    <a:pt x="79536" y="788880"/>
                  </a:moveTo>
                  <a:lnTo>
                    <a:pt x="265918" y="788880"/>
                  </a:lnTo>
                </a:path>
                <a:path w="372110" h="894080">
                  <a:moveTo>
                    <a:pt x="81002" y="788000"/>
                  </a:moveTo>
                  <a:lnTo>
                    <a:pt x="267384" y="788000"/>
                  </a:lnTo>
                </a:path>
                <a:path w="372110" h="894080">
                  <a:moveTo>
                    <a:pt x="111860" y="787062"/>
                  </a:moveTo>
                  <a:lnTo>
                    <a:pt x="298242" y="787062"/>
                  </a:lnTo>
                </a:path>
                <a:path w="372110" h="894080">
                  <a:moveTo>
                    <a:pt x="60095" y="786182"/>
                  </a:moveTo>
                  <a:lnTo>
                    <a:pt x="246477" y="786182"/>
                  </a:lnTo>
                </a:path>
                <a:path w="372110" h="894080">
                  <a:moveTo>
                    <a:pt x="17357" y="785303"/>
                  </a:moveTo>
                  <a:lnTo>
                    <a:pt x="203662" y="785303"/>
                  </a:lnTo>
                </a:path>
                <a:path w="372110" h="894080">
                  <a:moveTo>
                    <a:pt x="92265" y="784423"/>
                  </a:moveTo>
                  <a:lnTo>
                    <a:pt x="278570" y="784423"/>
                  </a:lnTo>
                </a:path>
                <a:path w="372110" h="894080">
                  <a:moveTo>
                    <a:pt x="29932" y="783485"/>
                  </a:moveTo>
                  <a:lnTo>
                    <a:pt x="216314" y="783485"/>
                  </a:lnTo>
                </a:path>
                <a:path w="372110" h="894080">
                  <a:moveTo>
                    <a:pt x="157915" y="782605"/>
                  </a:moveTo>
                  <a:lnTo>
                    <a:pt x="344297" y="782605"/>
                  </a:lnTo>
                </a:path>
                <a:path w="372110" h="894080">
                  <a:moveTo>
                    <a:pt x="103219" y="781725"/>
                  </a:moveTo>
                  <a:lnTo>
                    <a:pt x="289601" y="781725"/>
                  </a:lnTo>
                </a:path>
                <a:path w="372110" h="894080">
                  <a:moveTo>
                    <a:pt x="29083" y="780846"/>
                  </a:moveTo>
                  <a:lnTo>
                    <a:pt x="215465" y="780846"/>
                  </a:lnTo>
                </a:path>
                <a:path w="372110" h="894080">
                  <a:moveTo>
                    <a:pt x="157761" y="779908"/>
                  </a:moveTo>
                  <a:lnTo>
                    <a:pt x="344143" y="779908"/>
                  </a:lnTo>
                </a:path>
                <a:path w="372110" h="894080">
                  <a:moveTo>
                    <a:pt x="99594" y="779028"/>
                  </a:moveTo>
                  <a:lnTo>
                    <a:pt x="285976" y="779028"/>
                  </a:lnTo>
                </a:path>
                <a:path w="372110" h="894080">
                  <a:moveTo>
                    <a:pt x="109931" y="778148"/>
                  </a:moveTo>
                  <a:lnTo>
                    <a:pt x="296313" y="778148"/>
                  </a:lnTo>
                </a:path>
                <a:path w="372110" h="894080">
                  <a:moveTo>
                    <a:pt x="82159" y="777269"/>
                  </a:moveTo>
                  <a:lnTo>
                    <a:pt x="268464" y="777269"/>
                  </a:lnTo>
                </a:path>
                <a:path w="372110" h="894080">
                  <a:moveTo>
                    <a:pt x="110085" y="776331"/>
                  </a:moveTo>
                  <a:lnTo>
                    <a:pt x="296467" y="776331"/>
                  </a:lnTo>
                </a:path>
                <a:path w="372110" h="894080">
                  <a:moveTo>
                    <a:pt x="185379" y="775451"/>
                  </a:moveTo>
                  <a:lnTo>
                    <a:pt x="371761" y="775451"/>
                  </a:lnTo>
                </a:path>
                <a:path w="372110" h="894080">
                  <a:moveTo>
                    <a:pt x="113171" y="774571"/>
                  </a:moveTo>
                  <a:lnTo>
                    <a:pt x="299553" y="774571"/>
                  </a:lnTo>
                </a:path>
                <a:path w="372110" h="894080">
                  <a:moveTo>
                    <a:pt x="109082" y="773692"/>
                  </a:moveTo>
                  <a:lnTo>
                    <a:pt x="295387" y="773692"/>
                  </a:lnTo>
                </a:path>
                <a:path w="372110" h="894080">
                  <a:moveTo>
                    <a:pt x="86556" y="772754"/>
                  </a:moveTo>
                  <a:lnTo>
                    <a:pt x="272861" y="772754"/>
                  </a:lnTo>
                </a:path>
                <a:path w="372110" h="894080">
                  <a:moveTo>
                    <a:pt x="73364" y="771874"/>
                  </a:moveTo>
                  <a:lnTo>
                    <a:pt x="259746" y="771874"/>
                  </a:lnTo>
                </a:path>
                <a:path w="372110" h="894080">
                  <a:moveTo>
                    <a:pt x="82776" y="770994"/>
                  </a:moveTo>
                  <a:lnTo>
                    <a:pt x="269158" y="770994"/>
                  </a:lnTo>
                </a:path>
                <a:path w="372110" h="894080">
                  <a:moveTo>
                    <a:pt x="112322" y="770115"/>
                  </a:moveTo>
                  <a:lnTo>
                    <a:pt x="298704" y="770115"/>
                  </a:lnTo>
                </a:path>
                <a:path w="372110" h="894080">
                  <a:moveTo>
                    <a:pt x="106999" y="769177"/>
                  </a:moveTo>
                  <a:lnTo>
                    <a:pt x="293381" y="769177"/>
                  </a:lnTo>
                </a:path>
                <a:path w="372110" h="894080">
                  <a:moveTo>
                    <a:pt x="141020" y="768297"/>
                  </a:moveTo>
                  <a:lnTo>
                    <a:pt x="327402" y="768297"/>
                  </a:lnTo>
                </a:path>
                <a:path w="372110" h="894080">
                  <a:moveTo>
                    <a:pt x="41503" y="767417"/>
                  </a:moveTo>
                  <a:lnTo>
                    <a:pt x="227885" y="767417"/>
                  </a:lnTo>
                </a:path>
                <a:path w="372110" h="894080">
                  <a:moveTo>
                    <a:pt x="68581" y="765600"/>
                  </a:moveTo>
                  <a:lnTo>
                    <a:pt x="254963" y="765600"/>
                  </a:lnTo>
                </a:path>
                <a:path w="372110" h="894080">
                  <a:moveTo>
                    <a:pt x="170567" y="764720"/>
                  </a:moveTo>
                  <a:lnTo>
                    <a:pt x="356949" y="764720"/>
                  </a:lnTo>
                </a:path>
                <a:path w="372110" h="894080">
                  <a:moveTo>
                    <a:pt x="129834" y="763840"/>
                  </a:moveTo>
                  <a:lnTo>
                    <a:pt x="316216" y="763840"/>
                  </a:lnTo>
                </a:path>
                <a:path w="372110" h="894080">
                  <a:moveTo>
                    <a:pt x="50992" y="762961"/>
                  </a:moveTo>
                  <a:lnTo>
                    <a:pt x="237297" y="762961"/>
                  </a:lnTo>
                </a:path>
                <a:path w="372110" h="894080">
                  <a:moveTo>
                    <a:pt x="84782" y="762023"/>
                  </a:moveTo>
                  <a:lnTo>
                    <a:pt x="271087" y="762023"/>
                  </a:lnTo>
                </a:path>
                <a:path w="372110" h="894080">
                  <a:moveTo>
                    <a:pt x="121348" y="761143"/>
                  </a:moveTo>
                  <a:lnTo>
                    <a:pt x="307653" y="761143"/>
                  </a:lnTo>
                </a:path>
                <a:path w="372110" h="894080">
                  <a:moveTo>
                    <a:pt x="116257" y="760263"/>
                  </a:moveTo>
                  <a:lnTo>
                    <a:pt x="302639" y="760263"/>
                  </a:lnTo>
                </a:path>
                <a:path w="372110" h="894080">
                  <a:moveTo>
                    <a:pt x="38263" y="759384"/>
                  </a:moveTo>
                  <a:lnTo>
                    <a:pt x="224645" y="759384"/>
                  </a:lnTo>
                </a:path>
                <a:path w="372110" h="894080">
                  <a:moveTo>
                    <a:pt x="112554" y="758446"/>
                  </a:moveTo>
                  <a:lnTo>
                    <a:pt x="298936" y="758446"/>
                  </a:lnTo>
                </a:path>
                <a:path w="372110" h="894080">
                  <a:moveTo>
                    <a:pt x="86633" y="756686"/>
                  </a:moveTo>
                  <a:lnTo>
                    <a:pt x="273015" y="756686"/>
                  </a:lnTo>
                </a:path>
                <a:path w="372110" h="894080">
                  <a:moveTo>
                    <a:pt x="86865" y="755807"/>
                  </a:moveTo>
                  <a:lnTo>
                    <a:pt x="273247" y="755807"/>
                  </a:lnTo>
                </a:path>
                <a:path w="372110" h="894080">
                  <a:moveTo>
                    <a:pt x="128677" y="754868"/>
                  </a:moveTo>
                  <a:lnTo>
                    <a:pt x="315059" y="754868"/>
                  </a:lnTo>
                </a:path>
                <a:path w="372110" h="894080">
                  <a:moveTo>
                    <a:pt x="133769" y="753989"/>
                  </a:moveTo>
                  <a:lnTo>
                    <a:pt x="320151" y="753989"/>
                  </a:lnTo>
                </a:path>
                <a:path w="372110" h="894080">
                  <a:moveTo>
                    <a:pt x="142640" y="753109"/>
                  </a:moveTo>
                  <a:lnTo>
                    <a:pt x="329022" y="753109"/>
                  </a:lnTo>
                </a:path>
                <a:path w="372110" h="894080">
                  <a:moveTo>
                    <a:pt x="180827" y="752230"/>
                  </a:moveTo>
                  <a:lnTo>
                    <a:pt x="367209" y="752230"/>
                  </a:lnTo>
                </a:path>
                <a:path w="372110" h="894080">
                  <a:moveTo>
                    <a:pt x="111474" y="751291"/>
                  </a:moveTo>
                  <a:lnTo>
                    <a:pt x="297856" y="751291"/>
                  </a:lnTo>
                </a:path>
                <a:path w="372110" h="894080">
                  <a:moveTo>
                    <a:pt x="80462" y="750412"/>
                  </a:moveTo>
                  <a:lnTo>
                    <a:pt x="266844" y="750412"/>
                  </a:lnTo>
                </a:path>
                <a:path w="372110" h="894080">
                  <a:moveTo>
                    <a:pt x="95428" y="749532"/>
                  </a:moveTo>
                  <a:lnTo>
                    <a:pt x="281810" y="749532"/>
                  </a:lnTo>
                </a:path>
                <a:path w="372110" h="894080">
                  <a:moveTo>
                    <a:pt x="95273" y="748653"/>
                  </a:moveTo>
                  <a:lnTo>
                    <a:pt x="281655" y="748653"/>
                  </a:lnTo>
                </a:path>
                <a:path w="372110" h="894080">
                  <a:moveTo>
                    <a:pt x="119034" y="747714"/>
                  </a:moveTo>
                  <a:lnTo>
                    <a:pt x="305416" y="747714"/>
                  </a:lnTo>
                </a:path>
                <a:path w="372110" h="894080">
                  <a:moveTo>
                    <a:pt x="117105" y="746835"/>
                  </a:moveTo>
                  <a:lnTo>
                    <a:pt x="303487" y="746835"/>
                  </a:lnTo>
                </a:path>
                <a:path w="372110" h="894080">
                  <a:moveTo>
                    <a:pt x="132226" y="745955"/>
                  </a:moveTo>
                  <a:lnTo>
                    <a:pt x="318608" y="745955"/>
                  </a:lnTo>
                </a:path>
                <a:path w="372110" h="894080">
                  <a:moveTo>
                    <a:pt x="40115" y="745076"/>
                  </a:moveTo>
                  <a:lnTo>
                    <a:pt x="226497" y="745076"/>
                  </a:lnTo>
                </a:path>
                <a:path w="372110" h="894080">
                  <a:moveTo>
                    <a:pt x="145186" y="744137"/>
                  </a:moveTo>
                  <a:lnTo>
                    <a:pt x="331491" y="744137"/>
                  </a:lnTo>
                </a:path>
                <a:path w="372110" h="894080">
                  <a:moveTo>
                    <a:pt x="46826" y="743258"/>
                  </a:moveTo>
                  <a:lnTo>
                    <a:pt x="233131" y="743258"/>
                  </a:lnTo>
                </a:path>
                <a:path w="372110" h="894080">
                  <a:moveTo>
                    <a:pt x="115640" y="742378"/>
                  </a:moveTo>
                  <a:lnTo>
                    <a:pt x="301945" y="742378"/>
                  </a:lnTo>
                </a:path>
                <a:path w="372110" h="894080">
                  <a:moveTo>
                    <a:pt x="52304" y="741499"/>
                  </a:moveTo>
                  <a:lnTo>
                    <a:pt x="238686" y="741499"/>
                  </a:lnTo>
                </a:path>
                <a:path w="372110" h="894080">
                  <a:moveTo>
                    <a:pt x="102911" y="740560"/>
                  </a:moveTo>
                  <a:lnTo>
                    <a:pt x="289293" y="740560"/>
                  </a:lnTo>
                </a:path>
                <a:path w="372110" h="894080">
                  <a:moveTo>
                    <a:pt x="112322" y="739681"/>
                  </a:moveTo>
                  <a:lnTo>
                    <a:pt x="298704" y="739681"/>
                  </a:lnTo>
                </a:path>
                <a:path w="372110" h="894080">
                  <a:moveTo>
                    <a:pt x="21986" y="738801"/>
                  </a:moveTo>
                  <a:lnTo>
                    <a:pt x="208368" y="738801"/>
                  </a:lnTo>
                </a:path>
                <a:path w="372110" h="894080">
                  <a:moveTo>
                    <a:pt x="124743" y="737922"/>
                  </a:moveTo>
                  <a:lnTo>
                    <a:pt x="311048" y="737922"/>
                  </a:lnTo>
                </a:path>
                <a:path w="372110" h="894080">
                  <a:moveTo>
                    <a:pt x="131840" y="736983"/>
                  </a:moveTo>
                  <a:lnTo>
                    <a:pt x="318145" y="736983"/>
                  </a:lnTo>
                </a:path>
                <a:path w="372110" h="894080">
                  <a:moveTo>
                    <a:pt x="49758" y="736104"/>
                  </a:moveTo>
                  <a:lnTo>
                    <a:pt x="236140" y="736104"/>
                  </a:lnTo>
                </a:path>
                <a:path w="372110" h="894080">
                  <a:moveTo>
                    <a:pt x="21291" y="735224"/>
                  </a:moveTo>
                  <a:lnTo>
                    <a:pt x="207674" y="735224"/>
                  </a:lnTo>
                </a:path>
                <a:path w="372110" h="894080">
                  <a:moveTo>
                    <a:pt x="50298" y="734345"/>
                  </a:moveTo>
                  <a:lnTo>
                    <a:pt x="236680" y="734345"/>
                  </a:lnTo>
                </a:path>
                <a:path w="372110" h="894080">
                  <a:moveTo>
                    <a:pt x="165321" y="733406"/>
                  </a:moveTo>
                  <a:lnTo>
                    <a:pt x="351703" y="733406"/>
                  </a:lnTo>
                </a:path>
                <a:path w="372110" h="894080">
                  <a:moveTo>
                    <a:pt x="156989" y="732527"/>
                  </a:moveTo>
                  <a:lnTo>
                    <a:pt x="343294" y="732527"/>
                  </a:lnTo>
                </a:path>
                <a:path w="372110" h="894080">
                  <a:moveTo>
                    <a:pt x="168947" y="731647"/>
                  </a:moveTo>
                  <a:lnTo>
                    <a:pt x="355329" y="731647"/>
                  </a:lnTo>
                </a:path>
                <a:path w="372110" h="894080">
                  <a:moveTo>
                    <a:pt x="170335" y="730709"/>
                  </a:moveTo>
                  <a:lnTo>
                    <a:pt x="356640" y="730709"/>
                  </a:lnTo>
                </a:path>
                <a:path w="372110" h="894080">
                  <a:moveTo>
                    <a:pt x="67116" y="729829"/>
                  </a:moveTo>
                  <a:lnTo>
                    <a:pt x="253498" y="729829"/>
                  </a:lnTo>
                </a:path>
                <a:path w="372110" h="894080">
                  <a:moveTo>
                    <a:pt x="76913" y="728950"/>
                  </a:moveTo>
                  <a:lnTo>
                    <a:pt x="263295" y="728950"/>
                  </a:lnTo>
                </a:path>
                <a:path w="372110" h="894080">
                  <a:moveTo>
                    <a:pt x="118571" y="728070"/>
                  </a:moveTo>
                  <a:lnTo>
                    <a:pt x="304953" y="728070"/>
                  </a:lnTo>
                </a:path>
                <a:path w="372110" h="894080">
                  <a:moveTo>
                    <a:pt x="55621" y="727132"/>
                  </a:moveTo>
                  <a:lnTo>
                    <a:pt x="242003" y="727132"/>
                  </a:lnTo>
                </a:path>
                <a:path w="372110" h="894080">
                  <a:moveTo>
                    <a:pt x="75061" y="726252"/>
                  </a:moveTo>
                  <a:lnTo>
                    <a:pt x="261443" y="726252"/>
                  </a:lnTo>
                </a:path>
                <a:path w="372110" h="894080">
                  <a:moveTo>
                    <a:pt x="172650" y="725373"/>
                  </a:moveTo>
                  <a:lnTo>
                    <a:pt x="359032" y="725373"/>
                  </a:lnTo>
                </a:path>
                <a:path w="372110" h="894080">
                  <a:moveTo>
                    <a:pt x="63104" y="724493"/>
                  </a:moveTo>
                  <a:lnTo>
                    <a:pt x="249409" y="724493"/>
                  </a:lnTo>
                </a:path>
                <a:path w="372110" h="894080">
                  <a:moveTo>
                    <a:pt x="171724" y="723555"/>
                  </a:moveTo>
                  <a:lnTo>
                    <a:pt x="358106" y="723555"/>
                  </a:lnTo>
                </a:path>
                <a:path w="372110" h="894080">
                  <a:moveTo>
                    <a:pt x="27695" y="722675"/>
                  </a:moveTo>
                  <a:lnTo>
                    <a:pt x="214077" y="722675"/>
                  </a:lnTo>
                </a:path>
                <a:path w="372110" h="894080">
                  <a:moveTo>
                    <a:pt x="22140" y="721796"/>
                  </a:moveTo>
                  <a:lnTo>
                    <a:pt x="208445" y="721796"/>
                  </a:lnTo>
                </a:path>
                <a:path w="372110" h="894080">
                  <a:moveTo>
                    <a:pt x="145109" y="720916"/>
                  </a:moveTo>
                  <a:lnTo>
                    <a:pt x="331414" y="720916"/>
                  </a:lnTo>
                </a:path>
                <a:path w="372110" h="894080">
                  <a:moveTo>
                    <a:pt x="72516" y="719978"/>
                  </a:moveTo>
                  <a:lnTo>
                    <a:pt x="258898" y="719978"/>
                  </a:lnTo>
                </a:path>
                <a:path w="372110" h="894080">
                  <a:moveTo>
                    <a:pt x="64878" y="719098"/>
                  </a:moveTo>
                  <a:lnTo>
                    <a:pt x="251260" y="719098"/>
                  </a:lnTo>
                </a:path>
                <a:path w="372110" h="894080">
                  <a:moveTo>
                    <a:pt x="151049" y="718219"/>
                  </a:moveTo>
                  <a:lnTo>
                    <a:pt x="337431" y="718219"/>
                  </a:lnTo>
                </a:path>
                <a:path w="372110" h="894080">
                  <a:moveTo>
                    <a:pt x="99285" y="717339"/>
                  </a:moveTo>
                  <a:lnTo>
                    <a:pt x="285590" y="717339"/>
                  </a:lnTo>
                </a:path>
                <a:path w="372110" h="894080">
                  <a:moveTo>
                    <a:pt x="123894" y="716401"/>
                  </a:moveTo>
                  <a:lnTo>
                    <a:pt x="310199" y="716401"/>
                  </a:lnTo>
                </a:path>
                <a:path w="372110" h="894080">
                  <a:moveTo>
                    <a:pt x="128137" y="715521"/>
                  </a:moveTo>
                  <a:lnTo>
                    <a:pt x="314442" y="715521"/>
                  </a:lnTo>
                </a:path>
                <a:path w="372110" h="894080">
                  <a:moveTo>
                    <a:pt x="103837" y="714642"/>
                  </a:moveTo>
                  <a:lnTo>
                    <a:pt x="290219" y="714642"/>
                  </a:lnTo>
                </a:path>
                <a:path w="372110" h="894080">
                  <a:moveTo>
                    <a:pt x="72207" y="712824"/>
                  </a:moveTo>
                  <a:lnTo>
                    <a:pt x="258512" y="712824"/>
                  </a:lnTo>
                </a:path>
                <a:path w="372110" h="894080">
                  <a:moveTo>
                    <a:pt x="129680" y="711944"/>
                  </a:moveTo>
                  <a:lnTo>
                    <a:pt x="316062" y="711944"/>
                  </a:lnTo>
                </a:path>
                <a:path w="372110" h="894080">
                  <a:moveTo>
                    <a:pt x="112477" y="711065"/>
                  </a:moveTo>
                  <a:lnTo>
                    <a:pt x="298859" y="711065"/>
                  </a:lnTo>
                </a:path>
                <a:path w="372110" h="894080">
                  <a:moveTo>
                    <a:pt x="108157" y="710185"/>
                  </a:moveTo>
                  <a:lnTo>
                    <a:pt x="294539" y="710185"/>
                  </a:lnTo>
                </a:path>
                <a:path w="372110" h="894080">
                  <a:moveTo>
                    <a:pt x="78070" y="709247"/>
                  </a:moveTo>
                  <a:lnTo>
                    <a:pt x="264452" y="709247"/>
                  </a:lnTo>
                </a:path>
                <a:path w="372110" h="894080">
                  <a:moveTo>
                    <a:pt x="130143" y="708367"/>
                  </a:moveTo>
                  <a:lnTo>
                    <a:pt x="316525" y="708367"/>
                  </a:lnTo>
                </a:path>
                <a:path w="372110" h="894080">
                  <a:moveTo>
                    <a:pt x="141252" y="707488"/>
                  </a:moveTo>
                  <a:lnTo>
                    <a:pt x="327557" y="707488"/>
                  </a:lnTo>
                </a:path>
                <a:path w="372110" h="894080">
                  <a:moveTo>
                    <a:pt x="46826" y="706608"/>
                  </a:moveTo>
                  <a:lnTo>
                    <a:pt x="233208" y="706608"/>
                  </a:lnTo>
                </a:path>
                <a:path w="372110" h="894080">
                  <a:moveTo>
                    <a:pt x="139940" y="705670"/>
                  </a:moveTo>
                  <a:lnTo>
                    <a:pt x="326322" y="705670"/>
                  </a:lnTo>
                </a:path>
                <a:path w="372110" h="894080">
                  <a:moveTo>
                    <a:pt x="139246" y="704790"/>
                  </a:moveTo>
                  <a:lnTo>
                    <a:pt x="325628" y="704790"/>
                  </a:lnTo>
                </a:path>
                <a:path w="372110" h="894080">
                  <a:moveTo>
                    <a:pt x="103528" y="703911"/>
                  </a:moveTo>
                  <a:lnTo>
                    <a:pt x="289910" y="703911"/>
                  </a:lnTo>
                </a:path>
                <a:path w="372110" h="894080">
                  <a:moveTo>
                    <a:pt x="173190" y="703031"/>
                  </a:moveTo>
                  <a:lnTo>
                    <a:pt x="359572" y="703031"/>
                  </a:lnTo>
                </a:path>
                <a:path w="372110" h="894080">
                  <a:moveTo>
                    <a:pt x="74676" y="702093"/>
                  </a:moveTo>
                  <a:lnTo>
                    <a:pt x="261058" y="702093"/>
                  </a:lnTo>
                </a:path>
                <a:path w="372110" h="894080">
                  <a:moveTo>
                    <a:pt x="153286" y="701213"/>
                  </a:moveTo>
                  <a:lnTo>
                    <a:pt x="339591" y="701213"/>
                  </a:lnTo>
                </a:path>
                <a:path w="372110" h="894080">
                  <a:moveTo>
                    <a:pt x="78610" y="700334"/>
                  </a:moveTo>
                  <a:lnTo>
                    <a:pt x="264992" y="700334"/>
                  </a:lnTo>
                </a:path>
                <a:path w="372110" h="894080">
                  <a:moveTo>
                    <a:pt x="11648" y="699454"/>
                  </a:moveTo>
                  <a:lnTo>
                    <a:pt x="198030" y="699454"/>
                  </a:lnTo>
                </a:path>
                <a:path w="372110" h="894080">
                  <a:moveTo>
                    <a:pt x="142409" y="698516"/>
                  </a:moveTo>
                  <a:lnTo>
                    <a:pt x="328791" y="698516"/>
                  </a:lnTo>
                </a:path>
                <a:path w="372110" h="894080">
                  <a:moveTo>
                    <a:pt x="27926" y="697636"/>
                  </a:moveTo>
                  <a:lnTo>
                    <a:pt x="214308" y="697636"/>
                  </a:lnTo>
                </a:path>
                <a:path w="372110" h="894080">
                  <a:moveTo>
                    <a:pt x="155601" y="696757"/>
                  </a:moveTo>
                  <a:lnTo>
                    <a:pt x="341983" y="696757"/>
                  </a:lnTo>
                </a:path>
                <a:path w="372110" h="894080">
                  <a:moveTo>
                    <a:pt x="144878" y="694939"/>
                  </a:moveTo>
                  <a:lnTo>
                    <a:pt x="331182" y="694939"/>
                  </a:lnTo>
                </a:path>
                <a:path w="372110" h="894080">
                  <a:moveTo>
                    <a:pt x="90645" y="694059"/>
                  </a:moveTo>
                  <a:lnTo>
                    <a:pt x="277027" y="694059"/>
                  </a:lnTo>
                </a:path>
                <a:path w="372110" h="894080">
                  <a:moveTo>
                    <a:pt x="120654" y="693180"/>
                  </a:moveTo>
                  <a:lnTo>
                    <a:pt x="307036" y="693180"/>
                  </a:lnTo>
                </a:path>
                <a:path w="372110" h="894080">
                  <a:moveTo>
                    <a:pt x="98359" y="692300"/>
                  </a:moveTo>
                  <a:lnTo>
                    <a:pt x="284741" y="692300"/>
                  </a:lnTo>
                </a:path>
                <a:path w="372110" h="894080">
                  <a:moveTo>
                    <a:pt x="55312" y="691362"/>
                  </a:moveTo>
                  <a:lnTo>
                    <a:pt x="241694" y="691362"/>
                  </a:lnTo>
                </a:path>
                <a:path w="372110" h="894080">
                  <a:moveTo>
                    <a:pt x="62333" y="690482"/>
                  </a:moveTo>
                  <a:lnTo>
                    <a:pt x="248715" y="690482"/>
                  </a:lnTo>
                </a:path>
                <a:path w="372110" h="894080">
                  <a:moveTo>
                    <a:pt x="48369" y="689602"/>
                  </a:moveTo>
                  <a:lnTo>
                    <a:pt x="234674" y="689602"/>
                  </a:lnTo>
                </a:path>
                <a:path w="372110" h="894080">
                  <a:moveTo>
                    <a:pt x="89565" y="688723"/>
                  </a:moveTo>
                  <a:lnTo>
                    <a:pt x="275947" y="688723"/>
                  </a:lnTo>
                </a:path>
                <a:path w="372110" h="894080">
                  <a:moveTo>
                    <a:pt x="90799" y="686905"/>
                  </a:moveTo>
                  <a:lnTo>
                    <a:pt x="277104" y="686905"/>
                  </a:lnTo>
                </a:path>
                <a:path w="372110" h="894080">
                  <a:moveTo>
                    <a:pt x="7791" y="686025"/>
                  </a:moveTo>
                  <a:lnTo>
                    <a:pt x="194173" y="686025"/>
                  </a:lnTo>
                </a:path>
                <a:path w="372110" h="894080">
                  <a:moveTo>
                    <a:pt x="38186" y="685146"/>
                  </a:moveTo>
                  <a:lnTo>
                    <a:pt x="224568" y="685146"/>
                  </a:lnTo>
                </a:path>
                <a:path w="372110" h="894080">
                  <a:moveTo>
                    <a:pt x="27154" y="683328"/>
                  </a:moveTo>
                  <a:lnTo>
                    <a:pt x="213459" y="683328"/>
                  </a:lnTo>
                </a:path>
                <a:path w="372110" h="894080">
                  <a:moveTo>
                    <a:pt x="93885" y="682448"/>
                  </a:moveTo>
                  <a:lnTo>
                    <a:pt x="280267" y="682448"/>
                  </a:lnTo>
                </a:path>
                <a:path w="372110" h="894080">
                  <a:moveTo>
                    <a:pt x="133152" y="681569"/>
                  </a:moveTo>
                  <a:lnTo>
                    <a:pt x="319534" y="681569"/>
                  </a:lnTo>
                </a:path>
                <a:path w="372110" h="894080">
                  <a:moveTo>
                    <a:pt x="128137" y="680631"/>
                  </a:moveTo>
                  <a:lnTo>
                    <a:pt x="314442" y="680631"/>
                  </a:lnTo>
                </a:path>
                <a:path w="372110" h="894080">
                  <a:moveTo>
                    <a:pt x="24454" y="679751"/>
                  </a:moveTo>
                  <a:lnTo>
                    <a:pt x="210836" y="679751"/>
                  </a:lnTo>
                </a:path>
                <a:path w="372110" h="894080">
                  <a:moveTo>
                    <a:pt x="101368" y="678871"/>
                  </a:moveTo>
                  <a:lnTo>
                    <a:pt x="287750" y="678871"/>
                  </a:lnTo>
                </a:path>
                <a:path w="372110" h="894080">
                  <a:moveTo>
                    <a:pt x="104222" y="677992"/>
                  </a:moveTo>
                  <a:lnTo>
                    <a:pt x="290527" y="677992"/>
                  </a:lnTo>
                </a:path>
                <a:path w="372110" h="894080">
                  <a:moveTo>
                    <a:pt x="90105" y="677054"/>
                  </a:moveTo>
                  <a:lnTo>
                    <a:pt x="276410" y="677054"/>
                  </a:lnTo>
                </a:path>
                <a:path w="372110" h="894080">
                  <a:moveTo>
                    <a:pt x="69276" y="676174"/>
                  </a:moveTo>
                  <a:lnTo>
                    <a:pt x="255580" y="676174"/>
                  </a:lnTo>
                </a:path>
                <a:path w="372110" h="894080">
                  <a:moveTo>
                    <a:pt x="113094" y="675294"/>
                  </a:moveTo>
                  <a:lnTo>
                    <a:pt x="299476" y="675294"/>
                  </a:lnTo>
                </a:path>
                <a:path w="372110" h="894080">
                  <a:moveTo>
                    <a:pt x="182216" y="674415"/>
                  </a:moveTo>
                  <a:lnTo>
                    <a:pt x="368598" y="674415"/>
                  </a:lnTo>
                </a:path>
                <a:path w="372110" h="894080">
                  <a:moveTo>
                    <a:pt x="144415" y="673477"/>
                  </a:moveTo>
                  <a:lnTo>
                    <a:pt x="330720" y="673477"/>
                  </a:lnTo>
                </a:path>
                <a:path w="372110" h="894080">
                  <a:moveTo>
                    <a:pt x="85553" y="672597"/>
                  </a:moveTo>
                  <a:lnTo>
                    <a:pt x="271858" y="672597"/>
                  </a:lnTo>
                </a:path>
                <a:path w="372110" h="894080">
                  <a:moveTo>
                    <a:pt x="86787" y="671717"/>
                  </a:moveTo>
                  <a:lnTo>
                    <a:pt x="273092" y="671717"/>
                  </a:lnTo>
                </a:path>
                <a:path w="372110" h="894080">
                  <a:moveTo>
                    <a:pt x="65341" y="670838"/>
                  </a:moveTo>
                  <a:lnTo>
                    <a:pt x="251646" y="670838"/>
                  </a:lnTo>
                </a:path>
                <a:path w="372110" h="894080">
                  <a:moveTo>
                    <a:pt x="40732" y="669900"/>
                  </a:moveTo>
                  <a:lnTo>
                    <a:pt x="227114" y="669900"/>
                  </a:lnTo>
                </a:path>
                <a:path w="372110" h="894080">
                  <a:moveTo>
                    <a:pt x="102834" y="669020"/>
                  </a:moveTo>
                  <a:lnTo>
                    <a:pt x="289216" y="669020"/>
                  </a:lnTo>
                </a:path>
                <a:path w="372110" h="894080">
                  <a:moveTo>
                    <a:pt x="74290" y="668140"/>
                  </a:moveTo>
                  <a:lnTo>
                    <a:pt x="260672" y="668140"/>
                  </a:lnTo>
                </a:path>
                <a:path w="372110" h="894080">
                  <a:moveTo>
                    <a:pt x="181676" y="667261"/>
                  </a:moveTo>
                  <a:lnTo>
                    <a:pt x="368058" y="667261"/>
                  </a:lnTo>
                </a:path>
                <a:path w="372110" h="894080">
                  <a:moveTo>
                    <a:pt x="64724" y="666323"/>
                  </a:moveTo>
                  <a:lnTo>
                    <a:pt x="251029" y="666323"/>
                  </a:lnTo>
                </a:path>
                <a:path w="372110" h="894080">
                  <a:moveTo>
                    <a:pt x="71127" y="665443"/>
                  </a:moveTo>
                  <a:lnTo>
                    <a:pt x="257509" y="665443"/>
                  </a:lnTo>
                </a:path>
                <a:path w="372110" h="894080">
                  <a:moveTo>
                    <a:pt x="51764" y="664563"/>
                  </a:moveTo>
                  <a:lnTo>
                    <a:pt x="238069" y="664563"/>
                  </a:lnTo>
                </a:path>
                <a:path w="372110" h="894080">
                  <a:moveTo>
                    <a:pt x="49989" y="663684"/>
                  </a:moveTo>
                  <a:lnTo>
                    <a:pt x="236371" y="663684"/>
                  </a:lnTo>
                </a:path>
                <a:path w="372110" h="894080">
                  <a:moveTo>
                    <a:pt x="64878" y="662746"/>
                  </a:moveTo>
                  <a:lnTo>
                    <a:pt x="251260" y="662746"/>
                  </a:lnTo>
                </a:path>
                <a:path w="372110" h="894080">
                  <a:moveTo>
                    <a:pt x="57858" y="661866"/>
                  </a:moveTo>
                  <a:lnTo>
                    <a:pt x="244240" y="661866"/>
                  </a:lnTo>
                </a:path>
                <a:path w="372110" h="894080">
                  <a:moveTo>
                    <a:pt x="60327" y="660986"/>
                  </a:moveTo>
                  <a:lnTo>
                    <a:pt x="246709" y="660986"/>
                  </a:lnTo>
                </a:path>
                <a:path w="372110" h="894080">
                  <a:moveTo>
                    <a:pt x="91108" y="660107"/>
                  </a:moveTo>
                  <a:lnTo>
                    <a:pt x="277412" y="660107"/>
                  </a:lnTo>
                </a:path>
                <a:path w="372110" h="894080">
                  <a:moveTo>
                    <a:pt x="115948" y="659168"/>
                  </a:moveTo>
                  <a:lnTo>
                    <a:pt x="302330" y="659168"/>
                  </a:lnTo>
                </a:path>
                <a:path w="372110" h="894080">
                  <a:moveTo>
                    <a:pt x="111397" y="657409"/>
                  </a:moveTo>
                  <a:lnTo>
                    <a:pt x="297779" y="657409"/>
                  </a:lnTo>
                </a:path>
                <a:path w="372110" h="894080">
                  <a:moveTo>
                    <a:pt x="158687" y="656530"/>
                  </a:moveTo>
                  <a:lnTo>
                    <a:pt x="345069" y="656530"/>
                  </a:lnTo>
                </a:path>
                <a:path w="372110" h="894080">
                  <a:moveTo>
                    <a:pt x="28620" y="655591"/>
                  </a:moveTo>
                  <a:lnTo>
                    <a:pt x="214925" y="655591"/>
                  </a:lnTo>
                </a:path>
                <a:path w="372110" h="894080">
                  <a:moveTo>
                    <a:pt x="44049" y="654712"/>
                  </a:moveTo>
                  <a:lnTo>
                    <a:pt x="230431" y="654712"/>
                  </a:lnTo>
                </a:path>
                <a:path w="372110" h="894080">
                  <a:moveTo>
                    <a:pt x="149275" y="653832"/>
                  </a:moveTo>
                  <a:lnTo>
                    <a:pt x="335657" y="653832"/>
                  </a:lnTo>
                </a:path>
                <a:path w="372110" h="894080">
                  <a:moveTo>
                    <a:pt x="84550" y="652953"/>
                  </a:moveTo>
                  <a:lnTo>
                    <a:pt x="270932" y="652953"/>
                  </a:lnTo>
                </a:path>
                <a:path w="372110" h="894080">
                  <a:moveTo>
                    <a:pt x="126054" y="652014"/>
                  </a:moveTo>
                  <a:lnTo>
                    <a:pt x="312436" y="652014"/>
                  </a:lnTo>
                </a:path>
                <a:path w="372110" h="894080">
                  <a:moveTo>
                    <a:pt x="94348" y="651135"/>
                  </a:moveTo>
                  <a:lnTo>
                    <a:pt x="280730" y="651135"/>
                  </a:lnTo>
                </a:path>
                <a:path w="372110" h="894080">
                  <a:moveTo>
                    <a:pt x="73287" y="650255"/>
                  </a:moveTo>
                  <a:lnTo>
                    <a:pt x="259592" y="650255"/>
                  </a:lnTo>
                </a:path>
                <a:path w="372110" h="894080">
                  <a:moveTo>
                    <a:pt x="86479" y="649376"/>
                  </a:moveTo>
                  <a:lnTo>
                    <a:pt x="272861" y="649376"/>
                  </a:lnTo>
                </a:path>
                <a:path w="372110" h="894080">
                  <a:moveTo>
                    <a:pt x="114328" y="648437"/>
                  </a:moveTo>
                  <a:lnTo>
                    <a:pt x="300710" y="648437"/>
                  </a:lnTo>
                </a:path>
                <a:path w="372110" h="894080">
                  <a:moveTo>
                    <a:pt x="54001" y="647558"/>
                  </a:moveTo>
                  <a:lnTo>
                    <a:pt x="240383" y="647558"/>
                  </a:lnTo>
                </a:path>
                <a:path w="372110" h="894080">
                  <a:moveTo>
                    <a:pt x="65881" y="646678"/>
                  </a:moveTo>
                  <a:lnTo>
                    <a:pt x="252263" y="646678"/>
                  </a:lnTo>
                </a:path>
                <a:path w="372110" h="894080">
                  <a:moveTo>
                    <a:pt x="108002" y="645799"/>
                  </a:moveTo>
                  <a:lnTo>
                    <a:pt x="294384" y="645799"/>
                  </a:lnTo>
                </a:path>
                <a:path w="372110" h="894080">
                  <a:moveTo>
                    <a:pt x="102294" y="644860"/>
                  </a:moveTo>
                  <a:lnTo>
                    <a:pt x="288676" y="644860"/>
                  </a:lnTo>
                </a:path>
                <a:path w="372110" h="894080">
                  <a:moveTo>
                    <a:pt x="113557" y="643981"/>
                  </a:moveTo>
                  <a:lnTo>
                    <a:pt x="299939" y="643981"/>
                  </a:lnTo>
                </a:path>
                <a:path w="372110" h="894080">
                  <a:moveTo>
                    <a:pt x="118803" y="643101"/>
                  </a:moveTo>
                  <a:lnTo>
                    <a:pt x="305185" y="643101"/>
                  </a:lnTo>
                </a:path>
                <a:path w="372110" h="894080">
                  <a:moveTo>
                    <a:pt x="101754" y="641283"/>
                  </a:moveTo>
                  <a:lnTo>
                    <a:pt x="288136" y="641283"/>
                  </a:lnTo>
                </a:path>
                <a:path w="372110" h="894080">
                  <a:moveTo>
                    <a:pt x="110085" y="640404"/>
                  </a:moveTo>
                  <a:lnTo>
                    <a:pt x="296467" y="640404"/>
                  </a:lnTo>
                </a:path>
                <a:path w="372110" h="894080">
                  <a:moveTo>
                    <a:pt x="99902" y="639524"/>
                  </a:moveTo>
                  <a:lnTo>
                    <a:pt x="286284" y="639524"/>
                  </a:lnTo>
                </a:path>
                <a:path w="372110" h="894080">
                  <a:moveTo>
                    <a:pt x="103682" y="638586"/>
                  </a:moveTo>
                  <a:lnTo>
                    <a:pt x="290064" y="638586"/>
                  </a:lnTo>
                </a:path>
                <a:path w="372110" h="894080">
                  <a:moveTo>
                    <a:pt x="141329" y="637706"/>
                  </a:moveTo>
                  <a:lnTo>
                    <a:pt x="327634" y="637706"/>
                  </a:lnTo>
                </a:path>
                <a:path w="372110" h="894080">
                  <a:moveTo>
                    <a:pt x="68813" y="635947"/>
                  </a:moveTo>
                  <a:lnTo>
                    <a:pt x="255195" y="635947"/>
                  </a:lnTo>
                </a:path>
                <a:path w="372110" h="894080">
                  <a:moveTo>
                    <a:pt x="123817" y="635009"/>
                  </a:moveTo>
                  <a:lnTo>
                    <a:pt x="310199" y="635009"/>
                  </a:lnTo>
                </a:path>
                <a:path w="372110" h="894080">
                  <a:moveTo>
                    <a:pt x="154444" y="634129"/>
                  </a:moveTo>
                  <a:lnTo>
                    <a:pt x="340826" y="634129"/>
                  </a:lnTo>
                </a:path>
                <a:path w="372110" h="894080">
                  <a:moveTo>
                    <a:pt x="136160" y="633250"/>
                  </a:moveTo>
                  <a:lnTo>
                    <a:pt x="322465" y="633250"/>
                  </a:lnTo>
                </a:path>
                <a:path w="372110" h="894080">
                  <a:moveTo>
                    <a:pt x="63104" y="632370"/>
                  </a:moveTo>
                  <a:lnTo>
                    <a:pt x="249486" y="632370"/>
                  </a:lnTo>
                </a:path>
                <a:path w="372110" h="894080">
                  <a:moveTo>
                    <a:pt x="107154" y="631432"/>
                  </a:moveTo>
                  <a:lnTo>
                    <a:pt x="293536" y="631432"/>
                  </a:lnTo>
                </a:path>
                <a:path w="372110" h="894080">
                  <a:moveTo>
                    <a:pt x="102139" y="630552"/>
                  </a:moveTo>
                  <a:lnTo>
                    <a:pt x="288444" y="630552"/>
                  </a:lnTo>
                </a:path>
                <a:path w="372110" h="894080">
                  <a:moveTo>
                    <a:pt x="69198" y="629673"/>
                  </a:moveTo>
                  <a:lnTo>
                    <a:pt x="255580" y="629673"/>
                  </a:lnTo>
                </a:path>
                <a:path w="372110" h="894080">
                  <a:moveTo>
                    <a:pt x="123431" y="628793"/>
                  </a:moveTo>
                  <a:lnTo>
                    <a:pt x="309813" y="628793"/>
                  </a:lnTo>
                </a:path>
                <a:path w="372110" h="894080">
                  <a:moveTo>
                    <a:pt x="158532" y="627855"/>
                  </a:moveTo>
                  <a:lnTo>
                    <a:pt x="344914" y="627855"/>
                  </a:lnTo>
                </a:path>
                <a:path w="372110" h="894080">
                  <a:moveTo>
                    <a:pt x="93653" y="626096"/>
                  </a:moveTo>
                  <a:lnTo>
                    <a:pt x="279958" y="626096"/>
                  </a:lnTo>
                </a:path>
                <a:path w="372110" h="894080">
                  <a:moveTo>
                    <a:pt x="108079" y="625216"/>
                  </a:moveTo>
                  <a:lnTo>
                    <a:pt x="294384" y="625216"/>
                  </a:lnTo>
                </a:path>
                <a:path w="372110" h="894080">
                  <a:moveTo>
                    <a:pt x="101908" y="624278"/>
                  </a:moveTo>
                  <a:lnTo>
                    <a:pt x="288290" y="624278"/>
                  </a:lnTo>
                </a:path>
                <a:path w="372110" h="894080">
                  <a:moveTo>
                    <a:pt x="71281" y="623398"/>
                  </a:moveTo>
                  <a:lnTo>
                    <a:pt x="257586" y="623398"/>
                  </a:lnTo>
                </a:path>
                <a:path w="372110" h="894080">
                  <a:moveTo>
                    <a:pt x="106459" y="622519"/>
                  </a:moveTo>
                  <a:lnTo>
                    <a:pt x="292764" y="622519"/>
                  </a:lnTo>
                </a:path>
                <a:path w="372110" h="894080">
                  <a:moveTo>
                    <a:pt x="96893" y="621639"/>
                  </a:moveTo>
                  <a:lnTo>
                    <a:pt x="283275" y="621639"/>
                  </a:lnTo>
                </a:path>
                <a:path w="372110" h="894080">
                  <a:moveTo>
                    <a:pt x="73673" y="620701"/>
                  </a:moveTo>
                  <a:lnTo>
                    <a:pt x="260055" y="620701"/>
                  </a:lnTo>
                </a:path>
                <a:path w="372110" h="894080">
                  <a:moveTo>
                    <a:pt x="89102" y="619821"/>
                  </a:moveTo>
                  <a:lnTo>
                    <a:pt x="275407" y="619821"/>
                  </a:lnTo>
                </a:path>
                <a:path w="372110" h="894080">
                  <a:moveTo>
                    <a:pt x="31397" y="618942"/>
                  </a:moveTo>
                  <a:lnTo>
                    <a:pt x="217779" y="618942"/>
                  </a:lnTo>
                </a:path>
                <a:path w="372110" h="894080">
                  <a:moveTo>
                    <a:pt x="101599" y="618062"/>
                  </a:moveTo>
                  <a:lnTo>
                    <a:pt x="287904" y="618062"/>
                  </a:lnTo>
                </a:path>
                <a:path w="372110" h="894080">
                  <a:moveTo>
                    <a:pt x="21677" y="617124"/>
                  </a:moveTo>
                  <a:lnTo>
                    <a:pt x="208059" y="617124"/>
                  </a:lnTo>
                </a:path>
                <a:path w="372110" h="894080">
                  <a:moveTo>
                    <a:pt x="61638" y="616244"/>
                  </a:moveTo>
                  <a:lnTo>
                    <a:pt x="248020" y="616244"/>
                  </a:lnTo>
                </a:path>
                <a:path w="372110" h="894080">
                  <a:moveTo>
                    <a:pt x="24223" y="615365"/>
                  </a:moveTo>
                  <a:lnTo>
                    <a:pt x="210605" y="615365"/>
                  </a:lnTo>
                </a:path>
                <a:path w="372110" h="894080">
                  <a:moveTo>
                    <a:pt x="95505" y="614485"/>
                  </a:moveTo>
                  <a:lnTo>
                    <a:pt x="281887" y="614485"/>
                  </a:lnTo>
                </a:path>
                <a:path w="372110" h="894080">
                  <a:moveTo>
                    <a:pt x="68350" y="613547"/>
                  </a:moveTo>
                  <a:lnTo>
                    <a:pt x="254655" y="613547"/>
                  </a:lnTo>
                </a:path>
                <a:path w="372110" h="894080">
                  <a:moveTo>
                    <a:pt x="107385" y="612667"/>
                  </a:moveTo>
                  <a:lnTo>
                    <a:pt x="293767" y="612667"/>
                  </a:lnTo>
                </a:path>
                <a:path w="372110" h="894080">
                  <a:moveTo>
                    <a:pt x="92033" y="611788"/>
                  </a:moveTo>
                  <a:lnTo>
                    <a:pt x="278415" y="611788"/>
                  </a:lnTo>
                </a:path>
                <a:path w="372110" h="894080">
                  <a:moveTo>
                    <a:pt x="78533" y="610908"/>
                  </a:moveTo>
                  <a:lnTo>
                    <a:pt x="264915" y="610908"/>
                  </a:lnTo>
                </a:path>
                <a:path w="372110" h="894080">
                  <a:moveTo>
                    <a:pt x="89873" y="609970"/>
                  </a:moveTo>
                  <a:lnTo>
                    <a:pt x="276255" y="609970"/>
                  </a:lnTo>
                </a:path>
                <a:path w="372110" h="894080">
                  <a:moveTo>
                    <a:pt x="89488" y="609090"/>
                  </a:moveTo>
                  <a:lnTo>
                    <a:pt x="275870" y="609090"/>
                  </a:lnTo>
                </a:path>
                <a:path w="372110" h="894080">
                  <a:moveTo>
                    <a:pt x="76141" y="608211"/>
                  </a:moveTo>
                  <a:lnTo>
                    <a:pt x="262446" y="608211"/>
                  </a:lnTo>
                </a:path>
                <a:path w="372110" h="894080">
                  <a:moveTo>
                    <a:pt x="145958" y="607331"/>
                  </a:moveTo>
                  <a:lnTo>
                    <a:pt x="332340" y="607331"/>
                  </a:lnTo>
                </a:path>
                <a:path w="372110" h="894080">
                  <a:moveTo>
                    <a:pt x="139632" y="606393"/>
                  </a:moveTo>
                  <a:lnTo>
                    <a:pt x="325937" y="606393"/>
                  </a:lnTo>
                </a:path>
                <a:path w="372110" h="894080">
                  <a:moveTo>
                    <a:pt x="87636" y="605513"/>
                  </a:moveTo>
                  <a:lnTo>
                    <a:pt x="274018" y="605513"/>
                  </a:lnTo>
                </a:path>
                <a:path w="372110" h="894080">
                  <a:moveTo>
                    <a:pt x="38032" y="604634"/>
                  </a:moveTo>
                  <a:lnTo>
                    <a:pt x="224414" y="604634"/>
                  </a:lnTo>
                </a:path>
                <a:path w="372110" h="894080">
                  <a:moveTo>
                    <a:pt x="85476" y="603754"/>
                  </a:moveTo>
                  <a:lnTo>
                    <a:pt x="271781" y="603754"/>
                  </a:lnTo>
                </a:path>
                <a:path w="372110" h="894080">
                  <a:moveTo>
                    <a:pt x="80384" y="602816"/>
                  </a:moveTo>
                  <a:lnTo>
                    <a:pt x="266689" y="602816"/>
                  </a:lnTo>
                </a:path>
                <a:path w="372110" h="894080">
                  <a:moveTo>
                    <a:pt x="117260" y="601936"/>
                  </a:moveTo>
                  <a:lnTo>
                    <a:pt x="303642" y="601936"/>
                  </a:lnTo>
                </a:path>
                <a:path w="372110" h="894080">
                  <a:moveTo>
                    <a:pt x="45129" y="601057"/>
                  </a:moveTo>
                  <a:lnTo>
                    <a:pt x="231511" y="601057"/>
                  </a:lnTo>
                </a:path>
                <a:path w="372110" h="894080">
                  <a:moveTo>
                    <a:pt x="39883" y="600177"/>
                  </a:moveTo>
                  <a:lnTo>
                    <a:pt x="226265" y="600177"/>
                  </a:lnTo>
                </a:path>
                <a:path w="372110" h="894080">
                  <a:moveTo>
                    <a:pt x="63104" y="599239"/>
                  </a:moveTo>
                  <a:lnTo>
                    <a:pt x="249409" y="599239"/>
                  </a:lnTo>
                </a:path>
                <a:path w="372110" h="894080">
                  <a:moveTo>
                    <a:pt x="135080" y="598359"/>
                  </a:moveTo>
                  <a:lnTo>
                    <a:pt x="321385" y="598359"/>
                  </a:lnTo>
                </a:path>
                <a:path w="372110" h="894080">
                  <a:moveTo>
                    <a:pt x="59015" y="597480"/>
                  </a:moveTo>
                  <a:lnTo>
                    <a:pt x="245397" y="597480"/>
                  </a:lnTo>
                </a:path>
                <a:path w="372110" h="894080">
                  <a:moveTo>
                    <a:pt x="22372" y="596600"/>
                  </a:moveTo>
                  <a:lnTo>
                    <a:pt x="208754" y="596600"/>
                  </a:lnTo>
                </a:path>
                <a:path w="372110" h="894080">
                  <a:moveTo>
                    <a:pt x="24454" y="595662"/>
                  </a:moveTo>
                  <a:lnTo>
                    <a:pt x="210836" y="595662"/>
                  </a:lnTo>
                </a:path>
                <a:path w="372110" h="894080">
                  <a:moveTo>
                    <a:pt x="84705" y="594782"/>
                  </a:moveTo>
                  <a:lnTo>
                    <a:pt x="271009" y="594782"/>
                  </a:lnTo>
                </a:path>
                <a:path w="372110" h="894080">
                  <a:moveTo>
                    <a:pt x="49758" y="593902"/>
                  </a:moveTo>
                  <a:lnTo>
                    <a:pt x="236063" y="593902"/>
                  </a:lnTo>
                </a:path>
                <a:path w="372110" h="894080">
                  <a:moveTo>
                    <a:pt x="38109" y="593023"/>
                  </a:moveTo>
                  <a:lnTo>
                    <a:pt x="224414" y="593023"/>
                  </a:lnTo>
                </a:path>
                <a:path w="372110" h="894080">
                  <a:moveTo>
                    <a:pt x="48755" y="591205"/>
                  </a:moveTo>
                  <a:lnTo>
                    <a:pt x="235137" y="591205"/>
                  </a:lnTo>
                </a:path>
                <a:path w="372110" h="894080">
                  <a:moveTo>
                    <a:pt x="101291" y="590325"/>
                  </a:moveTo>
                  <a:lnTo>
                    <a:pt x="287673" y="590325"/>
                  </a:lnTo>
                </a:path>
                <a:path w="372110" h="894080">
                  <a:moveTo>
                    <a:pt x="128754" y="589446"/>
                  </a:moveTo>
                  <a:lnTo>
                    <a:pt x="315136" y="589446"/>
                  </a:lnTo>
                </a:path>
                <a:path w="372110" h="894080">
                  <a:moveTo>
                    <a:pt x="26074" y="588508"/>
                  </a:moveTo>
                  <a:lnTo>
                    <a:pt x="212456" y="588508"/>
                  </a:lnTo>
                </a:path>
                <a:path w="372110" h="894080">
                  <a:moveTo>
                    <a:pt x="95119" y="587628"/>
                  </a:moveTo>
                  <a:lnTo>
                    <a:pt x="281424" y="587628"/>
                  </a:lnTo>
                </a:path>
                <a:path w="372110" h="894080">
                  <a:moveTo>
                    <a:pt x="112322" y="586748"/>
                  </a:moveTo>
                  <a:lnTo>
                    <a:pt x="298627" y="586748"/>
                  </a:lnTo>
                </a:path>
                <a:path w="372110" h="894080">
                  <a:moveTo>
                    <a:pt x="51224" y="585869"/>
                  </a:moveTo>
                  <a:lnTo>
                    <a:pt x="237606" y="585869"/>
                  </a:lnTo>
                </a:path>
                <a:path w="372110" h="894080">
                  <a:moveTo>
                    <a:pt x="8331" y="584931"/>
                  </a:moveTo>
                  <a:lnTo>
                    <a:pt x="194636" y="584931"/>
                  </a:lnTo>
                </a:path>
                <a:path w="372110" h="894080">
                  <a:moveTo>
                    <a:pt x="23220" y="584051"/>
                  </a:moveTo>
                  <a:lnTo>
                    <a:pt x="209602" y="584051"/>
                  </a:lnTo>
                </a:path>
                <a:path w="372110" h="894080">
                  <a:moveTo>
                    <a:pt x="93191" y="583171"/>
                  </a:moveTo>
                  <a:lnTo>
                    <a:pt x="279495" y="583171"/>
                  </a:lnTo>
                </a:path>
                <a:path w="372110" h="894080">
                  <a:moveTo>
                    <a:pt x="61253" y="581354"/>
                  </a:moveTo>
                  <a:lnTo>
                    <a:pt x="247635" y="581354"/>
                  </a:lnTo>
                </a:path>
                <a:path w="372110" h="894080">
                  <a:moveTo>
                    <a:pt x="33249" y="580474"/>
                  </a:moveTo>
                  <a:lnTo>
                    <a:pt x="219631" y="580474"/>
                  </a:lnTo>
                </a:path>
                <a:path w="372110" h="894080">
                  <a:moveTo>
                    <a:pt x="104994" y="579594"/>
                  </a:moveTo>
                  <a:lnTo>
                    <a:pt x="291376" y="579594"/>
                  </a:lnTo>
                </a:path>
                <a:path w="372110" h="894080">
                  <a:moveTo>
                    <a:pt x="50067" y="578715"/>
                  </a:moveTo>
                  <a:lnTo>
                    <a:pt x="236449" y="578715"/>
                  </a:lnTo>
                </a:path>
                <a:path w="372110" h="894080">
                  <a:moveTo>
                    <a:pt x="75987" y="577777"/>
                  </a:moveTo>
                  <a:lnTo>
                    <a:pt x="262369" y="577777"/>
                  </a:lnTo>
                </a:path>
                <a:path w="372110" h="894080">
                  <a:moveTo>
                    <a:pt x="86093" y="576017"/>
                  </a:moveTo>
                  <a:lnTo>
                    <a:pt x="272475" y="576017"/>
                  </a:lnTo>
                </a:path>
                <a:path w="372110" h="894080">
                  <a:moveTo>
                    <a:pt x="103914" y="575138"/>
                  </a:moveTo>
                  <a:lnTo>
                    <a:pt x="290296" y="575138"/>
                  </a:lnTo>
                </a:path>
                <a:path w="372110" h="894080">
                  <a:moveTo>
                    <a:pt x="59478" y="574200"/>
                  </a:moveTo>
                  <a:lnTo>
                    <a:pt x="245860" y="574200"/>
                  </a:lnTo>
                </a:path>
                <a:path w="372110" h="894080">
                  <a:moveTo>
                    <a:pt x="132843" y="573320"/>
                  </a:moveTo>
                  <a:lnTo>
                    <a:pt x="319148" y="573320"/>
                  </a:lnTo>
                </a:path>
                <a:path w="372110" h="894080">
                  <a:moveTo>
                    <a:pt x="80770" y="572440"/>
                  </a:moveTo>
                  <a:lnTo>
                    <a:pt x="267075" y="572440"/>
                  </a:lnTo>
                </a:path>
                <a:path w="372110" h="894080">
                  <a:moveTo>
                    <a:pt x="84705" y="571561"/>
                  </a:moveTo>
                  <a:lnTo>
                    <a:pt x="271087" y="571561"/>
                  </a:lnTo>
                </a:path>
                <a:path w="372110" h="894080">
                  <a:moveTo>
                    <a:pt x="89642" y="570623"/>
                  </a:moveTo>
                  <a:lnTo>
                    <a:pt x="276024" y="570623"/>
                  </a:lnTo>
                </a:path>
                <a:path w="372110" h="894080">
                  <a:moveTo>
                    <a:pt x="54078" y="569743"/>
                  </a:moveTo>
                  <a:lnTo>
                    <a:pt x="240460" y="569743"/>
                  </a:lnTo>
                </a:path>
                <a:path w="372110" h="894080">
                  <a:moveTo>
                    <a:pt x="10723" y="568863"/>
                  </a:moveTo>
                  <a:lnTo>
                    <a:pt x="197105" y="568863"/>
                  </a:lnTo>
                </a:path>
                <a:path w="372110" h="894080">
                  <a:moveTo>
                    <a:pt x="147346" y="567984"/>
                  </a:moveTo>
                  <a:lnTo>
                    <a:pt x="333728" y="567984"/>
                  </a:lnTo>
                </a:path>
                <a:path w="372110" h="894080">
                  <a:moveTo>
                    <a:pt x="88562" y="567045"/>
                  </a:moveTo>
                  <a:lnTo>
                    <a:pt x="274867" y="567045"/>
                  </a:lnTo>
                </a:path>
                <a:path w="372110" h="894080">
                  <a:moveTo>
                    <a:pt x="138783" y="566166"/>
                  </a:moveTo>
                  <a:lnTo>
                    <a:pt x="325165" y="566166"/>
                  </a:lnTo>
                </a:path>
                <a:path w="372110" h="894080">
                  <a:moveTo>
                    <a:pt x="157298" y="565286"/>
                  </a:moveTo>
                  <a:lnTo>
                    <a:pt x="343680" y="565286"/>
                  </a:lnTo>
                </a:path>
                <a:path w="372110" h="894080">
                  <a:moveTo>
                    <a:pt x="159458" y="564407"/>
                  </a:moveTo>
                  <a:lnTo>
                    <a:pt x="345763" y="564407"/>
                  </a:lnTo>
                </a:path>
                <a:path w="372110" h="894080">
                  <a:moveTo>
                    <a:pt x="83702" y="563468"/>
                  </a:moveTo>
                  <a:lnTo>
                    <a:pt x="270084" y="563468"/>
                  </a:lnTo>
                </a:path>
                <a:path w="372110" h="894080">
                  <a:moveTo>
                    <a:pt x="80616" y="562589"/>
                  </a:moveTo>
                  <a:lnTo>
                    <a:pt x="266998" y="562589"/>
                  </a:lnTo>
                </a:path>
                <a:path w="372110" h="894080">
                  <a:moveTo>
                    <a:pt x="81696" y="561709"/>
                  </a:moveTo>
                  <a:lnTo>
                    <a:pt x="268078" y="561709"/>
                  </a:lnTo>
                </a:path>
                <a:path w="372110" h="894080">
                  <a:moveTo>
                    <a:pt x="161387" y="560830"/>
                  </a:moveTo>
                  <a:lnTo>
                    <a:pt x="347691" y="560830"/>
                  </a:lnTo>
                </a:path>
                <a:path w="372110" h="894080">
                  <a:moveTo>
                    <a:pt x="84165" y="559891"/>
                  </a:moveTo>
                  <a:lnTo>
                    <a:pt x="270547" y="559891"/>
                  </a:lnTo>
                </a:path>
                <a:path w="372110" h="894080">
                  <a:moveTo>
                    <a:pt x="181907" y="559012"/>
                  </a:moveTo>
                  <a:lnTo>
                    <a:pt x="368289" y="559012"/>
                  </a:lnTo>
                </a:path>
                <a:path w="372110" h="894080">
                  <a:moveTo>
                    <a:pt x="33172" y="558132"/>
                  </a:moveTo>
                  <a:lnTo>
                    <a:pt x="219554" y="558132"/>
                  </a:lnTo>
                </a:path>
                <a:path w="372110" h="894080">
                  <a:moveTo>
                    <a:pt x="101831" y="557194"/>
                  </a:moveTo>
                  <a:lnTo>
                    <a:pt x="288213" y="557194"/>
                  </a:lnTo>
                </a:path>
                <a:path w="372110" h="894080">
                  <a:moveTo>
                    <a:pt x="89179" y="556314"/>
                  </a:moveTo>
                  <a:lnTo>
                    <a:pt x="275561" y="556314"/>
                  </a:lnTo>
                </a:path>
                <a:path w="372110" h="894080">
                  <a:moveTo>
                    <a:pt x="155755" y="555435"/>
                  </a:moveTo>
                  <a:lnTo>
                    <a:pt x="342137" y="555435"/>
                  </a:lnTo>
                </a:path>
                <a:path w="372110" h="894080">
                  <a:moveTo>
                    <a:pt x="142949" y="554555"/>
                  </a:moveTo>
                  <a:lnTo>
                    <a:pt x="329254" y="554555"/>
                  </a:lnTo>
                </a:path>
                <a:path w="372110" h="894080">
                  <a:moveTo>
                    <a:pt x="143258" y="553617"/>
                  </a:moveTo>
                  <a:lnTo>
                    <a:pt x="329562" y="553617"/>
                  </a:lnTo>
                </a:path>
                <a:path w="372110" h="894080">
                  <a:moveTo>
                    <a:pt x="96353" y="552737"/>
                  </a:moveTo>
                  <a:lnTo>
                    <a:pt x="282735" y="552737"/>
                  </a:lnTo>
                </a:path>
                <a:path w="372110" h="894080">
                  <a:moveTo>
                    <a:pt x="87868" y="551858"/>
                  </a:moveTo>
                  <a:lnTo>
                    <a:pt x="274250" y="551858"/>
                  </a:lnTo>
                </a:path>
                <a:path w="372110" h="894080">
                  <a:moveTo>
                    <a:pt x="103682" y="550978"/>
                  </a:moveTo>
                  <a:lnTo>
                    <a:pt x="289987" y="550978"/>
                  </a:lnTo>
                </a:path>
                <a:path w="372110" h="894080">
                  <a:moveTo>
                    <a:pt x="144260" y="550040"/>
                  </a:moveTo>
                  <a:lnTo>
                    <a:pt x="330642" y="550040"/>
                  </a:lnTo>
                </a:path>
                <a:path w="372110" h="894080">
                  <a:moveTo>
                    <a:pt x="63490" y="549160"/>
                  </a:moveTo>
                  <a:lnTo>
                    <a:pt x="249872" y="549160"/>
                  </a:lnTo>
                </a:path>
                <a:path w="372110" h="894080">
                  <a:moveTo>
                    <a:pt x="134000" y="548281"/>
                  </a:moveTo>
                  <a:lnTo>
                    <a:pt x="320305" y="548281"/>
                  </a:lnTo>
                </a:path>
                <a:path w="372110" h="894080">
                  <a:moveTo>
                    <a:pt x="116411" y="547401"/>
                  </a:moveTo>
                  <a:lnTo>
                    <a:pt x="302716" y="547401"/>
                  </a:lnTo>
                </a:path>
                <a:path w="372110" h="894080">
                  <a:moveTo>
                    <a:pt x="140712" y="546463"/>
                  </a:moveTo>
                  <a:lnTo>
                    <a:pt x="327094" y="546463"/>
                  </a:lnTo>
                </a:path>
                <a:path w="372110" h="894080">
                  <a:moveTo>
                    <a:pt x="56315" y="545583"/>
                  </a:moveTo>
                  <a:lnTo>
                    <a:pt x="242620" y="545583"/>
                  </a:lnTo>
                </a:path>
                <a:path w="372110" h="894080">
                  <a:moveTo>
                    <a:pt x="102216" y="544704"/>
                  </a:moveTo>
                  <a:lnTo>
                    <a:pt x="288598" y="544704"/>
                  </a:lnTo>
                </a:path>
                <a:path w="372110" h="894080">
                  <a:moveTo>
                    <a:pt x="64184" y="543824"/>
                  </a:moveTo>
                  <a:lnTo>
                    <a:pt x="250566" y="543824"/>
                  </a:lnTo>
                </a:path>
                <a:path w="372110" h="894080">
                  <a:moveTo>
                    <a:pt x="51841" y="542886"/>
                  </a:moveTo>
                  <a:lnTo>
                    <a:pt x="238146" y="542886"/>
                  </a:lnTo>
                </a:path>
                <a:path w="372110" h="894080">
                  <a:moveTo>
                    <a:pt x="172573" y="542006"/>
                  </a:moveTo>
                  <a:lnTo>
                    <a:pt x="358955" y="542006"/>
                  </a:lnTo>
                </a:path>
                <a:path w="372110" h="894080">
                  <a:moveTo>
                    <a:pt x="166710" y="541127"/>
                  </a:moveTo>
                  <a:lnTo>
                    <a:pt x="353092" y="541127"/>
                  </a:lnTo>
                </a:path>
                <a:path w="372110" h="894080">
                  <a:moveTo>
                    <a:pt x="40809" y="540247"/>
                  </a:moveTo>
                  <a:lnTo>
                    <a:pt x="227191" y="540247"/>
                  </a:lnTo>
                </a:path>
                <a:path w="372110" h="894080">
                  <a:moveTo>
                    <a:pt x="98205" y="539309"/>
                  </a:moveTo>
                  <a:lnTo>
                    <a:pt x="284587" y="539309"/>
                  </a:lnTo>
                </a:path>
                <a:path w="372110" h="894080">
                  <a:moveTo>
                    <a:pt x="84550" y="538429"/>
                  </a:moveTo>
                  <a:lnTo>
                    <a:pt x="270932" y="538429"/>
                  </a:lnTo>
                </a:path>
                <a:path w="372110" h="894080">
                  <a:moveTo>
                    <a:pt x="104994" y="537550"/>
                  </a:moveTo>
                  <a:lnTo>
                    <a:pt x="291376" y="537550"/>
                  </a:lnTo>
                </a:path>
                <a:path w="372110" h="894080">
                  <a:moveTo>
                    <a:pt x="47906" y="536670"/>
                  </a:moveTo>
                  <a:lnTo>
                    <a:pt x="234288" y="536670"/>
                  </a:lnTo>
                </a:path>
                <a:path w="372110" h="894080">
                  <a:moveTo>
                    <a:pt x="116797" y="535732"/>
                  </a:moveTo>
                  <a:lnTo>
                    <a:pt x="303102" y="535732"/>
                  </a:lnTo>
                </a:path>
                <a:path w="372110" h="894080">
                  <a:moveTo>
                    <a:pt x="78610" y="534852"/>
                  </a:moveTo>
                  <a:lnTo>
                    <a:pt x="264992" y="534852"/>
                  </a:lnTo>
                </a:path>
                <a:path w="372110" h="894080">
                  <a:moveTo>
                    <a:pt x="110317" y="533973"/>
                  </a:moveTo>
                  <a:lnTo>
                    <a:pt x="296622" y="533973"/>
                  </a:lnTo>
                </a:path>
                <a:path w="372110" h="894080">
                  <a:moveTo>
                    <a:pt x="78687" y="533093"/>
                  </a:moveTo>
                  <a:lnTo>
                    <a:pt x="265069" y="533093"/>
                  </a:lnTo>
                </a:path>
                <a:path w="372110" h="894080">
                  <a:moveTo>
                    <a:pt x="149661" y="532155"/>
                  </a:moveTo>
                  <a:lnTo>
                    <a:pt x="336043" y="532155"/>
                  </a:lnTo>
                </a:path>
                <a:path w="372110" h="894080">
                  <a:moveTo>
                    <a:pt x="87405" y="531275"/>
                  </a:moveTo>
                  <a:lnTo>
                    <a:pt x="273787" y="531275"/>
                  </a:lnTo>
                </a:path>
                <a:path w="372110" h="894080">
                  <a:moveTo>
                    <a:pt x="78379" y="530396"/>
                  </a:moveTo>
                  <a:lnTo>
                    <a:pt x="264761" y="530396"/>
                  </a:lnTo>
                </a:path>
                <a:path w="372110" h="894080">
                  <a:moveTo>
                    <a:pt x="43123" y="529516"/>
                  </a:moveTo>
                  <a:lnTo>
                    <a:pt x="229506" y="529516"/>
                  </a:lnTo>
                </a:path>
                <a:path w="372110" h="894080">
                  <a:moveTo>
                    <a:pt x="91956" y="528578"/>
                  </a:moveTo>
                  <a:lnTo>
                    <a:pt x="278261" y="528578"/>
                  </a:lnTo>
                </a:path>
                <a:path w="372110" h="894080">
                  <a:moveTo>
                    <a:pt x="83856" y="527698"/>
                  </a:moveTo>
                  <a:lnTo>
                    <a:pt x="270238" y="527698"/>
                  </a:lnTo>
                </a:path>
                <a:path w="372110" h="894080">
                  <a:moveTo>
                    <a:pt x="122197" y="526819"/>
                  </a:moveTo>
                  <a:lnTo>
                    <a:pt x="308502" y="526819"/>
                  </a:lnTo>
                </a:path>
                <a:path w="372110" h="894080">
                  <a:moveTo>
                    <a:pt x="13886" y="525939"/>
                  </a:moveTo>
                  <a:lnTo>
                    <a:pt x="200190" y="525939"/>
                  </a:lnTo>
                </a:path>
                <a:path w="372110" h="894080">
                  <a:moveTo>
                    <a:pt x="58552" y="525001"/>
                  </a:moveTo>
                  <a:lnTo>
                    <a:pt x="244934" y="525001"/>
                  </a:lnTo>
                </a:path>
                <a:path w="372110" h="894080">
                  <a:moveTo>
                    <a:pt x="2545" y="524121"/>
                  </a:moveTo>
                  <a:lnTo>
                    <a:pt x="188850" y="524121"/>
                  </a:lnTo>
                </a:path>
                <a:path w="372110" h="894080">
                  <a:moveTo>
                    <a:pt x="36952" y="522362"/>
                  </a:moveTo>
                  <a:lnTo>
                    <a:pt x="223257" y="522362"/>
                  </a:lnTo>
                </a:path>
                <a:path w="372110" h="894080">
                  <a:moveTo>
                    <a:pt x="35949" y="521424"/>
                  </a:moveTo>
                  <a:lnTo>
                    <a:pt x="222331" y="521424"/>
                  </a:lnTo>
                </a:path>
                <a:path w="372110" h="894080">
                  <a:moveTo>
                    <a:pt x="72901" y="520544"/>
                  </a:moveTo>
                  <a:lnTo>
                    <a:pt x="259283" y="520544"/>
                  </a:lnTo>
                </a:path>
                <a:path w="372110" h="894080">
                  <a:moveTo>
                    <a:pt x="123046" y="519665"/>
                  </a:moveTo>
                  <a:lnTo>
                    <a:pt x="309428" y="519665"/>
                  </a:lnTo>
                </a:path>
                <a:path w="372110" h="894080">
                  <a:moveTo>
                    <a:pt x="87868" y="518785"/>
                  </a:moveTo>
                  <a:lnTo>
                    <a:pt x="274172" y="518785"/>
                  </a:lnTo>
                </a:path>
                <a:path w="372110" h="894080">
                  <a:moveTo>
                    <a:pt x="98668" y="517847"/>
                  </a:moveTo>
                  <a:lnTo>
                    <a:pt x="285050" y="517847"/>
                  </a:lnTo>
                </a:path>
                <a:path w="372110" h="894080">
                  <a:moveTo>
                    <a:pt x="163855" y="516967"/>
                  </a:moveTo>
                  <a:lnTo>
                    <a:pt x="350160" y="516967"/>
                  </a:lnTo>
                </a:path>
                <a:path w="372110" h="894080">
                  <a:moveTo>
                    <a:pt x="154675" y="516088"/>
                  </a:moveTo>
                  <a:lnTo>
                    <a:pt x="340980" y="516088"/>
                  </a:lnTo>
                </a:path>
                <a:path w="372110" h="894080">
                  <a:moveTo>
                    <a:pt x="70587" y="515208"/>
                  </a:moveTo>
                  <a:lnTo>
                    <a:pt x="256969" y="515208"/>
                  </a:lnTo>
                </a:path>
                <a:path w="372110" h="894080">
                  <a:moveTo>
                    <a:pt x="139015" y="514270"/>
                  </a:moveTo>
                  <a:lnTo>
                    <a:pt x="325397" y="514270"/>
                  </a:lnTo>
                </a:path>
                <a:path w="372110" h="894080">
                  <a:moveTo>
                    <a:pt x="163392" y="513390"/>
                  </a:moveTo>
                  <a:lnTo>
                    <a:pt x="349774" y="513390"/>
                  </a:lnTo>
                </a:path>
                <a:path w="372110" h="894080">
                  <a:moveTo>
                    <a:pt x="136623" y="512511"/>
                  </a:moveTo>
                  <a:lnTo>
                    <a:pt x="323005" y="512511"/>
                  </a:lnTo>
                </a:path>
                <a:path w="372110" h="894080">
                  <a:moveTo>
                    <a:pt x="19671" y="511631"/>
                  </a:moveTo>
                  <a:lnTo>
                    <a:pt x="205976" y="511631"/>
                  </a:lnTo>
                </a:path>
                <a:path w="372110" h="894080">
                  <a:moveTo>
                    <a:pt x="117645" y="510693"/>
                  </a:moveTo>
                  <a:lnTo>
                    <a:pt x="304027" y="510693"/>
                  </a:lnTo>
                </a:path>
                <a:path w="372110" h="894080">
                  <a:moveTo>
                    <a:pt x="120731" y="509813"/>
                  </a:moveTo>
                  <a:lnTo>
                    <a:pt x="307113" y="509813"/>
                  </a:lnTo>
                </a:path>
                <a:path w="372110" h="894080">
                  <a:moveTo>
                    <a:pt x="22912" y="508934"/>
                  </a:moveTo>
                  <a:lnTo>
                    <a:pt x="209216" y="508934"/>
                  </a:lnTo>
                </a:path>
                <a:path w="372110" h="894080">
                  <a:moveTo>
                    <a:pt x="57010" y="508054"/>
                  </a:moveTo>
                  <a:lnTo>
                    <a:pt x="243392" y="508054"/>
                  </a:lnTo>
                </a:path>
                <a:path w="372110" h="894080">
                  <a:moveTo>
                    <a:pt x="167327" y="507116"/>
                  </a:moveTo>
                  <a:lnTo>
                    <a:pt x="353709" y="507116"/>
                  </a:lnTo>
                </a:path>
                <a:path w="372110" h="894080">
                  <a:moveTo>
                    <a:pt x="160307" y="506236"/>
                  </a:moveTo>
                  <a:lnTo>
                    <a:pt x="346611" y="506236"/>
                  </a:lnTo>
                </a:path>
                <a:path w="372110" h="894080">
                  <a:moveTo>
                    <a:pt x="133923" y="505357"/>
                  </a:moveTo>
                  <a:lnTo>
                    <a:pt x="320228" y="505357"/>
                  </a:lnTo>
                </a:path>
                <a:path w="372110" h="894080">
                  <a:moveTo>
                    <a:pt x="144569" y="504477"/>
                  </a:moveTo>
                  <a:lnTo>
                    <a:pt x="330874" y="504477"/>
                  </a:lnTo>
                </a:path>
                <a:path w="372110" h="894080">
                  <a:moveTo>
                    <a:pt x="94502" y="503539"/>
                  </a:moveTo>
                  <a:lnTo>
                    <a:pt x="280884" y="503539"/>
                  </a:lnTo>
                </a:path>
                <a:path w="372110" h="894080">
                  <a:moveTo>
                    <a:pt x="93345" y="501780"/>
                  </a:moveTo>
                  <a:lnTo>
                    <a:pt x="279650" y="501780"/>
                  </a:lnTo>
                </a:path>
                <a:path w="372110" h="894080">
                  <a:moveTo>
                    <a:pt x="105997" y="500900"/>
                  </a:moveTo>
                  <a:lnTo>
                    <a:pt x="292379" y="500900"/>
                  </a:lnTo>
                </a:path>
                <a:path w="372110" h="894080">
                  <a:moveTo>
                    <a:pt x="37800" y="499962"/>
                  </a:moveTo>
                  <a:lnTo>
                    <a:pt x="224183" y="499962"/>
                  </a:lnTo>
                </a:path>
                <a:path w="372110" h="894080">
                  <a:moveTo>
                    <a:pt x="113248" y="499082"/>
                  </a:moveTo>
                  <a:lnTo>
                    <a:pt x="299630" y="499082"/>
                  </a:lnTo>
                </a:path>
                <a:path w="372110" h="894080">
                  <a:moveTo>
                    <a:pt x="60250" y="497323"/>
                  </a:moveTo>
                  <a:lnTo>
                    <a:pt x="246632" y="497323"/>
                  </a:lnTo>
                </a:path>
                <a:path w="372110" h="894080">
                  <a:moveTo>
                    <a:pt x="109005" y="496385"/>
                  </a:moveTo>
                  <a:lnTo>
                    <a:pt x="295310" y="496385"/>
                  </a:lnTo>
                </a:path>
                <a:path w="372110" h="894080">
                  <a:moveTo>
                    <a:pt x="127597" y="495505"/>
                  </a:moveTo>
                  <a:lnTo>
                    <a:pt x="313979" y="495505"/>
                  </a:lnTo>
                </a:path>
                <a:path w="372110" h="894080">
                  <a:moveTo>
                    <a:pt x="98128" y="494625"/>
                  </a:moveTo>
                  <a:lnTo>
                    <a:pt x="284510" y="494625"/>
                  </a:lnTo>
                </a:path>
                <a:path w="372110" h="894080">
                  <a:moveTo>
                    <a:pt x="134694" y="493746"/>
                  </a:moveTo>
                  <a:lnTo>
                    <a:pt x="321076" y="493746"/>
                  </a:lnTo>
                </a:path>
                <a:path w="372110" h="894080">
                  <a:moveTo>
                    <a:pt x="166710" y="492808"/>
                  </a:moveTo>
                  <a:lnTo>
                    <a:pt x="353014" y="492808"/>
                  </a:lnTo>
                </a:path>
                <a:path w="372110" h="894080">
                  <a:moveTo>
                    <a:pt x="65881" y="491928"/>
                  </a:moveTo>
                  <a:lnTo>
                    <a:pt x="252263" y="491928"/>
                  </a:lnTo>
                </a:path>
                <a:path w="372110" h="894080">
                  <a:moveTo>
                    <a:pt x="86247" y="491048"/>
                  </a:moveTo>
                  <a:lnTo>
                    <a:pt x="272630" y="491048"/>
                  </a:lnTo>
                </a:path>
                <a:path w="372110" h="894080">
                  <a:moveTo>
                    <a:pt x="57704" y="490169"/>
                  </a:moveTo>
                  <a:lnTo>
                    <a:pt x="244086" y="490169"/>
                  </a:lnTo>
                </a:path>
                <a:path w="372110" h="894080">
                  <a:moveTo>
                    <a:pt x="74136" y="489231"/>
                  </a:moveTo>
                  <a:lnTo>
                    <a:pt x="260518" y="489231"/>
                  </a:lnTo>
                </a:path>
                <a:path w="372110" h="894080">
                  <a:moveTo>
                    <a:pt x="119805" y="488351"/>
                  </a:moveTo>
                  <a:lnTo>
                    <a:pt x="306188" y="488351"/>
                  </a:lnTo>
                </a:path>
                <a:path w="372110" h="894080">
                  <a:moveTo>
                    <a:pt x="0" y="487471"/>
                  </a:moveTo>
                  <a:lnTo>
                    <a:pt x="186382" y="487471"/>
                  </a:lnTo>
                </a:path>
                <a:path w="372110" h="894080">
                  <a:moveTo>
                    <a:pt x="164087" y="486592"/>
                  </a:moveTo>
                  <a:lnTo>
                    <a:pt x="350469" y="486592"/>
                  </a:lnTo>
                </a:path>
                <a:path w="372110" h="894080">
                  <a:moveTo>
                    <a:pt x="154444" y="485654"/>
                  </a:moveTo>
                  <a:lnTo>
                    <a:pt x="340826" y="485654"/>
                  </a:lnTo>
                </a:path>
                <a:path w="372110" h="894080">
                  <a:moveTo>
                    <a:pt x="105611" y="484774"/>
                  </a:moveTo>
                  <a:lnTo>
                    <a:pt x="291916" y="484774"/>
                  </a:lnTo>
                </a:path>
                <a:path w="372110" h="894080">
                  <a:moveTo>
                    <a:pt x="53924" y="483894"/>
                  </a:moveTo>
                  <a:lnTo>
                    <a:pt x="240306" y="483894"/>
                  </a:lnTo>
                </a:path>
                <a:path w="372110" h="894080">
                  <a:moveTo>
                    <a:pt x="132380" y="483015"/>
                  </a:moveTo>
                  <a:lnTo>
                    <a:pt x="318685" y="483015"/>
                  </a:lnTo>
                </a:path>
                <a:path w="372110" h="894080">
                  <a:moveTo>
                    <a:pt x="40423" y="482077"/>
                  </a:moveTo>
                  <a:lnTo>
                    <a:pt x="226728" y="482077"/>
                  </a:lnTo>
                </a:path>
                <a:path w="372110" h="894080">
                  <a:moveTo>
                    <a:pt x="131994" y="480317"/>
                  </a:moveTo>
                  <a:lnTo>
                    <a:pt x="318376" y="480317"/>
                  </a:lnTo>
                </a:path>
                <a:path w="372110" h="894080">
                  <a:moveTo>
                    <a:pt x="21986" y="479438"/>
                  </a:moveTo>
                  <a:lnTo>
                    <a:pt x="208368" y="479438"/>
                  </a:lnTo>
                </a:path>
                <a:path w="372110" h="894080">
                  <a:moveTo>
                    <a:pt x="44821" y="478500"/>
                  </a:moveTo>
                  <a:lnTo>
                    <a:pt x="231203" y="478500"/>
                  </a:lnTo>
                </a:path>
                <a:path w="372110" h="894080">
                  <a:moveTo>
                    <a:pt x="66576" y="477620"/>
                  </a:moveTo>
                  <a:lnTo>
                    <a:pt x="252880" y="477620"/>
                  </a:lnTo>
                </a:path>
                <a:path w="372110" h="894080">
                  <a:moveTo>
                    <a:pt x="111628" y="476740"/>
                  </a:moveTo>
                  <a:lnTo>
                    <a:pt x="298010" y="476740"/>
                  </a:lnTo>
                </a:path>
                <a:path w="372110" h="894080">
                  <a:moveTo>
                    <a:pt x="42583" y="474923"/>
                  </a:moveTo>
                  <a:lnTo>
                    <a:pt x="228888" y="474923"/>
                  </a:lnTo>
                </a:path>
                <a:path w="372110" h="894080">
                  <a:moveTo>
                    <a:pt x="144492" y="474043"/>
                  </a:moveTo>
                  <a:lnTo>
                    <a:pt x="330797" y="474043"/>
                  </a:lnTo>
                </a:path>
                <a:path w="372110" h="894080">
                  <a:moveTo>
                    <a:pt x="136700" y="473163"/>
                  </a:moveTo>
                  <a:lnTo>
                    <a:pt x="323082" y="473163"/>
                  </a:lnTo>
                </a:path>
                <a:path w="372110" h="894080">
                  <a:moveTo>
                    <a:pt x="68890" y="472225"/>
                  </a:moveTo>
                  <a:lnTo>
                    <a:pt x="255272" y="472225"/>
                  </a:lnTo>
                </a:path>
                <a:path w="372110" h="894080">
                  <a:moveTo>
                    <a:pt x="84242" y="471345"/>
                  </a:moveTo>
                  <a:lnTo>
                    <a:pt x="270547" y="471345"/>
                  </a:lnTo>
                </a:path>
                <a:path w="372110" h="894080">
                  <a:moveTo>
                    <a:pt x="148349" y="470466"/>
                  </a:moveTo>
                  <a:lnTo>
                    <a:pt x="334654" y="470466"/>
                  </a:lnTo>
                </a:path>
                <a:path w="372110" h="894080">
                  <a:moveTo>
                    <a:pt x="95351" y="469586"/>
                  </a:moveTo>
                  <a:lnTo>
                    <a:pt x="281733" y="469586"/>
                  </a:lnTo>
                </a:path>
                <a:path w="372110" h="894080">
                  <a:moveTo>
                    <a:pt x="106614" y="468648"/>
                  </a:moveTo>
                  <a:lnTo>
                    <a:pt x="292996" y="468648"/>
                  </a:lnTo>
                </a:path>
                <a:path w="372110" h="894080">
                  <a:moveTo>
                    <a:pt x="71436" y="467768"/>
                  </a:moveTo>
                  <a:lnTo>
                    <a:pt x="257741" y="467768"/>
                  </a:lnTo>
                </a:path>
                <a:path w="372110" h="894080">
                  <a:moveTo>
                    <a:pt x="56470" y="466889"/>
                  </a:moveTo>
                  <a:lnTo>
                    <a:pt x="242852" y="466889"/>
                  </a:lnTo>
                </a:path>
                <a:path w="372110" h="894080">
                  <a:moveTo>
                    <a:pt x="46595" y="466009"/>
                  </a:moveTo>
                  <a:lnTo>
                    <a:pt x="232977" y="466009"/>
                  </a:lnTo>
                </a:path>
                <a:path w="372110" h="894080">
                  <a:moveTo>
                    <a:pt x="155601" y="465071"/>
                  </a:moveTo>
                  <a:lnTo>
                    <a:pt x="341983" y="465071"/>
                  </a:lnTo>
                </a:path>
                <a:path w="372110" h="894080">
                  <a:moveTo>
                    <a:pt x="80230" y="464191"/>
                  </a:moveTo>
                  <a:lnTo>
                    <a:pt x="266612" y="464191"/>
                  </a:lnTo>
                </a:path>
                <a:path w="372110" h="894080">
                  <a:moveTo>
                    <a:pt x="69044" y="463312"/>
                  </a:moveTo>
                  <a:lnTo>
                    <a:pt x="255426" y="463312"/>
                  </a:lnTo>
                </a:path>
                <a:path w="372110" h="894080">
                  <a:moveTo>
                    <a:pt x="29160" y="462432"/>
                  </a:moveTo>
                  <a:lnTo>
                    <a:pt x="215542" y="462432"/>
                  </a:lnTo>
                </a:path>
                <a:path w="372110" h="894080">
                  <a:moveTo>
                    <a:pt x="149121" y="461494"/>
                  </a:moveTo>
                  <a:lnTo>
                    <a:pt x="335503" y="461494"/>
                  </a:lnTo>
                </a:path>
                <a:path w="372110" h="894080">
                  <a:moveTo>
                    <a:pt x="182910" y="460614"/>
                  </a:moveTo>
                  <a:lnTo>
                    <a:pt x="369292" y="460614"/>
                  </a:lnTo>
                </a:path>
                <a:path w="372110" h="894080">
                  <a:moveTo>
                    <a:pt x="72207" y="459735"/>
                  </a:moveTo>
                  <a:lnTo>
                    <a:pt x="258589" y="459735"/>
                  </a:lnTo>
                </a:path>
                <a:path w="372110" h="894080">
                  <a:moveTo>
                    <a:pt x="104608" y="457917"/>
                  </a:moveTo>
                  <a:lnTo>
                    <a:pt x="290913" y="457917"/>
                  </a:lnTo>
                </a:path>
                <a:path w="372110" h="894080">
                  <a:moveTo>
                    <a:pt x="134386" y="457037"/>
                  </a:moveTo>
                  <a:lnTo>
                    <a:pt x="320768" y="457037"/>
                  </a:lnTo>
                </a:path>
                <a:path w="372110" h="894080">
                  <a:moveTo>
                    <a:pt x="146189" y="456158"/>
                  </a:moveTo>
                  <a:lnTo>
                    <a:pt x="332571" y="456158"/>
                  </a:lnTo>
                </a:path>
                <a:path w="372110" h="894080">
                  <a:moveTo>
                    <a:pt x="45824" y="455278"/>
                  </a:moveTo>
                  <a:lnTo>
                    <a:pt x="232128" y="455278"/>
                  </a:lnTo>
                </a:path>
                <a:path w="372110" h="894080">
                  <a:moveTo>
                    <a:pt x="51378" y="454340"/>
                  </a:moveTo>
                  <a:lnTo>
                    <a:pt x="237760" y="454340"/>
                  </a:lnTo>
                </a:path>
                <a:path w="372110" h="894080">
                  <a:moveTo>
                    <a:pt x="71436" y="453460"/>
                  </a:moveTo>
                  <a:lnTo>
                    <a:pt x="257818" y="453460"/>
                  </a:lnTo>
                </a:path>
                <a:path w="372110" h="894080">
                  <a:moveTo>
                    <a:pt x="42275" y="452581"/>
                  </a:moveTo>
                  <a:lnTo>
                    <a:pt x="228657" y="452581"/>
                  </a:lnTo>
                </a:path>
                <a:path w="372110" h="894080">
                  <a:moveTo>
                    <a:pt x="131069" y="451701"/>
                  </a:moveTo>
                  <a:lnTo>
                    <a:pt x="317451" y="451701"/>
                  </a:lnTo>
                </a:path>
                <a:path w="372110" h="894080">
                  <a:moveTo>
                    <a:pt x="95042" y="450763"/>
                  </a:moveTo>
                  <a:lnTo>
                    <a:pt x="281347" y="450763"/>
                  </a:lnTo>
                </a:path>
                <a:path w="372110" h="894080">
                  <a:moveTo>
                    <a:pt x="49835" y="449883"/>
                  </a:moveTo>
                  <a:lnTo>
                    <a:pt x="236140" y="449883"/>
                  </a:lnTo>
                </a:path>
                <a:path w="372110" h="894080">
                  <a:moveTo>
                    <a:pt x="82313" y="449004"/>
                  </a:moveTo>
                  <a:lnTo>
                    <a:pt x="268695" y="449004"/>
                  </a:lnTo>
                </a:path>
                <a:path w="372110" h="894080">
                  <a:moveTo>
                    <a:pt x="81464" y="448124"/>
                  </a:moveTo>
                  <a:lnTo>
                    <a:pt x="267769" y="448124"/>
                  </a:lnTo>
                </a:path>
                <a:path w="372110" h="894080">
                  <a:moveTo>
                    <a:pt x="161001" y="447186"/>
                  </a:moveTo>
                  <a:lnTo>
                    <a:pt x="347383" y="447186"/>
                  </a:lnTo>
                </a:path>
                <a:path w="372110" h="894080">
                  <a:moveTo>
                    <a:pt x="18823" y="446306"/>
                  </a:moveTo>
                  <a:lnTo>
                    <a:pt x="205205" y="446306"/>
                  </a:lnTo>
                </a:path>
                <a:path w="372110" h="894080">
                  <a:moveTo>
                    <a:pt x="114868" y="445427"/>
                  </a:moveTo>
                  <a:lnTo>
                    <a:pt x="301250" y="445427"/>
                  </a:lnTo>
                </a:path>
                <a:path w="372110" h="894080">
                  <a:moveTo>
                    <a:pt x="32015" y="444547"/>
                  </a:moveTo>
                  <a:lnTo>
                    <a:pt x="218397" y="444547"/>
                  </a:lnTo>
                </a:path>
                <a:path w="372110" h="894080">
                  <a:moveTo>
                    <a:pt x="80616" y="443609"/>
                  </a:moveTo>
                  <a:lnTo>
                    <a:pt x="266921" y="443609"/>
                  </a:lnTo>
                </a:path>
                <a:path w="372110" h="894080">
                  <a:moveTo>
                    <a:pt x="100982" y="442729"/>
                  </a:moveTo>
                  <a:lnTo>
                    <a:pt x="287364" y="442729"/>
                  </a:lnTo>
                </a:path>
                <a:path w="372110" h="894080">
                  <a:moveTo>
                    <a:pt x="12883" y="441850"/>
                  </a:moveTo>
                  <a:lnTo>
                    <a:pt x="199188" y="441850"/>
                  </a:lnTo>
                </a:path>
                <a:path w="372110" h="894080">
                  <a:moveTo>
                    <a:pt x="130837" y="440970"/>
                  </a:moveTo>
                  <a:lnTo>
                    <a:pt x="317219" y="440970"/>
                  </a:lnTo>
                </a:path>
                <a:path w="372110" h="894080">
                  <a:moveTo>
                    <a:pt x="118263" y="440032"/>
                  </a:moveTo>
                  <a:lnTo>
                    <a:pt x="304645" y="440032"/>
                  </a:lnTo>
                </a:path>
                <a:path w="372110" h="894080">
                  <a:moveTo>
                    <a:pt x="45901" y="439152"/>
                  </a:moveTo>
                  <a:lnTo>
                    <a:pt x="232283" y="439152"/>
                  </a:lnTo>
                </a:path>
                <a:path w="372110" h="894080">
                  <a:moveTo>
                    <a:pt x="60481" y="438273"/>
                  </a:moveTo>
                  <a:lnTo>
                    <a:pt x="246863" y="438273"/>
                  </a:lnTo>
                </a:path>
                <a:path w="372110" h="894080">
                  <a:moveTo>
                    <a:pt x="61870" y="437393"/>
                  </a:moveTo>
                  <a:lnTo>
                    <a:pt x="248252" y="437393"/>
                  </a:lnTo>
                </a:path>
                <a:path w="372110" h="894080">
                  <a:moveTo>
                    <a:pt x="98051" y="436455"/>
                  </a:moveTo>
                  <a:lnTo>
                    <a:pt x="284433" y="436455"/>
                  </a:lnTo>
                </a:path>
                <a:path w="372110" h="894080">
                  <a:moveTo>
                    <a:pt x="94271" y="435575"/>
                  </a:moveTo>
                  <a:lnTo>
                    <a:pt x="280575" y="435575"/>
                  </a:lnTo>
                </a:path>
                <a:path w="372110" h="894080">
                  <a:moveTo>
                    <a:pt x="149815" y="434696"/>
                  </a:moveTo>
                  <a:lnTo>
                    <a:pt x="336120" y="434696"/>
                  </a:lnTo>
                </a:path>
                <a:path w="372110" h="894080">
                  <a:moveTo>
                    <a:pt x="100905" y="433816"/>
                  </a:moveTo>
                  <a:lnTo>
                    <a:pt x="287287" y="433816"/>
                  </a:lnTo>
                </a:path>
                <a:path w="372110" h="894080">
                  <a:moveTo>
                    <a:pt x="111242" y="432878"/>
                  </a:moveTo>
                  <a:lnTo>
                    <a:pt x="297624" y="432878"/>
                  </a:lnTo>
                </a:path>
                <a:path w="372110" h="894080">
                  <a:moveTo>
                    <a:pt x="142718" y="431998"/>
                  </a:moveTo>
                  <a:lnTo>
                    <a:pt x="329100" y="431998"/>
                  </a:lnTo>
                </a:path>
                <a:path w="372110" h="894080">
                  <a:moveTo>
                    <a:pt x="93731" y="431119"/>
                  </a:moveTo>
                  <a:lnTo>
                    <a:pt x="280035" y="431119"/>
                  </a:lnTo>
                </a:path>
                <a:path w="372110" h="894080">
                  <a:moveTo>
                    <a:pt x="173575" y="430239"/>
                  </a:moveTo>
                  <a:lnTo>
                    <a:pt x="359958" y="430239"/>
                  </a:lnTo>
                </a:path>
                <a:path w="372110" h="894080">
                  <a:moveTo>
                    <a:pt x="81542" y="429301"/>
                  </a:moveTo>
                  <a:lnTo>
                    <a:pt x="267924" y="429301"/>
                  </a:lnTo>
                </a:path>
                <a:path w="372110" h="894080">
                  <a:moveTo>
                    <a:pt x="161849" y="428421"/>
                  </a:moveTo>
                  <a:lnTo>
                    <a:pt x="348231" y="428421"/>
                  </a:lnTo>
                </a:path>
                <a:path w="372110" h="894080">
                  <a:moveTo>
                    <a:pt x="147423" y="427542"/>
                  </a:moveTo>
                  <a:lnTo>
                    <a:pt x="333728" y="427542"/>
                  </a:lnTo>
                </a:path>
                <a:path w="372110" h="894080">
                  <a:moveTo>
                    <a:pt x="122660" y="426662"/>
                  </a:moveTo>
                  <a:lnTo>
                    <a:pt x="309042" y="426662"/>
                  </a:lnTo>
                </a:path>
                <a:path w="372110" h="894080">
                  <a:moveTo>
                    <a:pt x="166941" y="425724"/>
                  </a:moveTo>
                  <a:lnTo>
                    <a:pt x="353246" y="425724"/>
                  </a:lnTo>
                </a:path>
                <a:path w="372110" h="894080">
                  <a:moveTo>
                    <a:pt x="89333" y="424844"/>
                  </a:moveTo>
                  <a:lnTo>
                    <a:pt x="275715" y="424844"/>
                  </a:lnTo>
                </a:path>
                <a:path w="372110" h="894080">
                  <a:moveTo>
                    <a:pt x="78147" y="423965"/>
                  </a:moveTo>
                  <a:lnTo>
                    <a:pt x="264529" y="423965"/>
                  </a:lnTo>
                </a:path>
                <a:path w="372110" h="894080">
                  <a:moveTo>
                    <a:pt x="145495" y="423085"/>
                  </a:moveTo>
                  <a:lnTo>
                    <a:pt x="331877" y="423085"/>
                  </a:lnTo>
                </a:path>
                <a:path w="372110" h="894080">
                  <a:moveTo>
                    <a:pt x="76450" y="422147"/>
                  </a:moveTo>
                  <a:lnTo>
                    <a:pt x="262832" y="422147"/>
                  </a:lnTo>
                </a:path>
                <a:path w="372110" h="894080">
                  <a:moveTo>
                    <a:pt x="49372" y="421267"/>
                  </a:moveTo>
                  <a:lnTo>
                    <a:pt x="235754" y="421267"/>
                  </a:lnTo>
                </a:path>
                <a:path w="372110" h="894080">
                  <a:moveTo>
                    <a:pt x="63490" y="420388"/>
                  </a:moveTo>
                  <a:lnTo>
                    <a:pt x="249872" y="420388"/>
                  </a:lnTo>
                </a:path>
                <a:path w="372110" h="894080">
                  <a:moveTo>
                    <a:pt x="57704" y="419508"/>
                  </a:moveTo>
                  <a:lnTo>
                    <a:pt x="244086" y="419508"/>
                  </a:lnTo>
                </a:path>
                <a:path w="372110" h="894080">
                  <a:moveTo>
                    <a:pt x="70973" y="418570"/>
                  </a:moveTo>
                  <a:lnTo>
                    <a:pt x="257355" y="418570"/>
                  </a:lnTo>
                </a:path>
                <a:path w="372110" h="894080">
                  <a:moveTo>
                    <a:pt x="63258" y="417690"/>
                  </a:moveTo>
                  <a:lnTo>
                    <a:pt x="249640" y="417690"/>
                  </a:lnTo>
                </a:path>
                <a:path w="372110" h="894080">
                  <a:moveTo>
                    <a:pt x="90105" y="416811"/>
                  </a:moveTo>
                  <a:lnTo>
                    <a:pt x="276487" y="416811"/>
                  </a:lnTo>
                </a:path>
                <a:path w="372110" h="894080">
                  <a:moveTo>
                    <a:pt x="128677" y="415931"/>
                  </a:moveTo>
                  <a:lnTo>
                    <a:pt x="314982" y="415931"/>
                  </a:lnTo>
                </a:path>
                <a:path w="372110" h="894080">
                  <a:moveTo>
                    <a:pt x="148735" y="414113"/>
                  </a:moveTo>
                  <a:lnTo>
                    <a:pt x="335040" y="414113"/>
                  </a:lnTo>
                </a:path>
                <a:path w="372110" h="894080">
                  <a:moveTo>
                    <a:pt x="100056" y="413234"/>
                  </a:moveTo>
                  <a:lnTo>
                    <a:pt x="286438" y="413234"/>
                  </a:lnTo>
                </a:path>
                <a:path w="372110" h="894080">
                  <a:moveTo>
                    <a:pt x="59555" y="412354"/>
                  </a:moveTo>
                  <a:lnTo>
                    <a:pt x="245860" y="412354"/>
                  </a:lnTo>
                </a:path>
                <a:path w="372110" h="894080">
                  <a:moveTo>
                    <a:pt x="63258" y="411416"/>
                  </a:moveTo>
                  <a:lnTo>
                    <a:pt x="249563" y="411416"/>
                  </a:lnTo>
                </a:path>
                <a:path w="372110" h="894080">
                  <a:moveTo>
                    <a:pt x="64801" y="409657"/>
                  </a:moveTo>
                  <a:lnTo>
                    <a:pt x="251183" y="409657"/>
                  </a:lnTo>
                </a:path>
                <a:path w="372110" h="894080">
                  <a:moveTo>
                    <a:pt x="132226" y="408777"/>
                  </a:moveTo>
                  <a:lnTo>
                    <a:pt x="318608" y="408777"/>
                  </a:lnTo>
                </a:path>
                <a:path w="372110" h="894080">
                  <a:moveTo>
                    <a:pt x="137240" y="407839"/>
                  </a:moveTo>
                  <a:lnTo>
                    <a:pt x="323622" y="407839"/>
                  </a:lnTo>
                </a:path>
                <a:path w="372110" h="894080">
                  <a:moveTo>
                    <a:pt x="161849" y="406959"/>
                  </a:moveTo>
                  <a:lnTo>
                    <a:pt x="348231" y="406959"/>
                  </a:lnTo>
                </a:path>
                <a:path w="372110" h="894080">
                  <a:moveTo>
                    <a:pt x="45746" y="406079"/>
                  </a:moveTo>
                  <a:lnTo>
                    <a:pt x="232051" y="406079"/>
                  </a:lnTo>
                </a:path>
                <a:path w="372110" h="894080">
                  <a:moveTo>
                    <a:pt x="22526" y="405200"/>
                  </a:moveTo>
                  <a:lnTo>
                    <a:pt x="208831" y="405200"/>
                  </a:lnTo>
                </a:path>
                <a:path w="372110" h="894080">
                  <a:moveTo>
                    <a:pt x="6865" y="404262"/>
                  </a:moveTo>
                  <a:lnTo>
                    <a:pt x="193247" y="404262"/>
                  </a:lnTo>
                </a:path>
                <a:path w="372110" h="894080">
                  <a:moveTo>
                    <a:pt x="109160" y="403382"/>
                  </a:moveTo>
                  <a:lnTo>
                    <a:pt x="295542" y="403382"/>
                  </a:lnTo>
                </a:path>
                <a:path w="372110" h="894080">
                  <a:moveTo>
                    <a:pt x="46518" y="402502"/>
                  </a:moveTo>
                  <a:lnTo>
                    <a:pt x="232823" y="402502"/>
                  </a:lnTo>
                </a:path>
                <a:path w="372110" h="894080">
                  <a:moveTo>
                    <a:pt x="58012" y="401623"/>
                  </a:moveTo>
                  <a:lnTo>
                    <a:pt x="244394" y="401623"/>
                  </a:lnTo>
                </a:path>
                <a:path w="372110" h="894080">
                  <a:moveTo>
                    <a:pt x="123431" y="400685"/>
                  </a:moveTo>
                  <a:lnTo>
                    <a:pt x="309736" y="400685"/>
                  </a:lnTo>
                </a:path>
                <a:path w="372110" h="894080">
                  <a:moveTo>
                    <a:pt x="76373" y="399805"/>
                  </a:moveTo>
                  <a:lnTo>
                    <a:pt x="262755" y="399805"/>
                  </a:lnTo>
                </a:path>
                <a:path w="372110" h="894080">
                  <a:moveTo>
                    <a:pt x="103914" y="398925"/>
                  </a:moveTo>
                  <a:lnTo>
                    <a:pt x="290296" y="398925"/>
                  </a:lnTo>
                </a:path>
                <a:path w="372110" h="894080">
                  <a:moveTo>
                    <a:pt x="77144" y="398046"/>
                  </a:moveTo>
                  <a:lnTo>
                    <a:pt x="263526" y="398046"/>
                  </a:lnTo>
                </a:path>
                <a:path w="372110" h="894080">
                  <a:moveTo>
                    <a:pt x="103837" y="397108"/>
                  </a:moveTo>
                  <a:lnTo>
                    <a:pt x="290219" y="397108"/>
                  </a:lnTo>
                </a:path>
                <a:path w="372110" h="894080">
                  <a:moveTo>
                    <a:pt x="98128" y="396228"/>
                  </a:moveTo>
                  <a:lnTo>
                    <a:pt x="284510" y="396228"/>
                  </a:lnTo>
                </a:path>
                <a:path w="372110" h="894080">
                  <a:moveTo>
                    <a:pt x="167558" y="395348"/>
                  </a:moveTo>
                  <a:lnTo>
                    <a:pt x="353940" y="395348"/>
                  </a:lnTo>
                </a:path>
                <a:path w="372110" h="894080">
                  <a:moveTo>
                    <a:pt x="44744" y="394469"/>
                  </a:moveTo>
                  <a:lnTo>
                    <a:pt x="231126" y="394469"/>
                  </a:lnTo>
                </a:path>
                <a:path w="372110" h="894080">
                  <a:moveTo>
                    <a:pt x="62873" y="393531"/>
                  </a:moveTo>
                  <a:lnTo>
                    <a:pt x="249255" y="393531"/>
                  </a:lnTo>
                </a:path>
                <a:path w="372110" h="894080">
                  <a:moveTo>
                    <a:pt x="38032" y="392651"/>
                  </a:moveTo>
                  <a:lnTo>
                    <a:pt x="224337" y="392651"/>
                  </a:lnTo>
                </a:path>
                <a:path w="372110" h="894080">
                  <a:moveTo>
                    <a:pt x="40038" y="391771"/>
                  </a:moveTo>
                  <a:lnTo>
                    <a:pt x="226343" y="391771"/>
                  </a:lnTo>
                </a:path>
                <a:path w="372110" h="894080">
                  <a:moveTo>
                    <a:pt x="84859" y="390892"/>
                  </a:moveTo>
                  <a:lnTo>
                    <a:pt x="271241" y="390892"/>
                  </a:lnTo>
                </a:path>
                <a:path w="372110" h="894080">
                  <a:moveTo>
                    <a:pt x="48138" y="389954"/>
                  </a:moveTo>
                  <a:lnTo>
                    <a:pt x="234520" y="389954"/>
                  </a:lnTo>
                </a:path>
                <a:path w="372110" h="894080">
                  <a:moveTo>
                    <a:pt x="102294" y="389074"/>
                  </a:moveTo>
                  <a:lnTo>
                    <a:pt x="288676" y="389074"/>
                  </a:lnTo>
                </a:path>
                <a:path w="372110" h="894080">
                  <a:moveTo>
                    <a:pt x="74367" y="388194"/>
                  </a:moveTo>
                  <a:lnTo>
                    <a:pt x="260749" y="388194"/>
                  </a:lnTo>
                </a:path>
                <a:path w="372110" h="894080">
                  <a:moveTo>
                    <a:pt x="64107" y="387315"/>
                  </a:moveTo>
                  <a:lnTo>
                    <a:pt x="250489" y="387315"/>
                  </a:lnTo>
                </a:path>
                <a:path w="372110" h="894080">
                  <a:moveTo>
                    <a:pt x="59555" y="386377"/>
                  </a:moveTo>
                  <a:lnTo>
                    <a:pt x="245860" y="386377"/>
                  </a:lnTo>
                </a:path>
                <a:path w="372110" h="894080">
                  <a:moveTo>
                    <a:pt x="71667" y="385497"/>
                  </a:moveTo>
                  <a:lnTo>
                    <a:pt x="258049" y="385497"/>
                  </a:lnTo>
                </a:path>
                <a:path w="372110" h="894080">
                  <a:moveTo>
                    <a:pt x="99439" y="384617"/>
                  </a:moveTo>
                  <a:lnTo>
                    <a:pt x="285744" y="384617"/>
                  </a:lnTo>
                </a:path>
                <a:path w="372110" h="894080">
                  <a:moveTo>
                    <a:pt x="51764" y="383679"/>
                  </a:moveTo>
                  <a:lnTo>
                    <a:pt x="238146" y="383679"/>
                  </a:lnTo>
                </a:path>
                <a:path w="372110" h="894080">
                  <a:moveTo>
                    <a:pt x="83933" y="382800"/>
                  </a:moveTo>
                  <a:lnTo>
                    <a:pt x="270315" y="382800"/>
                  </a:lnTo>
                </a:path>
                <a:path w="372110" h="894080">
                  <a:moveTo>
                    <a:pt x="95891" y="381920"/>
                  </a:moveTo>
                  <a:lnTo>
                    <a:pt x="282273" y="381920"/>
                  </a:lnTo>
                </a:path>
                <a:path w="372110" h="894080">
                  <a:moveTo>
                    <a:pt x="53384" y="381040"/>
                  </a:moveTo>
                  <a:lnTo>
                    <a:pt x="239766" y="381040"/>
                  </a:lnTo>
                </a:path>
                <a:path w="372110" h="894080">
                  <a:moveTo>
                    <a:pt x="130220" y="380102"/>
                  </a:moveTo>
                  <a:lnTo>
                    <a:pt x="316602" y="380102"/>
                  </a:lnTo>
                </a:path>
                <a:path w="372110" h="894080">
                  <a:moveTo>
                    <a:pt x="70433" y="379223"/>
                  </a:moveTo>
                  <a:lnTo>
                    <a:pt x="256815" y="379223"/>
                  </a:lnTo>
                </a:path>
                <a:path w="372110" h="894080">
                  <a:moveTo>
                    <a:pt x="46286" y="377463"/>
                  </a:moveTo>
                  <a:lnTo>
                    <a:pt x="232668" y="377463"/>
                  </a:lnTo>
                </a:path>
                <a:path w="372110" h="894080">
                  <a:moveTo>
                    <a:pt x="62410" y="376525"/>
                  </a:moveTo>
                  <a:lnTo>
                    <a:pt x="248792" y="376525"/>
                  </a:lnTo>
                </a:path>
                <a:path w="372110" h="894080">
                  <a:moveTo>
                    <a:pt x="29855" y="375645"/>
                  </a:moveTo>
                  <a:lnTo>
                    <a:pt x="216237" y="375645"/>
                  </a:lnTo>
                </a:path>
                <a:path w="372110" h="894080">
                  <a:moveTo>
                    <a:pt x="176430" y="374766"/>
                  </a:moveTo>
                  <a:lnTo>
                    <a:pt x="362812" y="374766"/>
                  </a:lnTo>
                </a:path>
                <a:path w="372110" h="894080">
                  <a:moveTo>
                    <a:pt x="122737" y="373886"/>
                  </a:moveTo>
                  <a:lnTo>
                    <a:pt x="309119" y="373886"/>
                  </a:lnTo>
                </a:path>
                <a:path w="372110" h="894080">
                  <a:moveTo>
                    <a:pt x="46132" y="372948"/>
                  </a:moveTo>
                  <a:lnTo>
                    <a:pt x="232514" y="372948"/>
                  </a:lnTo>
                </a:path>
                <a:path w="372110" h="894080">
                  <a:moveTo>
                    <a:pt x="120037" y="372068"/>
                  </a:moveTo>
                  <a:lnTo>
                    <a:pt x="306419" y="372068"/>
                  </a:lnTo>
                </a:path>
                <a:path w="372110" h="894080">
                  <a:moveTo>
                    <a:pt x="173807" y="371189"/>
                  </a:moveTo>
                  <a:lnTo>
                    <a:pt x="360189" y="371189"/>
                  </a:lnTo>
                </a:path>
                <a:path w="372110" h="894080">
                  <a:moveTo>
                    <a:pt x="82930" y="370309"/>
                  </a:moveTo>
                  <a:lnTo>
                    <a:pt x="269312" y="370309"/>
                  </a:lnTo>
                </a:path>
                <a:path w="372110" h="894080">
                  <a:moveTo>
                    <a:pt x="134926" y="369371"/>
                  </a:moveTo>
                  <a:lnTo>
                    <a:pt x="321231" y="369371"/>
                  </a:lnTo>
                </a:path>
                <a:path w="372110" h="894080">
                  <a:moveTo>
                    <a:pt x="136469" y="368491"/>
                  </a:moveTo>
                  <a:lnTo>
                    <a:pt x="322774" y="368491"/>
                  </a:lnTo>
                </a:path>
                <a:path w="372110" h="894080">
                  <a:moveTo>
                    <a:pt x="35255" y="367612"/>
                  </a:moveTo>
                  <a:lnTo>
                    <a:pt x="221637" y="367612"/>
                  </a:lnTo>
                </a:path>
                <a:path w="372110" h="894080">
                  <a:moveTo>
                    <a:pt x="48678" y="366732"/>
                  </a:moveTo>
                  <a:lnTo>
                    <a:pt x="234983" y="366732"/>
                  </a:lnTo>
                </a:path>
                <a:path w="372110" h="894080">
                  <a:moveTo>
                    <a:pt x="149121" y="365794"/>
                  </a:moveTo>
                  <a:lnTo>
                    <a:pt x="335425" y="365794"/>
                  </a:lnTo>
                </a:path>
                <a:path w="372110" h="894080">
                  <a:moveTo>
                    <a:pt x="109468" y="364914"/>
                  </a:moveTo>
                  <a:lnTo>
                    <a:pt x="295850" y="364914"/>
                  </a:lnTo>
                </a:path>
                <a:path w="372110" h="894080">
                  <a:moveTo>
                    <a:pt x="81387" y="364035"/>
                  </a:moveTo>
                  <a:lnTo>
                    <a:pt x="267769" y="364035"/>
                  </a:lnTo>
                </a:path>
                <a:path w="372110" h="894080">
                  <a:moveTo>
                    <a:pt x="50915" y="363155"/>
                  </a:moveTo>
                  <a:lnTo>
                    <a:pt x="237297" y="363155"/>
                  </a:lnTo>
                </a:path>
                <a:path w="372110" h="894080">
                  <a:moveTo>
                    <a:pt x="144338" y="362217"/>
                  </a:moveTo>
                  <a:lnTo>
                    <a:pt x="330720" y="362217"/>
                  </a:lnTo>
                </a:path>
                <a:path w="372110" h="894080">
                  <a:moveTo>
                    <a:pt x="64030" y="361337"/>
                  </a:moveTo>
                  <a:lnTo>
                    <a:pt x="250412" y="361337"/>
                  </a:lnTo>
                </a:path>
                <a:path w="372110" h="894080">
                  <a:moveTo>
                    <a:pt x="97202" y="360458"/>
                  </a:moveTo>
                  <a:lnTo>
                    <a:pt x="283507" y="360458"/>
                  </a:lnTo>
                </a:path>
                <a:path w="372110" h="894080">
                  <a:moveTo>
                    <a:pt x="95891" y="359578"/>
                  </a:moveTo>
                  <a:lnTo>
                    <a:pt x="282273" y="359578"/>
                  </a:lnTo>
                </a:path>
                <a:path w="372110" h="894080">
                  <a:moveTo>
                    <a:pt x="44589" y="358640"/>
                  </a:moveTo>
                  <a:lnTo>
                    <a:pt x="230894" y="358640"/>
                  </a:lnTo>
                </a:path>
                <a:path w="372110" h="894080">
                  <a:moveTo>
                    <a:pt x="57087" y="357760"/>
                  </a:moveTo>
                  <a:lnTo>
                    <a:pt x="243392" y="357760"/>
                  </a:lnTo>
                </a:path>
                <a:path w="372110" h="894080">
                  <a:moveTo>
                    <a:pt x="68196" y="356881"/>
                  </a:moveTo>
                  <a:lnTo>
                    <a:pt x="254578" y="356881"/>
                  </a:lnTo>
                </a:path>
                <a:path w="372110" h="894080">
                  <a:moveTo>
                    <a:pt x="111320" y="356001"/>
                  </a:moveTo>
                  <a:lnTo>
                    <a:pt x="297702" y="356001"/>
                  </a:lnTo>
                </a:path>
                <a:path w="372110" h="894080">
                  <a:moveTo>
                    <a:pt x="119111" y="355063"/>
                  </a:moveTo>
                  <a:lnTo>
                    <a:pt x="305416" y="355063"/>
                  </a:lnTo>
                </a:path>
                <a:path w="372110" h="894080">
                  <a:moveTo>
                    <a:pt x="115871" y="354183"/>
                  </a:moveTo>
                  <a:lnTo>
                    <a:pt x="302253" y="354183"/>
                  </a:lnTo>
                </a:path>
                <a:path w="372110" h="894080">
                  <a:moveTo>
                    <a:pt x="107694" y="353304"/>
                  </a:moveTo>
                  <a:lnTo>
                    <a:pt x="293999" y="353304"/>
                  </a:lnTo>
                </a:path>
                <a:path w="372110" h="894080">
                  <a:moveTo>
                    <a:pt x="59015" y="352424"/>
                  </a:moveTo>
                  <a:lnTo>
                    <a:pt x="245397" y="352424"/>
                  </a:lnTo>
                </a:path>
                <a:path w="372110" h="894080">
                  <a:moveTo>
                    <a:pt x="122351" y="351486"/>
                  </a:moveTo>
                  <a:lnTo>
                    <a:pt x="308733" y="351486"/>
                  </a:lnTo>
                </a:path>
                <a:path w="372110" h="894080">
                  <a:moveTo>
                    <a:pt x="90490" y="350606"/>
                  </a:moveTo>
                  <a:lnTo>
                    <a:pt x="276795" y="350606"/>
                  </a:lnTo>
                </a:path>
                <a:path w="372110" h="894080">
                  <a:moveTo>
                    <a:pt x="141020" y="349727"/>
                  </a:moveTo>
                  <a:lnTo>
                    <a:pt x="327402" y="349727"/>
                  </a:lnTo>
                </a:path>
                <a:path w="372110" h="894080">
                  <a:moveTo>
                    <a:pt x="25612" y="348847"/>
                  </a:moveTo>
                  <a:lnTo>
                    <a:pt x="211916" y="348847"/>
                  </a:lnTo>
                </a:path>
                <a:path w="372110" h="894080">
                  <a:moveTo>
                    <a:pt x="102216" y="347909"/>
                  </a:moveTo>
                  <a:lnTo>
                    <a:pt x="288598" y="347909"/>
                  </a:lnTo>
                </a:path>
                <a:path w="372110" h="894080">
                  <a:moveTo>
                    <a:pt x="15506" y="347029"/>
                  </a:moveTo>
                  <a:lnTo>
                    <a:pt x="201888" y="347029"/>
                  </a:lnTo>
                </a:path>
                <a:path w="372110" h="894080">
                  <a:moveTo>
                    <a:pt x="72979" y="346150"/>
                  </a:moveTo>
                  <a:lnTo>
                    <a:pt x="259361" y="346150"/>
                  </a:lnTo>
                </a:path>
                <a:path w="372110" h="894080">
                  <a:moveTo>
                    <a:pt x="125514" y="345270"/>
                  </a:moveTo>
                  <a:lnTo>
                    <a:pt x="311896" y="345270"/>
                  </a:lnTo>
                </a:path>
                <a:path w="372110" h="894080">
                  <a:moveTo>
                    <a:pt x="67501" y="344332"/>
                  </a:moveTo>
                  <a:lnTo>
                    <a:pt x="253883" y="344332"/>
                  </a:lnTo>
                </a:path>
                <a:path w="372110" h="894080">
                  <a:moveTo>
                    <a:pt x="1234" y="343452"/>
                  </a:moveTo>
                  <a:lnTo>
                    <a:pt x="187616" y="343452"/>
                  </a:lnTo>
                </a:path>
                <a:path w="372110" h="894080">
                  <a:moveTo>
                    <a:pt x="97202" y="342573"/>
                  </a:moveTo>
                  <a:lnTo>
                    <a:pt x="283584" y="342573"/>
                  </a:lnTo>
                </a:path>
                <a:path w="372110" h="894080">
                  <a:moveTo>
                    <a:pt x="49681" y="341693"/>
                  </a:moveTo>
                  <a:lnTo>
                    <a:pt x="236063" y="341693"/>
                  </a:lnTo>
                </a:path>
                <a:path w="372110" h="894080">
                  <a:moveTo>
                    <a:pt x="107077" y="340755"/>
                  </a:moveTo>
                  <a:lnTo>
                    <a:pt x="293381" y="340755"/>
                  </a:lnTo>
                </a:path>
                <a:path w="372110" h="894080">
                  <a:moveTo>
                    <a:pt x="89410" y="338996"/>
                  </a:moveTo>
                  <a:lnTo>
                    <a:pt x="275792" y="338996"/>
                  </a:lnTo>
                </a:path>
                <a:path w="372110" h="894080">
                  <a:moveTo>
                    <a:pt x="91879" y="338116"/>
                  </a:moveTo>
                  <a:lnTo>
                    <a:pt x="278261" y="338116"/>
                  </a:lnTo>
                </a:path>
                <a:path w="372110" h="894080">
                  <a:moveTo>
                    <a:pt x="114020" y="337178"/>
                  </a:moveTo>
                  <a:lnTo>
                    <a:pt x="300402" y="337178"/>
                  </a:lnTo>
                </a:path>
                <a:path w="372110" h="894080">
                  <a:moveTo>
                    <a:pt x="128060" y="336298"/>
                  </a:moveTo>
                  <a:lnTo>
                    <a:pt x="314442" y="336298"/>
                  </a:lnTo>
                </a:path>
                <a:path w="372110" h="894080">
                  <a:moveTo>
                    <a:pt x="10800" y="335419"/>
                  </a:moveTo>
                  <a:lnTo>
                    <a:pt x="197105" y="335419"/>
                  </a:lnTo>
                </a:path>
                <a:path w="372110" h="894080">
                  <a:moveTo>
                    <a:pt x="87945" y="334539"/>
                  </a:moveTo>
                  <a:lnTo>
                    <a:pt x="274250" y="334539"/>
                  </a:lnTo>
                </a:path>
                <a:path w="372110" h="894080">
                  <a:moveTo>
                    <a:pt x="96816" y="333601"/>
                  </a:moveTo>
                  <a:lnTo>
                    <a:pt x="283121" y="333601"/>
                  </a:lnTo>
                </a:path>
                <a:path w="372110" h="894080">
                  <a:moveTo>
                    <a:pt x="26229" y="332721"/>
                  </a:moveTo>
                  <a:lnTo>
                    <a:pt x="212534" y="332721"/>
                  </a:lnTo>
                </a:path>
                <a:path w="372110" h="894080">
                  <a:moveTo>
                    <a:pt x="70510" y="331842"/>
                  </a:moveTo>
                  <a:lnTo>
                    <a:pt x="256815" y="331842"/>
                  </a:lnTo>
                </a:path>
                <a:path w="372110" h="894080">
                  <a:moveTo>
                    <a:pt x="101136" y="330962"/>
                  </a:moveTo>
                  <a:lnTo>
                    <a:pt x="287518" y="330962"/>
                  </a:lnTo>
                </a:path>
                <a:path w="372110" h="894080">
                  <a:moveTo>
                    <a:pt x="46441" y="330024"/>
                  </a:moveTo>
                  <a:lnTo>
                    <a:pt x="232823" y="330024"/>
                  </a:lnTo>
                </a:path>
                <a:path w="372110" h="894080">
                  <a:moveTo>
                    <a:pt x="91185" y="329144"/>
                  </a:moveTo>
                  <a:lnTo>
                    <a:pt x="277567" y="329144"/>
                  </a:lnTo>
                </a:path>
                <a:path w="372110" h="894080">
                  <a:moveTo>
                    <a:pt x="66036" y="328265"/>
                  </a:moveTo>
                  <a:lnTo>
                    <a:pt x="252418" y="328265"/>
                  </a:lnTo>
                </a:path>
                <a:path w="372110" h="894080">
                  <a:moveTo>
                    <a:pt x="27463" y="327385"/>
                  </a:moveTo>
                  <a:lnTo>
                    <a:pt x="213845" y="327385"/>
                  </a:lnTo>
                </a:path>
                <a:path w="372110" h="894080">
                  <a:moveTo>
                    <a:pt x="54001" y="326447"/>
                  </a:moveTo>
                  <a:lnTo>
                    <a:pt x="240306" y="326447"/>
                  </a:lnTo>
                </a:path>
                <a:path w="372110" h="894080">
                  <a:moveTo>
                    <a:pt x="56084" y="325567"/>
                  </a:moveTo>
                  <a:lnTo>
                    <a:pt x="242466" y="325567"/>
                  </a:lnTo>
                </a:path>
                <a:path w="372110" h="894080">
                  <a:moveTo>
                    <a:pt x="135003" y="324688"/>
                  </a:moveTo>
                  <a:lnTo>
                    <a:pt x="321385" y="324688"/>
                  </a:lnTo>
                </a:path>
                <a:path w="372110" h="894080">
                  <a:moveTo>
                    <a:pt x="129834" y="323808"/>
                  </a:moveTo>
                  <a:lnTo>
                    <a:pt x="316139" y="323808"/>
                  </a:lnTo>
                </a:path>
                <a:path w="372110" h="894080">
                  <a:moveTo>
                    <a:pt x="110934" y="322870"/>
                  </a:moveTo>
                  <a:lnTo>
                    <a:pt x="297316" y="322870"/>
                  </a:lnTo>
                </a:path>
                <a:path w="372110" h="894080">
                  <a:moveTo>
                    <a:pt x="44821" y="321990"/>
                  </a:moveTo>
                  <a:lnTo>
                    <a:pt x="231203" y="321990"/>
                  </a:lnTo>
                </a:path>
                <a:path w="372110" h="894080">
                  <a:moveTo>
                    <a:pt x="111397" y="321111"/>
                  </a:moveTo>
                  <a:lnTo>
                    <a:pt x="297779" y="321111"/>
                  </a:lnTo>
                </a:path>
                <a:path w="372110" h="894080">
                  <a:moveTo>
                    <a:pt x="57858" y="320231"/>
                  </a:moveTo>
                  <a:lnTo>
                    <a:pt x="244163" y="320231"/>
                  </a:lnTo>
                </a:path>
                <a:path w="372110" h="894080">
                  <a:moveTo>
                    <a:pt x="79150" y="319293"/>
                  </a:moveTo>
                  <a:lnTo>
                    <a:pt x="265532" y="319293"/>
                  </a:lnTo>
                </a:path>
                <a:path w="372110" h="894080">
                  <a:moveTo>
                    <a:pt x="158147" y="318413"/>
                  </a:moveTo>
                  <a:lnTo>
                    <a:pt x="344529" y="318413"/>
                  </a:lnTo>
                </a:path>
                <a:path w="372110" h="894080">
                  <a:moveTo>
                    <a:pt x="27695" y="317534"/>
                  </a:moveTo>
                  <a:lnTo>
                    <a:pt x="214077" y="317534"/>
                  </a:lnTo>
                </a:path>
                <a:path w="372110" h="894080">
                  <a:moveTo>
                    <a:pt x="140480" y="316654"/>
                  </a:moveTo>
                  <a:lnTo>
                    <a:pt x="326862" y="316654"/>
                  </a:lnTo>
                </a:path>
                <a:path w="372110" h="894080">
                  <a:moveTo>
                    <a:pt x="125437" y="315716"/>
                  </a:moveTo>
                  <a:lnTo>
                    <a:pt x="311819" y="315716"/>
                  </a:lnTo>
                </a:path>
                <a:path w="372110" h="894080">
                  <a:moveTo>
                    <a:pt x="74059" y="314836"/>
                  </a:moveTo>
                  <a:lnTo>
                    <a:pt x="260441" y="314836"/>
                  </a:lnTo>
                </a:path>
                <a:path w="372110" h="894080">
                  <a:moveTo>
                    <a:pt x="110857" y="313957"/>
                  </a:moveTo>
                  <a:lnTo>
                    <a:pt x="297239" y="313957"/>
                  </a:lnTo>
                </a:path>
                <a:path w="372110" h="894080">
                  <a:moveTo>
                    <a:pt x="137549" y="313077"/>
                  </a:moveTo>
                  <a:lnTo>
                    <a:pt x="323931" y="313077"/>
                  </a:lnTo>
                </a:path>
                <a:path w="372110" h="894080">
                  <a:moveTo>
                    <a:pt x="113480" y="312139"/>
                  </a:moveTo>
                  <a:lnTo>
                    <a:pt x="299862" y="312139"/>
                  </a:lnTo>
                </a:path>
                <a:path w="372110" h="894080">
                  <a:moveTo>
                    <a:pt x="86556" y="310379"/>
                  </a:moveTo>
                  <a:lnTo>
                    <a:pt x="272938" y="310379"/>
                  </a:lnTo>
                </a:path>
                <a:path w="372110" h="894080">
                  <a:moveTo>
                    <a:pt x="130220" y="309500"/>
                  </a:moveTo>
                  <a:lnTo>
                    <a:pt x="316525" y="309500"/>
                  </a:lnTo>
                </a:path>
                <a:path w="372110" h="894080">
                  <a:moveTo>
                    <a:pt x="19363" y="308562"/>
                  </a:moveTo>
                  <a:lnTo>
                    <a:pt x="205668" y="308562"/>
                  </a:lnTo>
                </a:path>
                <a:path w="372110" h="894080">
                  <a:moveTo>
                    <a:pt x="102834" y="307682"/>
                  </a:moveTo>
                  <a:lnTo>
                    <a:pt x="289216" y="307682"/>
                  </a:lnTo>
                </a:path>
                <a:path w="372110" h="894080">
                  <a:moveTo>
                    <a:pt x="44898" y="306802"/>
                  </a:moveTo>
                  <a:lnTo>
                    <a:pt x="231280" y="306802"/>
                  </a:lnTo>
                </a:path>
                <a:path w="372110" h="894080">
                  <a:moveTo>
                    <a:pt x="132689" y="305923"/>
                  </a:moveTo>
                  <a:lnTo>
                    <a:pt x="318994" y="305923"/>
                  </a:lnTo>
                </a:path>
                <a:path w="372110" h="894080">
                  <a:moveTo>
                    <a:pt x="70433" y="304985"/>
                  </a:moveTo>
                  <a:lnTo>
                    <a:pt x="256738" y="304985"/>
                  </a:lnTo>
                </a:path>
                <a:path w="372110" h="894080">
                  <a:moveTo>
                    <a:pt x="97433" y="304105"/>
                  </a:moveTo>
                  <a:lnTo>
                    <a:pt x="283738" y="304105"/>
                  </a:lnTo>
                </a:path>
                <a:path w="372110" h="894080">
                  <a:moveTo>
                    <a:pt x="89642" y="303225"/>
                  </a:moveTo>
                  <a:lnTo>
                    <a:pt x="276024" y="303225"/>
                  </a:lnTo>
                </a:path>
                <a:path w="372110" h="894080">
                  <a:moveTo>
                    <a:pt x="137857" y="302346"/>
                  </a:moveTo>
                  <a:lnTo>
                    <a:pt x="324162" y="302346"/>
                  </a:lnTo>
                </a:path>
                <a:path w="372110" h="894080">
                  <a:moveTo>
                    <a:pt x="84396" y="301408"/>
                  </a:moveTo>
                  <a:lnTo>
                    <a:pt x="270778" y="301408"/>
                  </a:lnTo>
                </a:path>
                <a:path w="372110" h="894080">
                  <a:moveTo>
                    <a:pt x="86247" y="300528"/>
                  </a:moveTo>
                  <a:lnTo>
                    <a:pt x="272630" y="300528"/>
                  </a:lnTo>
                </a:path>
                <a:path w="372110" h="894080">
                  <a:moveTo>
                    <a:pt x="71281" y="299648"/>
                  </a:moveTo>
                  <a:lnTo>
                    <a:pt x="257586" y="299648"/>
                  </a:lnTo>
                </a:path>
                <a:path w="372110" h="894080">
                  <a:moveTo>
                    <a:pt x="54387" y="298710"/>
                  </a:moveTo>
                  <a:lnTo>
                    <a:pt x="240769" y="298710"/>
                  </a:lnTo>
                </a:path>
                <a:path w="372110" h="894080">
                  <a:moveTo>
                    <a:pt x="109854" y="297831"/>
                  </a:moveTo>
                  <a:lnTo>
                    <a:pt x="296159" y="297831"/>
                  </a:lnTo>
                </a:path>
                <a:path w="372110" h="894080">
                  <a:moveTo>
                    <a:pt x="97973" y="296951"/>
                  </a:moveTo>
                  <a:lnTo>
                    <a:pt x="284356" y="296951"/>
                  </a:lnTo>
                </a:path>
                <a:path w="372110" h="894080">
                  <a:moveTo>
                    <a:pt x="11880" y="296071"/>
                  </a:moveTo>
                  <a:lnTo>
                    <a:pt x="198185" y="296071"/>
                  </a:lnTo>
                </a:path>
                <a:path w="372110" h="894080">
                  <a:moveTo>
                    <a:pt x="50452" y="295133"/>
                  </a:moveTo>
                  <a:lnTo>
                    <a:pt x="236834" y="295133"/>
                  </a:lnTo>
                </a:path>
                <a:path w="372110" h="894080">
                  <a:moveTo>
                    <a:pt x="55544" y="294254"/>
                  </a:moveTo>
                  <a:lnTo>
                    <a:pt x="241926" y="294254"/>
                  </a:lnTo>
                </a:path>
                <a:path w="372110" h="894080">
                  <a:moveTo>
                    <a:pt x="115640" y="293374"/>
                  </a:moveTo>
                  <a:lnTo>
                    <a:pt x="302022" y="293374"/>
                  </a:lnTo>
                </a:path>
                <a:path w="372110" h="894080">
                  <a:moveTo>
                    <a:pt x="93885" y="292494"/>
                  </a:moveTo>
                  <a:lnTo>
                    <a:pt x="280267" y="292494"/>
                  </a:lnTo>
                </a:path>
                <a:path w="372110" h="894080">
                  <a:moveTo>
                    <a:pt x="99285" y="291556"/>
                  </a:moveTo>
                  <a:lnTo>
                    <a:pt x="285590" y="291556"/>
                  </a:lnTo>
                </a:path>
                <a:path w="372110" h="894080">
                  <a:moveTo>
                    <a:pt x="16200" y="290677"/>
                  </a:moveTo>
                  <a:lnTo>
                    <a:pt x="202582" y="290677"/>
                  </a:lnTo>
                </a:path>
                <a:path w="372110" h="894080">
                  <a:moveTo>
                    <a:pt x="45669" y="288917"/>
                  </a:moveTo>
                  <a:lnTo>
                    <a:pt x="231974" y="288917"/>
                  </a:lnTo>
                </a:path>
                <a:path w="372110" h="894080">
                  <a:moveTo>
                    <a:pt x="85476" y="287979"/>
                  </a:moveTo>
                  <a:lnTo>
                    <a:pt x="271858" y="287979"/>
                  </a:lnTo>
                </a:path>
                <a:path w="372110" h="894080">
                  <a:moveTo>
                    <a:pt x="149198" y="287100"/>
                  </a:moveTo>
                  <a:lnTo>
                    <a:pt x="335580" y="287100"/>
                  </a:lnTo>
                </a:path>
                <a:path w="372110" h="894080">
                  <a:moveTo>
                    <a:pt x="170027" y="286220"/>
                  </a:moveTo>
                  <a:lnTo>
                    <a:pt x="356409" y="286220"/>
                  </a:lnTo>
                </a:path>
                <a:path w="372110" h="894080">
                  <a:moveTo>
                    <a:pt x="107154" y="285340"/>
                  </a:moveTo>
                  <a:lnTo>
                    <a:pt x="293536" y="285340"/>
                  </a:lnTo>
                </a:path>
                <a:path w="372110" h="894080">
                  <a:moveTo>
                    <a:pt x="60018" y="284402"/>
                  </a:moveTo>
                  <a:lnTo>
                    <a:pt x="246400" y="284402"/>
                  </a:lnTo>
                </a:path>
                <a:path w="372110" h="894080">
                  <a:moveTo>
                    <a:pt x="39266" y="283522"/>
                  </a:moveTo>
                  <a:lnTo>
                    <a:pt x="225648" y="283522"/>
                  </a:lnTo>
                </a:path>
                <a:path w="372110" h="894080">
                  <a:moveTo>
                    <a:pt x="23143" y="280825"/>
                  </a:moveTo>
                  <a:lnTo>
                    <a:pt x="209525" y="280825"/>
                  </a:lnTo>
                </a:path>
                <a:path w="372110" h="894080">
                  <a:moveTo>
                    <a:pt x="72901" y="279945"/>
                  </a:moveTo>
                  <a:lnTo>
                    <a:pt x="259283" y="279945"/>
                  </a:lnTo>
                </a:path>
                <a:path w="372110" h="894080">
                  <a:moveTo>
                    <a:pt x="150818" y="279066"/>
                  </a:moveTo>
                  <a:lnTo>
                    <a:pt x="337200" y="279066"/>
                  </a:lnTo>
                </a:path>
                <a:path w="372110" h="894080">
                  <a:moveTo>
                    <a:pt x="132534" y="278186"/>
                  </a:moveTo>
                  <a:lnTo>
                    <a:pt x="318916" y="278186"/>
                  </a:lnTo>
                </a:path>
                <a:path w="372110" h="894080">
                  <a:moveTo>
                    <a:pt x="128909" y="277248"/>
                  </a:moveTo>
                  <a:lnTo>
                    <a:pt x="315291" y="277248"/>
                  </a:lnTo>
                </a:path>
                <a:path w="372110" h="894080">
                  <a:moveTo>
                    <a:pt x="111782" y="276368"/>
                  </a:moveTo>
                  <a:lnTo>
                    <a:pt x="298164" y="276368"/>
                  </a:lnTo>
                </a:path>
                <a:path w="372110" h="894080">
                  <a:moveTo>
                    <a:pt x="139246" y="275489"/>
                  </a:moveTo>
                  <a:lnTo>
                    <a:pt x="325628" y="275489"/>
                  </a:lnTo>
                </a:path>
                <a:path w="372110" h="894080">
                  <a:moveTo>
                    <a:pt x="77916" y="274609"/>
                  </a:moveTo>
                  <a:lnTo>
                    <a:pt x="264221" y="274609"/>
                  </a:lnTo>
                </a:path>
                <a:path w="372110" h="894080">
                  <a:moveTo>
                    <a:pt x="147501" y="273671"/>
                  </a:moveTo>
                  <a:lnTo>
                    <a:pt x="333883" y="273671"/>
                  </a:lnTo>
                </a:path>
                <a:path w="372110" h="894080">
                  <a:moveTo>
                    <a:pt x="617" y="272791"/>
                  </a:moveTo>
                  <a:lnTo>
                    <a:pt x="186999" y="272791"/>
                  </a:lnTo>
                </a:path>
                <a:path w="372110" h="894080">
                  <a:moveTo>
                    <a:pt x="48446" y="271032"/>
                  </a:moveTo>
                  <a:lnTo>
                    <a:pt x="234751" y="271032"/>
                  </a:lnTo>
                </a:path>
                <a:path w="372110" h="894080">
                  <a:moveTo>
                    <a:pt x="5708" y="270094"/>
                  </a:moveTo>
                  <a:lnTo>
                    <a:pt x="192090" y="270094"/>
                  </a:lnTo>
                </a:path>
                <a:path w="372110" h="894080">
                  <a:moveTo>
                    <a:pt x="106845" y="269214"/>
                  </a:moveTo>
                  <a:lnTo>
                    <a:pt x="293150" y="269214"/>
                  </a:lnTo>
                </a:path>
                <a:path w="372110" h="894080">
                  <a:moveTo>
                    <a:pt x="158918" y="268335"/>
                  </a:moveTo>
                  <a:lnTo>
                    <a:pt x="345300" y="268335"/>
                  </a:lnTo>
                </a:path>
                <a:path w="372110" h="894080">
                  <a:moveTo>
                    <a:pt x="111397" y="267455"/>
                  </a:moveTo>
                  <a:lnTo>
                    <a:pt x="297779" y="267455"/>
                  </a:lnTo>
                </a:path>
                <a:path w="372110" h="894080">
                  <a:moveTo>
                    <a:pt x="97279" y="266517"/>
                  </a:moveTo>
                  <a:lnTo>
                    <a:pt x="283661" y="266517"/>
                  </a:lnTo>
                </a:path>
                <a:path w="372110" h="894080">
                  <a:moveTo>
                    <a:pt x="106537" y="265637"/>
                  </a:moveTo>
                  <a:lnTo>
                    <a:pt x="292841" y="265637"/>
                  </a:lnTo>
                </a:path>
                <a:path w="372110" h="894080">
                  <a:moveTo>
                    <a:pt x="121811" y="264758"/>
                  </a:moveTo>
                  <a:lnTo>
                    <a:pt x="308193" y="264758"/>
                  </a:lnTo>
                </a:path>
                <a:path w="372110" h="894080">
                  <a:moveTo>
                    <a:pt x="37800" y="263878"/>
                  </a:moveTo>
                  <a:lnTo>
                    <a:pt x="224183" y="263878"/>
                  </a:lnTo>
                </a:path>
                <a:path w="372110" h="894080">
                  <a:moveTo>
                    <a:pt x="126980" y="262940"/>
                  </a:moveTo>
                  <a:lnTo>
                    <a:pt x="313362" y="262940"/>
                  </a:lnTo>
                </a:path>
                <a:path w="372110" h="894080">
                  <a:moveTo>
                    <a:pt x="65187" y="260301"/>
                  </a:moveTo>
                  <a:lnTo>
                    <a:pt x="251492" y="260301"/>
                  </a:lnTo>
                </a:path>
                <a:path w="372110" h="894080">
                  <a:moveTo>
                    <a:pt x="58167" y="259363"/>
                  </a:moveTo>
                  <a:lnTo>
                    <a:pt x="244549" y="259363"/>
                  </a:lnTo>
                </a:path>
                <a:path w="372110" h="894080">
                  <a:moveTo>
                    <a:pt x="124974" y="258483"/>
                  </a:moveTo>
                  <a:lnTo>
                    <a:pt x="311356" y="258483"/>
                  </a:lnTo>
                </a:path>
                <a:path w="372110" h="894080">
                  <a:moveTo>
                    <a:pt x="117260" y="257604"/>
                  </a:moveTo>
                  <a:lnTo>
                    <a:pt x="303642" y="257604"/>
                  </a:lnTo>
                </a:path>
                <a:path w="372110" h="894080">
                  <a:moveTo>
                    <a:pt x="13423" y="256724"/>
                  </a:moveTo>
                  <a:lnTo>
                    <a:pt x="199805" y="256724"/>
                  </a:lnTo>
                </a:path>
                <a:path w="372110" h="894080">
                  <a:moveTo>
                    <a:pt x="93268" y="255786"/>
                  </a:moveTo>
                  <a:lnTo>
                    <a:pt x="279650" y="255786"/>
                  </a:lnTo>
                </a:path>
                <a:path w="372110" h="894080">
                  <a:moveTo>
                    <a:pt x="30857" y="254906"/>
                  </a:moveTo>
                  <a:lnTo>
                    <a:pt x="217239" y="254906"/>
                  </a:lnTo>
                </a:path>
                <a:path w="372110" h="894080">
                  <a:moveTo>
                    <a:pt x="154444" y="254027"/>
                  </a:moveTo>
                  <a:lnTo>
                    <a:pt x="340826" y="254027"/>
                  </a:lnTo>
                </a:path>
                <a:path w="372110" h="894080">
                  <a:moveTo>
                    <a:pt x="94579" y="253147"/>
                  </a:moveTo>
                  <a:lnTo>
                    <a:pt x="280961" y="253147"/>
                  </a:lnTo>
                </a:path>
                <a:path w="372110" h="894080">
                  <a:moveTo>
                    <a:pt x="77376" y="251329"/>
                  </a:moveTo>
                  <a:lnTo>
                    <a:pt x="263681" y="251329"/>
                  </a:lnTo>
                </a:path>
                <a:path w="372110" h="894080">
                  <a:moveTo>
                    <a:pt x="112785" y="250450"/>
                  </a:moveTo>
                  <a:lnTo>
                    <a:pt x="299167" y="250450"/>
                  </a:lnTo>
                </a:path>
                <a:path w="372110" h="894080">
                  <a:moveTo>
                    <a:pt x="59787" y="249570"/>
                  </a:moveTo>
                  <a:lnTo>
                    <a:pt x="246169" y="249570"/>
                  </a:lnTo>
                </a:path>
                <a:path w="372110" h="894080">
                  <a:moveTo>
                    <a:pt x="17049" y="248632"/>
                  </a:moveTo>
                  <a:lnTo>
                    <a:pt x="203431" y="248632"/>
                  </a:lnTo>
                </a:path>
                <a:path w="372110" h="894080">
                  <a:moveTo>
                    <a:pt x="135389" y="247752"/>
                  </a:moveTo>
                  <a:lnTo>
                    <a:pt x="321694" y="247752"/>
                  </a:lnTo>
                </a:path>
                <a:path w="372110" h="894080">
                  <a:moveTo>
                    <a:pt x="14040" y="246873"/>
                  </a:moveTo>
                  <a:lnTo>
                    <a:pt x="200422" y="246873"/>
                  </a:lnTo>
                </a:path>
                <a:path w="372110" h="894080">
                  <a:moveTo>
                    <a:pt x="54464" y="245993"/>
                  </a:moveTo>
                  <a:lnTo>
                    <a:pt x="240846" y="245993"/>
                  </a:lnTo>
                </a:path>
                <a:path w="372110" h="894080">
                  <a:moveTo>
                    <a:pt x="123123" y="245055"/>
                  </a:moveTo>
                  <a:lnTo>
                    <a:pt x="309428" y="245055"/>
                  </a:lnTo>
                </a:path>
                <a:path w="372110" h="894080">
                  <a:moveTo>
                    <a:pt x="101214" y="244175"/>
                  </a:moveTo>
                  <a:lnTo>
                    <a:pt x="287596" y="244175"/>
                  </a:lnTo>
                </a:path>
                <a:path w="372110" h="894080">
                  <a:moveTo>
                    <a:pt x="98436" y="243296"/>
                  </a:moveTo>
                  <a:lnTo>
                    <a:pt x="284818" y="243296"/>
                  </a:lnTo>
                </a:path>
                <a:path w="372110" h="894080">
                  <a:moveTo>
                    <a:pt x="56624" y="242416"/>
                  </a:moveTo>
                  <a:lnTo>
                    <a:pt x="242929" y="242416"/>
                  </a:lnTo>
                </a:path>
                <a:path w="372110" h="894080">
                  <a:moveTo>
                    <a:pt x="163855" y="241478"/>
                  </a:moveTo>
                  <a:lnTo>
                    <a:pt x="350160" y="241478"/>
                  </a:lnTo>
                </a:path>
                <a:path w="372110" h="894080">
                  <a:moveTo>
                    <a:pt x="22217" y="240598"/>
                  </a:moveTo>
                  <a:lnTo>
                    <a:pt x="208522" y="240598"/>
                  </a:lnTo>
                </a:path>
                <a:path w="372110" h="894080">
                  <a:moveTo>
                    <a:pt x="68813" y="238839"/>
                  </a:moveTo>
                  <a:lnTo>
                    <a:pt x="255195" y="238839"/>
                  </a:lnTo>
                </a:path>
                <a:path w="372110" h="894080">
                  <a:moveTo>
                    <a:pt x="58321" y="237901"/>
                  </a:moveTo>
                  <a:lnTo>
                    <a:pt x="244703" y="237901"/>
                  </a:lnTo>
                </a:path>
                <a:path w="372110" h="894080">
                  <a:moveTo>
                    <a:pt x="106691" y="237021"/>
                  </a:moveTo>
                  <a:lnTo>
                    <a:pt x="293073" y="237021"/>
                  </a:lnTo>
                </a:path>
                <a:path w="372110" h="894080">
                  <a:moveTo>
                    <a:pt x="156295" y="236142"/>
                  </a:moveTo>
                  <a:lnTo>
                    <a:pt x="342600" y="236142"/>
                  </a:lnTo>
                </a:path>
                <a:path w="372110" h="894080">
                  <a:moveTo>
                    <a:pt x="138089" y="235262"/>
                  </a:moveTo>
                  <a:lnTo>
                    <a:pt x="324394" y="235262"/>
                  </a:lnTo>
                </a:path>
                <a:path w="372110" h="894080">
                  <a:moveTo>
                    <a:pt x="38418" y="234324"/>
                  </a:moveTo>
                  <a:lnTo>
                    <a:pt x="224723" y="234324"/>
                  </a:lnTo>
                </a:path>
                <a:path w="372110" h="894080">
                  <a:moveTo>
                    <a:pt x="132072" y="233444"/>
                  </a:moveTo>
                  <a:lnTo>
                    <a:pt x="318454" y="233444"/>
                  </a:lnTo>
                </a:path>
                <a:path w="372110" h="894080">
                  <a:moveTo>
                    <a:pt x="67656" y="232565"/>
                  </a:moveTo>
                  <a:lnTo>
                    <a:pt x="254038" y="232565"/>
                  </a:lnTo>
                </a:path>
                <a:path w="372110" h="894080">
                  <a:moveTo>
                    <a:pt x="57781" y="231685"/>
                  </a:moveTo>
                  <a:lnTo>
                    <a:pt x="244163" y="231685"/>
                  </a:lnTo>
                </a:path>
                <a:path w="372110" h="894080">
                  <a:moveTo>
                    <a:pt x="75524" y="230747"/>
                  </a:moveTo>
                  <a:lnTo>
                    <a:pt x="261829" y="230747"/>
                  </a:lnTo>
                </a:path>
                <a:path w="372110" h="894080">
                  <a:moveTo>
                    <a:pt x="140017" y="229867"/>
                  </a:moveTo>
                  <a:lnTo>
                    <a:pt x="326399" y="229867"/>
                  </a:lnTo>
                </a:path>
                <a:path w="372110" h="894080">
                  <a:moveTo>
                    <a:pt x="22140" y="228988"/>
                  </a:moveTo>
                  <a:lnTo>
                    <a:pt x="208522" y="228988"/>
                  </a:lnTo>
                </a:path>
                <a:path w="372110" h="894080">
                  <a:moveTo>
                    <a:pt x="105379" y="228108"/>
                  </a:moveTo>
                  <a:lnTo>
                    <a:pt x="291761" y="228108"/>
                  </a:lnTo>
                </a:path>
                <a:path w="372110" h="894080">
                  <a:moveTo>
                    <a:pt x="98436" y="227170"/>
                  </a:moveTo>
                  <a:lnTo>
                    <a:pt x="284818" y="227170"/>
                  </a:lnTo>
                </a:path>
                <a:path w="372110" h="894080">
                  <a:moveTo>
                    <a:pt x="72901" y="226290"/>
                  </a:moveTo>
                  <a:lnTo>
                    <a:pt x="259283" y="226290"/>
                  </a:lnTo>
                </a:path>
                <a:path w="372110" h="894080">
                  <a:moveTo>
                    <a:pt x="39343" y="225411"/>
                  </a:moveTo>
                  <a:lnTo>
                    <a:pt x="225725" y="225411"/>
                  </a:lnTo>
                </a:path>
                <a:path w="372110" h="894080">
                  <a:moveTo>
                    <a:pt x="83856" y="224531"/>
                  </a:moveTo>
                  <a:lnTo>
                    <a:pt x="270161" y="224531"/>
                  </a:lnTo>
                </a:path>
                <a:path w="372110" h="894080">
                  <a:moveTo>
                    <a:pt x="73056" y="223593"/>
                  </a:moveTo>
                  <a:lnTo>
                    <a:pt x="259361" y="223593"/>
                  </a:lnTo>
                </a:path>
                <a:path w="372110" h="894080">
                  <a:moveTo>
                    <a:pt x="106459" y="222713"/>
                  </a:moveTo>
                  <a:lnTo>
                    <a:pt x="292841" y="222713"/>
                  </a:lnTo>
                </a:path>
                <a:path w="372110" h="894080">
                  <a:moveTo>
                    <a:pt x="136623" y="221834"/>
                  </a:moveTo>
                  <a:lnTo>
                    <a:pt x="322928" y="221834"/>
                  </a:lnTo>
                </a:path>
                <a:path w="372110" h="894080">
                  <a:moveTo>
                    <a:pt x="4320" y="220954"/>
                  </a:moveTo>
                  <a:lnTo>
                    <a:pt x="190702" y="220954"/>
                  </a:lnTo>
                </a:path>
                <a:path w="372110" h="894080">
                  <a:moveTo>
                    <a:pt x="69198" y="220016"/>
                  </a:moveTo>
                  <a:lnTo>
                    <a:pt x="255580" y="220016"/>
                  </a:lnTo>
                </a:path>
                <a:path w="372110" h="894080">
                  <a:moveTo>
                    <a:pt x="128060" y="219136"/>
                  </a:moveTo>
                  <a:lnTo>
                    <a:pt x="314365" y="219136"/>
                  </a:lnTo>
                </a:path>
                <a:path w="372110" h="894080">
                  <a:moveTo>
                    <a:pt x="71281" y="217377"/>
                  </a:moveTo>
                  <a:lnTo>
                    <a:pt x="257663" y="217377"/>
                  </a:lnTo>
                </a:path>
                <a:path w="372110" h="894080">
                  <a:moveTo>
                    <a:pt x="96816" y="216439"/>
                  </a:moveTo>
                  <a:lnTo>
                    <a:pt x="283198" y="216439"/>
                  </a:lnTo>
                </a:path>
                <a:path w="372110" h="894080">
                  <a:moveTo>
                    <a:pt x="44126" y="215559"/>
                  </a:moveTo>
                  <a:lnTo>
                    <a:pt x="230508" y="215559"/>
                  </a:lnTo>
                </a:path>
                <a:path w="372110" h="894080">
                  <a:moveTo>
                    <a:pt x="75447" y="214679"/>
                  </a:moveTo>
                  <a:lnTo>
                    <a:pt x="261829" y="214679"/>
                  </a:lnTo>
                </a:path>
                <a:path w="372110" h="894080">
                  <a:moveTo>
                    <a:pt x="89025" y="213800"/>
                  </a:moveTo>
                  <a:lnTo>
                    <a:pt x="275407" y="213800"/>
                  </a:lnTo>
                </a:path>
                <a:path w="372110" h="894080">
                  <a:moveTo>
                    <a:pt x="183219" y="212862"/>
                  </a:moveTo>
                  <a:lnTo>
                    <a:pt x="369601" y="212862"/>
                  </a:lnTo>
                </a:path>
                <a:path w="372110" h="894080">
                  <a:moveTo>
                    <a:pt x="50529" y="211982"/>
                  </a:moveTo>
                  <a:lnTo>
                    <a:pt x="236911" y="211982"/>
                  </a:lnTo>
                </a:path>
                <a:path w="372110" h="894080">
                  <a:moveTo>
                    <a:pt x="172341" y="211102"/>
                  </a:moveTo>
                  <a:lnTo>
                    <a:pt x="358723" y="211102"/>
                  </a:lnTo>
                </a:path>
                <a:path w="372110" h="894080">
                  <a:moveTo>
                    <a:pt x="93422" y="210164"/>
                  </a:moveTo>
                  <a:lnTo>
                    <a:pt x="279804" y="210164"/>
                  </a:lnTo>
                </a:path>
                <a:path w="372110" h="894080">
                  <a:moveTo>
                    <a:pt x="77993" y="209285"/>
                  </a:moveTo>
                  <a:lnTo>
                    <a:pt x="264298" y="209285"/>
                  </a:lnTo>
                </a:path>
                <a:path w="372110" h="894080">
                  <a:moveTo>
                    <a:pt x="31475" y="208405"/>
                  </a:moveTo>
                  <a:lnTo>
                    <a:pt x="217857" y="208405"/>
                  </a:lnTo>
                </a:path>
                <a:path w="372110" h="894080">
                  <a:moveTo>
                    <a:pt x="96585" y="207525"/>
                  </a:moveTo>
                  <a:lnTo>
                    <a:pt x="282967" y="207525"/>
                  </a:lnTo>
                </a:path>
                <a:path w="372110" h="894080">
                  <a:moveTo>
                    <a:pt x="85399" y="206587"/>
                  </a:moveTo>
                  <a:lnTo>
                    <a:pt x="271704" y="206587"/>
                  </a:lnTo>
                </a:path>
                <a:path w="372110" h="894080">
                  <a:moveTo>
                    <a:pt x="137086" y="205708"/>
                  </a:moveTo>
                  <a:lnTo>
                    <a:pt x="323468" y="205708"/>
                  </a:lnTo>
                </a:path>
                <a:path w="372110" h="894080">
                  <a:moveTo>
                    <a:pt x="73596" y="204828"/>
                  </a:moveTo>
                  <a:lnTo>
                    <a:pt x="259978" y="204828"/>
                  </a:lnTo>
                </a:path>
                <a:path w="372110" h="894080">
                  <a:moveTo>
                    <a:pt x="112554" y="203948"/>
                  </a:moveTo>
                  <a:lnTo>
                    <a:pt x="298936" y="203948"/>
                  </a:lnTo>
                </a:path>
                <a:path w="372110" h="894080">
                  <a:moveTo>
                    <a:pt x="71899" y="203010"/>
                  </a:moveTo>
                  <a:lnTo>
                    <a:pt x="258281" y="203010"/>
                  </a:lnTo>
                </a:path>
                <a:path w="372110" h="894080">
                  <a:moveTo>
                    <a:pt x="94656" y="202131"/>
                  </a:moveTo>
                  <a:lnTo>
                    <a:pt x="281038" y="202131"/>
                  </a:lnTo>
                </a:path>
                <a:path w="372110" h="894080">
                  <a:moveTo>
                    <a:pt x="108697" y="201251"/>
                  </a:moveTo>
                  <a:lnTo>
                    <a:pt x="295079" y="201251"/>
                  </a:lnTo>
                </a:path>
                <a:path w="372110" h="894080">
                  <a:moveTo>
                    <a:pt x="20211" y="200371"/>
                  </a:moveTo>
                  <a:lnTo>
                    <a:pt x="206593" y="200371"/>
                  </a:lnTo>
                </a:path>
                <a:path w="372110" h="894080">
                  <a:moveTo>
                    <a:pt x="95428" y="199433"/>
                  </a:moveTo>
                  <a:lnTo>
                    <a:pt x="281810" y="199433"/>
                  </a:lnTo>
                </a:path>
                <a:path w="372110" h="894080">
                  <a:moveTo>
                    <a:pt x="125823" y="198554"/>
                  </a:moveTo>
                  <a:lnTo>
                    <a:pt x="312128" y="198554"/>
                  </a:lnTo>
                </a:path>
                <a:path w="372110" h="894080">
                  <a:moveTo>
                    <a:pt x="67887" y="197674"/>
                  </a:moveTo>
                  <a:lnTo>
                    <a:pt x="254192" y="197674"/>
                  </a:lnTo>
                </a:path>
                <a:path w="372110" h="894080">
                  <a:moveTo>
                    <a:pt x="138552" y="196794"/>
                  </a:moveTo>
                  <a:lnTo>
                    <a:pt x="324857" y="196794"/>
                  </a:lnTo>
                </a:path>
                <a:path w="372110" h="894080">
                  <a:moveTo>
                    <a:pt x="74830" y="195856"/>
                  </a:moveTo>
                  <a:lnTo>
                    <a:pt x="261212" y="195856"/>
                  </a:lnTo>
                </a:path>
                <a:path w="372110" h="894080">
                  <a:moveTo>
                    <a:pt x="159998" y="194977"/>
                  </a:moveTo>
                  <a:lnTo>
                    <a:pt x="346380" y="194977"/>
                  </a:lnTo>
                </a:path>
                <a:path w="372110" h="894080">
                  <a:moveTo>
                    <a:pt x="65187" y="194097"/>
                  </a:moveTo>
                  <a:lnTo>
                    <a:pt x="251569" y="194097"/>
                  </a:lnTo>
                </a:path>
                <a:path w="372110" h="894080">
                  <a:moveTo>
                    <a:pt x="112168" y="193217"/>
                  </a:moveTo>
                  <a:lnTo>
                    <a:pt x="298550" y="193217"/>
                  </a:lnTo>
                </a:path>
                <a:path w="372110" h="894080">
                  <a:moveTo>
                    <a:pt x="28466" y="192279"/>
                  </a:moveTo>
                  <a:lnTo>
                    <a:pt x="214771" y="192279"/>
                  </a:lnTo>
                </a:path>
                <a:path w="372110" h="894080">
                  <a:moveTo>
                    <a:pt x="76836" y="191400"/>
                  </a:moveTo>
                  <a:lnTo>
                    <a:pt x="263218" y="191400"/>
                  </a:lnTo>
                </a:path>
                <a:path w="372110" h="894080">
                  <a:moveTo>
                    <a:pt x="30086" y="190520"/>
                  </a:moveTo>
                  <a:lnTo>
                    <a:pt x="216468" y="190520"/>
                  </a:lnTo>
                </a:path>
                <a:path w="372110" h="894080">
                  <a:moveTo>
                    <a:pt x="138243" y="189640"/>
                  </a:moveTo>
                  <a:lnTo>
                    <a:pt x="324625" y="189640"/>
                  </a:lnTo>
                </a:path>
                <a:path w="372110" h="894080">
                  <a:moveTo>
                    <a:pt x="58475" y="188702"/>
                  </a:moveTo>
                  <a:lnTo>
                    <a:pt x="244857" y="188702"/>
                  </a:lnTo>
                </a:path>
                <a:path w="372110" h="894080">
                  <a:moveTo>
                    <a:pt x="118648" y="187822"/>
                  </a:moveTo>
                  <a:lnTo>
                    <a:pt x="305030" y="187822"/>
                  </a:lnTo>
                </a:path>
                <a:path w="372110" h="894080">
                  <a:moveTo>
                    <a:pt x="76913" y="186943"/>
                  </a:moveTo>
                  <a:lnTo>
                    <a:pt x="263295" y="186943"/>
                  </a:lnTo>
                </a:path>
                <a:path w="372110" h="894080">
                  <a:moveTo>
                    <a:pt x="48678" y="186063"/>
                  </a:moveTo>
                  <a:lnTo>
                    <a:pt x="235060" y="186063"/>
                  </a:lnTo>
                </a:path>
                <a:path w="372110" h="894080">
                  <a:moveTo>
                    <a:pt x="142409" y="185125"/>
                  </a:moveTo>
                  <a:lnTo>
                    <a:pt x="328791" y="185125"/>
                  </a:lnTo>
                </a:path>
                <a:path w="372110" h="894080">
                  <a:moveTo>
                    <a:pt x="46055" y="184245"/>
                  </a:moveTo>
                  <a:lnTo>
                    <a:pt x="232437" y="184245"/>
                  </a:lnTo>
                </a:path>
                <a:path w="372110" h="894080">
                  <a:moveTo>
                    <a:pt x="45978" y="183366"/>
                  </a:moveTo>
                  <a:lnTo>
                    <a:pt x="232283" y="183366"/>
                  </a:lnTo>
                </a:path>
                <a:path w="372110" h="894080">
                  <a:moveTo>
                    <a:pt x="56007" y="182486"/>
                  </a:moveTo>
                  <a:lnTo>
                    <a:pt x="242389" y="182486"/>
                  </a:lnTo>
                </a:path>
                <a:path w="372110" h="894080">
                  <a:moveTo>
                    <a:pt x="48909" y="181548"/>
                  </a:moveTo>
                  <a:lnTo>
                    <a:pt x="235291" y="181548"/>
                  </a:lnTo>
                </a:path>
                <a:path w="372110" h="894080">
                  <a:moveTo>
                    <a:pt x="69044" y="179789"/>
                  </a:moveTo>
                  <a:lnTo>
                    <a:pt x="255426" y="179789"/>
                  </a:lnTo>
                </a:path>
                <a:path w="372110" h="894080">
                  <a:moveTo>
                    <a:pt x="151281" y="178909"/>
                  </a:moveTo>
                  <a:lnTo>
                    <a:pt x="337585" y="178909"/>
                  </a:lnTo>
                </a:path>
                <a:path w="372110" h="894080">
                  <a:moveTo>
                    <a:pt x="95813" y="177971"/>
                  </a:moveTo>
                  <a:lnTo>
                    <a:pt x="282195" y="177971"/>
                  </a:lnTo>
                </a:path>
                <a:path w="372110" h="894080">
                  <a:moveTo>
                    <a:pt x="31860" y="177091"/>
                  </a:moveTo>
                  <a:lnTo>
                    <a:pt x="218242" y="177091"/>
                  </a:lnTo>
                </a:path>
                <a:path w="372110" h="894080">
                  <a:moveTo>
                    <a:pt x="120500" y="176212"/>
                  </a:moveTo>
                  <a:lnTo>
                    <a:pt x="306882" y="176212"/>
                  </a:lnTo>
                </a:path>
                <a:path w="372110" h="894080">
                  <a:moveTo>
                    <a:pt x="107385" y="175332"/>
                  </a:moveTo>
                  <a:lnTo>
                    <a:pt x="293690" y="175332"/>
                  </a:lnTo>
                </a:path>
                <a:path w="372110" h="894080">
                  <a:moveTo>
                    <a:pt x="168715" y="174394"/>
                  </a:moveTo>
                  <a:lnTo>
                    <a:pt x="355097" y="174394"/>
                  </a:lnTo>
                </a:path>
                <a:path w="372110" h="894080">
                  <a:moveTo>
                    <a:pt x="135774" y="173514"/>
                  </a:moveTo>
                  <a:lnTo>
                    <a:pt x="322157" y="173514"/>
                  </a:lnTo>
                </a:path>
                <a:path w="372110" h="894080">
                  <a:moveTo>
                    <a:pt x="175658" y="172635"/>
                  </a:moveTo>
                  <a:lnTo>
                    <a:pt x="362040" y="172635"/>
                  </a:lnTo>
                </a:path>
                <a:path w="372110" h="894080">
                  <a:moveTo>
                    <a:pt x="38341" y="171755"/>
                  </a:moveTo>
                  <a:lnTo>
                    <a:pt x="224723" y="171755"/>
                  </a:lnTo>
                </a:path>
                <a:path w="372110" h="894080">
                  <a:moveTo>
                    <a:pt x="103759" y="170817"/>
                  </a:moveTo>
                  <a:lnTo>
                    <a:pt x="290141" y="170817"/>
                  </a:lnTo>
                </a:path>
                <a:path w="372110" h="894080">
                  <a:moveTo>
                    <a:pt x="99825" y="169937"/>
                  </a:moveTo>
                  <a:lnTo>
                    <a:pt x="286207" y="169937"/>
                  </a:lnTo>
                </a:path>
                <a:path w="372110" h="894080">
                  <a:moveTo>
                    <a:pt x="47598" y="169058"/>
                  </a:moveTo>
                  <a:lnTo>
                    <a:pt x="233980" y="169058"/>
                  </a:lnTo>
                </a:path>
                <a:path w="372110" h="894080">
                  <a:moveTo>
                    <a:pt x="106459" y="168178"/>
                  </a:moveTo>
                  <a:lnTo>
                    <a:pt x="292764" y="168178"/>
                  </a:lnTo>
                </a:path>
                <a:path w="372110" h="894080">
                  <a:moveTo>
                    <a:pt x="71899" y="167240"/>
                  </a:moveTo>
                  <a:lnTo>
                    <a:pt x="258281" y="167240"/>
                  </a:lnTo>
                </a:path>
                <a:path w="372110" h="894080">
                  <a:moveTo>
                    <a:pt x="17203" y="166360"/>
                  </a:moveTo>
                  <a:lnTo>
                    <a:pt x="203508" y="166360"/>
                  </a:lnTo>
                </a:path>
                <a:path w="372110" h="894080">
                  <a:moveTo>
                    <a:pt x="145880" y="165481"/>
                  </a:moveTo>
                  <a:lnTo>
                    <a:pt x="332262" y="165481"/>
                  </a:lnTo>
                </a:path>
                <a:path w="372110" h="894080">
                  <a:moveTo>
                    <a:pt x="44821" y="164601"/>
                  </a:moveTo>
                  <a:lnTo>
                    <a:pt x="231203" y="164601"/>
                  </a:lnTo>
                </a:path>
                <a:path w="372110" h="894080">
                  <a:moveTo>
                    <a:pt x="100596" y="163663"/>
                  </a:moveTo>
                  <a:lnTo>
                    <a:pt x="286978" y="163663"/>
                  </a:lnTo>
                </a:path>
                <a:path w="372110" h="894080">
                  <a:moveTo>
                    <a:pt x="57395" y="162783"/>
                  </a:moveTo>
                  <a:lnTo>
                    <a:pt x="243777" y="162783"/>
                  </a:lnTo>
                </a:path>
                <a:path w="372110" h="894080">
                  <a:moveTo>
                    <a:pt x="112168" y="161904"/>
                  </a:moveTo>
                  <a:lnTo>
                    <a:pt x="298550" y="161904"/>
                  </a:lnTo>
                </a:path>
                <a:path w="372110" h="894080">
                  <a:moveTo>
                    <a:pt x="97588" y="161024"/>
                  </a:moveTo>
                  <a:lnTo>
                    <a:pt x="283970" y="161024"/>
                  </a:lnTo>
                </a:path>
                <a:path w="372110" h="894080">
                  <a:moveTo>
                    <a:pt x="118880" y="160086"/>
                  </a:moveTo>
                  <a:lnTo>
                    <a:pt x="305185" y="160086"/>
                  </a:lnTo>
                </a:path>
                <a:path w="372110" h="894080">
                  <a:moveTo>
                    <a:pt x="137703" y="159206"/>
                  </a:moveTo>
                  <a:lnTo>
                    <a:pt x="324085" y="159206"/>
                  </a:lnTo>
                </a:path>
                <a:path w="372110" h="894080">
                  <a:moveTo>
                    <a:pt x="74213" y="158327"/>
                  </a:moveTo>
                  <a:lnTo>
                    <a:pt x="260595" y="158327"/>
                  </a:lnTo>
                </a:path>
                <a:path w="372110" h="894080">
                  <a:moveTo>
                    <a:pt x="38958" y="157447"/>
                  </a:moveTo>
                  <a:lnTo>
                    <a:pt x="225263" y="157447"/>
                  </a:lnTo>
                </a:path>
                <a:path w="372110" h="894080">
                  <a:moveTo>
                    <a:pt x="77453" y="156509"/>
                  </a:moveTo>
                  <a:lnTo>
                    <a:pt x="263835" y="156509"/>
                  </a:lnTo>
                </a:path>
                <a:path w="372110" h="894080">
                  <a:moveTo>
                    <a:pt x="114097" y="154750"/>
                  </a:moveTo>
                  <a:lnTo>
                    <a:pt x="300402" y="154750"/>
                  </a:lnTo>
                </a:path>
                <a:path w="372110" h="894080">
                  <a:moveTo>
                    <a:pt x="134540" y="153870"/>
                  </a:moveTo>
                  <a:lnTo>
                    <a:pt x="320922" y="153870"/>
                  </a:lnTo>
                </a:path>
                <a:path w="372110" h="894080">
                  <a:moveTo>
                    <a:pt x="46364" y="152932"/>
                  </a:moveTo>
                  <a:lnTo>
                    <a:pt x="232746" y="152932"/>
                  </a:lnTo>
                </a:path>
                <a:path w="372110" h="894080">
                  <a:moveTo>
                    <a:pt x="94502" y="152052"/>
                  </a:moveTo>
                  <a:lnTo>
                    <a:pt x="280884" y="152052"/>
                  </a:lnTo>
                </a:path>
                <a:path w="372110" h="894080">
                  <a:moveTo>
                    <a:pt x="78456" y="151173"/>
                  </a:moveTo>
                  <a:lnTo>
                    <a:pt x="264838" y="151173"/>
                  </a:lnTo>
                </a:path>
                <a:path w="372110" h="894080">
                  <a:moveTo>
                    <a:pt x="76682" y="150293"/>
                  </a:moveTo>
                  <a:lnTo>
                    <a:pt x="263064" y="150293"/>
                  </a:lnTo>
                </a:path>
                <a:path w="372110" h="894080">
                  <a:moveTo>
                    <a:pt x="69738" y="149355"/>
                  </a:moveTo>
                  <a:lnTo>
                    <a:pt x="256120" y="149355"/>
                  </a:lnTo>
                </a:path>
                <a:path w="372110" h="894080">
                  <a:moveTo>
                    <a:pt x="77067" y="148475"/>
                  </a:moveTo>
                  <a:lnTo>
                    <a:pt x="263449" y="148475"/>
                  </a:lnTo>
                </a:path>
                <a:path w="372110" h="894080">
                  <a:moveTo>
                    <a:pt x="160692" y="147596"/>
                  </a:moveTo>
                  <a:lnTo>
                    <a:pt x="347074" y="147596"/>
                  </a:lnTo>
                </a:path>
                <a:path w="372110" h="894080">
                  <a:moveTo>
                    <a:pt x="140403" y="146716"/>
                  </a:moveTo>
                  <a:lnTo>
                    <a:pt x="326708" y="146716"/>
                  </a:lnTo>
                </a:path>
                <a:path w="372110" h="894080">
                  <a:moveTo>
                    <a:pt x="26614" y="145778"/>
                  </a:moveTo>
                  <a:lnTo>
                    <a:pt x="212997" y="145778"/>
                  </a:lnTo>
                </a:path>
                <a:path w="372110" h="894080">
                  <a:moveTo>
                    <a:pt x="101522" y="144898"/>
                  </a:moveTo>
                  <a:lnTo>
                    <a:pt x="287827" y="144898"/>
                  </a:lnTo>
                </a:path>
                <a:path w="372110" h="894080">
                  <a:moveTo>
                    <a:pt x="137626" y="144019"/>
                  </a:moveTo>
                  <a:lnTo>
                    <a:pt x="324008" y="144019"/>
                  </a:lnTo>
                </a:path>
                <a:path w="372110" h="894080">
                  <a:moveTo>
                    <a:pt x="97125" y="143139"/>
                  </a:moveTo>
                  <a:lnTo>
                    <a:pt x="283507" y="143139"/>
                  </a:lnTo>
                </a:path>
                <a:path w="372110" h="894080">
                  <a:moveTo>
                    <a:pt x="79999" y="142201"/>
                  </a:moveTo>
                  <a:lnTo>
                    <a:pt x="266381" y="142201"/>
                  </a:lnTo>
                </a:path>
                <a:path w="372110" h="894080">
                  <a:moveTo>
                    <a:pt x="95351" y="141321"/>
                  </a:moveTo>
                  <a:lnTo>
                    <a:pt x="281733" y="141321"/>
                  </a:lnTo>
                </a:path>
                <a:path w="372110" h="894080">
                  <a:moveTo>
                    <a:pt x="14811" y="140442"/>
                  </a:moveTo>
                  <a:lnTo>
                    <a:pt x="201193" y="140442"/>
                  </a:lnTo>
                </a:path>
                <a:path w="372110" h="894080">
                  <a:moveTo>
                    <a:pt x="82082" y="139562"/>
                  </a:moveTo>
                  <a:lnTo>
                    <a:pt x="268464" y="139562"/>
                  </a:lnTo>
                </a:path>
                <a:path w="372110" h="894080">
                  <a:moveTo>
                    <a:pt x="127289" y="138624"/>
                  </a:moveTo>
                  <a:lnTo>
                    <a:pt x="313593" y="138624"/>
                  </a:lnTo>
                </a:path>
                <a:path w="372110" h="894080">
                  <a:moveTo>
                    <a:pt x="70433" y="137744"/>
                  </a:moveTo>
                  <a:lnTo>
                    <a:pt x="256815" y="137744"/>
                  </a:lnTo>
                </a:path>
                <a:path w="372110" h="894080">
                  <a:moveTo>
                    <a:pt x="86556" y="136865"/>
                  </a:moveTo>
                  <a:lnTo>
                    <a:pt x="272938" y="136865"/>
                  </a:lnTo>
                </a:path>
                <a:path w="372110" h="894080">
                  <a:moveTo>
                    <a:pt x="22449" y="135985"/>
                  </a:moveTo>
                  <a:lnTo>
                    <a:pt x="208831" y="135985"/>
                  </a:lnTo>
                </a:path>
                <a:path w="372110" h="894080">
                  <a:moveTo>
                    <a:pt x="154135" y="135047"/>
                  </a:moveTo>
                  <a:lnTo>
                    <a:pt x="340440" y="135047"/>
                  </a:lnTo>
                </a:path>
                <a:path w="372110" h="894080">
                  <a:moveTo>
                    <a:pt x="42583" y="134167"/>
                  </a:moveTo>
                  <a:lnTo>
                    <a:pt x="228966" y="134167"/>
                  </a:lnTo>
                </a:path>
                <a:path w="372110" h="894080">
                  <a:moveTo>
                    <a:pt x="144646" y="132408"/>
                  </a:moveTo>
                  <a:lnTo>
                    <a:pt x="331028" y="132408"/>
                  </a:lnTo>
                </a:path>
                <a:path w="372110" h="894080">
                  <a:moveTo>
                    <a:pt x="114174" y="131470"/>
                  </a:moveTo>
                  <a:lnTo>
                    <a:pt x="300479" y="131470"/>
                  </a:lnTo>
                </a:path>
                <a:path w="372110" h="894080">
                  <a:moveTo>
                    <a:pt x="159844" y="130590"/>
                  </a:moveTo>
                  <a:lnTo>
                    <a:pt x="346226" y="130590"/>
                  </a:lnTo>
                </a:path>
                <a:path w="372110" h="894080">
                  <a:moveTo>
                    <a:pt x="91725" y="129711"/>
                  </a:moveTo>
                  <a:lnTo>
                    <a:pt x="278107" y="129711"/>
                  </a:lnTo>
                </a:path>
                <a:path w="372110" h="894080">
                  <a:moveTo>
                    <a:pt x="81002" y="128831"/>
                  </a:moveTo>
                  <a:lnTo>
                    <a:pt x="267384" y="128831"/>
                  </a:lnTo>
                </a:path>
                <a:path w="372110" h="894080">
                  <a:moveTo>
                    <a:pt x="86556" y="127893"/>
                  </a:moveTo>
                  <a:lnTo>
                    <a:pt x="272938" y="127893"/>
                  </a:lnTo>
                </a:path>
                <a:path w="372110" h="894080">
                  <a:moveTo>
                    <a:pt x="131840" y="127013"/>
                  </a:moveTo>
                  <a:lnTo>
                    <a:pt x="318222" y="127013"/>
                  </a:lnTo>
                </a:path>
                <a:path w="372110" h="894080">
                  <a:moveTo>
                    <a:pt x="6171" y="126134"/>
                  </a:moveTo>
                  <a:lnTo>
                    <a:pt x="192553" y="126134"/>
                  </a:lnTo>
                </a:path>
                <a:path w="372110" h="894080">
                  <a:moveTo>
                    <a:pt x="128909" y="125195"/>
                  </a:moveTo>
                  <a:lnTo>
                    <a:pt x="315213" y="125195"/>
                  </a:lnTo>
                </a:path>
                <a:path w="372110" h="894080">
                  <a:moveTo>
                    <a:pt x="87482" y="124316"/>
                  </a:moveTo>
                  <a:lnTo>
                    <a:pt x="273864" y="124316"/>
                  </a:lnTo>
                </a:path>
                <a:path w="372110" h="894080">
                  <a:moveTo>
                    <a:pt x="110702" y="123436"/>
                  </a:moveTo>
                  <a:lnTo>
                    <a:pt x="297084" y="123436"/>
                  </a:lnTo>
                </a:path>
                <a:path w="372110" h="894080">
                  <a:moveTo>
                    <a:pt x="108851" y="121618"/>
                  </a:moveTo>
                  <a:lnTo>
                    <a:pt x="295156" y="121618"/>
                  </a:lnTo>
                </a:path>
                <a:path w="372110" h="894080">
                  <a:moveTo>
                    <a:pt x="72439" y="119859"/>
                  </a:moveTo>
                  <a:lnTo>
                    <a:pt x="258821" y="119859"/>
                  </a:lnTo>
                </a:path>
                <a:path w="372110" h="894080">
                  <a:moveTo>
                    <a:pt x="102448" y="118979"/>
                  </a:moveTo>
                  <a:lnTo>
                    <a:pt x="288830" y="118979"/>
                  </a:lnTo>
                </a:path>
                <a:path w="372110" h="894080">
                  <a:moveTo>
                    <a:pt x="92110" y="118041"/>
                  </a:moveTo>
                  <a:lnTo>
                    <a:pt x="278493" y="118041"/>
                  </a:lnTo>
                </a:path>
                <a:path w="372110" h="894080">
                  <a:moveTo>
                    <a:pt x="134077" y="117162"/>
                  </a:moveTo>
                  <a:lnTo>
                    <a:pt x="320459" y="117162"/>
                  </a:lnTo>
                </a:path>
                <a:path w="372110" h="894080">
                  <a:moveTo>
                    <a:pt x="8871" y="116282"/>
                  </a:moveTo>
                  <a:lnTo>
                    <a:pt x="195253" y="116282"/>
                  </a:lnTo>
                </a:path>
                <a:path w="372110" h="894080">
                  <a:moveTo>
                    <a:pt x="84473" y="115402"/>
                  </a:moveTo>
                  <a:lnTo>
                    <a:pt x="270778" y="115402"/>
                  </a:lnTo>
                </a:path>
                <a:path w="372110" h="894080">
                  <a:moveTo>
                    <a:pt x="65418" y="114464"/>
                  </a:moveTo>
                  <a:lnTo>
                    <a:pt x="251800" y="114464"/>
                  </a:lnTo>
                </a:path>
                <a:path w="372110" h="894080">
                  <a:moveTo>
                    <a:pt x="54618" y="113585"/>
                  </a:moveTo>
                  <a:lnTo>
                    <a:pt x="240923" y="113585"/>
                  </a:lnTo>
                </a:path>
                <a:path w="372110" h="894080">
                  <a:moveTo>
                    <a:pt x="112168" y="112705"/>
                  </a:moveTo>
                  <a:lnTo>
                    <a:pt x="298550" y="112705"/>
                  </a:lnTo>
                </a:path>
                <a:path w="372110" h="894080">
                  <a:moveTo>
                    <a:pt x="37800" y="111825"/>
                  </a:moveTo>
                  <a:lnTo>
                    <a:pt x="224183" y="111825"/>
                  </a:lnTo>
                </a:path>
                <a:path w="372110" h="894080">
                  <a:moveTo>
                    <a:pt x="70973" y="110887"/>
                  </a:moveTo>
                  <a:lnTo>
                    <a:pt x="257278" y="110887"/>
                  </a:lnTo>
                </a:path>
                <a:path w="372110" h="894080">
                  <a:moveTo>
                    <a:pt x="132534" y="110008"/>
                  </a:moveTo>
                  <a:lnTo>
                    <a:pt x="318916" y="110008"/>
                  </a:lnTo>
                </a:path>
                <a:path w="372110" h="894080">
                  <a:moveTo>
                    <a:pt x="71359" y="109128"/>
                  </a:moveTo>
                  <a:lnTo>
                    <a:pt x="257741" y="109128"/>
                  </a:lnTo>
                </a:path>
                <a:path w="372110" h="894080">
                  <a:moveTo>
                    <a:pt x="169641" y="108248"/>
                  </a:moveTo>
                  <a:lnTo>
                    <a:pt x="356023" y="108248"/>
                  </a:lnTo>
                </a:path>
                <a:path w="372110" h="894080">
                  <a:moveTo>
                    <a:pt x="118571" y="107310"/>
                  </a:moveTo>
                  <a:lnTo>
                    <a:pt x="304953" y="107310"/>
                  </a:lnTo>
                </a:path>
                <a:path w="372110" h="894080">
                  <a:moveTo>
                    <a:pt x="67501" y="106431"/>
                  </a:moveTo>
                  <a:lnTo>
                    <a:pt x="253806" y="106431"/>
                  </a:lnTo>
                </a:path>
                <a:path w="372110" h="894080">
                  <a:moveTo>
                    <a:pt x="126131" y="105551"/>
                  </a:moveTo>
                  <a:lnTo>
                    <a:pt x="312513" y="105551"/>
                  </a:lnTo>
                </a:path>
                <a:path w="372110" h="894080">
                  <a:moveTo>
                    <a:pt x="41889" y="104671"/>
                  </a:moveTo>
                  <a:lnTo>
                    <a:pt x="228271" y="104671"/>
                  </a:lnTo>
                </a:path>
                <a:path w="372110" h="894080">
                  <a:moveTo>
                    <a:pt x="119265" y="103733"/>
                  </a:moveTo>
                  <a:lnTo>
                    <a:pt x="305648" y="103733"/>
                  </a:lnTo>
                </a:path>
                <a:path w="372110" h="894080">
                  <a:moveTo>
                    <a:pt x="98436" y="102854"/>
                  </a:moveTo>
                  <a:lnTo>
                    <a:pt x="284818" y="102854"/>
                  </a:lnTo>
                </a:path>
                <a:path w="372110" h="894080">
                  <a:moveTo>
                    <a:pt x="66190" y="101974"/>
                  </a:moveTo>
                  <a:lnTo>
                    <a:pt x="252572" y="101974"/>
                  </a:lnTo>
                </a:path>
                <a:path w="372110" h="894080">
                  <a:moveTo>
                    <a:pt x="128523" y="101094"/>
                  </a:moveTo>
                  <a:lnTo>
                    <a:pt x="314828" y="101094"/>
                  </a:lnTo>
                </a:path>
                <a:path w="372110" h="894080">
                  <a:moveTo>
                    <a:pt x="46132" y="100156"/>
                  </a:moveTo>
                  <a:lnTo>
                    <a:pt x="232514" y="100156"/>
                  </a:lnTo>
                </a:path>
                <a:path w="372110" h="894080">
                  <a:moveTo>
                    <a:pt x="121348" y="99277"/>
                  </a:moveTo>
                  <a:lnTo>
                    <a:pt x="307730" y="99277"/>
                  </a:lnTo>
                </a:path>
                <a:path w="372110" h="894080">
                  <a:moveTo>
                    <a:pt x="59015" y="98397"/>
                  </a:moveTo>
                  <a:lnTo>
                    <a:pt x="245397" y="98397"/>
                  </a:lnTo>
                </a:path>
                <a:path w="372110" h="894080">
                  <a:moveTo>
                    <a:pt x="50375" y="97517"/>
                  </a:moveTo>
                  <a:lnTo>
                    <a:pt x="236757" y="97517"/>
                  </a:lnTo>
                </a:path>
                <a:path w="372110" h="894080">
                  <a:moveTo>
                    <a:pt x="130297" y="96579"/>
                  </a:moveTo>
                  <a:lnTo>
                    <a:pt x="316679" y="96579"/>
                  </a:lnTo>
                </a:path>
                <a:path w="372110" h="894080">
                  <a:moveTo>
                    <a:pt x="119574" y="95700"/>
                  </a:moveTo>
                  <a:lnTo>
                    <a:pt x="305956" y="95700"/>
                  </a:lnTo>
                </a:path>
                <a:path w="372110" h="894080">
                  <a:moveTo>
                    <a:pt x="137472" y="94820"/>
                  </a:moveTo>
                  <a:lnTo>
                    <a:pt x="323854" y="94820"/>
                  </a:lnTo>
                </a:path>
                <a:path w="372110" h="894080">
                  <a:moveTo>
                    <a:pt x="132226" y="93940"/>
                  </a:moveTo>
                  <a:lnTo>
                    <a:pt x="318608" y="93940"/>
                  </a:lnTo>
                </a:path>
                <a:path w="372110" h="894080">
                  <a:moveTo>
                    <a:pt x="129757" y="93002"/>
                  </a:moveTo>
                  <a:lnTo>
                    <a:pt x="316139" y="93002"/>
                  </a:lnTo>
                </a:path>
                <a:path w="372110" h="894080">
                  <a:moveTo>
                    <a:pt x="112940" y="92122"/>
                  </a:moveTo>
                  <a:lnTo>
                    <a:pt x="299322" y="92122"/>
                  </a:lnTo>
                </a:path>
                <a:path w="372110" h="894080">
                  <a:moveTo>
                    <a:pt x="115331" y="91243"/>
                  </a:moveTo>
                  <a:lnTo>
                    <a:pt x="301636" y="91243"/>
                  </a:lnTo>
                </a:path>
                <a:path w="372110" h="894080">
                  <a:moveTo>
                    <a:pt x="139092" y="90363"/>
                  </a:moveTo>
                  <a:lnTo>
                    <a:pt x="325474" y="90363"/>
                  </a:lnTo>
                </a:path>
                <a:path w="372110" h="894080">
                  <a:moveTo>
                    <a:pt x="162081" y="89425"/>
                  </a:moveTo>
                  <a:lnTo>
                    <a:pt x="348386" y="89425"/>
                  </a:lnTo>
                </a:path>
                <a:path w="372110" h="894080">
                  <a:moveTo>
                    <a:pt x="127751" y="88545"/>
                  </a:moveTo>
                  <a:lnTo>
                    <a:pt x="314133" y="88545"/>
                  </a:lnTo>
                </a:path>
                <a:path w="372110" h="894080">
                  <a:moveTo>
                    <a:pt x="103837" y="87666"/>
                  </a:moveTo>
                  <a:lnTo>
                    <a:pt x="290219" y="87666"/>
                  </a:lnTo>
                </a:path>
                <a:path w="372110" h="894080">
                  <a:moveTo>
                    <a:pt x="154212" y="86786"/>
                  </a:moveTo>
                  <a:lnTo>
                    <a:pt x="340517" y="86786"/>
                  </a:lnTo>
                </a:path>
                <a:path w="372110" h="894080">
                  <a:moveTo>
                    <a:pt x="159767" y="85848"/>
                  </a:moveTo>
                  <a:lnTo>
                    <a:pt x="346149" y="85848"/>
                  </a:lnTo>
                </a:path>
                <a:path w="372110" h="894080">
                  <a:moveTo>
                    <a:pt x="125669" y="84968"/>
                  </a:moveTo>
                  <a:lnTo>
                    <a:pt x="312051" y="84968"/>
                  </a:lnTo>
                </a:path>
                <a:path w="372110" h="894080">
                  <a:moveTo>
                    <a:pt x="27077" y="84089"/>
                  </a:moveTo>
                  <a:lnTo>
                    <a:pt x="213382" y="84089"/>
                  </a:lnTo>
                </a:path>
                <a:path w="372110" h="894080">
                  <a:moveTo>
                    <a:pt x="154829" y="83209"/>
                  </a:moveTo>
                  <a:lnTo>
                    <a:pt x="341134" y="83209"/>
                  </a:lnTo>
                </a:path>
                <a:path w="372110" h="894080">
                  <a:moveTo>
                    <a:pt x="153518" y="82271"/>
                  </a:moveTo>
                  <a:lnTo>
                    <a:pt x="339900" y="82271"/>
                  </a:lnTo>
                </a:path>
                <a:path w="372110" h="894080">
                  <a:moveTo>
                    <a:pt x="44281" y="81391"/>
                  </a:moveTo>
                  <a:lnTo>
                    <a:pt x="230586" y="81391"/>
                  </a:lnTo>
                </a:path>
                <a:path w="372110" h="894080">
                  <a:moveTo>
                    <a:pt x="88022" y="80512"/>
                  </a:moveTo>
                  <a:lnTo>
                    <a:pt x="274404" y="80512"/>
                  </a:lnTo>
                </a:path>
                <a:path w="372110" h="894080">
                  <a:moveTo>
                    <a:pt x="36258" y="79632"/>
                  </a:moveTo>
                  <a:lnTo>
                    <a:pt x="222640" y="79632"/>
                  </a:lnTo>
                </a:path>
                <a:path w="372110" h="894080">
                  <a:moveTo>
                    <a:pt x="107077" y="78694"/>
                  </a:moveTo>
                  <a:lnTo>
                    <a:pt x="293381" y="78694"/>
                  </a:lnTo>
                </a:path>
                <a:path w="372110" h="894080">
                  <a:moveTo>
                    <a:pt x="171570" y="77814"/>
                  </a:moveTo>
                  <a:lnTo>
                    <a:pt x="357952" y="77814"/>
                  </a:lnTo>
                </a:path>
                <a:path w="372110" h="894080">
                  <a:moveTo>
                    <a:pt x="104531" y="76935"/>
                  </a:moveTo>
                  <a:lnTo>
                    <a:pt x="290913" y="76935"/>
                  </a:lnTo>
                </a:path>
                <a:path w="372110" h="894080">
                  <a:moveTo>
                    <a:pt x="96816" y="76055"/>
                  </a:moveTo>
                  <a:lnTo>
                    <a:pt x="283121" y="76055"/>
                  </a:lnTo>
                </a:path>
                <a:path w="372110" h="894080">
                  <a:moveTo>
                    <a:pt x="36180" y="75117"/>
                  </a:moveTo>
                  <a:lnTo>
                    <a:pt x="222485" y="75117"/>
                  </a:lnTo>
                </a:path>
                <a:path w="372110" h="894080">
                  <a:moveTo>
                    <a:pt x="143643" y="74237"/>
                  </a:moveTo>
                  <a:lnTo>
                    <a:pt x="330025" y="74237"/>
                  </a:lnTo>
                </a:path>
                <a:path w="372110" h="894080">
                  <a:moveTo>
                    <a:pt x="54772" y="73358"/>
                  </a:moveTo>
                  <a:lnTo>
                    <a:pt x="241154" y="73358"/>
                  </a:lnTo>
                </a:path>
                <a:path w="372110" h="894080">
                  <a:moveTo>
                    <a:pt x="88716" y="72478"/>
                  </a:moveTo>
                  <a:lnTo>
                    <a:pt x="275098" y="72478"/>
                  </a:lnTo>
                </a:path>
                <a:path w="372110" h="894080">
                  <a:moveTo>
                    <a:pt x="98205" y="71540"/>
                  </a:moveTo>
                  <a:lnTo>
                    <a:pt x="284510" y="71540"/>
                  </a:lnTo>
                </a:path>
                <a:path w="372110" h="894080">
                  <a:moveTo>
                    <a:pt x="100828" y="70660"/>
                  </a:moveTo>
                  <a:lnTo>
                    <a:pt x="287210" y="70660"/>
                  </a:lnTo>
                </a:path>
                <a:path w="372110" h="894080">
                  <a:moveTo>
                    <a:pt x="93422" y="69781"/>
                  </a:moveTo>
                  <a:lnTo>
                    <a:pt x="279804" y="69781"/>
                  </a:lnTo>
                </a:path>
                <a:path w="372110" h="894080">
                  <a:moveTo>
                    <a:pt x="64107" y="68901"/>
                  </a:moveTo>
                  <a:lnTo>
                    <a:pt x="250489" y="68901"/>
                  </a:lnTo>
                </a:path>
                <a:path w="372110" h="894080">
                  <a:moveTo>
                    <a:pt x="114020" y="67963"/>
                  </a:moveTo>
                  <a:lnTo>
                    <a:pt x="300402" y="67963"/>
                  </a:lnTo>
                </a:path>
                <a:path w="372110" h="894080">
                  <a:moveTo>
                    <a:pt x="106305" y="67083"/>
                  </a:moveTo>
                  <a:lnTo>
                    <a:pt x="292687" y="67083"/>
                  </a:lnTo>
                </a:path>
                <a:path w="372110" h="894080">
                  <a:moveTo>
                    <a:pt x="88022" y="66204"/>
                  </a:moveTo>
                  <a:lnTo>
                    <a:pt x="274327" y="66204"/>
                  </a:lnTo>
                </a:path>
                <a:path w="372110" h="894080">
                  <a:moveTo>
                    <a:pt x="140017" y="65324"/>
                  </a:moveTo>
                  <a:lnTo>
                    <a:pt x="326399" y="65324"/>
                  </a:lnTo>
                </a:path>
                <a:path w="372110" h="894080">
                  <a:moveTo>
                    <a:pt x="156218" y="64386"/>
                  </a:moveTo>
                  <a:lnTo>
                    <a:pt x="342523" y="64386"/>
                  </a:lnTo>
                </a:path>
                <a:path w="372110" h="894080">
                  <a:moveTo>
                    <a:pt x="133152" y="63506"/>
                  </a:moveTo>
                  <a:lnTo>
                    <a:pt x="319534" y="63506"/>
                  </a:lnTo>
                </a:path>
                <a:path w="372110" h="894080">
                  <a:moveTo>
                    <a:pt x="83856" y="62627"/>
                  </a:moveTo>
                  <a:lnTo>
                    <a:pt x="270238" y="62627"/>
                  </a:lnTo>
                </a:path>
                <a:path w="372110" h="894080">
                  <a:moveTo>
                    <a:pt x="31937" y="61747"/>
                  </a:moveTo>
                  <a:lnTo>
                    <a:pt x="218320" y="61747"/>
                  </a:lnTo>
                </a:path>
                <a:path w="372110" h="894080">
                  <a:moveTo>
                    <a:pt x="13423" y="60809"/>
                  </a:moveTo>
                  <a:lnTo>
                    <a:pt x="199728" y="60809"/>
                  </a:lnTo>
                </a:path>
                <a:path w="372110" h="894080">
                  <a:moveTo>
                    <a:pt x="19826" y="59929"/>
                  </a:moveTo>
                  <a:lnTo>
                    <a:pt x="206208" y="59929"/>
                  </a:lnTo>
                </a:path>
                <a:path w="372110" h="894080">
                  <a:moveTo>
                    <a:pt x="48524" y="59050"/>
                  </a:moveTo>
                  <a:lnTo>
                    <a:pt x="234829" y="59050"/>
                  </a:lnTo>
                </a:path>
                <a:path w="372110" h="894080">
                  <a:moveTo>
                    <a:pt x="48138" y="58170"/>
                  </a:moveTo>
                  <a:lnTo>
                    <a:pt x="234520" y="58170"/>
                  </a:lnTo>
                </a:path>
                <a:path w="372110" h="894080">
                  <a:moveTo>
                    <a:pt x="25226" y="57232"/>
                  </a:moveTo>
                  <a:lnTo>
                    <a:pt x="211608" y="57232"/>
                  </a:lnTo>
                </a:path>
                <a:path w="372110" h="894080">
                  <a:moveTo>
                    <a:pt x="75061" y="56352"/>
                  </a:moveTo>
                  <a:lnTo>
                    <a:pt x="261443" y="56352"/>
                  </a:lnTo>
                </a:path>
                <a:path w="372110" h="894080">
                  <a:moveTo>
                    <a:pt x="101291" y="55473"/>
                  </a:moveTo>
                  <a:lnTo>
                    <a:pt x="287673" y="55473"/>
                  </a:lnTo>
                </a:path>
                <a:path w="372110" h="894080">
                  <a:moveTo>
                    <a:pt x="93885" y="54593"/>
                  </a:moveTo>
                  <a:lnTo>
                    <a:pt x="280267" y="54593"/>
                  </a:lnTo>
                </a:path>
                <a:path w="372110" h="894080">
                  <a:moveTo>
                    <a:pt x="122583" y="53655"/>
                  </a:moveTo>
                  <a:lnTo>
                    <a:pt x="308965" y="53655"/>
                  </a:lnTo>
                </a:path>
                <a:path w="372110" h="894080">
                  <a:moveTo>
                    <a:pt x="145418" y="52775"/>
                  </a:moveTo>
                  <a:lnTo>
                    <a:pt x="331800" y="52775"/>
                  </a:lnTo>
                </a:path>
                <a:path w="372110" h="894080">
                  <a:moveTo>
                    <a:pt x="113094" y="51896"/>
                  </a:moveTo>
                  <a:lnTo>
                    <a:pt x="299476" y="51896"/>
                  </a:lnTo>
                </a:path>
                <a:path w="372110" h="894080">
                  <a:moveTo>
                    <a:pt x="80230" y="51016"/>
                  </a:moveTo>
                  <a:lnTo>
                    <a:pt x="266612" y="51016"/>
                  </a:lnTo>
                </a:path>
                <a:path w="372110" h="894080">
                  <a:moveTo>
                    <a:pt x="35486" y="50078"/>
                  </a:moveTo>
                  <a:lnTo>
                    <a:pt x="221868" y="50078"/>
                  </a:lnTo>
                </a:path>
                <a:path w="372110" h="894080">
                  <a:moveTo>
                    <a:pt x="97588" y="49198"/>
                  </a:moveTo>
                  <a:lnTo>
                    <a:pt x="283893" y="49198"/>
                  </a:lnTo>
                </a:path>
                <a:path w="372110" h="894080">
                  <a:moveTo>
                    <a:pt x="85476" y="48319"/>
                  </a:moveTo>
                  <a:lnTo>
                    <a:pt x="271858" y="48319"/>
                  </a:lnTo>
                </a:path>
                <a:path w="372110" h="894080">
                  <a:moveTo>
                    <a:pt x="31552" y="47439"/>
                  </a:moveTo>
                  <a:lnTo>
                    <a:pt x="217934" y="47439"/>
                  </a:lnTo>
                </a:path>
                <a:path w="372110" h="894080">
                  <a:moveTo>
                    <a:pt x="79613" y="46501"/>
                  </a:moveTo>
                  <a:lnTo>
                    <a:pt x="265995" y="46501"/>
                  </a:lnTo>
                </a:path>
                <a:path w="372110" h="894080">
                  <a:moveTo>
                    <a:pt x="29392" y="45621"/>
                  </a:moveTo>
                  <a:lnTo>
                    <a:pt x="215697" y="45621"/>
                  </a:lnTo>
                </a:path>
                <a:path w="372110" h="894080">
                  <a:moveTo>
                    <a:pt x="147038" y="44742"/>
                  </a:moveTo>
                  <a:lnTo>
                    <a:pt x="333420" y="44742"/>
                  </a:lnTo>
                </a:path>
                <a:path w="372110" h="894080">
                  <a:moveTo>
                    <a:pt x="143335" y="43862"/>
                  </a:moveTo>
                  <a:lnTo>
                    <a:pt x="329640" y="43862"/>
                  </a:lnTo>
                </a:path>
                <a:path w="372110" h="894080">
                  <a:moveTo>
                    <a:pt x="114791" y="42924"/>
                  </a:moveTo>
                  <a:lnTo>
                    <a:pt x="301096" y="42924"/>
                  </a:lnTo>
                </a:path>
                <a:path w="372110" h="894080">
                  <a:moveTo>
                    <a:pt x="45515" y="42044"/>
                  </a:moveTo>
                  <a:lnTo>
                    <a:pt x="231897" y="42044"/>
                  </a:lnTo>
                </a:path>
                <a:path w="372110" h="894080">
                  <a:moveTo>
                    <a:pt x="106305" y="41165"/>
                  </a:moveTo>
                  <a:lnTo>
                    <a:pt x="292687" y="41165"/>
                  </a:lnTo>
                </a:path>
                <a:path w="372110" h="894080">
                  <a:moveTo>
                    <a:pt x="145263" y="40226"/>
                  </a:moveTo>
                  <a:lnTo>
                    <a:pt x="331645" y="40226"/>
                  </a:lnTo>
                </a:path>
                <a:path w="372110" h="894080">
                  <a:moveTo>
                    <a:pt x="81233" y="39347"/>
                  </a:moveTo>
                  <a:lnTo>
                    <a:pt x="267615" y="39347"/>
                  </a:lnTo>
                </a:path>
                <a:path w="372110" h="894080">
                  <a:moveTo>
                    <a:pt x="6171" y="38467"/>
                  </a:moveTo>
                  <a:lnTo>
                    <a:pt x="192553" y="38467"/>
                  </a:lnTo>
                </a:path>
                <a:path w="372110" h="894080">
                  <a:moveTo>
                    <a:pt x="146652" y="37588"/>
                  </a:moveTo>
                  <a:lnTo>
                    <a:pt x="333034" y="37588"/>
                  </a:lnTo>
                </a:path>
                <a:path w="372110" h="894080">
                  <a:moveTo>
                    <a:pt x="166478" y="36649"/>
                  </a:moveTo>
                  <a:lnTo>
                    <a:pt x="352860" y="36649"/>
                  </a:lnTo>
                </a:path>
                <a:path w="372110" h="894080">
                  <a:moveTo>
                    <a:pt x="110471" y="35770"/>
                  </a:moveTo>
                  <a:lnTo>
                    <a:pt x="296853" y="35770"/>
                  </a:lnTo>
                </a:path>
                <a:path w="372110" h="894080">
                  <a:moveTo>
                    <a:pt x="26229" y="34890"/>
                  </a:moveTo>
                  <a:lnTo>
                    <a:pt x="212611" y="34890"/>
                  </a:lnTo>
                </a:path>
                <a:path w="372110" h="894080">
                  <a:moveTo>
                    <a:pt x="106614" y="34011"/>
                  </a:moveTo>
                  <a:lnTo>
                    <a:pt x="292996" y="34011"/>
                  </a:lnTo>
                </a:path>
                <a:path w="372110" h="894080">
                  <a:moveTo>
                    <a:pt x="92419" y="33072"/>
                  </a:moveTo>
                  <a:lnTo>
                    <a:pt x="278724" y="33072"/>
                  </a:lnTo>
                </a:path>
                <a:path w="372110" h="894080">
                  <a:moveTo>
                    <a:pt x="161155" y="32193"/>
                  </a:moveTo>
                  <a:lnTo>
                    <a:pt x="347537" y="32193"/>
                  </a:lnTo>
                </a:path>
                <a:path w="372110" h="894080">
                  <a:moveTo>
                    <a:pt x="176507" y="31313"/>
                  </a:moveTo>
                  <a:lnTo>
                    <a:pt x="362889" y="31313"/>
                  </a:lnTo>
                </a:path>
                <a:path w="372110" h="894080">
                  <a:moveTo>
                    <a:pt x="71050" y="30434"/>
                  </a:moveTo>
                  <a:lnTo>
                    <a:pt x="257432" y="30434"/>
                  </a:lnTo>
                </a:path>
                <a:path w="372110" h="894080">
                  <a:moveTo>
                    <a:pt x="118185" y="29495"/>
                  </a:moveTo>
                  <a:lnTo>
                    <a:pt x="304567" y="29495"/>
                  </a:lnTo>
                </a:path>
                <a:path w="372110" h="894080">
                  <a:moveTo>
                    <a:pt x="61021" y="28616"/>
                  </a:moveTo>
                  <a:lnTo>
                    <a:pt x="247403" y="28616"/>
                  </a:lnTo>
                </a:path>
                <a:path w="372110" h="894080">
                  <a:moveTo>
                    <a:pt x="71436" y="27736"/>
                  </a:moveTo>
                  <a:lnTo>
                    <a:pt x="257818" y="27736"/>
                  </a:lnTo>
                </a:path>
                <a:path w="372110" h="894080">
                  <a:moveTo>
                    <a:pt x="168715" y="26856"/>
                  </a:moveTo>
                  <a:lnTo>
                    <a:pt x="355097" y="26856"/>
                  </a:lnTo>
                </a:path>
                <a:path w="372110" h="894080">
                  <a:moveTo>
                    <a:pt x="78070" y="25918"/>
                  </a:moveTo>
                  <a:lnTo>
                    <a:pt x="264452" y="25918"/>
                  </a:lnTo>
                </a:path>
                <a:path w="372110" h="894080">
                  <a:moveTo>
                    <a:pt x="56470" y="24159"/>
                  </a:moveTo>
                  <a:lnTo>
                    <a:pt x="242852" y="24159"/>
                  </a:lnTo>
                </a:path>
                <a:path w="372110" h="894080">
                  <a:moveTo>
                    <a:pt x="44358" y="23279"/>
                  </a:moveTo>
                  <a:lnTo>
                    <a:pt x="230740" y="23279"/>
                  </a:lnTo>
                </a:path>
                <a:path w="372110" h="894080">
                  <a:moveTo>
                    <a:pt x="44589" y="22341"/>
                  </a:moveTo>
                  <a:lnTo>
                    <a:pt x="230971" y="22341"/>
                  </a:lnTo>
                </a:path>
                <a:path w="372110" h="894080">
                  <a:moveTo>
                    <a:pt x="93345" y="21462"/>
                  </a:moveTo>
                  <a:lnTo>
                    <a:pt x="279727" y="21462"/>
                  </a:lnTo>
                </a:path>
                <a:path w="372110" h="894080">
                  <a:moveTo>
                    <a:pt x="55235" y="19702"/>
                  </a:moveTo>
                  <a:lnTo>
                    <a:pt x="241617" y="19702"/>
                  </a:lnTo>
                </a:path>
                <a:path w="372110" h="894080">
                  <a:moveTo>
                    <a:pt x="31089" y="18764"/>
                  </a:moveTo>
                  <a:lnTo>
                    <a:pt x="217471" y="18764"/>
                  </a:lnTo>
                </a:path>
                <a:path w="372110" h="894080">
                  <a:moveTo>
                    <a:pt x="146266" y="17885"/>
                  </a:moveTo>
                  <a:lnTo>
                    <a:pt x="332648" y="17885"/>
                  </a:lnTo>
                </a:path>
                <a:path w="372110" h="894080">
                  <a:moveTo>
                    <a:pt x="103528" y="17005"/>
                  </a:moveTo>
                  <a:lnTo>
                    <a:pt x="289910" y="17005"/>
                  </a:lnTo>
                </a:path>
                <a:path w="372110" h="894080">
                  <a:moveTo>
                    <a:pt x="159921" y="15187"/>
                  </a:moveTo>
                  <a:lnTo>
                    <a:pt x="346226" y="15187"/>
                  </a:lnTo>
                </a:path>
                <a:path w="372110" h="894080">
                  <a:moveTo>
                    <a:pt x="113480" y="14308"/>
                  </a:moveTo>
                  <a:lnTo>
                    <a:pt x="299862" y="14308"/>
                  </a:lnTo>
                </a:path>
                <a:path w="372110" h="894080">
                  <a:moveTo>
                    <a:pt x="60404" y="13428"/>
                  </a:moveTo>
                  <a:lnTo>
                    <a:pt x="246786" y="13428"/>
                  </a:lnTo>
                </a:path>
                <a:path w="372110" h="894080">
                  <a:moveTo>
                    <a:pt x="144106" y="12548"/>
                  </a:moveTo>
                  <a:lnTo>
                    <a:pt x="330488" y="12548"/>
                  </a:lnTo>
                </a:path>
                <a:path w="372110" h="894080">
                  <a:moveTo>
                    <a:pt x="105997" y="11610"/>
                  </a:moveTo>
                  <a:lnTo>
                    <a:pt x="292301" y="11610"/>
                  </a:lnTo>
                </a:path>
                <a:path w="372110" h="894080">
                  <a:moveTo>
                    <a:pt x="110240" y="10731"/>
                  </a:moveTo>
                  <a:lnTo>
                    <a:pt x="296622" y="10731"/>
                  </a:lnTo>
                </a:path>
                <a:path w="372110" h="894080">
                  <a:moveTo>
                    <a:pt x="69198" y="9851"/>
                  </a:moveTo>
                  <a:lnTo>
                    <a:pt x="255580" y="9851"/>
                  </a:lnTo>
                </a:path>
                <a:path w="372110" h="894080">
                  <a:moveTo>
                    <a:pt x="155061" y="8971"/>
                  </a:moveTo>
                  <a:lnTo>
                    <a:pt x="341443" y="8971"/>
                  </a:lnTo>
                </a:path>
                <a:path w="372110" h="894080">
                  <a:moveTo>
                    <a:pt x="134540" y="8033"/>
                  </a:moveTo>
                  <a:lnTo>
                    <a:pt x="320845" y="8033"/>
                  </a:lnTo>
                </a:path>
                <a:path w="372110" h="894080">
                  <a:moveTo>
                    <a:pt x="114251" y="7154"/>
                  </a:moveTo>
                  <a:lnTo>
                    <a:pt x="300633" y="7154"/>
                  </a:lnTo>
                </a:path>
                <a:path w="372110" h="894080">
                  <a:moveTo>
                    <a:pt x="103065" y="6274"/>
                  </a:moveTo>
                  <a:lnTo>
                    <a:pt x="289447" y="6274"/>
                  </a:lnTo>
                </a:path>
                <a:path w="372110" h="894080">
                  <a:moveTo>
                    <a:pt x="92651" y="5394"/>
                  </a:moveTo>
                  <a:lnTo>
                    <a:pt x="279033" y="5394"/>
                  </a:lnTo>
                </a:path>
                <a:path w="372110" h="894080">
                  <a:moveTo>
                    <a:pt x="130683" y="4456"/>
                  </a:moveTo>
                  <a:lnTo>
                    <a:pt x="317065" y="4456"/>
                  </a:lnTo>
                </a:path>
                <a:path w="372110" h="894080">
                  <a:moveTo>
                    <a:pt x="53307" y="3577"/>
                  </a:moveTo>
                  <a:lnTo>
                    <a:pt x="239689" y="3577"/>
                  </a:lnTo>
                </a:path>
                <a:path w="372110" h="894080">
                  <a:moveTo>
                    <a:pt x="87559" y="2697"/>
                  </a:moveTo>
                  <a:lnTo>
                    <a:pt x="273941" y="2697"/>
                  </a:lnTo>
                </a:path>
                <a:path w="372110" h="894080">
                  <a:moveTo>
                    <a:pt x="120268" y="1817"/>
                  </a:moveTo>
                  <a:lnTo>
                    <a:pt x="306650" y="1817"/>
                  </a:lnTo>
                </a:path>
                <a:path w="372110" h="894080">
                  <a:moveTo>
                    <a:pt x="64955" y="879"/>
                  </a:moveTo>
                  <a:lnTo>
                    <a:pt x="251338" y="879"/>
                  </a:lnTo>
                </a:path>
                <a:path w="372110" h="894080">
                  <a:moveTo>
                    <a:pt x="138475" y="0"/>
                  </a:moveTo>
                  <a:lnTo>
                    <a:pt x="324857" y="0"/>
                  </a:lnTo>
                </a:path>
              </a:pathLst>
            </a:custGeom>
            <a:ln w="50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3436069" y="2742413"/>
              <a:ext cx="424180" cy="193675"/>
            </a:xfrm>
            <a:custGeom>
              <a:avLst/>
              <a:gdLst/>
              <a:ahLst/>
              <a:cxnLst/>
              <a:rect l="l" t="t" r="r" b="b"/>
              <a:pathLst>
                <a:path w="424179" h="193675">
                  <a:moveTo>
                    <a:pt x="10568" y="193159"/>
                  </a:moveTo>
                  <a:lnTo>
                    <a:pt x="196950" y="193159"/>
                  </a:lnTo>
                </a:path>
                <a:path w="424179" h="193675">
                  <a:moveTo>
                    <a:pt x="237297" y="177091"/>
                  </a:moveTo>
                  <a:lnTo>
                    <a:pt x="423602" y="177091"/>
                  </a:lnTo>
                </a:path>
                <a:path w="424179" h="193675">
                  <a:moveTo>
                    <a:pt x="221328" y="176153"/>
                  </a:moveTo>
                  <a:lnTo>
                    <a:pt x="407710" y="176153"/>
                  </a:lnTo>
                </a:path>
                <a:path w="424179" h="193675">
                  <a:moveTo>
                    <a:pt x="223102" y="109069"/>
                  </a:moveTo>
                  <a:lnTo>
                    <a:pt x="409485" y="109069"/>
                  </a:lnTo>
                </a:path>
                <a:path w="424179" h="193675">
                  <a:moveTo>
                    <a:pt x="0" y="70660"/>
                  </a:moveTo>
                  <a:lnTo>
                    <a:pt x="186382" y="70660"/>
                  </a:lnTo>
                </a:path>
                <a:path w="424179" h="193675">
                  <a:moveTo>
                    <a:pt x="7174" y="61688"/>
                  </a:moveTo>
                  <a:lnTo>
                    <a:pt x="193479" y="61688"/>
                  </a:lnTo>
                </a:path>
                <a:path w="424179" h="193675">
                  <a:moveTo>
                    <a:pt x="2854" y="17885"/>
                  </a:moveTo>
                  <a:lnTo>
                    <a:pt x="189236" y="17885"/>
                  </a:lnTo>
                </a:path>
                <a:path w="424179" h="193675">
                  <a:moveTo>
                    <a:pt x="15506" y="0"/>
                  </a:moveTo>
                  <a:lnTo>
                    <a:pt x="201888" y="0"/>
                  </a:lnTo>
                </a:path>
              </a:pathLst>
            </a:custGeom>
            <a:ln w="760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3668573" y="2727464"/>
              <a:ext cx="190500" cy="10160"/>
            </a:xfrm>
            <a:custGeom>
              <a:avLst/>
              <a:gdLst/>
              <a:ahLst/>
              <a:cxnLst/>
              <a:rect l="l" t="t" r="r" b="b"/>
              <a:pathLst>
                <a:path w="190500" h="10160">
                  <a:moveTo>
                    <a:pt x="190017" y="3581"/>
                  </a:moveTo>
                  <a:lnTo>
                    <a:pt x="186385" y="3581"/>
                  </a:lnTo>
                  <a:lnTo>
                    <a:pt x="186385" y="0"/>
                  </a:lnTo>
                  <a:lnTo>
                    <a:pt x="0" y="0"/>
                  </a:lnTo>
                  <a:lnTo>
                    <a:pt x="0" y="6565"/>
                  </a:lnTo>
                  <a:lnTo>
                    <a:pt x="3632" y="6565"/>
                  </a:lnTo>
                  <a:lnTo>
                    <a:pt x="3632" y="10147"/>
                  </a:lnTo>
                  <a:lnTo>
                    <a:pt x="190017" y="10147"/>
                  </a:lnTo>
                  <a:lnTo>
                    <a:pt x="190017" y="358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3420563" y="2638621"/>
              <a:ext cx="447675" cy="66675"/>
            </a:xfrm>
            <a:custGeom>
              <a:avLst/>
              <a:gdLst/>
              <a:ahLst/>
              <a:cxnLst/>
              <a:rect l="l" t="t" r="r" b="b"/>
              <a:pathLst>
                <a:path w="447675" h="66675">
                  <a:moveTo>
                    <a:pt x="0" y="66204"/>
                  </a:moveTo>
                  <a:lnTo>
                    <a:pt x="186382" y="66204"/>
                  </a:lnTo>
                </a:path>
                <a:path w="447675" h="66675">
                  <a:moveTo>
                    <a:pt x="245552" y="50078"/>
                  </a:moveTo>
                  <a:lnTo>
                    <a:pt x="431857" y="50078"/>
                  </a:lnTo>
                </a:path>
                <a:path w="447675" h="66675">
                  <a:moveTo>
                    <a:pt x="32169" y="44742"/>
                  </a:moveTo>
                  <a:lnTo>
                    <a:pt x="218551" y="44742"/>
                  </a:lnTo>
                </a:path>
                <a:path w="447675" h="66675">
                  <a:moveTo>
                    <a:pt x="251955" y="34890"/>
                  </a:moveTo>
                  <a:lnTo>
                    <a:pt x="438337" y="34890"/>
                  </a:lnTo>
                </a:path>
                <a:path w="447675" h="66675">
                  <a:moveTo>
                    <a:pt x="260749" y="0"/>
                  </a:moveTo>
                  <a:lnTo>
                    <a:pt x="447131" y="0"/>
                  </a:lnTo>
                </a:path>
              </a:pathLst>
            </a:custGeom>
            <a:ln w="760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3651224" y="2620162"/>
              <a:ext cx="187325" cy="12065"/>
            </a:xfrm>
            <a:custGeom>
              <a:avLst/>
              <a:gdLst/>
              <a:ahLst/>
              <a:cxnLst/>
              <a:rect l="l" t="t" r="r" b="b"/>
              <a:pathLst>
                <a:path w="187325" h="12064">
                  <a:moveTo>
                    <a:pt x="187223" y="5384"/>
                  </a:moveTo>
                  <a:lnTo>
                    <a:pt x="186372" y="5384"/>
                  </a:lnTo>
                  <a:lnTo>
                    <a:pt x="186372" y="0"/>
                  </a:lnTo>
                  <a:lnTo>
                    <a:pt x="0" y="0"/>
                  </a:lnTo>
                  <a:lnTo>
                    <a:pt x="0" y="6565"/>
                  </a:lnTo>
                  <a:lnTo>
                    <a:pt x="927" y="6565"/>
                  </a:lnTo>
                  <a:lnTo>
                    <a:pt x="927" y="11950"/>
                  </a:lnTo>
                  <a:lnTo>
                    <a:pt x="187223" y="11950"/>
                  </a:lnTo>
                  <a:lnTo>
                    <a:pt x="187223" y="538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3436377" y="2544739"/>
              <a:ext cx="410845" cy="25400"/>
            </a:xfrm>
            <a:custGeom>
              <a:avLst/>
              <a:gdLst/>
              <a:ahLst/>
              <a:cxnLst/>
              <a:rect l="l" t="t" r="r" b="b"/>
              <a:pathLst>
                <a:path w="410845" h="25400">
                  <a:moveTo>
                    <a:pt x="205513" y="25039"/>
                  </a:moveTo>
                  <a:lnTo>
                    <a:pt x="391895" y="25039"/>
                  </a:lnTo>
                </a:path>
                <a:path w="410845" h="25400">
                  <a:moveTo>
                    <a:pt x="224337" y="4456"/>
                  </a:moveTo>
                  <a:lnTo>
                    <a:pt x="410719" y="4456"/>
                  </a:lnTo>
                </a:path>
                <a:path w="410845" h="25400">
                  <a:moveTo>
                    <a:pt x="0" y="0"/>
                  </a:moveTo>
                  <a:lnTo>
                    <a:pt x="186382" y="0"/>
                  </a:lnTo>
                </a:path>
              </a:pathLst>
            </a:custGeom>
            <a:ln w="760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3643655" y="2519121"/>
              <a:ext cx="189865" cy="12065"/>
            </a:xfrm>
            <a:custGeom>
              <a:avLst/>
              <a:gdLst/>
              <a:ahLst/>
              <a:cxnLst/>
              <a:rect l="l" t="t" r="r" b="b"/>
              <a:pathLst>
                <a:path w="189864" h="12064">
                  <a:moveTo>
                    <a:pt x="189318" y="0"/>
                  </a:moveTo>
                  <a:lnTo>
                    <a:pt x="2933" y="0"/>
                  </a:lnTo>
                  <a:lnTo>
                    <a:pt x="2933" y="5334"/>
                  </a:lnTo>
                  <a:lnTo>
                    <a:pt x="0" y="5334"/>
                  </a:lnTo>
                  <a:lnTo>
                    <a:pt x="0" y="11899"/>
                  </a:lnTo>
                  <a:lnTo>
                    <a:pt x="186385" y="11899"/>
                  </a:lnTo>
                  <a:lnTo>
                    <a:pt x="186385" y="6565"/>
                  </a:lnTo>
                  <a:lnTo>
                    <a:pt x="189318" y="6565"/>
                  </a:lnTo>
                  <a:lnTo>
                    <a:pt x="18931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3414005" y="2318448"/>
              <a:ext cx="427990" cy="187325"/>
            </a:xfrm>
            <a:custGeom>
              <a:avLst/>
              <a:gdLst/>
              <a:ahLst/>
              <a:cxnLst/>
              <a:rect l="l" t="t" r="r" b="b"/>
              <a:pathLst>
                <a:path w="427989" h="187325">
                  <a:moveTo>
                    <a:pt x="30317" y="186943"/>
                  </a:moveTo>
                  <a:lnTo>
                    <a:pt x="216699" y="186943"/>
                  </a:lnTo>
                </a:path>
                <a:path w="427989" h="187325">
                  <a:moveTo>
                    <a:pt x="18051" y="143080"/>
                  </a:moveTo>
                  <a:lnTo>
                    <a:pt x="204433" y="143080"/>
                  </a:lnTo>
                </a:path>
                <a:path w="427989" h="187325">
                  <a:moveTo>
                    <a:pt x="234520" y="138624"/>
                  </a:moveTo>
                  <a:lnTo>
                    <a:pt x="420902" y="138624"/>
                  </a:lnTo>
                </a:path>
                <a:path w="427989" h="187325">
                  <a:moveTo>
                    <a:pt x="848" y="106431"/>
                  </a:moveTo>
                  <a:lnTo>
                    <a:pt x="187153" y="106431"/>
                  </a:lnTo>
                </a:path>
                <a:path w="427989" h="187325">
                  <a:moveTo>
                    <a:pt x="31320" y="67963"/>
                  </a:moveTo>
                  <a:lnTo>
                    <a:pt x="217702" y="67963"/>
                  </a:lnTo>
                </a:path>
                <a:path w="427989" h="187325">
                  <a:moveTo>
                    <a:pt x="24069" y="39347"/>
                  </a:moveTo>
                  <a:lnTo>
                    <a:pt x="210374" y="39347"/>
                  </a:lnTo>
                </a:path>
                <a:path w="427989" h="187325">
                  <a:moveTo>
                    <a:pt x="228117" y="17885"/>
                  </a:moveTo>
                  <a:lnTo>
                    <a:pt x="414499" y="17885"/>
                  </a:lnTo>
                </a:path>
                <a:path w="427989" h="187325">
                  <a:moveTo>
                    <a:pt x="24917" y="10731"/>
                  </a:moveTo>
                  <a:lnTo>
                    <a:pt x="211299" y="10731"/>
                  </a:lnTo>
                </a:path>
                <a:path w="427989" h="187325">
                  <a:moveTo>
                    <a:pt x="0" y="9851"/>
                  </a:moveTo>
                  <a:lnTo>
                    <a:pt x="186382" y="9851"/>
                  </a:lnTo>
                </a:path>
                <a:path w="427989" h="187325">
                  <a:moveTo>
                    <a:pt x="241154" y="0"/>
                  </a:moveTo>
                  <a:lnTo>
                    <a:pt x="427536" y="0"/>
                  </a:lnTo>
                </a:path>
              </a:pathLst>
            </a:custGeom>
            <a:ln w="760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3448951" y="2304440"/>
              <a:ext cx="187325" cy="7620"/>
            </a:xfrm>
            <a:custGeom>
              <a:avLst/>
              <a:gdLst/>
              <a:ahLst/>
              <a:cxnLst/>
              <a:rect l="l" t="t" r="r" b="b"/>
              <a:pathLst>
                <a:path w="187325" h="7619">
                  <a:moveTo>
                    <a:pt x="186918" y="876"/>
                  </a:moveTo>
                  <a:lnTo>
                    <a:pt x="186372" y="876"/>
                  </a:lnTo>
                  <a:lnTo>
                    <a:pt x="186372" y="0"/>
                  </a:lnTo>
                  <a:lnTo>
                    <a:pt x="0" y="0"/>
                  </a:lnTo>
                  <a:lnTo>
                    <a:pt x="0" y="6565"/>
                  </a:lnTo>
                  <a:lnTo>
                    <a:pt x="533" y="6565"/>
                  </a:lnTo>
                  <a:lnTo>
                    <a:pt x="533" y="7442"/>
                  </a:lnTo>
                  <a:lnTo>
                    <a:pt x="186918" y="7442"/>
                  </a:lnTo>
                  <a:lnTo>
                    <a:pt x="186918" y="87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3419328" y="2062662"/>
              <a:ext cx="436245" cy="236220"/>
            </a:xfrm>
            <a:custGeom>
              <a:avLst/>
              <a:gdLst/>
              <a:ahLst/>
              <a:cxnLst/>
              <a:rect l="l" t="t" r="r" b="b"/>
              <a:pathLst>
                <a:path w="436245" h="236219">
                  <a:moveTo>
                    <a:pt x="0" y="236083"/>
                  </a:moveTo>
                  <a:lnTo>
                    <a:pt x="186382" y="236083"/>
                  </a:lnTo>
                </a:path>
                <a:path w="436245" h="236219">
                  <a:moveTo>
                    <a:pt x="221251" y="223593"/>
                  </a:moveTo>
                  <a:lnTo>
                    <a:pt x="407556" y="223593"/>
                  </a:lnTo>
                </a:path>
                <a:path w="436245" h="236219">
                  <a:moveTo>
                    <a:pt x="237220" y="202131"/>
                  </a:moveTo>
                  <a:lnTo>
                    <a:pt x="423602" y="202131"/>
                  </a:lnTo>
                </a:path>
                <a:path w="436245" h="236219">
                  <a:moveTo>
                    <a:pt x="10028" y="164543"/>
                  </a:moveTo>
                  <a:lnTo>
                    <a:pt x="196410" y="164543"/>
                  </a:lnTo>
                </a:path>
                <a:path w="436245" h="236219">
                  <a:moveTo>
                    <a:pt x="30163" y="139503"/>
                  </a:moveTo>
                  <a:lnTo>
                    <a:pt x="216545" y="139503"/>
                  </a:lnTo>
                </a:path>
                <a:path w="436245" h="236219">
                  <a:moveTo>
                    <a:pt x="15814" y="117162"/>
                  </a:moveTo>
                  <a:lnTo>
                    <a:pt x="202196" y="117162"/>
                  </a:lnTo>
                </a:path>
                <a:path w="436245" h="236219">
                  <a:moveTo>
                    <a:pt x="33403" y="106431"/>
                  </a:moveTo>
                  <a:lnTo>
                    <a:pt x="219785" y="106431"/>
                  </a:lnTo>
                </a:path>
                <a:path w="436245" h="236219">
                  <a:moveTo>
                    <a:pt x="249795" y="104613"/>
                  </a:moveTo>
                  <a:lnTo>
                    <a:pt x="436177" y="104613"/>
                  </a:lnTo>
                </a:path>
                <a:path w="436245" h="236219">
                  <a:moveTo>
                    <a:pt x="234520" y="8913"/>
                  </a:moveTo>
                  <a:lnTo>
                    <a:pt x="420902" y="8913"/>
                  </a:lnTo>
                </a:path>
                <a:path w="436245" h="236219">
                  <a:moveTo>
                    <a:pt x="848" y="4456"/>
                  </a:moveTo>
                  <a:lnTo>
                    <a:pt x="187230" y="4456"/>
                  </a:lnTo>
                </a:path>
                <a:path w="436245" h="236219">
                  <a:moveTo>
                    <a:pt x="29006" y="0"/>
                  </a:moveTo>
                  <a:lnTo>
                    <a:pt x="215388" y="0"/>
                  </a:lnTo>
                </a:path>
              </a:pathLst>
            </a:custGeom>
            <a:ln w="760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3640194" y="2010824"/>
              <a:ext cx="0" cy="965200"/>
            </a:xfrm>
            <a:custGeom>
              <a:avLst/>
              <a:gdLst/>
              <a:ahLst/>
              <a:cxnLst/>
              <a:rect l="l" t="t" r="r" b="b"/>
              <a:pathLst>
                <a:path w="0" h="965200">
                  <a:moveTo>
                    <a:pt x="0" y="964975"/>
                  </a:moveTo>
                  <a:lnTo>
                    <a:pt x="0" y="0"/>
                  </a:lnTo>
                </a:path>
              </a:pathLst>
            </a:custGeom>
            <a:ln w="578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6" name="object 96" descr=""/>
          <p:cNvSpPr txBox="1"/>
          <p:nvPr/>
        </p:nvSpPr>
        <p:spPr>
          <a:xfrm>
            <a:off x="3306186" y="3016520"/>
            <a:ext cx="659765" cy="1936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r" marR="14604">
              <a:lnSpc>
                <a:spcPct val="100000"/>
              </a:lnSpc>
              <a:spcBef>
                <a:spcPts val="120"/>
              </a:spcBef>
              <a:tabLst>
                <a:tab pos="278130" algn="l"/>
                <a:tab pos="538480" algn="l"/>
              </a:tabLst>
            </a:pPr>
            <a:r>
              <a:rPr dirty="0" sz="350" spc="40">
                <a:latin typeface="Helvetica"/>
                <a:cs typeface="Helvetica"/>
              </a:rPr>
              <a:t>−1.0</a:t>
            </a:r>
            <a:r>
              <a:rPr dirty="0" sz="350">
                <a:latin typeface="Helvetica"/>
                <a:cs typeface="Helvetica"/>
              </a:rPr>
              <a:t>	</a:t>
            </a:r>
            <a:r>
              <a:rPr dirty="0" sz="350" spc="30">
                <a:latin typeface="Helvetica"/>
                <a:cs typeface="Helvetica"/>
              </a:rPr>
              <a:t>0.0</a:t>
            </a:r>
            <a:r>
              <a:rPr dirty="0" sz="350">
                <a:latin typeface="Helvetica"/>
                <a:cs typeface="Helvetica"/>
              </a:rPr>
              <a:t>	</a:t>
            </a:r>
            <a:r>
              <a:rPr dirty="0" sz="350" spc="30">
                <a:latin typeface="Helvetica"/>
                <a:cs typeface="Helvetica"/>
              </a:rPr>
              <a:t>1.0</a:t>
            </a:r>
            <a:endParaRPr sz="35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50">
              <a:latin typeface="Helvetica"/>
              <a:cs typeface="Helvetica"/>
            </a:endParaRPr>
          </a:p>
          <a:p>
            <a:pPr algn="r" marR="5080">
              <a:lnSpc>
                <a:spcPct val="100000"/>
              </a:lnSpc>
            </a:pPr>
            <a:r>
              <a:rPr dirty="0" sz="350" spc="60">
                <a:latin typeface="Helvetica"/>
                <a:cs typeface="Helvetica"/>
              </a:rPr>
              <a:t>Confidence</a:t>
            </a:r>
            <a:r>
              <a:rPr dirty="0" sz="350" spc="80">
                <a:latin typeface="Helvetica"/>
                <a:cs typeface="Helvetica"/>
              </a:rPr>
              <a:t> </a:t>
            </a:r>
            <a:r>
              <a:rPr dirty="0" sz="350" spc="40">
                <a:latin typeface="Helvetica"/>
                <a:cs typeface="Helvetica"/>
              </a:rPr>
              <a:t>intervals</a:t>
            </a:r>
            <a:endParaRPr sz="350">
              <a:latin typeface="Helvetica"/>
              <a:cs typeface="Helvetica"/>
            </a:endParaRPr>
          </a:p>
        </p:txBody>
      </p:sp>
      <p:sp>
        <p:nvSpPr>
          <p:cNvPr id="104" name="object 10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105" name="object 10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48</a:t>
            </a:fld>
          </a:p>
        </p:txBody>
      </p:sp>
      <p:sp>
        <p:nvSpPr>
          <p:cNvPr id="97" name="object 97" descr=""/>
          <p:cNvSpPr txBox="1"/>
          <p:nvPr/>
        </p:nvSpPr>
        <p:spPr>
          <a:xfrm>
            <a:off x="3096103" y="2915195"/>
            <a:ext cx="94615" cy="52069"/>
          </a:xfrm>
          <a:prstGeom prst="rect">
            <a:avLst/>
          </a:prstGeom>
        </p:spPr>
        <p:txBody>
          <a:bodyPr wrap="square" lIns="0" tIns="1143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-50">
                <a:latin typeface="Helvetica"/>
                <a:cs typeface="Helvetica"/>
              </a:rPr>
              <a:t>0</a:t>
            </a:r>
            <a:endParaRPr sz="450">
              <a:latin typeface="Helvetica"/>
              <a:cs typeface="Helvetica"/>
            </a:endParaRPr>
          </a:p>
        </p:txBody>
      </p:sp>
      <p:sp>
        <p:nvSpPr>
          <p:cNvPr id="98" name="object 98" descr=""/>
          <p:cNvSpPr txBox="1"/>
          <p:nvPr/>
        </p:nvSpPr>
        <p:spPr>
          <a:xfrm>
            <a:off x="3096103" y="2352439"/>
            <a:ext cx="94615" cy="461645"/>
          </a:xfrm>
          <a:prstGeom prst="rect">
            <a:avLst/>
          </a:prstGeom>
        </p:spPr>
        <p:txBody>
          <a:bodyPr wrap="square" lIns="0" tIns="1143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>
                <a:latin typeface="Helvetica"/>
                <a:cs typeface="Helvetica"/>
              </a:rPr>
              <a:t>200</a:t>
            </a:r>
            <a:r>
              <a:rPr dirty="0" sz="450" spc="200">
                <a:latin typeface="Helvetica"/>
                <a:cs typeface="Helvetica"/>
              </a:rPr>
              <a:t>  </a:t>
            </a:r>
            <a:r>
              <a:rPr dirty="0" sz="450">
                <a:latin typeface="Helvetica"/>
                <a:cs typeface="Helvetica"/>
              </a:rPr>
              <a:t>400</a:t>
            </a:r>
            <a:r>
              <a:rPr dirty="0" sz="450" spc="204">
                <a:latin typeface="Helvetica"/>
                <a:cs typeface="Helvetica"/>
              </a:rPr>
              <a:t>  </a:t>
            </a:r>
            <a:r>
              <a:rPr dirty="0" sz="450" spc="-25">
                <a:latin typeface="Helvetica"/>
                <a:cs typeface="Helvetica"/>
              </a:rPr>
              <a:t>600</a:t>
            </a:r>
            <a:endParaRPr sz="450">
              <a:latin typeface="Helvetica"/>
              <a:cs typeface="Helvetica"/>
            </a:endParaRPr>
          </a:p>
        </p:txBody>
      </p:sp>
      <p:sp>
        <p:nvSpPr>
          <p:cNvPr id="99" name="object 99" descr=""/>
          <p:cNvSpPr txBox="1"/>
          <p:nvPr/>
        </p:nvSpPr>
        <p:spPr>
          <a:xfrm>
            <a:off x="3096103" y="2173588"/>
            <a:ext cx="94615" cy="104139"/>
          </a:xfrm>
          <a:prstGeom prst="rect">
            <a:avLst/>
          </a:prstGeom>
        </p:spPr>
        <p:txBody>
          <a:bodyPr wrap="square" lIns="0" tIns="1143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-35">
                <a:latin typeface="Helvetica"/>
                <a:cs typeface="Helvetica"/>
              </a:rPr>
              <a:t>800</a:t>
            </a:r>
            <a:endParaRPr sz="450">
              <a:latin typeface="Helvetica"/>
              <a:cs typeface="Helvetica"/>
            </a:endParaRPr>
          </a:p>
        </p:txBody>
      </p:sp>
      <p:sp>
        <p:nvSpPr>
          <p:cNvPr id="100" name="object 100" descr=""/>
          <p:cNvSpPr txBox="1"/>
          <p:nvPr/>
        </p:nvSpPr>
        <p:spPr>
          <a:xfrm>
            <a:off x="3096103" y="1981665"/>
            <a:ext cx="94615" cy="130175"/>
          </a:xfrm>
          <a:prstGeom prst="rect">
            <a:avLst/>
          </a:prstGeom>
        </p:spPr>
        <p:txBody>
          <a:bodyPr wrap="square" lIns="0" tIns="1143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-40">
                <a:latin typeface="Helvetica"/>
                <a:cs typeface="Helvetica"/>
              </a:rPr>
              <a:t>1000</a:t>
            </a:r>
            <a:endParaRPr sz="450">
              <a:latin typeface="Helvetica"/>
              <a:cs typeface="Helvetica"/>
            </a:endParaRPr>
          </a:p>
        </p:txBody>
      </p:sp>
      <p:sp>
        <p:nvSpPr>
          <p:cNvPr id="101" name="object 101" descr=""/>
          <p:cNvSpPr txBox="1"/>
          <p:nvPr/>
        </p:nvSpPr>
        <p:spPr>
          <a:xfrm>
            <a:off x="2949451" y="2364516"/>
            <a:ext cx="94615" cy="257810"/>
          </a:xfrm>
          <a:prstGeom prst="rect">
            <a:avLst/>
          </a:prstGeom>
        </p:spPr>
        <p:txBody>
          <a:bodyPr wrap="square" lIns="0" tIns="1143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-40">
                <a:latin typeface="Helvetica"/>
                <a:cs typeface="Helvetica"/>
              </a:rPr>
              <a:t>Replication</a:t>
            </a:r>
            <a:endParaRPr sz="450">
              <a:latin typeface="Helvetica"/>
              <a:cs typeface="Helvetica"/>
            </a:endParaRPr>
          </a:p>
        </p:txBody>
      </p:sp>
      <p:sp>
        <p:nvSpPr>
          <p:cNvPr id="102" name="object 102" descr=""/>
          <p:cNvSpPr txBox="1"/>
          <p:nvPr/>
        </p:nvSpPr>
        <p:spPr>
          <a:xfrm>
            <a:off x="3050219" y="1846247"/>
            <a:ext cx="1200785" cy="958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50" spc="85" b="1">
                <a:latin typeface="Helvetica"/>
                <a:cs typeface="Helvetica"/>
              </a:rPr>
              <a:t>1000</a:t>
            </a:r>
            <a:r>
              <a:rPr dirty="0" sz="450" spc="45" b="1">
                <a:latin typeface="Helvetica"/>
                <a:cs typeface="Helvetica"/>
              </a:rPr>
              <a:t> </a:t>
            </a:r>
            <a:r>
              <a:rPr dirty="0" sz="450" spc="55" b="1">
                <a:latin typeface="Helvetica"/>
                <a:cs typeface="Helvetica"/>
              </a:rPr>
              <a:t>CI's</a:t>
            </a:r>
            <a:r>
              <a:rPr dirty="0" sz="450" spc="45" b="1">
                <a:latin typeface="Helvetica"/>
                <a:cs typeface="Helvetica"/>
              </a:rPr>
              <a:t> </a:t>
            </a:r>
            <a:r>
              <a:rPr dirty="0" sz="450" spc="80" b="1">
                <a:latin typeface="Helvetica"/>
                <a:cs typeface="Helvetica"/>
              </a:rPr>
              <a:t>from</a:t>
            </a:r>
            <a:r>
              <a:rPr dirty="0" sz="450" spc="45" b="1">
                <a:latin typeface="Helvetica"/>
                <a:cs typeface="Helvetica"/>
              </a:rPr>
              <a:t> </a:t>
            </a:r>
            <a:r>
              <a:rPr dirty="0" sz="450" spc="90" b="1">
                <a:latin typeface="Helvetica"/>
                <a:cs typeface="Helvetica"/>
              </a:rPr>
              <a:t>samples</a:t>
            </a:r>
            <a:r>
              <a:rPr dirty="0" sz="450" spc="45" b="1">
                <a:latin typeface="Helvetica"/>
                <a:cs typeface="Helvetica"/>
              </a:rPr>
              <a:t> </a:t>
            </a:r>
            <a:r>
              <a:rPr dirty="0" sz="450" spc="70" b="1">
                <a:latin typeface="Helvetica"/>
                <a:cs typeface="Helvetica"/>
              </a:rPr>
              <a:t>of</a:t>
            </a:r>
            <a:r>
              <a:rPr dirty="0" sz="450" spc="45" b="1">
                <a:latin typeface="Helvetica"/>
                <a:cs typeface="Helvetica"/>
              </a:rPr>
              <a:t> </a:t>
            </a:r>
            <a:r>
              <a:rPr dirty="0" sz="450" spc="75" b="1">
                <a:latin typeface="Helvetica"/>
                <a:cs typeface="Helvetica"/>
              </a:rPr>
              <a:t>size</a:t>
            </a:r>
            <a:r>
              <a:rPr dirty="0" sz="450" spc="50" b="1">
                <a:latin typeface="Helvetica"/>
                <a:cs typeface="Helvetica"/>
              </a:rPr>
              <a:t> </a:t>
            </a:r>
            <a:r>
              <a:rPr dirty="0" sz="450" spc="35" b="1">
                <a:latin typeface="Helvetica"/>
                <a:cs typeface="Helvetica"/>
              </a:rPr>
              <a:t>3</a:t>
            </a:r>
            <a:endParaRPr sz="450">
              <a:latin typeface="Helvetica"/>
              <a:cs typeface="Helvetica"/>
            </a:endParaRPr>
          </a:p>
        </p:txBody>
      </p:sp>
      <p:sp>
        <p:nvSpPr>
          <p:cNvPr id="103" name="object 103" descr=""/>
          <p:cNvSpPr txBox="1"/>
          <p:nvPr/>
        </p:nvSpPr>
        <p:spPr>
          <a:xfrm>
            <a:off x="3737271" y="2012491"/>
            <a:ext cx="379095" cy="819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70">
                <a:solidFill>
                  <a:srgbClr val="9400D3"/>
                </a:solidFill>
                <a:latin typeface="Helvetica"/>
                <a:cs typeface="Helvetica"/>
              </a:rPr>
              <a:t>no</a:t>
            </a:r>
            <a:r>
              <a:rPr dirty="0" sz="350" spc="45">
                <a:solidFill>
                  <a:srgbClr val="9400D3"/>
                </a:solidFill>
                <a:latin typeface="Helvetica"/>
                <a:cs typeface="Helvetica"/>
              </a:rPr>
              <a:t> </a:t>
            </a:r>
            <a:r>
              <a:rPr dirty="0" sz="350" spc="50">
                <a:solidFill>
                  <a:srgbClr val="9400D3"/>
                </a:solidFill>
                <a:latin typeface="Helvetica"/>
                <a:cs typeface="Helvetica"/>
              </a:rPr>
              <a:t>failed=</a:t>
            </a:r>
            <a:r>
              <a:rPr dirty="0" sz="350" spc="45">
                <a:solidFill>
                  <a:srgbClr val="9400D3"/>
                </a:solidFill>
                <a:latin typeface="Helvetica"/>
                <a:cs typeface="Helvetica"/>
              </a:rPr>
              <a:t> 45</a:t>
            </a:r>
            <a:endParaRPr sz="350">
              <a:latin typeface="Helvetica"/>
              <a:cs typeface="Helvetic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Interpreting</a:t>
            </a:r>
            <a:r>
              <a:rPr dirty="0" spc="95"/>
              <a:t> </a:t>
            </a:r>
            <a:r>
              <a:rPr dirty="0"/>
              <a:t>p-value</a:t>
            </a:r>
            <a:r>
              <a:rPr dirty="0" spc="100"/>
              <a:t> </a:t>
            </a:r>
            <a:r>
              <a:rPr dirty="0"/>
              <a:t>(tail</a:t>
            </a:r>
            <a:r>
              <a:rPr dirty="0" spc="95"/>
              <a:t> </a:t>
            </a:r>
            <a:r>
              <a:rPr dirty="0" spc="-10"/>
              <a:t>area)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358305"/>
            <a:ext cx="76809" cy="7680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11695" y="286396"/>
            <a:ext cx="3576954" cy="880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p-value</a:t>
            </a:r>
            <a:r>
              <a:rPr dirty="0" sz="11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corresponding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observed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test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statistic</a:t>
            </a:r>
            <a:endParaRPr sz="1100">
              <a:latin typeface="Arial"/>
              <a:cs typeface="Arial"/>
            </a:endParaRPr>
          </a:p>
          <a:p>
            <a:pPr marL="25400" marR="17780">
              <a:lnSpc>
                <a:spcPct val="102600"/>
              </a:lnSpc>
            </a:pPr>
            <a:r>
              <a:rPr dirty="0" sz="1100" spc="-20" i="1">
                <a:latin typeface="Arial"/>
                <a:cs typeface="Arial"/>
              </a:rPr>
              <a:t>T</a:t>
            </a:r>
            <a:r>
              <a:rPr dirty="0" sz="1100" spc="-150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b="1">
                <a:latin typeface="Arial"/>
                <a:cs typeface="Arial"/>
              </a:rPr>
              <a:t>x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spc="10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1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t</a:t>
            </a:r>
            <a:r>
              <a:rPr dirty="0" baseline="-13888" sz="1200">
                <a:latin typeface="Times New Roman"/>
                <a:cs typeface="Times New Roman"/>
              </a:rPr>
              <a:t>obs</a:t>
            </a:r>
            <a:r>
              <a:rPr dirty="0" baseline="-13888" sz="12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defined</a:t>
            </a:r>
            <a:r>
              <a:rPr dirty="0" sz="1100" spc="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</a:t>
            </a:r>
            <a:r>
              <a:rPr dirty="0" sz="1100" spc="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1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probability</a:t>
            </a:r>
            <a:r>
              <a:rPr dirty="0" sz="1100" spc="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10">
                <a:latin typeface="Arial"/>
                <a:cs typeface="Arial"/>
              </a:rPr>
              <a:t> </a:t>
            </a:r>
            <a:r>
              <a:rPr dirty="0" sz="1100" spc="-20" i="1">
                <a:latin typeface="Arial"/>
                <a:cs typeface="Arial"/>
              </a:rPr>
              <a:t>T</a:t>
            </a:r>
            <a:r>
              <a:rPr dirty="0" sz="1100" spc="-150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b="1">
                <a:latin typeface="Arial"/>
                <a:cs typeface="Arial"/>
              </a:rPr>
              <a:t>X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spc="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lying</a:t>
            </a:r>
            <a:r>
              <a:rPr dirty="0" sz="1100" spc="1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at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beyond </a:t>
            </a:r>
            <a:r>
              <a:rPr dirty="0" sz="1100" i="1">
                <a:latin typeface="Arial"/>
                <a:cs typeface="Arial"/>
              </a:rPr>
              <a:t>t</a:t>
            </a:r>
            <a:r>
              <a:rPr dirty="0" baseline="-13888" sz="1200">
                <a:latin typeface="Times New Roman"/>
                <a:cs typeface="Times New Roman"/>
              </a:rPr>
              <a:t>obs</a:t>
            </a:r>
            <a:r>
              <a:rPr dirty="0" baseline="-13888" sz="1200" spc="209">
                <a:latin typeface="Times New Roman"/>
                <a:cs typeface="Times New Roman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“direction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more</a:t>
            </a:r>
            <a:r>
              <a:rPr dirty="0" sz="1100" spc="-10">
                <a:latin typeface="Arial"/>
                <a:cs typeface="Arial"/>
              </a:rPr>
              <a:t> extreme </a:t>
            </a:r>
            <a:r>
              <a:rPr dirty="0" sz="1100">
                <a:latin typeface="Arial"/>
                <a:cs typeface="Arial"/>
              </a:rPr>
              <a:t>values”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alternative,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computed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under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0">
                <a:latin typeface="Arial"/>
                <a:cs typeface="Arial"/>
              </a:rPr>
              <a:t> null </a:t>
            </a:r>
            <a:r>
              <a:rPr dirty="0" sz="1100" spc="-10">
                <a:latin typeface="Arial"/>
                <a:cs typeface="Arial"/>
              </a:rPr>
              <a:t>distribution.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8791" y="1147220"/>
            <a:ext cx="3110376" cy="2308779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48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Example:</a:t>
            </a:r>
            <a:r>
              <a:rPr dirty="0" spc="229"/>
              <a:t> </a:t>
            </a:r>
            <a:r>
              <a:rPr dirty="0"/>
              <a:t>t-</a:t>
            </a:r>
            <a:r>
              <a:rPr dirty="0" spc="-20"/>
              <a:t>test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1110157"/>
            <a:ext cx="76809" cy="7680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86295" y="1038249"/>
            <a:ext cx="3488690" cy="105727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50800" marR="100330">
              <a:lnSpc>
                <a:spcPct val="102600"/>
              </a:lnSpc>
              <a:spcBef>
                <a:spcPts val="55"/>
              </a:spcBef>
            </a:pPr>
            <a:r>
              <a:rPr dirty="0" sz="1100" spc="-10">
                <a:latin typeface="Arial"/>
                <a:cs typeface="Arial"/>
              </a:rPr>
              <a:t>Consider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t-test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H</a:t>
            </a:r>
            <a:r>
              <a:rPr dirty="0" baseline="-13888" sz="1200">
                <a:latin typeface="Arial"/>
                <a:cs typeface="Arial"/>
              </a:rPr>
              <a:t>0</a:t>
            </a:r>
            <a:r>
              <a:rPr dirty="0" baseline="-13888" sz="1200" spc="179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: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µ</a:t>
            </a:r>
            <a:r>
              <a:rPr dirty="0" sz="1100" spc="-10" i="1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60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against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H</a:t>
            </a:r>
            <a:r>
              <a:rPr dirty="0" baseline="-13888" sz="1200">
                <a:latin typeface="Arial"/>
                <a:cs typeface="Arial"/>
              </a:rPr>
              <a:t>1</a:t>
            </a:r>
            <a:r>
              <a:rPr dirty="0" baseline="-13888" sz="1200" spc="179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: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µ</a:t>
            </a:r>
            <a:r>
              <a:rPr dirty="0" sz="1100" spc="-10" i="1">
                <a:latin typeface="Arial"/>
                <a:cs typeface="Arial"/>
              </a:rPr>
              <a:t> </a:t>
            </a:r>
            <a:r>
              <a:rPr dirty="0" sz="1100" spc="200" i="1">
                <a:latin typeface="Arial"/>
                <a:cs typeface="Arial"/>
              </a:rPr>
              <a:t>&gt;</a:t>
            </a:r>
            <a:r>
              <a:rPr dirty="0" sz="1100" spc="-15" i="1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60. </a:t>
            </a:r>
            <a:r>
              <a:rPr dirty="0" sz="1100" spc="-10">
                <a:latin typeface="Arial"/>
                <a:cs typeface="Arial"/>
              </a:rPr>
              <a:t>Suppose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 </a:t>
            </a:r>
            <a:r>
              <a:rPr dirty="0" sz="1100" i="1">
                <a:latin typeface="Arial"/>
                <a:cs typeface="Arial"/>
              </a:rPr>
              <a:t>n</a:t>
            </a:r>
            <a:r>
              <a:rPr dirty="0" sz="1100" spc="20" i="1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>
                <a:latin typeface="Arial"/>
                <a:cs typeface="Arial"/>
              </a:rPr>
              <a:t> 20 and </a:t>
            </a:r>
            <a:r>
              <a:rPr dirty="0" sz="1100" i="1">
                <a:latin typeface="Arial"/>
                <a:cs typeface="Arial"/>
              </a:rPr>
              <a:t>t</a:t>
            </a:r>
            <a:r>
              <a:rPr dirty="0" baseline="-13888" sz="1200">
                <a:latin typeface="Times New Roman"/>
                <a:cs typeface="Times New Roman"/>
              </a:rPr>
              <a:t>obs</a:t>
            </a:r>
            <a:r>
              <a:rPr dirty="0" baseline="-13888" sz="1200" spc="232">
                <a:latin typeface="Times New Roman"/>
                <a:cs typeface="Times New Roman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1</a:t>
            </a:r>
            <a:r>
              <a:rPr dirty="0" sz="1100" spc="-10" i="1">
                <a:latin typeface="Arial"/>
                <a:cs typeface="Arial"/>
              </a:rPr>
              <a:t>.</a:t>
            </a:r>
            <a:r>
              <a:rPr dirty="0" sz="1100" spc="-10">
                <a:latin typeface="Arial"/>
                <a:cs typeface="Arial"/>
              </a:rPr>
              <a:t>91.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1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dirty="0" sz="1100" spc="-20">
                <a:latin typeface="Arial"/>
                <a:cs typeface="Arial"/>
              </a:rPr>
              <a:t>Then</a:t>
            </a:r>
            <a:endParaRPr sz="1100">
              <a:latin typeface="Arial"/>
              <a:cs typeface="Arial"/>
            </a:endParaRPr>
          </a:p>
          <a:p>
            <a:pPr marL="274320">
              <a:lnSpc>
                <a:spcPct val="100000"/>
              </a:lnSpc>
              <a:spcBef>
                <a:spcPts val="1130"/>
              </a:spcBef>
            </a:pPr>
            <a:r>
              <a:rPr dirty="0" sz="1100" spc="-10">
                <a:latin typeface="Arial"/>
                <a:cs typeface="Arial"/>
              </a:rPr>
              <a:t>p-value</a:t>
            </a:r>
            <a:r>
              <a:rPr dirty="0" sz="1100" spc="40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4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T</a:t>
            </a:r>
            <a:r>
              <a:rPr dirty="0" baseline="-13888" sz="1200" i="1">
                <a:latin typeface="Arial"/>
                <a:cs typeface="Arial"/>
              </a:rPr>
              <a:t>n−</a:t>
            </a:r>
            <a:r>
              <a:rPr dirty="0" baseline="-13888" sz="1200">
                <a:latin typeface="Arial"/>
                <a:cs typeface="Arial"/>
              </a:rPr>
              <a:t>1</a:t>
            </a:r>
            <a:r>
              <a:rPr dirty="0" baseline="-13888" sz="1200" spc="284">
                <a:latin typeface="Arial"/>
                <a:cs typeface="Arial"/>
              </a:rPr>
              <a:t> </a:t>
            </a:r>
            <a:r>
              <a:rPr dirty="0" sz="1100" spc="200" i="1">
                <a:latin typeface="Arial"/>
                <a:cs typeface="Arial"/>
              </a:rPr>
              <a:t>&gt;</a:t>
            </a:r>
            <a:r>
              <a:rPr dirty="0" sz="1100" spc="4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t</a:t>
            </a:r>
            <a:r>
              <a:rPr dirty="0" baseline="-13888" sz="1200">
                <a:latin typeface="Times New Roman"/>
                <a:cs typeface="Times New Roman"/>
              </a:rPr>
              <a:t>obs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spc="45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4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 spc="-5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T</a:t>
            </a:r>
            <a:r>
              <a:rPr dirty="0" baseline="-13888" sz="1200">
                <a:latin typeface="Arial"/>
                <a:cs typeface="Arial"/>
              </a:rPr>
              <a:t>19</a:t>
            </a:r>
            <a:r>
              <a:rPr dirty="0" baseline="-13888" sz="1200" spc="277">
                <a:latin typeface="Arial"/>
                <a:cs typeface="Arial"/>
              </a:rPr>
              <a:t> </a:t>
            </a:r>
            <a:r>
              <a:rPr dirty="0" sz="1100" spc="200" i="1">
                <a:latin typeface="Arial"/>
                <a:cs typeface="Arial"/>
              </a:rPr>
              <a:t>&gt;</a:t>
            </a:r>
            <a:r>
              <a:rPr dirty="0" sz="1100" spc="45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1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>
                <a:latin typeface="Arial"/>
                <a:cs typeface="Arial"/>
              </a:rPr>
              <a:t>91)</a:t>
            </a:r>
            <a:r>
              <a:rPr dirty="0" sz="1100" spc="45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4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0</a:t>
            </a:r>
            <a:r>
              <a:rPr dirty="0" sz="1100" spc="-10" i="1">
                <a:latin typeface="Arial"/>
                <a:cs typeface="Arial"/>
              </a:rPr>
              <a:t>.</a:t>
            </a:r>
            <a:r>
              <a:rPr dirty="0" sz="1100" spc="-10">
                <a:latin typeface="Arial"/>
                <a:cs typeface="Arial"/>
              </a:rPr>
              <a:t>036</a:t>
            </a:r>
            <a:r>
              <a:rPr dirty="0" sz="1100" spc="-10" i="1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1664335"/>
            <a:ext cx="76809" cy="76809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48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135"/>
              </a:spcBef>
            </a:pPr>
            <a:r>
              <a:rPr dirty="0"/>
              <a:t>P-</a:t>
            </a:r>
            <a:r>
              <a:rPr dirty="0" spc="-10"/>
              <a:t>values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558774"/>
            <a:ext cx="76809" cy="7680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940892"/>
            <a:ext cx="76809" cy="7680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1495069"/>
            <a:ext cx="76809" cy="7680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007" y="2737548"/>
            <a:ext cx="76809" cy="7680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560895" y="486878"/>
            <a:ext cx="3721100" cy="25425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Arial"/>
                <a:cs typeface="Arial"/>
              </a:rPr>
              <a:t>Small</a:t>
            </a:r>
            <a:r>
              <a:rPr dirty="0" sz="1100" spc="-10">
                <a:latin typeface="Arial"/>
                <a:cs typeface="Arial"/>
              </a:rPr>
              <a:t> p-values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95">
                <a:latin typeface="Arial"/>
                <a:cs typeface="Arial"/>
              </a:rPr>
              <a:t>(</a:t>
            </a:r>
            <a:r>
              <a:rPr dirty="0" sz="1100" spc="95" i="1">
                <a:latin typeface="Arial"/>
                <a:cs typeface="Arial"/>
              </a:rPr>
              <a:t>&lt;</a:t>
            </a:r>
            <a:r>
              <a:rPr dirty="0" sz="1100" spc="-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α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mean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t</a:t>
            </a:r>
            <a:r>
              <a:rPr dirty="0" baseline="-13888" sz="1200">
                <a:latin typeface="Times New Roman"/>
                <a:cs typeface="Times New Roman"/>
              </a:rPr>
              <a:t>obs</a:t>
            </a:r>
            <a:r>
              <a:rPr dirty="0" baseline="-13888" sz="1200" spc="225">
                <a:latin typeface="Times New Roman"/>
                <a:cs typeface="Times New Roman"/>
              </a:rPr>
              <a:t> </a:t>
            </a:r>
            <a:r>
              <a:rPr dirty="0" sz="1100">
                <a:latin typeface="Arial"/>
                <a:cs typeface="Arial"/>
              </a:rPr>
              <a:t>does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lie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-25" i="1">
                <a:latin typeface="Arial"/>
                <a:cs typeface="Arial"/>
              </a:rPr>
              <a:t>C</a:t>
            </a:r>
            <a:r>
              <a:rPr dirty="0" sz="1100" spc="-25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100">
              <a:latin typeface="Arial"/>
              <a:cs typeface="Arial"/>
            </a:endParaRPr>
          </a:p>
          <a:p>
            <a:pPr marL="76200" marR="445134">
              <a:lnSpc>
                <a:spcPct val="102600"/>
              </a:lnSpc>
            </a:pPr>
            <a:r>
              <a:rPr dirty="0" sz="1100" spc="-10">
                <a:latin typeface="Arial"/>
                <a:cs typeface="Arial"/>
              </a:rPr>
              <a:t>Hence,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small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p-values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data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provides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strong evidence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against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null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hypothesis.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100">
              <a:latin typeface="Arial"/>
              <a:cs typeface="Arial"/>
            </a:endParaRPr>
          </a:p>
          <a:p>
            <a:pPr marL="76200">
              <a:lnSpc>
                <a:spcPct val="100000"/>
              </a:lnSpc>
              <a:spcBef>
                <a:spcPts val="5"/>
              </a:spcBef>
            </a:pPr>
            <a:r>
              <a:rPr dirty="0" sz="1100" spc="-10">
                <a:latin typeface="Arial"/>
                <a:cs typeface="Arial"/>
              </a:rPr>
              <a:t>P-values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are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often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incorrectly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interpreted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probability</a:t>
            </a:r>
            <a:endParaRPr sz="1100">
              <a:latin typeface="Arial"/>
              <a:cs typeface="Arial"/>
            </a:endParaRPr>
          </a:p>
          <a:p>
            <a:pPr marL="76200">
              <a:lnSpc>
                <a:spcPct val="100000"/>
              </a:lnSpc>
              <a:spcBef>
                <a:spcPts val="35"/>
              </a:spcBef>
            </a:pP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H</a:t>
            </a:r>
            <a:r>
              <a:rPr dirty="0" baseline="-13888" sz="1200">
                <a:latin typeface="Arial"/>
                <a:cs typeface="Arial"/>
              </a:rPr>
              <a:t>0</a:t>
            </a:r>
            <a:r>
              <a:rPr dirty="0" baseline="-13888" sz="1200" spc="157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true.</a:t>
            </a:r>
            <a:endParaRPr sz="1100">
              <a:latin typeface="Arial"/>
              <a:cs typeface="Arial"/>
            </a:endParaRPr>
          </a:p>
          <a:p>
            <a:pPr marL="76200">
              <a:lnSpc>
                <a:spcPct val="100000"/>
              </a:lnSpc>
              <a:spcBef>
                <a:spcPts val="35"/>
              </a:spcBef>
            </a:pP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No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such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interpretation</a:t>
            </a:r>
            <a:r>
              <a:rPr dirty="0" sz="1100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can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be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given!</a:t>
            </a:r>
            <a:endParaRPr sz="1100">
              <a:latin typeface="Arial"/>
              <a:cs typeface="Arial"/>
            </a:endParaRPr>
          </a:p>
          <a:p>
            <a:pPr algn="just" marL="75565" marR="92075">
              <a:lnSpc>
                <a:spcPct val="102600"/>
              </a:lnSpc>
            </a:pP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fact,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p-values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are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problematic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since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they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depend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not </a:t>
            </a:r>
            <a:r>
              <a:rPr dirty="0" sz="1100">
                <a:latin typeface="Arial"/>
                <a:cs typeface="Arial"/>
              </a:rPr>
              <a:t>only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observations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but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also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their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distributions,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i.e.</a:t>
            </a:r>
            <a:r>
              <a:rPr dirty="0" sz="1100" spc="35" i="1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other values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which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may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have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occurred,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but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did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not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occur.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100">
              <a:latin typeface="Arial"/>
              <a:cs typeface="Arial"/>
            </a:endParaRPr>
          </a:p>
          <a:p>
            <a:pPr algn="just" marL="76200" marR="160655">
              <a:lnSpc>
                <a:spcPct val="102699"/>
              </a:lnSpc>
            </a:pPr>
            <a:r>
              <a:rPr dirty="0" sz="1100" spc="-10">
                <a:latin typeface="Arial"/>
                <a:cs typeface="Arial"/>
              </a:rPr>
              <a:t>Moreover,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these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depend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on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sampling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design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not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only </a:t>
            </a:r>
            <a:r>
              <a:rPr dirty="0" sz="1100">
                <a:latin typeface="Arial"/>
                <a:cs typeface="Arial"/>
              </a:rPr>
              <a:t>on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likelihood,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example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below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shows.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48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dirty="0" spc="110"/>
              <a:t> </a:t>
            </a:r>
            <a:r>
              <a:rPr dirty="0" spc="-25"/>
              <a:t>...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366471"/>
            <a:ext cx="76809" cy="7680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98995" y="294562"/>
            <a:ext cx="3684904" cy="232346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experiment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determine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whether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individual </a:t>
            </a:r>
            <a:r>
              <a:rPr dirty="0" sz="1100">
                <a:latin typeface="Arial"/>
                <a:cs typeface="Arial"/>
              </a:rPr>
              <a:t>possesses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discriminating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powers,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she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has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identify </a:t>
            </a:r>
            <a:r>
              <a:rPr dirty="0" sz="1100">
                <a:latin typeface="Arial"/>
                <a:cs typeface="Arial"/>
              </a:rPr>
              <a:t>correctly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which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two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brands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provided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with,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over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series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trials.</a:t>
            </a:r>
            <a:endParaRPr sz="1100">
              <a:latin typeface="Arial"/>
              <a:cs typeface="Arial"/>
            </a:endParaRPr>
          </a:p>
          <a:p>
            <a:pPr algn="just" marL="38100" marR="296545">
              <a:lnSpc>
                <a:spcPct val="102600"/>
              </a:lnSpc>
              <a:spcBef>
                <a:spcPts val="755"/>
              </a:spcBef>
            </a:pPr>
            <a:r>
              <a:rPr dirty="0" sz="1100">
                <a:latin typeface="Arial"/>
                <a:cs typeface="Arial"/>
              </a:rPr>
              <a:t>Let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θ</a:t>
            </a:r>
            <a:r>
              <a:rPr dirty="0" sz="1100" spc="5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denote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probability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her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choosing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correct </a:t>
            </a:r>
            <a:r>
              <a:rPr dirty="0" sz="1100">
                <a:latin typeface="Arial"/>
                <a:cs typeface="Arial"/>
              </a:rPr>
              <a:t>brand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trial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baseline="-13888" sz="1200" i="1">
                <a:latin typeface="Arial"/>
                <a:cs typeface="Arial"/>
              </a:rPr>
              <a:t>i</a:t>
            </a:r>
            <a:r>
              <a:rPr dirty="0" baseline="-13888" sz="1200" spc="247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Bernoulli</a:t>
            </a:r>
            <a:r>
              <a:rPr dirty="0" sz="1100" spc="-30">
                <a:latin typeface="Arial"/>
                <a:cs typeface="Arial"/>
              </a:rPr>
              <a:t> r.v.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taking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the </a:t>
            </a:r>
            <a:r>
              <a:rPr dirty="0" sz="1100" spc="-10">
                <a:latin typeface="Arial"/>
                <a:cs typeface="Arial"/>
              </a:rPr>
              <a:t>value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1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correct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guess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i</a:t>
            </a:r>
            <a:r>
              <a:rPr dirty="0" sz="1100">
                <a:latin typeface="Arial"/>
                <a:cs typeface="Arial"/>
              </a:rPr>
              <a:t>th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trial.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790"/>
              </a:spcBef>
            </a:pPr>
            <a:r>
              <a:rPr dirty="0" sz="1100" spc="-10">
                <a:latin typeface="Arial"/>
                <a:cs typeface="Arial"/>
              </a:rPr>
              <a:t>Suppose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first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6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trials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results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are</a:t>
            </a:r>
            <a:r>
              <a:rPr dirty="0" sz="1100" spc="-10">
                <a:latin typeface="Arial"/>
                <a:cs typeface="Arial"/>
              </a:rPr>
              <a:t> 1</a:t>
            </a:r>
            <a:r>
              <a:rPr dirty="0" sz="1100" spc="-10" i="1">
                <a:latin typeface="Arial"/>
                <a:cs typeface="Arial"/>
              </a:rPr>
              <a:t>,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1</a:t>
            </a:r>
            <a:r>
              <a:rPr dirty="0" sz="1100" spc="-10" i="1">
                <a:latin typeface="Arial"/>
                <a:cs typeface="Arial"/>
              </a:rPr>
              <a:t>,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1</a:t>
            </a:r>
            <a:r>
              <a:rPr dirty="0" sz="1100" spc="-10" i="1">
                <a:latin typeface="Arial"/>
                <a:cs typeface="Arial"/>
              </a:rPr>
              <a:t>,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1</a:t>
            </a:r>
            <a:r>
              <a:rPr dirty="0" sz="1100" spc="-10" i="1">
                <a:latin typeface="Arial"/>
                <a:cs typeface="Arial"/>
              </a:rPr>
              <a:t>,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1</a:t>
            </a:r>
            <a:r>
              <a:rPr dirty="0" sz="1100" spc="-10" i="1">
                <a:latin typeface="Arial"/>
                <a:cs typeface="Arial"/>
              </a:rPr>
              <a:t>,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0.</a:t>
            </a:r>
            <a:endParaRPr sz="1100">
              <a:latin typeface="Arial"/>
              <a:cs typeface="Arial"/>
            </a:endParaRPr>
          </a:p>
          <a:p>
            <a:pPr marL="38100" marR="62865">
              <a:lnSpc>
                <a:spcPct val="102600"/>
              </a:lnSpc>
              <a:spcBef>
                <a:spcPts val="755"/>
              </a:spcBef>
            </a:pPr>
            <a:r>
              <a:rPr dirty="0" sz="1100">
                <a:latin typeface="Arial"/>
                <a:cs typeface="Arial"/>
              </a:rPr>
              <a:t>We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wish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test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tester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does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not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have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any </a:t>
            </a:r>
            <a:r>
              <a:rPr dirty="0" sz="1100">
                <a:latin typeface="Arial"/>
                <a:cs typeface="Arial"/>
              </a:rPr>
              <a:t>discriminatory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power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against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alternative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does:</a:t>
            </a:r>
            <a:endParaRPr sz="1100">
              <a:latin typeface="Arial"/>
              <a:cs typeface="Arial"/>
            </a:endParaRPr>
          </a:p>
          <a:p>
            <a:pPr marL="964565">
              <a:lnSpc>
                <a:spcPts val="1000"/>
              </a:lnSpc>
              <a:spcBef>
                <a:spcPts val="690"/>
              </a:spcBef>
            </a:pPr>
            <a:r>
              <a:rPr dirty="0" sz="1100" i="1">
                <a:latin typeface="Arial"/>
                <a:cs typeface="Arial"/>
              </a:rPr>
              <a:t>H</a:t>
            </a:r>
            <a:r>
              <a:rPr dirty="0" baseline="-13888" sz="1200">
                <a:latin typeface="Arial"/>
                <a:cs typeface="Arial"/>
              </a:rPr>
              <a:t>0</a:t>
            </a:r>
            <a:r>
              <a:rPr dirty="0" baseline="-13888" sz="1200" spc="1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: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θ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80">
                <a:latin typeface="Arial"/>
                <a:cs typeface="Arial"/>
              </a:rPr>
              <a:t> </a:t>
            </a:r>
            <a:r>
              <a:rPr dirty="0" u="sng" baseline="31250" sz="120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dirty="0" baseline="31250" sz="1200" spc="247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versus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H</a:t>
            </a:r>
            <a:r>
              <a:rPr dirty="0" baseline="-13888" sz="1200">
                <a:latin typeface="Arial"/>
                <a:cs typeface="Arial"/>
              </a:rPr>
              <a:t>1</a:t>
            </a:r>
            <a:r>
              <a:rPr dirty="0" baseline="-13888" sz="1200" spc="157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: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θ </a:t>
            </a:r>
            <a:r>
              <a:rPr dirty="0" sz="1100" spc="200" i="1">
                <a:latin typeface="Arial"/>
                <a:cs typeface="Arial"/>
              </a:rPr>
              <a:t>&gt;</a:t>
            </a:r>
            <a:r>
              <a:rPr dirty="0" sz="1100" spc="80" i="1">
                <a:latin typeface="Arial"/>
                <a:cs typeface="Arial"/>
              </a:rPr>
              <a:t> </a:t>
            </a:r>
            <a:r>
              <a:rPr dirty="0" u="sng" baseline="31250" sz="1200" spc="-15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dirty="0" baseline="31250" sz="1200" spc="-157">
                <a:latin typeface="Arial"/>
                <a:cs typeface="Arial"/>
              </a:rPr>
              <a:t> </a:t>
            </a:r>
            <a:r>
              <a:rPr dirty="0" sz="1100" spc="-50" i="1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511935">
              <a:lnSpc>
                <a:spcPts val="640"/>
              </a:lnSpc>
              <a:tabLst>
                <a:tab pos="2611755" algn="l"/>
              </a:tabLst>
            </a:pPr>
            <a:r>
              <a:rPr dirty="0" sz="800" spc="-50">
                <a:latin typeface="Arial"/>
                <a:cs typeface="Arial"/>
              </a:rPr>
              <a:t>2</a:t>
            </a:r>
            <a:r>
              <a:rPr dirty="0" sz="800">
                <a:latin typeface="Arial"/>
                <a:cs typeface="Arial"/>
              </a:rPr>
              <a:t>	</a:t>
            </a:r>
            <a:r>
              <a:rPr dirty="0" sz="800" spc="-5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1150607"/>
            <a:ext cx="76809" cy="7680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1762671"/>
            <a:ext cx="76809" cy="7680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007" y="2030590"/>
            <a:ext cx="76809" cy="7680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1007" y="2980461"/>
            <a:ext cx="76809" cy="76809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3684866" y="2993655"/>
            <a:ext cx="8191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48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598995" y="2908565"/>
            <a:ext cx="35471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Arial"/>
                <a:cs typeface="Arial"/>
              </a:rPr>
              <a:t>It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simple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versus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composite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case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with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Θ</a:t>
            </a:r>
            <a:r>
              <a:rPr dirty="0" baseline="27777" sz="1200">
                <a:latin typeface="Arial"/>
                <a:cs typeface="Arial"/>
              </a:rPr>
              <a:t>(0)</a:t>
            </a:r>
            <a:r>
              <a:rPr dirty="0" baseline="27777" sz="1200" spc="179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25" i="1">
                <a:latin typeface="Menlo"/>
                <a:cs typeface="Menlo"/>
              </a:rPr>
              <a:t>{</a:t>
            </a:r>
            <a:r>
              <a:rPr dirty="0" sz="1100" spc="-545" i="1">
                <a:latin typeface="Menlo"/>
                <a:cs typeface="Menlo"/>
              </a:rPr>
              <a:t> </a:t>
            </a:r>
            <a:r>
              <a:rPr dirty="0" u="sng" baseline="31250" sz="1200" spc="-15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dirty="0" baseline="31250" sz="1200" spc="-157">
                <a:latin typeface="Arial"/>
                <a:cs typeface="Arial"/>
              </a:rPr>
              <a:t> </a:t>
            </a:r>
            <a:r>
              <a:rPr dirty="0" sz="1100" spc="-125" i="1">
                <a:latin typeface="Menlo"/>
                <a:cs typeface="Menlo"/>
              </a:rPr>
              <a:t>}</a:t>
            </a:r>
            <a:r>
              <a:rPr dirty="0" sz="1100" spc="-360" i="1">
                <a:latin typeface="Menlo"/>
                <a:cs typeface="Menlo"/>
              </a:rPr>
              <a:t> </a:t>
            </a:r>
            <a:r>
              <a:rPr dirty="0" sz="1100" spc="-25">
                <a:latin typeface="Arial"/>
                <a:cs typeface="Arial"/>
              </a:rPr>
              <a:t>and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58163" y="3077627"/>
            <a:ext cx="8191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800" spc="-5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979474" y="2982619"/>
            <a:ext cx="372110" cy="191770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300990" algn="l"/>
              </a:tabLst>
            </a:pPr>
            <a:r>
              <a:rPr dirty="0" sz="1100">
                <a:latin typeface="Arial"/>
                <a:cs typeface="Arial"/>
              </a:rPr>
              <a:t>	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98995" y="3094849"/>
            <a:ext cx="8166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Arial"/>
                <a:cs typeface="Arial"/>
              </a:rPr>
              <a:t>Θ</a:t>
            </a:r>
            <a:r>
              <a:rPr dirty="0" baseline="-13888" sz="1200">
                <a:latin typeface="Arial"/>
                <a:cs typeface="Arial"/>
              </a:rPr>
              <a:t>1</a:t>
            </a:r>
            <a:r>
              <a:rPr dirty="0" baseline="-13888" sz="1200" spc="179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150">
                <a:latin typeface="Arial"/>
                <a:cs typeface="Arial"/>
              </a:rPr>
              <a:t>  </a:t>
            </a:r>
            <a:r>
              <a:rPr dirty="0" baseline="-27777" sz="1200" spc="-15">
                <a:latin typeface="Arial"/>
                <a:cs typeface="Arial"/>
              </a:rPr>
              <a:t>2</a:t>
            </a:r>
            <a:r>
              <a:rPr dirty="0" baseline="-27777" sz="1200" spc="-157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,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1</a:t>
            </a:r>
            <a:r>
              <a:rPr dirty="0" sz="1100" spc="140">
                <a:latin typeface="Arial"/>
                <a:cs typeface="Arial"/>
              </a:rPr>
              <a:t> </a:t>
            </a:r>
            <a:r>
              <a:rPr dirty="0" sz="1100" spc="-5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dirty="0" spc="110"/>
              <a:t> </a:t>
            </a:r>
            <a:r>
              <a:rPr dirty="0" spc="-10"/>
              <a:t>(continued)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686714"/>
            <a:ext cx="76809" cy="7680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24395" y="614805"/>
            <a:ext cx="3507104" cy="13004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Arial"/>
                <a:cs typeface="Arial"/>
              </a:rPr>
              <a:t>Here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two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cases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arise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depending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sampling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design.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Arial"/>
                <a:cs typeface="Arial"/>
              </a:rPr>
              <a:t>Case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1: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number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trials,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n</a:t>
            </a:r>
            <a:r>
              <a:rPr dirty="0" sz="1100">
                <a:latin typeface="Arial"/>
                <a:cs typeface="Arial"/>
              </a:rPr>
              <a:t>,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fixed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advance,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0" i="1">
                <a:latin typeface="Arial"/>
                <a:cs typeface="Arial"/>
              </a:rPr>
              <a:t>i.e.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 spc="-10">
                <a:latin typeface="Arial"/>
                <a:cs typeface="Arial"/>
              </a:rPr>
              <a:t>binomial distribution.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100">
              <a:latin typeface="Arial"/>
              <a:cs typeface="Arial"/>
            </a:endParaRPr>
          </a:p>
          <a:p>
            <a:pPr marL="12700" marR="87630">
              <a:lnSpc>
                <a:spcPct val="102600"/>
              </a:lnSpc>
              <a:spcBef>
                <a:spcPts val="5"/>
              </a:spcBef>
            </a:pPr>
            <a:r>
              <a:rPr dirty="0" sz="1100">
                <a:latin typeface="Arial"/>
                <a:cs typeface="Arial"/>
              </a:rPr>
              <a:t>If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sz="1100" spc="110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number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correct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guesses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n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6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trials, </a:t>
            </a:r>
            <a:r>
              <a:rPr dirty="0" sz="1100" spc="-20">
                <a:latin typeface="Arial"/>
                <a:cs typeface="Arial"/>
              </a:rPr>
              <a:t>then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1068819"/>
            <a:ext cx="76809" cy="7680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1623009"/>
            <a:ext cx="76809" cy="7680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507642" y="1922207"/>
            <a:ext cx="889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22" name="object 2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23" name="object 2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48</a:t>
            </a:fld>
          </a:p>
        </p:txBody>
      </p:sp>
      <p:sp>
        <p:nvSpPr>
          <p:cNvPr id="8" name="object 8" descr=""/>
          <p:cNvSpPr txBox="1"/>
          <p:nvPr/>
        </p:nvSpPr>
        <p:spPr>
          <a:xfrm>
            <a:off x="746899" y="2034424"/>
            <a:ext cx="29495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Arial"/>
                <a:cs typeface="Arial"/>
              </a:rPr>
              <a:t>p-value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 spc="41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sz="1100" spc="110" i="1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5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or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something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more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extreme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670541" y="2034424"/>
            <a:ext cx="2794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35" i="1">
                <a:latin typeface="Menlo"/>
                <a:cs typeface="Menlo"/>
              </a:rPr>
              <a:t>|</a:t>
            </a:r>
            <a:r>
              <a:rPr dirty="0" sz="1100" spc="-235" i="1">
                <a:latin typeface="Arial"/>
                <a:cs typeface="Arial"/>
              </a:rPr>
              <a:t>θ</a:t>
            </a:r>
            <a:r>
              <a:rPr dirty="0" sz="1100" spc="40" i="1">
                <a:latin typeface="Arial"/>
                <a:cs typeface="Arial"/>
              </a:rPr>
              <a:t> </a:t>
            </a:r>
            <a:r>
              <a:rPr dirty="0" sz="1100" spc="150">
                <a:latin typeface="Arial"/>
                <a:cs typeface="Arial"/>
              </a:rPr>
              <a:t>=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977830" y="2017203"/>
            <a:ext cx="81915" cy="24955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885"/>
              </a:lnSpc>
              <a:spcBef>
                <a:spcPts val="95"/>
              </a:spcBef>
            </a:pPr>
            <a:r>
              <a:rPr dirty="0" u="sng" sz="800" spc="-5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885"/>
              </a:lnSpc>
            </a:pPr>
            <a:r>
              <a:rPr dirty="0" sz="800" spc="-5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049293" y="1922207"/>
            <a:ext cx="889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80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236205" y="2262516"/>
            <a:ext cx="13030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 spc="4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sz="1100" spc="125" i="1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5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or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sz="1100" spc="125" i="1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 spc="-50">
                <a:latin typeface="Arial"/>
                <a:cs typeface="Arial"/>
              </a:rPr>
              <a:t>6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513749" y="2262516"/>
            <a:ext cx="2794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35" i="1">
                <a:latin typeface="Menlo"/>
                <a:cs typeface="Menlo"/>
              </a:rPr>
              <a:t>|</a:t>
            </a:r>
            <a:r>
              <a:rPr dirty="0" sz="1100" spc="-235" i="1">
                <a:latin typeface="Arial"/>
                <a:cs typeface="Arial"/>
              </a:rPr>
              <a:t>θ</a:t>
            </a:r>
            <a:r>
              <a:rPr dirty="0" sz="1100" spc="40" i="1">
                <a:latin typeface="Arial"/>
                <a:cs typeface="Arial"/>
              </a:rPr>
              <a:t> </a:t>
            </a:r>
            <a:r>
              <a:rPr dirty="0" sz="1100" spc="150">
                <a:latin typeface="Arial"/>
                <a:cs typeface="Arial"/>
              </a:rPr>
              <a:t>=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821038" y="2245295"/>
            <a:ext cx="81915" cy="24955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885"/>
              </a:lnSpc>
              <a:spcBef>
                <a:spcPts val="95"/>
              </a:spcBef>
            </a:pPr>
            <a:r>
              <a:rPr dirty="0" u="sng" sz="800" spc="-5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885"/>
              </a:lnSpc>
            </a:pPr>
            <a:r>
              <a:rPr dirty="0" sz="800" spc="-5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507642" y="2150299"/>
            <a:ext cx="14738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397000" algn="l"/>
              </a:tabLst>
            </a:pPr>
            <a:r>
              <a:rPr dirty="0" sz="1100">
                <a:latin typeface="Arial"/>
                <a:cs typeface="Arial"/>
              </a:rPr>
              <a:t>	</a:t>
            </a:r>
            <a:r>
              <a:rPr dirty="0" sz="1100" spc="80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236205" y="2521850"/>
            <a:ext cx="7416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(6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+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1)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125" i="1">
                <a:latin typeface="Menlo"/>
                <a:cs typeface="Menlo"/>
              </a:rPr>
              <a:t>×</a:t>
            </a:r>
            <a:endParaRPr sz="1100">
              <a:latin typeface="Menlo"/>
              <a:cs typeface="Menlo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061616" y="2504629"/>
            <a:ext cx="8191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800" spc="-5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061616" y="2606953"/>
            <a:ext cx="8191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982939" y="2409633"/>
            <a:ext cx="2393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280">
                <a:latin typeface="Arial"/>
                <a:cs typeface="Arial"/>
              </a:rPr>
              <a:t>  </a:t>
            </a:r>
            <a:r>
              <a:rPr dirty="0" sz="1100" spc="80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196579" y="2473387"/>
            <a:ext cx="8191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Arial"/>
                <a:cs typeface="Arial"/>
              </a:rPr>
              <a:t>6</a:t>
            </a:r>
            <a:endParaRPr sz="80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2297671" y="2521850"/>
            <a:ext cx="5568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0</a:t>
            </a:r>
            <a:r>
              <a:rPr dirty="0" sz="1100" spc="-10" i="1">
                <a:latin typeface="Arial"/>
                <a:cs typeface="Arial"/>
              </a:rPr>
              <a:t>.</a:t>
            </a:r>
            <a:r>
              <a:rPr dirty="0" sz="1100" spc="-10">
                <a:latin typeface="Arial"/>
                <a:cs typeface="Arial"/>
              </a:rPr>
              <a:t>109</a:t>
            </a:r>
            <a:r>
              <a:rPr dirty="0" sz="1100" spc="-10" i="1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dirty="0" spc="110"/>
              <a:t> </a:t>
            </a:r>
            <a:r>
              <a:rPr dirty="0" spc="-10"/>
              <a:t>(continued)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628243"/>
            <a:ext cx="76809" cy="7680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24395" y="556347"/>
            <a:ext cx="3556000" cy="9182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Arial"/>
                <a:cs typeface="Arial"/>
              </a:rPr>
              <a:t>Case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2: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Continue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trials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until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first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zero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appears,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0" i="1">
                <a:latin typeface="Arial"/>
                <a:cs typeface="Arial"/>
              </a:rPr>
              <a:t>i.e.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>
                <a:latin typeface="Arial"/>
                <a:cs typeface="Arial"/>
              </a:rPr>
              <a:t>geometric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distribution.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100">
              <a:latin typeface="Arial"/>
              <a:cs typeface="Arial"/>
            </a:endParaRPr>
          </a:p>
          <a:p>
            <a:pPr marL="12700" marR="262255">
              <a:lnSpc>
                <a:spcPct val="102600"/>
              </a:lnSpc>
            </a:pPr>
            <a:r>
              <a:rPr dirty="0" sz="1100">
                <a:latin typeface="Arial"/>
                <a:cs typeface="Arial"/>
              </a:rPr>
              <a:t>If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sz="1100" spc="110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number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guesses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up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including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first </a:t>
            </a:r>
            <a:r>
              <a:rPr dirty="0" sz="1100">
                <a:latin typeface="Arial"/>
                <a:cs typeface="Arial"/>
              </a:rPr>
              <a:t>incorrect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guess,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then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1182433"/>
            <a:ext cx="76809" cy="7680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507642" y="1481631"/>
            <a:ext cx="889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46899" y="1593848"/>
            <a:ext cx="29495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Arial"/>
                <a:cs typeface="Arial"/>
              </a:rPr>
              <a:t>p-value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 spc="41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sz="1100" spc="110" i="1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6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or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something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more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extreme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670541" y="1593848"/>
            <a:ext cx="2794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35" i="1">
                <a:latin typeface="Menlo"/>
                <a:cs typeface="Menlo"/>
              </a:rPr>
              <a:t>|</a:t>
            </a:r>
            <a:r>
              <a:rPr dirty="0" sz="1100" spc="-235" i="1">
                <a:latin typeface="Arial"/>
                <a:cs typeface="Arial"/>
              </a:rPr>
              <a:t>θ</a:t>
            </a:r>
            <a:r>
              <a:rPr dirty="0" sz="1100" spc="40" i="1">
                <a:latin typeface="Arial"/>
                <a:cs typeface="Arial"/>
              </a:rPr>
              <a:t> </a:t>
            </a:r>
            <a:r>
              <a:rPr dirty="0" sz="1100" spc="150">
                <a:latin typeface="Arial"/>
                <a:cs typeface="Arial"/>
              </a:rPr>
              <a:t>=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977830" y="1576627"/>
            <a:ext cx="81915" cy="24955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885"/>
              </a:lnSpc>
              <a:spcBef>
                <a:spcPts val="95"/>
              </a:spcBef>
            </a:pPr>
            <a:r>
              <a:rPr dirty="0" u="sng" sz="800" spc="-5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885"/>
              </a:lnSpc>
            </a:pPr>
            <a:r>
              <a:rPr dirty="0" sz="800" spc="-5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049293" y="1481631"/>
            <a:ext cx="889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80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236205" y="1821940"/>
            <a:ext cx="7321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 spc="434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sz="1100" spc="125" i="1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 spc="-50">
                <a:latin typeface="Arial"/>
                <a:cs typeface="Arial"/>
              </a:rPr>
              <a:t>6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942350" y="1821940"/>
            <a:ext cx="6642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i="1">
                <a:latin typeface="Arial"/>
                <a:cs typeface="Arial"/>
              </a:rPr>
              <a:t>,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7</a:t>
            </a:r>
            <a:r>
              <a:rPr dirty="0" sz="1100" spc="-10" i="1">
                <a:latin typeface="Arial"/>
                <a:cs typeface="Arial"/>
              </a:rPr>
              <a:t>,</a:t>
            </a:r>
            <a:r>
              <a:rPr dirty="0" sz="1100" spc="-12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 spc="-12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 spc="-12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 spc="-120" i="1">
                <a:latin typeface="Arial"/>
                <a:cs typeface="Arial"/>
              </a:rPr>
              <a:t> </a:t>
            </a:r>
            <a:r>
              <a:rPr dirty="0" sz="1100" spc="-235" i="1">
                <a:latin typeface="Menlo"/>
                <a:cs typeface="Menlo"/>
              </a:rPr>
              <a:t>|</a:t>
            </a:r>
            <a:r>
              <a:rPr dirty="0" sz="1100" spc="-235" i="1">
                <a:latin typeface="Arial"/>
                <a:cs typeface="Arial"/>
              </a:rPr>
              <a:t>θ</a:t>
            </a:r>
            <a:r>
              <a:rPr dirty="0" sz="1100" spc="30" i="1">
                <a:latin typeface="Arial"/>
                <a:cs typeface="Arial"/>
              </a:rPr>
              <a:t> </a:t>
            </a:r>
            <a:r>
              <a:rPr dirty="0" sz="1100" spc="150">
                <a:latin typeface="Arial"/>
                <a:cs typeface="Arial"/>
              </a:rPr>
              <a:t>=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634538" y="1804719"/>
            <a:ext cx="81915" cy="24955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885"/>
              </a:lnSpc>
              <a:spcBef>
                <a:spcPts val="95"/>
              </a:spcBef>
            </a:pPr>
            <a:r>
              <a:rPr dirty="0" u="sng" sz="800" spc="-5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885"/>
              </a:lnSpc>
            </a:pPr>
            <a:r>
              <a:rPr dirty="0" sz="800" spc="-5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507642" y="1709723"/>
            <a:ext cx="1287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210945" algn="l"/>
              </a:tabLst>
            </a:pPr>
            <a:r>
              <a:rPr dirty="0" sz="1100">
                <a:latin typeface="Arial"/>
                <a:cs typeface="Arial"/>
              </a:rPr>
              <a:t>	</a:t>
            </a:r>
            <a:r>
              <a:rPr dirty="0" sz="1100" spc="80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236205" y="2139491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50">
                <a:latin typeface="Arial"/>
                <a:cs typeface="Arial"/>
              </a:rPr>
              <a:t>=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461135" y="2122270"/>
            <a:ext cx="8191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800" spc="-5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461135" y="2224594"/>
            <a:ext cx="8191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596097" y="2091028"/>
            <a:ext cx="8191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Arial"/>
                <a:cs typeface="Arial"/>
              </a:rPr>
              <a:t>6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689480" y="2139491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50">
                <a:latin typeface="Arial"/>
                <a:cs typeface="Arial"/>
              </a:rPr>
              <a:t>+</a:t>
            </a:r>
            <a:endParaRPr sz="110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906714" y="2122270"/>
            <a:ext cx="8191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800" spc="-5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906714" y="2224594"/>
            <a:ext cx="8191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382445" y="2027261"/>
            <a:ext cx="6851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57834" algn="l"/>
              </a:tabLst>
            </a:pPr>
            <a:r>
              <a:rPr dirty="0" sz="1100" spc="280">
                <a:latin typeface="Arial"/>
                <a:cs typeface="Arial"/>
              </a:rPr>
              <a:t>  </a:t>
            </a:r>
            <a:r>
              <a:rPr dirty="0" sz="1100" spc="80">
                <a:latin typeface="Arial"/>
                <a:cs typeface="Arial"/>
              </a:rPr>
              <a:t>)</a:t>
            </a:r>
            <a:r>
              <a:rPr dirty="0" sz="1100">
                <a:latin typeface="Arial"/>
                <a:cs typeface="Arial"/>
              </a:rPr>
              <a:t>	</a:t>
            </a:r>
            <a:r>
              <a:rPr dirty="0" sz="1100" spc="500">
                <a:latin typeface="Arial"/>
                <a:cs typeface="Arial"/>
              </a:rPr>
              <a:t> </a:t>
            </a:r>
            <a:r>
              <a:rPr dirty="0" sz="1100" spc="130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2041677" y="2091028"/>
            <a:ext cx="8191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Arial"/>
                <a:cs typeface="Arial"/>
              </a:rPr>
              <a:t>7</a:t>
            </a:r>
            <a:endParaRPr sz="800">
              <a:latin typeface="Arial"/>
              <a:cs typeface="Aria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2701632" y="2045765"/>
            <a:ext cx="3251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Arial"/>
                <a:cs typeface="Arial"/>
              </a:rPr>
              <a:t>0</a:t>
            </a:r>
            <a:r>
              <a:rPr dirty="0" sz="1100" spc="-20" i="1">
                <a:latin typeface="Arial"/>
                <a:cs typeface="Arial"/>
              </a:rPr>
              <a:t>.</a:t>
            </a:r>
            <a:r>
              <a:rPr dirty="0" sz="1100" spc="-20">
                <a:latin typeface="Arial"/>
                <a:cs typeface="Arial"/>
              </a:rPr>
              <a:t>5</a:t>
            </a:r>
            <a:r>
              <a:rPr dirty="0" baseline="27777" sz="1200" spc="-30">
                <a:latin typeface="Arial"/>
                <a:cs typeface="Arial"/>
              </a:rPr>
              <a:t>6</a:t>
            </a:r>
            <a:endParaRPr baseline="27777" sz="1200">
              <a:latin typeface="Arial"/>
              <a:cs typeface="Arial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2647861" y="2256104"/>
            <a:ext cx="439420" cy="0"/>
          </a:xfrm>
          <a:custGeom>
            <a:avLst/>
            <a:gdLst/>
            <a:ahLst/>
            <a:cxnLst/>
            <a:rect l="l" t="t" r="r" b="b"/>
            <a:pathLst>
              <a:path w="439419" h="0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2109673" y="2139491"/>
            <a:ext cx="16002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200">
                <a:latin typeface="Arial"/>
                <a:cs typeface="Arial"/>
              </a:rPr>
              <a:t>+</a:t>
            </a:r>
            <a:r>
              <a:rPr dirty="0" sz="1100" spc="-70">
                <a:latin typeface="Arial"/>
                <a:cs typeface="Arial"/>
              </a:rPr>
              <a:t> </a:t>
            </a:r>
            <a:r>
              <a:rPr dirty="0" sz="1100" spc="-365" i="1">
                <a:latin typeface="Menlo"/>
                <a:cs typeface="Menlo"/>
              </a:rPr>
              <a:t>·</a:t>
            </a:r>
            <a:r>
              <a:rPr dirty="0" sz="1100" spc="-480" i="1">
                <a:latin typeface="Menlo"/>
                <a:cs typeface="Menlo"/>
              </a:rPr>
              <a:t> </a:t>
            </a:r>
            <a:r>
              <a:rPr dirty="0" sz="1100" spc="-365" i="1">
                <a:latin typeface="Menlo"/>
                <a:cs typeface="Menlo"/>
              </a:rPr>
              <a:t>·</a:t>
            </a:r>
            <a:r>
              <a:rPr dirty="0" sz="1100" spc="-484" i="1">
                <a:latin typeface="Menlo"/>
                <a:cs typeface="Menlo"/>
              </a:rPr>
              <a:t> </a:t>
            </a:r>
            <a:r>
              <a:rPr dirty="0" sz="1100" spc="-365" i="1">
                <a:latin typeface="Menlo"/>
                <a:cs typeface="Menlo"/>
              </a:rPr>
              <a:t>·</a:t>
            </a:r>
            <a:r>
              <a:rPr dirty="0" sz="1100" spc="-360" i="1">
                <a:latin typeface="Menlo"/>
                <a:cs typeface="Menlo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114">
                <a:latin typeface="Arial"/>
                <a:cs typeface="Arial"/>
              </a:rPr>
              <a:t> </a:t>
            </a:r>
            <a:r>
              <a:rPr dirty="0" baseline="-37878" sz="1650">
                <a:latin typeface="Arial"/>
                <a:cs typeface="Arial"/>
              </a:rPr>
              <a:t>1</a:t>
            </a:r>
            <a:r>
              <a:rPr dirty="0" baseline="-37878" sz="1650" spc="-97">
                <a:latin typeface="Arial"/>
                <a:cs typeface="Arial"/>
              </a:rPr>
              <a:t> </a:t>
            </a:r>
            <a:r>
              <a:rPr dirty="0" baseline="-37878" sz="1650" spc="262" i="1">
                <a:latin typeface="Menlo"/>
                <a:cs typeface="Menlo"/>
              </a:rPr>
              <a:t>−</a:t>
            </a:r>
            <a:r>
              <a:rPr dirty="0" baseline="-37878" sz="1650" spc="-630" i="1">
                <a:latin typeface="Menlo"/>
                <a:cs typeface="Menlo"/>
              </a:rPr>
              <a:t> </a:t>
            </a:r>
            <a:r>
              <a:rPr dirty="0" baseline="-37878" sz="1650">
                <a:latin typeface="Arial"/>
                <a:cs typeface="Arial"/>
              </a:rPr>
              <a:t>0</a:t>
            </a:r>
            <a:r>
              <a:rPr dirty="0" baseline="-37878" sz="1650" i="1">
                <a:latin typeface="Arial"/>
                <a:cs typeface="Arial"/>
              </a:rPr>
              <a:t>.</a:t>
            </a:r>
            <a:r>
              <a:rPr dirty="0" baseline="-37878" sz="1650">
                <a:latin typeface="Arial"/>
                <a:cs typeface="Arial"/>
              </a:rPr>
              <a:t>5</a:t>
            </a:r>
            <a:r>
              <a:rPr dirty="0" baseline="-37878" sz="1650" spc="172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0</a:t>
            </a:r>
            <a:r>
              <a:rPr dirty="0" sz="1100" spc="-10" i="1">
                <a:latin typeface="Arial"/>
                <a:cs typeface="Arial"/>
              </a:rPr>
              <a:t>.</a:t>
            </a:r>
            <a:r>
              <a:rPr dirty="0" sz="1100" spc="-10">
                <a:latin typeface="Arial"/>
                <a:cs typeface="Arial"/>
              </a:rPr>
              <a:t>031</a:t>
            </a:r>
            <a:r>
              <a:rPr dirty="0" sz="1100" spc="-10" i="1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27" name="object 2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2641866"/>
            <a:ext cx="76809" cy="76809"/>
          </a:xfrm>
          <a:prstGeom prst="rect">
            <a:avLst/>
          </a:prstGeom>
        </p:spPr>
      </p:pic>
      <p:sp>
        <p:nvSpPr>
          <p:cNvPr id="28" name="object 28" descr=""/>
          <p:cNvSpPr txBox="1"/>
          <p:nvPr/>
        </p:nvSpPr>
        <p:spPr>
          <a:xfrm>
            <a:off x="624395" y="2569958"/>
            <a:ext cx="3178810" cy="36385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spc="-10">
                <a:latin typeface="Arial"/>
                <a:cs typeface="Arial"/>
              </a:rPr>
              <a:t>Despite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exactly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same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sequence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events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being </a:t>
            </a:r>
            <a:r>
              <a:rPr dirty="0" sz="1100">
                <a:latin typeface="Arial"/>
                <a:cs typeface="Arial"/>
              </a:rPr>
              <a:t>observed,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different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inferences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are</a:t>
            </a:r>
            <a:r>
              <a:rPr dirty="0" sz="1100" spc="-10">
                <a:latin typeface="Arial"/>
                <a:cs typeface="Arial"/>
              </a:rPr>
              <a:t> made.</a:t>
            </a:r>
            <a:endParaRPr sz="1100">
              <a:latin typeface="Arial"/>
              <a:cs typeface="Arial"/>
            </a:endParaRPr>
          </a:p>
        </p:txBody>
      </p:sp>
      <p:sp>
        <p:nvSpPr>
          <p:cNvPr id="29" name="object 2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30" name="object 3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48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Harold</a:t>
            </a:r>
            <a:r>
              <a:rPr dirty="0" spc="80"/>
              <a:t> </a:t>
            </a:r>
            <a:r>
              <a:rPr dirty="0"/>
              <a:t>Shipman</a:t>
            </a:r>
            <a:r>
              <a:rPr dirty="0" spc="80"/>
              <a:t> </a:t>
            </a:r>
            <a:r>
              <a:rPr dirty="0"/>
              <a:t>:</a:t>
            </a:r>
            <a:r>
              <a:rPr dirty="0" spc="195"/>
              <a:t> </a:t>
            </a:r>
            <a:r>
              <a:rPr dirty="0"/>
              <a:t>Serial</a:t>
            </a:r>
            <a:r>
              <a:rPr dirty="0" spc="80"/>
              <a:t> </a:t>
            </a:r>
            <a:r>
              <a:rPr dirty="0"/>
              <a:t>murder</a:t>
            </a:r>
            <a:r>
              <a:rPr dirty="0" spc="80"/>
              <a:t> </a:t>
            </a:r>
            <a:r>
              <a:rPr dirty="0" spc="-10"/>
              <a:t>example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615594"/>
            <a:ext cx="76809" cy="7680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24395" y="543685"/>
            <a:ext cx="3505835" cy="1004569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just"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spc="-10">
                <a:latin typeface="Arial"/>
                <a:cs typeface="Arial"/>
              </a:rPr>
              <a:t>Shipman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was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British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family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doctor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serial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killer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who </a:t>
            </a:r>
            <a:r>
              <a:rPr dirty="0" sz="1100">
                <a:latin typeface="Arial"/>
                <a:cs typeface="Arial"/>
              </a:rPr>
              <a:t>killed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least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215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his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most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elderly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patients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injecting </a:t>
            </a:r>
            <a:r>
              <a:rPr dirty="0" sz="1100">
                <a:latin typeface="Arial"/>
                <a:cs typeface="Arial"/>
              </a:rPr>
              <a:t>opium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between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1975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1998.</a:t>
            </a:r>
            <a:endParaRPr sz="1100">
              <a:latin typeface="Arial"/>
              <a:cs typeface="Arial"/>
            </a:endParaRPr>
          </a:p>
          <a:p>
            <a:pPr marL="12700" marR="196215">
              <a:lnSpc>
                <a:spcPct val="102699"/>
              </a:lnSpc>
              <a:spcBef>
                <a:spcPts val="975"/>
              </a:spcBef>
            </a:pPr>
            <a:r>
              <a:rPr dirty="0" sz="1100">
                <a:latin typeface="Arial"/>
                <a:cs typeface="Arial"/>
              </a:rPr>
              <a:t>His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killing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spree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went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undetected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until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enquiry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was </a:t>
            </a:r>
            <a:r>
              <a:rPr dirty="0" sz="1100" spc="-10">
                <a:latin typeface="Arial"/>
                <a:cs typeface="Arial"/>
              </a:rPr>
              <a:t>launched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during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1998-</a:t>
            </a:r>
            <a:r>
              <a:rPr dirty="0" sz="1100">
                <a:latin typeface="Arial"/>
                <a:cs typeface="Arial"/>
              </a:rPr>
              <a:t>1999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convicted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2000.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1255814"/>
            <a:ext cx="76809" cy="7680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26413" y="1702518"/>
            <a:ext cx="1555051" cy="1154193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48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Harold</a:t>
            </a:r>
            <a:r>
              <a:rPr dirty="0" spc="75"/>
              <a:t> </a:t>
            </a:r>
            <a:r>
              <a:rPr dirty="0"/>
              <a:t>Shipman</a:t>
            </a:r>
            <a:r>
              <a:rPr dirty="0" spc="80"/>
              <a:t> </a:t>
            </a:r>
            <a:r>
              <a:rPr dirty="0"/>
              <a:t>:</a:t>
            </a:r>
            <a:r>
              <a:rPr dirty="0" spc="190"/>
              <a:t> </a:t>
            </a:r>
            <a:r>
              <a:rPr dirty="0"/>
              <a:t>Serial</a:t>
            </a:r>
            <a:r>
              <a:rPr dirty="0" spc="80"/>
              <a:t> </a:t>
            </a:r>
            <a:r>
              <a:rPr dirty="0"/>
              <a:t>murder</a:t>
            </a:r>
            <a:r>
              <a:rPr dirty="0" spc="75"/>
              <a:t> </a:t>
            </a:r>
            <a:r>
              <a:rPr dirty="0"/>
              <a:t>example</a:t>
            </a:r>
            <a:r>
              <a:rPr dirty="0" spc="80"/>
              <a:t> </a:t>
            </a:r>
            <a:r>
              <a:rPr dirty="0" spc="-25"/>
              <a:t>...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431" y="371970"/>
            <a:ext cx="1711801" cy="121323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2280894"/>
            <a:ext cx="76809" cy="7680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2643835"/>
            <a:ext cx="76809" cy="7680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007" y="3006788"/>
            <a:ext cx="76809" cy="7680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347294" y="1704599"/>
            <a:ext cx="3834129" cy="15944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3556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3333B2"/>
                </a:solidFill>
                <a:latin typeface="Arial"/>
                <a:cs typeface="Arial"/>
              </a:rPr>
              <a:t>Figure:</a:t>
            </a:r>
            <a:r>
              <a:rPr dirty="0" sz="1000" spc="-15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time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at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which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Shipman’s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patients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died,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compared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to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25">
                <a:latin typeface="Arial"/>
                <a:cs typeface="Arial"/>
              </a:rPr>
              <a:t>the </a:t>
            </a:r>
            <a:r>
              <a:rPr dirty="0" sz="1000">
                <a:latin typeface="Arial"/>
                <a:cs typeface="Arial"/>
              </a:rPr>
              <a:t>times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at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which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patients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of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other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local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family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doctors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died.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000">
              <a:latin typeface="Arial"/>
              <a:cs typeface="Arial"/>
            </a:endParaRPr>
          </a:p>
          <a:p>
            <a:pPr marL="289560" marR="29845">
              <a:lnSpc>
                <a:spcPct val="102600"/>
              </a:lnSpc>
            </a:pPr>
            <a:r>
              <a:rPr dirty="0" sz="1100">
                <a:latin typeface="Arial"/>
                <a:cs typeface="Arial"/>
              </a:rPr>
              <a:t>This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Figure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0.2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book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“The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Art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Statistics”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Sir </a:t>
            </a:r>
            <a:r>
              <a:rPr dirty="0" sz="1100" spc="-10">
                <a:latin typeface="Arial"/>
                <a:cs typeface="Arial"/>
              </a:rPr>
              <a:t>David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Spiegelhalter.</a:t>
            </a:r>
            <a:endParaRPr sz="1100">
              <a:latin typeface="Arial"/>
              <a:cs typeface="Arial"/>
            </a:endParaRPr>
          </a:p>
          <a:p>
            <a:pPr marL="289560" marR="5080">
              <a:lnSpc>
                <a:spcPct val="102600"/>
              </a:lnSpc>
              <a:spcBef>
                <a:spcPts val="150"/>
              </a:spcBef>
            </a:pP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2PM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very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unusual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peak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time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death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Shipman’s patients.</a:t>
            </a:r>
            <a:endParaRPr sz="1100">
              <a:latin typeface="Arial"/>
              <a:cs typeface="Arial"/>
            </a:endParaRPr>
          </a:p>
          <a:p>
            <a:pPr marL="289560" marR="109855">
              <a:lnSpc>
                <a:spcPct val="102600"/>
              </a:lnSpc>
              <a:spcBef>
                <a:spcPts val="150"/>
              </a:spcBef>
            </a:pPr>
            <a:r>
              <a:rPr dirty="0" sz="1100">
                <a:latin typeface="Arial"/>
                <a:cs typeface="Arial"/>
              </a:rPr>
              <a:t>No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sophisticated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statistical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analysis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required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detect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obvious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pattern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data.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48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Disease</a:t>
            </a:r>
            <a:r>
              <a:rPr dirty="0" spc="65"/>
              <a:t> </a:t>
            </a:r>
            <a:r>
              <a:rPr dirty="0"/>
              <a:t>mapping</a:t>
            </a:r>
            <a:r>
              <a:rPr dirty="0" spc="65"/>
              <a:t> </a:t>
            </a:r>
            <a:r>
              <a:rPr dirty="0"/>
              <a:t>of</a:t>
            </a:r>
            <a:r>
              <a:rPr dirty="0" spc="65"/>
              <a:t> </a:t>
            </a:r>
            <a:r>
              <a:rPr dirty="0"/>
              <a:t>cancer</a:t>
            </a:r>
            <a:r>
              <a:rPr dirty="0" spc="65"/>
              <a:t> </a:t>
            </a:r>
            <a:r>
              <a:rPr dirty="0"/>
              <a:t>rates</a:t>
            </a:r>
            <a:r>
              <a:rPr dirty="0" spc="65"/>
              <a:t> </a:t>
            </a:r>
            <a:r>
              <a:rPr dirty="0"/>
              <a:t>in</a:t>
            </a:r>
            <a:r>
              <a:rPr dirty="0" spc="65"/>
              <a:t> </a:t>
            </a:r>
            <a:r>
              <a:rPr dirty="0"/>
              <a:t>the</a:t>
            </a:r>
            <a:r>
              <a:rPr dirty="0" spc="70"/>
              <a:t> </a:t>
            </a:r>
            <a:r>
              <a:rPr dirty="0"/>
              <a:t>NHS</a:t>
            </a:r>
            <a:r>
              <a:rPr dirty="0" spc="65"/>
              <a:t> </a:t>
            </a:r>
            <a:r>
              <a:rPr dirty="0" spc="-10"/>
              <a:t>regions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947978"/>
            <a:ext cx="76809" cy="7680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1588198"/>
            <a:ext cx="76809" cy="7680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2056345"/>
            <a:ext cx="76809" cy="7680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007" y="2524493"/>
            <a:ext cx="76809" cy="7680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347294" y="493965"/>
            <a:ext cx="3759200" cy="249491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125730">
              <a:lnSpc>
                <a:spcPct val="102699"/>
              </a:lnSpc>
              <a:spcBef>
                <a:spcPts val="55"/>
              </a:spcBef>
            </a:pP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slides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are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based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work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Ms</a:t>
            </a:r>
            <a:r>
              <a:rPr dirty="0" sz="1100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Iona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Baxter</a:t>
            </a:r>
            <a:r>
              <a:rPr dirty="0" sz="1100">
                <a:latin typeface="Arial"/>
                <a:cs typeface="Arial"/>
              </a:rPr>
              <a:t>,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25">
                <a:latin typeface="Arial"/>
                <a:cs typeface="Arial"/>
              </a:rPr>
              <a:t> BSc </a:t>
            </a:r>
            <a:r>
              <a:rPr dirty="0" sz="1100">
                <a:latin typeface="Arial"/>
                <a:cs typeface="Arial"/>
              </a:rPr>
              <a:t>third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year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project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student.</a:t>
            </a:r>
            <a:endParaRPr sz="1100">
              <a:latin typeface="Arial"/>
              <a:cs typeface="Arial"/>
            </a:endParaRPr>
          </a:p>
          <a:p>
            <a:pPr marL="289560" marR="43815">
              <a:lnSpc>
                <a:spcPct val="102600"/>
              </a:lnSpc>
              <a:spcBef>
                <a:spcPts val="300"/>
              </a:spcBef>
            </a:pPr>
            <a:r>
              <a:rPr dirty="0" sz="1100">
                <a:latin typeface="Arial"/>
                <a:cs typeface="Arial"/>
              </a:rPr>
              <a:t>Iona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interested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assessing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spatio-</a:t>
            </a:r>
            <a:r>
              <a:rPr dirty="0" sz="1100">
                <a:latin typeface="Arial"/>
                <a:cs typeface="Arial"/>
              </a:rPr>
              <a:t>temporal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trends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in </a:t>
            </a:r>
            <a:r>
              <a:rPr dirty="0" sz="1100">
                <a:latin typeface="Arial"/>
                <a:cs typeface="Arial"/>
              </a:rPr>
              <a:t>cancer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incidence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English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health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regions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during</a:t>
            </a:r>
            <a:r>
              <a:rPr dirty="0" sz="1100" spc="-25">
                <a:latin typeface="Arial"/>
                <a:cs typeface="Arial"/>
              </a:rPr>
              <a:t> the </a:t>
            </a:r>
            <a:r>
              <a:rPr dirty="0" sz="1100">
                <a:latin typeface="Arial"/>
                <a:cs typeface="Arial"/>
              </a:rPr>
              <a:t>period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2001-2018.</a:t>
            </a:r>
            <a:endParaRPr sz="1100">
              <a:latin typeface="Arial"/>
              <a:cs typeface="Arial"/>
            </a:endParaRPr>
          </a:p>
          <a:p>
            <a:pPr marL="289560" marR="144145">
              <a:lnSpc>
                <a:spcPct val="102600"/>
              </a:lnSpc>
              <a:spcBef>
                <a:spcPts val="975"/>
              </a:spcBef>
            </a:pPr>
            <a:r>
              <a:rPr dirty="0" sz="1100">
                <a:latin typeface="Arial"/>
                <a:cs typeface="Arial"/>
              </a:rPr>
              <a:t>One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two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people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UK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will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develop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some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form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of </a:t>
            </a:r>
            <a:r>
              <a:rPr dirty="0" sz="1100">
                <a:latin typeface="Arial"/>
                <a:cs typeface="Arial"/>
              </a:rPr>
              <a:t>cancer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their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lifetime.</a:t>
            </a:r>
            <a:endParaRPr sz="1100">
              <a:latin typeface="Arial"/>
              <a:cs typeface="Arial"/>
            </a:endParaRPr>
          </a:p>
          <a:p>
            <a:pPr marL="289560" marR="5080">
              <a:lnSpc>
                <a:spcPct val="102699"/>
              </a:lnSpc>
              <a:spcBef>
                <a:spcPts val="975"/>
              </a:spcBef>
            </a:pPr>
            <a:r>
              <a:rPr dirty="0" sz="1100">
                <a:latin typeface="Arial"/>
                <a:cs typeface="Arial"/>
              </a:rPr>
              <a:t>Cancer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rates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are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associated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with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characteristics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such</a:t>
            </a:r>
            <a:r>
              <a:rPr dirty="0" sz="1100" spc="-25">
                <a:latin typeface="Arial"/>
                <a:cs typeface="Arial"/>
              </a:rPr>
              <a:t> as </a:t>
            </a:r>
            <a:r>
              <a:rPr dirty="0" sz="1100" spc="-10">
                <a:latin typeface="Arial"/>
                <a:cs typeface="Arial"/>
              </a:rPr>
              <a:t>hereditary,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lifestyle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health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related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factors.</a:t>
            </a:r>
            <a:endParaRPr sz="1100">
              <a:latin typeface="Arial"/>
              <a:cs typeface="Arial"/>
            </a:endParaRPr>
          </a:p>
          <a:p>
            <a:pPr marL="289560" marR="194310">
              <a:lnSpc>
                <a:spcPct val="102600"/>
              </a:lnSpc>
              <a:spcBef>
                <a:spcPts val="980"/>
              </a:spcBef>
            </a:pPr>
            <a:r>
              <a:rPr dirty="0" sz="1100" spc="-10">
                <a:latin typeface="Arial"/>
                <a:cs typeface="Arial"/>
              </a:rPr>
              <a:t>Iona’s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project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studies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effect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such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factors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on </a:t>
            </a:r>
            <a:r>
              <a:rPr dirty="0" sz="1100" spc="-10">
                <a:latin typeface="Arial"/>
                <a:cs typeface="Arial"/>
              </a:rPr>
              <a:t>geographical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temporal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variations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incidence rates.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48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45948" y="-13312"/>
            <a:ext cx="426656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Disease</a:t>
            </a:r>
            <a:r>
              <a:rPr dirty="0" sz="1400" spc="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mapping</a:t>
            </a:r>
            <a:r>
              <a:rPr dirty="0" sz="1400" spc="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400" spc="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cancer</a:t>
            </a:r>
            <a:r>
              <a:rPr dirty="0" sz="1400" spc="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rates</a:t>
            </a:r>
            <a:r>
              <a:rPr dirty="0" sz="1400" spc="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400" spc="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400" spc="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NHS</a:t>
            </a:r>
            <a:r>
              <a:rPr dirty="0" sz="1400" spc="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Arial"/>
                <a:cs typeface="Arial"/>
              </a:rPr>
              <a:t>regions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0037" y="457934"/>
            <a:ext cx="1539587" cy="1208947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89974" y="456851"/>
            <a:ext cx="1305725" cy="1209378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9539" y="1768469"/>
            <a:ext cx="1341771" cy="120937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13586" y="1769552"/>
            <a:ext cx="1458393" cy="1208947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48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45948" y="-13312"/>
            <a:ext cx="436499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Trend</a:t>
            </a:r>
            <a:r>
              <a:rPr dirty="0" sz="1400" spc="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400" spc="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cancer</a:t>
            </a:r>
            <a:r>
              <a:rPr dirty="0" sz="1400" spc="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rates:</a:t>
            </a:r>
            <a:r>
              <a:rPr dirty="0" sz="1400" spc="1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Graphs</a:t>
            </a:r>
            <a:r>
              <a:rPr dirty="0" sz="1400" spc="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dirty="0" sz="1400" spc="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Iona’s</a:t>
            </a:r>
            <a:r>
              <a:rPr dirty="0" sz="1400" spc="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Arial"/>
                <a:cs typeface="Arial"/>
              </a:rPr>
              <a:t>dissertation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4000" y="344171"/>
            <a:ext cx="2160005" cy="2892626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48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Discussion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556412"/>
            <a:ext cx="76809" cy="7680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24395" y="484503"/>
            <a:ext cx="3082290" cy="76390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Arial"/>
                <a:cs typeface="Arial"/>
              </a:rPr>
              <a:t>Some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familiarity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with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statistics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must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career progression.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100">
                <a:latin typeface="Arial"/>
                <a:cs typeface="Arial"/>
              </a:rPr>
              <a:t>Do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not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hesitate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seek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help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if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needed.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1100">
                <a:latin typeface="Arial"/>
                <a:cs typeface="Arial"/>
              </a:rPr>
              <a:t>It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good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build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vocabulary: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e.g.,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reading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938517"/>
            <a:ext cx="76809" cy="7680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1128306"/>
            <a:ext cx="76809" cy="76809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711530" y="1274559"/>
            <a:ext cx="134620" cy="589915"/>
            <a:chOff x="711530" y="1274559"/>
            <a:chExt cx="134620" cy="589915"/>
          </a:xfrm>
        </p:grpSpPr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1530" y="1274559"/>
              <a:ext cx="134416" cy="134416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1530" y="1426387"/>
              <a:ext cx="134416" cy="134416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1530" y="1578216"/>
              <a:ext cx="134416" cy="134416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1530" y="1730044"/>
              <a:ext cx="134416" cy="134416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744931" y="1274005"/>
            <a:ext cx="67945" cy="5721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600" spc="-5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600" spc="-5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600" spc="-5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6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01484" y="1245557"/>
            <a:ext cx="2642235" cy="6330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i="1">
                <a:latin typeface="Arial"/>
                <a:cs typeface="Arial"/>
              </a:rPr>
              <a:t>The</a:t>
            </a:r>
            <a:r>
              <a:rPr dirty="0" sz="1000" spc="-2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Art</a:t>
            </a:r>
            <a:r>
              <a:rPr dirty="0" sz="1000" spc="-2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of</a:t>
            </a:r>
            <a:r>
              <a:rPr dirty="0" sz="1000" spc="-2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Statistics</a:t>
            </a:r>
            <a:r>
              <a:rPr dirty="0" sz="1000" spc="-20" i="1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by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Sir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David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Spiegelhalter. </a:t>
            </a:r>
            <a:r>
              <a:rPr dirty="0" sz="1000">
                <a:latin typeface="Arial"/>
                <a:cs typeface="Arial"/>
              </a:rPr>
              <a:t>Sir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David’s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blog:</a:t>
            </a:r>
            <a:r>
              <a:rPr dirty="0" sz="1000" spc="40"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Arial"/>
                <a:cs typeface="Arial"/>
              </a:rPr>
              <a:t>understandinguncertainty.org </a:t>
            </a:r>
            <a:r>
              <a:rPr dirty="0" sz="1000" i="1">
                <a:latin typeface="Arial"/>
                <a:cs typeface="Arial"/>
              </a:rPr>
              <a:t>Statistics</a:t>
            </a:r>
            <a:r>
              <a:rPr dirty="0" sz="1000" spc="-25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and</a:t>
            </a:r>
            <a:r>
              <a:rPr dirty="0" sz="1000" spc="-20" i="1">
                <a:latin typeface="Arial"/>
                <a:cs typeface="Arial"/>
              </a:rPr>
              <a:t> Truth</a:t>
            </a:r>
            <a:r>
              <a:rPr dirty="0" sz="1000" spc="-25" i="1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by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Prof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CR</a:t>
            </a:r>
            <a:r>
              <a:rPr dirty="0" sz="1000" spc="-20">
                <a:latin typeface="Arial"/>
                <a:cs typeface="Arial"/>
              </a:rPr>
              <a:t> Rao.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1185"/>
              </a:lnSpc>
            </a:pPr>
            <a:r>
              <a:rPr dirty="0" sz="1000" i="1">
                <a:latin typeface="Arial"/>
                <a:cs typeface="Arial"/>
              </a:rPr>
              <a:t>Intro</a:t>
            </a:r>
            <a:r>
              <a:rPr dirty="0" sz="1000" spc="-15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to</a:t>
            </a:r>
            <a:r>
              <a:rPr dirty="0" sz="1000" spc="-10" i="1">
                <a:latin typeface="Arial"/>
                <a:cs typeface="Arial"/>
              </a:rPr>
              <a:t> Probability,</a:t>
            </a:r>
            <a:r>
              <a:rPr dirty="0" sz="1000" spc="-15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Statistics</a:t>
            </a:r>
            <a:r>
              <a:rPr dirty="0" sz="1000" spc="-1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and</a:t>
            </a:r>
            <a:r>
              <a:rPr dirty="0" sz="1000" spc="-15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R</a:t>
            </a:r>
            <a:r>
              <a:rPr dirty="0" sz="1000" spc="-10" i="1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by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myself.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38110" y="1993867"/>
            <a:ext cx="1259958" cy="899993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649931" y="1993875"/>
            <a:ext cx="719983" cy="899984"/>
          </a:xfrm>
          <a:prstGeom prst="rect">
            <a:avLst/>
          </a:prstGeom>
        </p:spPr>
      </p:pic>
      <p:sp>
        <p:nvSpPr>
          <p:cNvPr id="16" name="object 1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48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Discussion:</a:t>
            </a:r>
            <a:r>
              <a:rPr dirty="0" spc="210"/>
              <a:t> </a:t>
            </a:r>
            <a:r>
              <a:rPr dirty="0"/>
              <a:t>Final</a:t>
            </a:r>
            <a:r>
              <a:rPr dirty="0" spc="95"/>
              <a:t> </a:t>
            </a:r>
            <a:r>
              <a:rPr dirty="0" spc="-10"/>
              <a:t>slide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360832"/>
            <a:ext cx="76809" cy="7680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24395" y="288923"/>
            <a:ext cx="3632200" cy="145732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3683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Arial"/>
                <a:cs typeface="Arial"/>
              </a:rPr>
              <a:t>I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have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not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discussed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serious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statistical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methods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which </a:t>
            </a:r>
            <a:r>
              <a:rPr dirty="0" sz="1100">
                <a:latin typeface="Arial"/>
                <a:cs typeface="Arial"/>
              </a:rPr>
              <a:t>you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can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use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immediately.</a:t>
            </a:r>
            <a:endParaRPr sz="1100">
              <a:latin typeface="Arial"/>
              <a:cs typeface="Arial"/>
            </a:endParaRPr>
          </a:p>
          <a:p>
            <a:pPr marL="12700" marR="328295">
              <a:lnSpc>
                <a:spcPct val="102600"/>
              </a:lnSpc>
              <a:spcBef>
                <a:spcPts val="160"/>
              </a:spcBef>
            </a:pP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example,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power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sample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size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calculation, sensitivity-specificity, </a:t>
            </a:r>
            <a:r>
              <a:rPr dirty="0" sz="1100">
                <a:latin typeface="Arial"/>
                <a:cs typeface="Arial"/>
              </a:rPr>
              <a:t>survival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analysis,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Kaplan-Meyer, 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disease</a:t>
            </a:r>
            <a:r>
              <a:rPr dirty="0" sz="1100" spc="-1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mapping.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160"/>
              </a:spcBef>
            </a:pPr>
            <a:r>
              <a:rPr dirty="0" sz="1100">
                <a:latin typeface="Arial"/>
                <a:cs typeface="Arial"/>
              </a:rPr>
              <a:t>I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will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delighted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give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presentation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such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topics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interested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group.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1100">
                <a:latin typeface="Arial"/>
                <a:cs typeface="Arial"/>
              </a:rPr>
              <a:t>Please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reach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out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either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through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Pankaj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or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my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web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site.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725220"/>
            <a:ext cx="76809" cy="7680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1261681"/>
            <a:ext cx="76809" cy="7680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007" y="1626082"/>
            <a:ext cx="76809" cy="7680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84921" y="1813559"/>
            <a:ext cx="1438113" cy="1439850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48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Some</a:t>
            </a:r>
            <a:r>
              <a:rPr dirty="0" spc="80"/>
              <a:t> </a:t>
            </a:r>
            <a:r>
              <a:rPr dirty="0"/>
              <a:t>excerpts</a:t>
            </a:r>
            <a:r>
              <a:rPr dirty="0" spc="85"/>
              <a:t> </a:t>
            </a:r>
            <a:r>
              <a:rPr dirty="0"/>
              <a:t>from</a:t>
            </a:r>
            <a:r>
              <a:rPr dirty="0" spc="80"/>
              <a:t> </a:t>
            </a:r>
            <a:r>
              <a:rPr dirty="0"/>
              <a:t>Statistics</a:t>
            </a:r>
            <a:r>
              <a:rPr dirty="0" spc="85"/>
              <a:t> </a:t>
            </a:r>
            <a:r>
              <a:rPr dirty="0"/>
              <a:t>and</a:t>
            </a:r>
            <a:r>
              <a:rPr dirty="0" spc="80"/>
              <a:t> </a:t>
            </a:r>
            <a:r>
              <a:rPr dirty="0" spc="-20"/>
              <a:t>Truth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353288"/>
            <a:ext cx="76809" cy="7680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3031" y="835888"/>
            <a:ext cx="61874" cy="6187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24395" y="281379"/>
            <a:ext cx="3636645" cy="301752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174625">
              <a:lnSpc>
                <a:spcPts val="1200"/>
              </a:lnSpc>
              <a:spcBef>
                <a:spcPts val="229"/>
              </a:spcBef>
            </a:pP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report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submitted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50">
                <a:latin typeface="Arial"/>
                <a:cs typeface="Arial"/>
              </a:rPr>
              <a:t>Tea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Board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by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consulting </a:t>
            </a:r>
            <a:r>
              <a:rPr dirty="0" sz="1100">
                <a:latin typeface="Arial"/>
                <a:cs typeface="Arial"/>
              </a:rPr>
              <a:t>statistician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contained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table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with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caption: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Estimated </a:t>
            </a:r>
            <a:r>
              <a:rPr dirty="0" sz="1100">
                <a:latin typeface="Arial"/>
                <a:cs typeface="Arial"/>
              </a:rPr>
              <a:t>number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people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taking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tea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with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standard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error.</a:t>
            </a:r>
            <a:endParaRPr sz="1100">
              <a:latin typeface="Arial"/>
              <a:cs typeface="Arial"/>
            </a:endParaRPr>
          </a:p>
          <a:p>
            <a:pPr marL="289560" marR="407670">
              <a:lnSpc>
                <a:spcPct val="100000"/>
              </a:lnSpc>
              <a:spcBef>
                <a:spcPts val="40"/>
              </a:spcBef>
            </a:pPr>
            <a:r>
              <a:rPr dirty="0" sz="1000">
                <a:latin typeface="Arial"/>
                <a:cs typeface="Arial"/>
              </a:rPr>
              <a:t>Soon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letter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was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sent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to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statistician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asking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what </a:t>
            </a:r>
            <a:r>
              <a:rPr dirty="0" sz="1000">
                <a:latin typeface="Arial"/>
                <a:cs typeface="Arial"/>
              </a:rPr>
              <a:t>standard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error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is,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which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peopke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take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with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tea.</a:t>
            </a:r>
            <a:endParaRPr sz="1000">
              <a:latin typeface="Arial"/>
              <a:cs typeface="Arial"/>
            </a:endParaRPr>
          </a:p>
          <a:p>
            <a:pPr marL="12700" marR="10160">
              <a:lnSpc>
                <a:spcPct val="102600"/>
              </a:lnSpc>
              <a:spcBef>
                <a:spcPts val="840"/>
              </a:spcBef>
            </a:pP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figure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2.2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children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per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adult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female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some </a:t>
            </a:r>
            <a:r>
              <a:rPr dirty="0" sz="1100">
                <a:latin typeface="Arial"/>
                <a:cs typeface="Arial"/>
              </a:rPr>
              <a:t>respects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absurd.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suggested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middle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classes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be </a:t>
            </a:r>
            <a:r>
              <a:rPr dirty="0" sz="1100">
                <a:latin typeface="Arial"/>
                <a:cs typeface="Arial"/>
              </a:rPr>
              <a:t>paid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money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increase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average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rounded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and</a:t>
            </a:r>
            <a:r>
              <a:rPr dirty="0" sz="1100" spc="50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more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convenient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number.</a:t>
            </a:r>
            <a:endParaRPr sz="1100">
              <a:latin typeface="Arial"/>
              <a:cs typeface="Arial"/>
            </a:endParaRPr>
          </a:p>
          <a:p>
            <a:pPr marL="12700" marR="208915">
              <a:lnSpc>
                <a:spcPct val="102600"/>
              </a:lnSpc>
              <a:spcBef>
                <a:spcPts val="819"/>
              </a:spcBef>
            </a:pP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health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minister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was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intrigued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by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statement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the </a:t>
            </a:r>
            <a:r>
              <a:rPr dirty="0" sz="1100">
                <a:latin typeface="Arial"/>
                <a:cs typeface="Arial"/>
              </a:rPr>
              <a:t>report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submitted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statistician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3.2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persons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out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of </a:t>
            </a:r>
            <a:r>
              <a:rPr dirty="0" sz="1100">
                <a:latin typeface="Arial"/>
                <a:cs typeface="Arial"/>
              </a:rPr>
              <a:t>1000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suffering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from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disease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died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during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last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year.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He </a:t>
            </a:r>
            <a:r>
              <a:rPr dirty="0" sz="1100">
                <a:latin typeface="Arial"/>
                <a:cs typeface="Arial"/>
              </a:rPr>
              <a:t>asked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his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secretary,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how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3.2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persons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can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die.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The </a:t>
            </a:r>
            <a:r>
              <a:rPr dirty="0" sz="1100">
                <a:latin typeface="Arial"/>
                <a:cs typeface="Arial"/>
              </a:rPr>
              <a:t>secretary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replied,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825"/>
              </a:spcBef>
            </a:pPr>
            <a:r>
              <a:rPr dirty="0" sz="1100" spc="-10">
                <a:latin typeface="Arial"/>
                <a:cs typeface="Arial"/>
              </a:rPr>
              <a:t>Sir,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when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statistician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says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3.2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persons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died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means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3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persons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actually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died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2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are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point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death.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1249172"/>
            <a:ext cx="76809" cy="7680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007" y="2041779"/>
            <a:ext cx="76809" cy="7680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1007" y="3006458"/>
            <a:ext cx="76809" cy="76809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000000"/>
                </a:solidFill>
              </a:rPr>
              <a:t>Sujit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Sahu: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 spc="-10"/>
              <a:t>sujitsahu.com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48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Some</a:t>
            </a:r>
            <a:r>
              <a:rPr dirty="0" spc="105"/>
              <a:t> </a:t>
            </a:r>
            <a:r>
              <a:rPr dirty="0"/>
              <a:t>interesting</a:t>
            </a:r>
            <a:r>
              <a:rPr dirty="0" spc="105"/>
              <a:t> </a:t>
            </a:r>
            <a:r>
              <a:rPr dirty="0" spc="-10"/>
              <a:t>quotes: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372783"/>
            <a:ext cx="76809" cy="7680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24395" y="300874"/>
            <a:ext cx="3636645" cy="282511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98425">
              <a:lnSpc>
                <a:spcPct val="102600"/>
              </a:lnSpc>
              <a:spcBef>
                <a:spcPts val="55"/>
              </a:spcBef>
            </a:pPr>
            <a:r>
              <a:rPr dirty="0" sz="1100" spc="-10">
                <a:latin typeface="Arial"/>
                <a:cs typeface="Arial"/>
              </a:rPr>
              <a:t>Weather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forecasting:</a:t>
            </a:r>
            <a:r>
              <a:rPr dirty="0" sz="1100" spc="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reliable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forecaster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one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whose </a:t>
            </a:r>
            <a:r>
              <a:rPr dirty="0" sz="1100">
                <a:latin typeface="Arial"/>
                <a:cs typeface="Arial"/>
              </a:rPr>
              <a:t>microphone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close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enough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window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so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can </a:t>
            </a:r>
            <a:r>
              <a:rPr dirty="0" sz="1100">
                <a:latin typeface="Arial"/>
                <a:cs typeface="Arial"/>
              </a:rPr>
              <a:t>decide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whether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use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official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forecast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or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make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up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one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of </a:t>
            </a:r>
            <a:r>
              <a:rPr dirty="0" sz="1100">
                <a:latin typeface="Arial"/>
                <a:cs typeface="Arial"/>
              </a:rPr>
              <a:t>his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own.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100">
              <a:latin typeface="Arial"/>
              <a:cs typeface="Arial"/>
            </a:endParaRPr>
          </a:p>
          <a:p>
            <a:pPr marL="12700" marR="95250">
              <a:lnSpc>
                <a:spcPct val="102600"/>
              </a:lnSpc>
            </a:pPr>
            <a:r>
              <a:rPr dirty="0" sz="1100" spc="-10">
                <a:latin typeface="Arial"/>
                <a:cs typeface="Arial"/>
              </a:rPr>
              <a:t>Public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opinion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polls: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Once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I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make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up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my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mind,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I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am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full</a:t>
            </a:r>
            <a:r>
              <a:rPr dirty="0" sz="1100" spc="-25" i="1">
                <a:latin typeface="Arial"/>
                <a:cs typeface="Arial"/>
              </a:rPr>
              <a:t> of </a:t>
            </a:r>
            <a:r>
              <a:rPr dirty="0" sz="1100" i="1">
                <a:latin typeface="Arial"/>
                <a:cs typeface="Arial"/>
              </a:rPr>
              <a:t>indecision.</a:t>
            </a:r>
            <a:r>
              <a:rPr dirty="0" sz="1100" spc="10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–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Oscar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Levant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100">
              <a:latin typeface="Arial"/>
              <a:cs typeface="Arial"/>
            </a:endParaRPr>
          </a:p>
          <a:p>
            <a:pPr marL="12700" marR="180340">
              <a:lnSpc>
                <a:spcPct val="102600"/>
              </a:lnSpc>
            </a:pPr>
            <a:r>
              <a:rPr dirty="0" sz="1100">
                <a:latin typeface="Arial"/>
                <a:cs typeface="Arial"/>
              </a:rPr>
              <a:t>Superstition:</a:t>
            </a:r>
            <a:r>
              <a:rPr dirty="0" sz="1100" spc="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When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asked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why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he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does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not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believe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in </a:t>
            </a:r>
            <a:r>
              <a:rPr dirty="0" sz="1100" spc="-10">
                <a:latin typeface="Arial"/>
                <a:cs typeface="Arial"/>
              </a:rPr>
              <a:t>astrology,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logician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Raymond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Smullyan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responds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that </a:t>
            </a:r>
            <a:r>
              <a:rPr dirty="0" sz="1100">
                <a:latin typeface="Arial"/>
                <a:cs typeface="Arial"/>
              </a:rPr>
              <a:t>he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Gemini,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Gemini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never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believe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astrology.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</a:pP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Christian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friend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Prof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Rao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donated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his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first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month’s </a:t>
            </a:r>
            <a:r>
              <a:rPr dirty="0" sz="1100">
                <a:latin typeface="Arial"/>
                <a:cs typeface="Arial"/>
              </a:rPr>
              <a:t>salary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his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first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job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church.</a:t>
            </a:r>
            <a:r>
              <a:rPr dirty="0" sz="1100" spc="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When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asked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whether</a:t>
            </a:r>
            <a:r>
              <a:rPr dirty="0" sz="1100" spc="50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believed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God,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replied,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“I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do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not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know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whether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God </a:t>
            </a:r>
            <a:r>
              <a:rPr dirty="0" sz="1100">
                <a:latin typeface="Arial"/>
                <a:cs typeface="Arial"/>
              </a:rPr>
              <a:t>exists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or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not,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but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would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on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safe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side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believe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that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1250530"/>
            <a:ext cx="76809" cy="7680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1784134"/>
            <a:ext cx="76809" cy="7680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007" y="2489809"/>
            <a:ext cx="76809" cy="76809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67297" y="3112714"/>
            <a:ext cx="2421890" cy="36576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469265">
              <a:lnSpc>
                <a:spcPct val="100000"/>
              </a:lnSpc>
              <a:spcBef>
                <a:spcPts val="40"/>
              </a:spcBef>
            </a:pPr>
            <a:r>
              <a:rPr dirty="0" sz="1100">
                <a:latin typeface="Arial"/>
                <a:cs typeface="Arial"/>
              </a:rPr>
              <a:t>God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exists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act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accordingly.”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800" b="1">
                <a:latin typeface="Arial"/>
                <a:cs typeface="Arial"/>
              </a:rPr>
              <a:t>Sujit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Sahu:</a:t>
            </a:r>
            <a:r>
              <a:rPr dirty="0" sz="800" spc="30" b="1"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0000FF"/>
                </a:solidFill>
                <a:latin typeface="Arial"/>
                <a:cs typeface="Arial"/>
              </a:rPr>
              <a:t>sujitsahu.com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59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Some</a:t>
            </a:r>
            <a:r>
              <a:rPr dirty="0" spc="114"/>
              <a:t> </a:t>
            </a:r>
            <a:r>
              <a:rPr dirty="0"/>
              <a:t>important</a:t>
            </a:r>
            <a:r>
              <a:rPr dirty="0" spc="120"/>
              <a:t> </a:t>
            </a:r>
            <a:r>
              <a:rPr dirty="0"/>
              <a:t>remarks</a:t>
            </a:r>
            <a:r>
              <a:rPr dirty="0" spc="120"/>
              <a:t> </a:t>
            </a:r>
            <a:r>
              <a:rPr dirty="0"/>
              <a:t>about</a:t>
            </a:r>
            <a:r>
              <a:rPr dirty="0" spc="120"/>
              <a:t> </a:t>
            </a:r>
            <a:r>
              <a:rPr dirty="0"/>
              <a:t>confidence</a:t>
            </a:r>
            <a:r>
              <a:rPr dirty="0" spc="114"/>
              <a:t> </a:t>
            </a:r>
            <a:r>
              <a:rPr dirty="0" spc="-10"/>
              <a:t>intervals.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07" y="811758"/>
            <a:ext cx="76809" cy="7680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14172" y="289152"/>
            <a:ext cx="3462020" cy="855344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22885" marR="30480" indent="-18542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solidFill>
                  <a:srgbClr val="3333B2"/>
                </a:solidFill>
                <a:latin typeface="Arial"/>
                <a:cs typeface="Arial"/>
              </a:rPr>
              <a:t>4.</a:t>
            </a:r>
            <a:r>
              <a:rPr dirty="0" sz="1100" spc="20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If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confidence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interval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interpreted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probability </a:t>
            </a:r>
            <a:r>
              <a:rPr dirty="0" sz="1100">
                <a:latin typeface="Arial"/>
                <a:cs typeface="Arial"/>
              </a:rPr>
              <a:t>interval,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this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may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lead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problems.</a:t>
            </a:r>
            <a:endParaRPr sz="1100">
              <a:latin typeface="Arial"/>
              <a:cs typeface="Arial"/>
            </a:endParaRPr>
          </a:p>
          <a:p>
            <a:pPr marL="222885">
              <a:lnSpc>
                <a:spcPct val="100000"/>
              </a:lnSpc>
              <a:spcBef>
                <a:spcPts val="875"/>
              </a:spcBef>
            </a:pP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example,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suppose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baseline="-13888" sz="1200">
                <a:latin typeface="Arial"/>
                <a:cs typeface="Arial"/>
              </a:rPr>
              <a:t>1</a:t>
            </a:r>
            <a:r>
              <a:rPr dirty="0" baseline="-13888" sz="1200" spc="1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baseline="-13888" sz="1200">
                <a:latin typeface="Arial"/>
                <a:cs typeface="Arial"/>
              </a:rPr>
              <a:t>2</a:t>
            </a:r>
            <a:r>
              <a:rPr dirty="0" baseline="-13888" sz="1200" spc="15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are</a:t>
            </a:r>
            <a:endParaRPr sz="1100">
              <a:latin typeface="Arial"/>
              <a:cs typeface="Arial"/>
            </a:endParaRPr>
          </a:p>
          <a:p>
            <a:pPr marL="222885">
              <a:lnSpc>
                <a:spcPts val="1000"/>
              </a:lnSpc>
              <a:spcBef>
                <a:spcPts val="35"/>
              </a:spcBef>
            </a:pPr>
            <a:r>
              <a:rPr dirty="0" sz="1100">
                <a:latin typeface="Arial"/>
                <a:cs typeface="Arial"/>
              </a:rPr>
              <a:t>i.i.d.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U</a:t>
            </a:r>
            <a:r>
              <a:rPr dirty="0" sz="1100">
                <a:latin typeface="Arial"/>
                <a:cs typeface="Arial"/>
              </a:rPr>
              <a:t>[</a:t>
            </a:r>
            <a:r>
              <a:rPr dirty="0" sz="1100" i="1">
                <a:latin typeface="Arial"/>
                <a:cs typeface="Arial"/>
              </a:rPr>
              <a:t>θ</a:t>
            </a:r>
            <a:r>
              <a:rPr dirty="0" sz="1100" spc="-40" i="1">
                <a:latin typeface="Arial"/>
                <a:cs typeface="Arial"/>
              </a:rPr>
              <a:t> </a:t>
            </a:r>
            <a:r>
              <a:rPr dirty="0" sz="1100" spc="175" i="1">
                <a:latin typeface="Menlo"/>
                <a:cs typeface="Menlo"/>
              </a:rPr>
              <a:t>−</a:t>
            </a:r>
            <a:r>
              <a:rPr dirty="0" sz="1100" spc="-300" i="1">
                <a:latin typeface="Menlo"/>
                <a:cs typeface="Menlo"/>
              </a:rPr>
              <a:t> </a:t>
            </a:r>
            <a:r>
              <a:rPr dirty="0" u="sng" baseline="31250" sz="1200" spc="-15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dirty="0" baseline="31250" sz="1200" spc="-157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,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spc="-90" i="1">
                <a:latin typeface="Arial"/>
                <a:cs typeface="Arial"/>
              </a:rPr>
              <a:t>θ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+</a:t>
            </a:r>
            <a:r>
              <a:rPr dirty="0" sz="1100" spc="45">
                <a:latin typeface="Arial"/>
                <a:cs typeface="Arial"/>
              </a:rPr>
              <a:t> </a:t>
            </a:r>
            <a:r>
              <a:rPr dirty="0" u="sng" baseline="31250" sz="1200" spc="-15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dirty="0" baseline="31250" sz="1200" spc="-157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]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random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variables.</a:t>
            </a:r>
            <a:endParaRPr sz="1100">
              <a:latin typeface="Arial"/>
              <a:cs typeface="Arial"/>
            </a:endParaRPr>
          </a:p>
          <a:p>
            <a:pPr marL="918844">
              <a:lnSpc>
                <a:spcPts val="640"/>
              </a:lnSpc>
              <a:tabLst>
                <a:tab pos="1305560" algn="l"/>
              </a:tabLst>
            </a:pPr>
            <a:r>
              <a:rPr dirty="0" sz="800" spc="-50">
                <a:latin typeface="Arial"/>
                <a:cs typeface="Arial"/>
              </a:rPr>
              <a:t>2</a:t>
            </a:r>
            <a:r>
              <a:rPr dirty="0" sz="800">
                <a:latin typeface="Arial"/>
                <a:cs typeface="Arial"/>
              </a:rPr>
              <a:t>	</a:t>
            </a:r>
            <a:r>
              <a:rPr dirty="0" sz="800" spc="-5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07" y="1276667"/>
            <a:ext cx="76809" cy="7680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598995" y="1204758"/>
            <a:ext cx="27749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Arial"/>
                <a:cs typeface="Arial"/>
              </a:rPr>
              <a:t>Then</a:t>
            </a:r>
            <a:r>
              <a:rPr dirty="0" sz="1100" spc="1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[min(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baseline="-13888" sz="1200">
                <a:latin typeface="Arial"/>
                <a:cs typeface="Arial"/>
              </a:rPr>
              <a:t>1</a:t>
            </a:r>
            <a:r>
              <a:rPr dirty="0" sz="1100" i="1">
                <a:latin typeface="Arial"/>
                <a:cs typeface="Arial"/>
              </a:rPr>
              <a:t>,</a:t>
            </a:r>
            <a:r>
              <a:rPr dirty="0" sz="1100" spc="-11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baseline="-13888" sz="1200">
                <a:latin typeface="Arial"/>
                <a:cs typeface="Arial"/>
              </a:rPr>
              <a:t>2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spc="10">
                <a:latin typeface="Arial"/>
                <a:cs typeface="Arial"/>
              </a:rPr>
              <a:t> </a:t>
            </a:r>
            <a:r>
              <a:rPr dirty="0" sz="1100" spc="200" i="1">
                <a:latin typeface="Arial"/>
                <a:cs typeface="Arial"/>
              </a:rPr>
              <a:t>&lt;</a:t>
            </a:r>
            <a:r>
              <a:rPr dirty="0" sz="1100" spc="1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θ</a:t>
            </a:r>
            <a:r>
              <a:rPr dirty="0" sz="1100" spc="45" i="1">
                <a:latin typeface="Arial"/>
                <a:cs typeface="Arial"/>
              </a:rPr>
              <a:t> </a:t>
            </a:r>
            <a:r>
              <a:rPr dirty="0" sz="1100" spc="200" i="1">
                <a:latin typeface="Arial"/>
                <a:cs typeface="Arial"/>
              </a:rPr>
              <a:t>&lt;</a:t>
            </a:r>
            <a:r>
              <a:rPr dirty="0" sz="1100" spc="15" i="1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max(</a:t>
            </a:r>
            <a:r>
              <a:rPr dirty="0" sz="1100" spc="-25" i="1">
                <a:latin typeface="Arial"/>
                <a:cs typeface="Arial"/>
              </a:rPr>
              <a:t>X</a:t>
            </a:r>
            <a:r>
              <a:rPr dirty="0" baseline="-13888" sz="1200" spc="-37">
                <a:latin typeface="Arial"/>
                <a:cs typeface="Arial"/>
              </a:rPr>
              <a:t>1</a:t>
            </a:r>
            <a:r>
              <a:rPr dirty="0" sz="1100" spc="-25" i="1">
                <a:latin typeface="Arial"/>
                <a:cs typeface="Arial"/>
              </a:rPr>
              <a:t>,</a:t>
            </a:r>
            <a:r>
              <a:rPr dirty="0" sz="1100" spc="-114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baseline="-13888" sz="1200">
                <a:latin typeface="Arial"/>
                <a:cs typeface="Arial"/>
              </a:rPr>
              <a:t>2</a:t>
            </a:r>
            <a:r>
              <a:rPr dirty="0" sz="1100">
                <a:latin typeface="Arial"/>
                <a:cs typeface="Arial"/>
              </a:rPr>
              <a:t>)]</a:t>
            </a:r>
            <a:r>
              <a:rPr dirty="0" sz="1100" spc="15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140">
                <a:latin typeface="Arial"/>
                <a:cs typeface="Arial"/>
              </a:rPr>
              <a:t> </a:t>
            </a:r>
            <a:r>
              <a:rPr dirty="0" u="sng" baseline="31250" sz="1200" spc="-15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dirty="0" baseline="31250" sz="1200" spc="-142">
                <a:latin typeface="Arial"/>
                <a:cs typeface="Arial"/>
              </a:rPr>
              <a:t> </a:t>
            </a:r>
            <a:r>
              <a:rPr dirty="0" sz="1100" spc="-5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98995" y="1237216"/>
            <a:ext cx="3687445" cy="1790064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algn="r" marR="996315">
              <a:lnSpc>
                <a:spcPct val="100000"/>
              </a:lnSpc>
              <a:spcBef>
                <a:spcPts val="509"/>
              </a:spcBef>
            </a:pPr>
            <a:r>
              <a:rPr dirty="0" sz="800" spc="-5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60"/>
              </a:spcBef>
            </a:pPr>
            <a:r>
              <a:rPr dirty="0" sz="1100">
                <a:latin typeface="Arial"/>
                <a:cs typeface="Arial"/>
              </a:rPr>
              <a:t>This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because,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there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are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four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equally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likely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outcomes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for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 sz="1100" i="1">
                <a:latin typeface="Arial"/>
                <a:cs typeface="Arial"/>
              </a:rPr>
              <a:t>x</a:t>
            </a:r>
            <a:r>
              <a:rPr dirty="0" baseline="-13888" sz="1200">
                <a:latin typeface="Arial"/>
                <a:cs typeface="Arial"/>
              </a:rPr>
              <a:t>1</a:t>
            </a:r>
            <a:r>
              <a:rPr dirty="0" baseline="-13888" sz="1200" spc="157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baseline="-13888" sz="1200">
                <a:latin typeface="Arial"/>
                <a:cs typeface="Arial"/>
              </a:rPr>
              <a:t>2</a:t>
            </a:r>
            <a:r>
              <a:rPr dirty="0" baseline="-13888" sz="1200" spc="16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with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regards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positioning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25" i="1">
                <a:latin typeface="Arial"/>
                <a:cs typeface="Arial"/>
              </a:rPr>
              <a:t>θ</a:t>
            </a:r>
            <a:r>
              <a:rPr dirty="0" sz="1100" spc="-25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869"/>
              </a:spcBef>
            </a:pPr>
            <a:r>
              <a:rPr dirty="0" sz="1100">
                <a:latin typeface="Arial"/>
                <a:cs typeface="Arial"/>
              </a:rPr>
              <a:t>(i)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baseline="-13888" sz="1200">
                <a:latin typeface="Arial"/>
                <a:cs typeface="Arial"/>
              </a:rPr>
              <a:t>1</a:t>
            </a:r>
            <a:r>
              <a:rPr dirty="0" baseline="-13888" sz="1200" spc="165">
                <a:latin typeface="Arial"/>
                <a:cs typeface="Arial"/>
              </a:rPr>
              <a:t> </a:t>
            </a:r>
            <a:r>
              <a:rPr dirty="0" sz="1100" spc="200" i="1">
                <a:latin typeface="Arial"/>
                <a:cs typeface="Arial"/>
              </a:rPr>
              <a:t>&lt;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θ</a:t>
            </a:r>
            <a:r>
              <a:rPr dirty="0" sz="1100" spc="10" i="1">
                <a:latin typeface="Arial"/>
                <a:cs typeface="Arial"/>
              </a:rPr>
              <a:t> </a:t>
            </a:r>
            <a:r>
              <a:rPr dirty="0" sz="1100" spc="200" i="1">
                <a:latin typeface="Arial"/>
                <a:cs typeface="Arial"/>
              </a:rPr>
              <a:t>&lt;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baseline="-13888" sz="1200">
                <a:latin typeface="Arial"/>
                <a:cs typeface="Arial"/>
              </a:rPr>
              <a:t>2</a:t>
            </a:r>
            <a:r>
              <a:rPr dirty="0" sz="1100">
                <a:latin typeface="Arial"/>
                <a:cs typeface="Arial"/>
              </a:rPr>
              <a:t>,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(ii)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baseline="-13888" sz="1200">
                <a:latin typeface="Arial"/>
                <a:cs typeface="Arial"/>
              </a:rPr>
              <a:t>2</a:t>
            </a:r>
            <a:r>
              <a:rPr dirty="0" baseline="-13888" sz="1200" spc="165">
                <a:latin typeface="Arial"/>
                <a:cs typeface="Arial"/>
              </a:rPr>
              <a:t> </a:t>
            </a:r>
            <a:r>
              <a:rPr dirty="0" sz="1100" spc="200" i="1">
                <a:latin typeface="Arial"/>
                <a:cs typeface="Arial"/>
              </a:rPr>
              <a:t>&lt;</a:t>
            </a:r>
            <a:r>
              <a:rPr dirty="0" sz="1100" spc="-2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θ</a:t>
            </a:r>
            <a:r>
              <a:rPr dirty="0" sz="1100" spc="5" i="1">
                <a:latin typeface="Arial"/>
                <a:cs typeface="Arial"/>
              </a:rPr>
              <a:t> </a:t>
            </a:r>
            <a:r>
              <a:rPr dirty="0" sz="1100" spc="200" i="1">
                <a:latin typeface="Arial"/>
                <a:cs typeface="Arial"/>
              </a:rPr>
              <a:t>&lt;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baseline="-13888" sz="1200">
                <a:latin typeface="Arial"/>
                <a:cs typeface="Arial"/>
              </a:rPr>
              <a:t>1</a:t>
            </a:r>
            <a:r>
              <a:rPr dirty="0" baseline="-13888" sz="1200" spc="16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,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(iii)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baseline="-13888" sz="1200">
                <a:latin typeface="Arial"/>
                <a:cs typeface="Arial"/>
              </a:rPr>
              <a:t>1</a:t>
            </a:r>
            <a:r>
              <a:rPr dirty="0" baseline="-13888" sz="1200" spc="165">
                <a:latin typeface="Arial"/>
                <a:cs typeface="Arial"/>
              </a:rPr>
              <a:t> </a:t>
            </a:r>
            <a:r>
              <a:rPr dirty="0" sz="1100" spc="200" i="1">
                <a:latin typeface="Arial"/>
                <a:cs typeface="Arial"/>
              </a:rPr>
              <a:t>&lt;</a:t>
            </a:r>
            <a:r>
              <a:rPr dirty="0" sz="1100" spc="-2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baseline="-13888" sz="1200">
                <a:latin typeface="Arial"/>
                <a:cs typeface="Arial"/>
              </a:rPr>
              <a:t>2</a:t>
            </a:r>
            <a:r>
              <a:rPr dirty="0" baseline="-13888" sz="1200" spc="165">
                <a:latin typeface="Arial"/>
                <a:cs typeface="Arial"/>
              </a:rPr>
              <a:t> </a:t>
            </a:r>
            <a:r>
              <a:rPr dirty="0" sz="1100" spc="200" i="1">
                <a:latin typeface="Arial"/>
                <a:cs typeface="Arial"/>
              </a:rPr>
              <a:t>&lt;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θ</a:t>
            </a:r>
            <a:r>
              <a:rPr dirty="0" sz="1100" spc="5" i="1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(iv)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 sz="1100" i="1">
                <a:latin typeface="Arial"/>
                <a:cs typeface="Arial"/>
              </a:rPr>
              <a:t>θ </a:t>
            </a:r>
            <a:r>
              <a:rPr dirty="0" sz="1100" spc="200" i="1">
                <a:latin typeface="Arial"/>
                <a:cs typeface="Arial"/>
              </a:rPr>
              <a:t>&lt;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baseline="-13888" sz="1200">
                <a:latin typeface="Arial"/>
                <a:cs typeface="Arial"/>
              </a:rPr>
              <a:t>1</a:t>
            </a:r>
            <a:r>
              <a:rPr dirty="0" baseline="-13888" sz="1200" spc="157">
                <a:latin typeface="Arial"/>
                <a:cs typeface="Arial"/>
              </a:rPr>
              <a:t> </a:t>
            </a:r>
            <a:r>
              <a:rPr dirty="0" sz="1100" spc="200" i="1">
                <a:latin typeface="Arial"/>
                <a:cs typeface="Arial"/>
              </a:rPr>
              <a:t>&lt;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spc="-25" i="1">
                <a:latin typeface="Arial"/>
                <a:cs typeface="Arial"/>
              </a:rPr>
              <a:t>x</a:t>
            </a:r>
            <a:r>
              <a:rPr dirty="0" baseline="-13888" sz="1200" spc="-37">
                <a:latin typeface="Arial"/>
                <a:cs typeface="Arial"/>
              </a:rPr>
              <a:t>2</a:t>
            </a:r>
            <a:r>
              <a:rPr dirty="0" sz="1100" spc="-25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875"/>
              </a:spcBef>
            </a:pPr>
            <a:r>
              <a:rPr dirty="0" sz="1100">
                <a:latin typeface="Arial"/>
                <a:cs typeface="Arial"/>
              </a:rPr>
              <a:t>So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[min(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baseline="-13888" sz="1200">
                <a:latin typeface="Arial"/>
                <a:cs typeface="Arial"/>
              </a:rPr>
              <a:t>1</a:t>
            </a:r>
            <a:r>
              <a:rPr dirty="0" sz="1100" i="1">
                <a:latin typeface="Arial"/>
                <a:cs typeface="Arial"/>
              </a:rPr>
              <a:t>,</a:t>
            </a:r>
            <a:r>
              <a:rPr dirty="0" sz="1100" spc="-114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baseline="-13888" sz="1200">
                <a:latin typeface="Arial"/>
                <a:cs typeface="Arial"/>
              </a:rPr>
              <a:t>2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 i="1">
                <a:latin typeface="Arial"/>
                <a:cs typeface="Arial"/>
              </a:rPr>
              <a:t>,</a:t>
            </a:r>
            <a:r>
              <a:rPr dirty="0" sz="1100" spc="-110" i="1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max(</a:t>
            </a:r>
            <a:r>
              <a:rPr dirty="0" sz="1100" spc="-20" i="1">
                <a:latin typeface="Arial"/>
                <a:cs typeface="Arial"/>
              </a:rPr>
              <a:t>x</a:t>
            </a:r>
            <a:r>
              <a:rPr dirty="0" baseline="-13888" sz="1200" spc="-30">
                <a:latin typeface="Arial"/>
                <a:cs typeface="Arial"/>
              </a:rPr>
              <a:t>1</a:t>
            </a:r>
            <a:r>
              <a:rPr dirty="0" sz="1100" spc="-20" i="1">
                <a:latin typeface="Arial"/>
                <a:cs typeface="Arial"/>
              </a:rPr>
              <a:t>,</a:t>
            </a:r>
            <a:r>
              <a:rPr dirty="0" sz="1100" spc="-114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baseline="-13888" sz="1200">
                <a:latin typeface="Arial"/>
                <a:cs typeface="Arial"/>
              </a:rPr>
              <a:t>2</a:t>
            </a:r>
            <a:r>
              <a:rPr dirty="0" sz="1100">
                <a:latin typeface="Arial"/>
                <a:cs typeface="Arial"/>
              </a:rPr>
              <a:t>)]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50%</a:t>
            </a:r>
            <a:r>
              <a:rPr dirty="0" sz="1100" spc="-10">
                <a:latin typeface="Arial"/>
                <a:cs typeface="Arial"/>
              </a:rPr>
              <a:t> confidence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interval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for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 sz="1100" i="1">
                <a:latin typeface="Arial"/>
                <a:cs typeface="Arial"/>
              </a:rPr>
              <a:t>θ</a:t>
            </a:r>
            <a:r>
              <a:rPr dirty="0" sz="1100">
                <a:latin typeface="Arial"/>
                <a:cs typeface="Arial"/>
              </a:rPr>
              <a:t>,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where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baseline="-13888" sz="1200">
                <a:latin typeface="Arial"/>
                <a:cs typeface="Arial"/>
              </a:rPr>
              <a:t>1</a:t>
            </a:r>
            <a:r>
              <a:rPr dirty="0" baseline="-13888" sz="1200" spc="157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baseline="-13888" sz="1200">
                <a:latin typeface="Arial"/>
                <a:cs typeface="Arial"/>
              </a:rPr>
              <a:t>2</a:t>
            </a:r>
            <a:r>
              <a:rPr dirty="0" baseline="-13888" sz="1200" spc="1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are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observed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values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baseline="-13888" sz="1200">
                <a:latin typeface="Arial"/>
                <a:cs typeface="Arial"/>
              </a:rPr>
              <a:t>1</a:t>
            </a:r>
            <a:r>
              <a:rPr dirty="0" baseline="-13888" sz="1200" spc="1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5" i="1">
                <a:latin typeface="Arial"/>
                <a:cs typeface="Arial"/>
              </a:rPr>
              <a:t>X</a:t>
            </a:r>
            <a:r>
              <a:rPr dirty="0" baseline="-13888" sz="1200" spc="-37">
                <a:latin typeface="Arial"/>
                <a:cs typeface="Arial"/>
              </a:rPr>
              <a:t>2</a:t>
            </a:r>
            <a:r>
              <a:rPr dirty="0" sz="1100" spc="-25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875"/>
              </a:spcBef>
            </a:pPr>
            <a:r>
              <a:rPr dirty="0" sz="1100">
                <a:latin typeface="Arial"/>
                <a:cs typeface="Arial"/>
              </a:rPr>
              <a:t>Now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suppose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baseline="-13888" sz="1200">
                <a:latin typeface="Arial"/>
                <a:cs typeface="Arial"/>
              </a:rPr>
              <a:t>1</a:t>
            </a:r>
            <a:r>
              <a:rPr dirty="0" baseline="-13888" sz="1200" spc="157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0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>
                <a:latin typeface="Arial"/>
                <a:cs typeface="Arial"/>
              </a:rPr>
              <a:t>3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baseline="-13888" sz="1200">
                <a:latin typeface="Arial"/>
                <a:cs typeface="Arial"/>
              </a:rPr>
              <a:t>2</a:t>
            </a:r>
            <a:r>
              <a:rPr dirty="0" baseline="-13888" sz="1200" spc="157">
                <a:latin typeface="Arial"/>
                <a:cs typeface="Arial"/>
              </a:rPr>
              <a:t> </a:t>
            </a:r>
            <a:r>
              <a:rPr dirty="0" sz="1100" spc="200">
                <a:latin typeface="Arial"/>
                <a:cs typeface="Arial"/>
              </a:rPr>
              <a:t>=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0</a:t>
            </a:r>
            <a:r>
              <a:rPr dirty="0" sz="1100" spc="-20" i="1">
                <a:latin typeface="Arial"/>
                <a:cs typeface="Arial"/>
              </a:rPr>
              <a:t>.</a:t>
            </a:r>
            <a:r>
              <a:rPr dirty="0" sz="1100" spc="-20">
                <a:latin typeface="Arial"/>
                <a:cs typeface="Arial"/>
              </a:rPr>
              <a:t>9.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007" y="1555292"/>
            <a:ext cx="76809" cy="7680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007" y="2005990"/>
            <a:ext cx="76809" cy="7680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1007" y="2456700"/>
            <a:ext cx="76809" cy="7680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1007" y="2907398"/>
            <a:ext cx="76809" cy="7680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91007" y="3186023"/>
            <a:ext cx="76809" cy="76809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167297" y="3120626"/>
            <a:ext cx="2572385" cy="35814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469265">
              <a:lnSpc>
                <a:spcPct val="100000"/>
              </a:lnSpc>
              <a:spcBef>
                <a:spcPts val="40"/>
              </a:spcBef>
            </a:pPr>
            <a:r>
              <a:rPr dirty="0" sz="1100">
                <a:latin typeface="Arial"/>
                <a:cs typeface="Arial"/>
              </a:rPr>
              <a:t>What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P</a:t>
            </a:r>
            <a:r>
              <a:rPr dirty="0" sz="1100">
                <a:latin typeface="Arial"/>
                <a:cs typeface="Arial"/>
              </a:rPr>
              <a:t>(0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>
                <a:latin typeface="Arial"/>
                <a:cs typeface="Arial"/>
              </a:rPr>
              <a:t>3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200" i="1">
                <a:latin typeface="Arial"/>
                <a:cs typeface="Arial"/>
              </a:rPr>
              <a:t>&lt;</a:t>
            </a:r>
            <a:r>
              <a:rPr dirty="0" sz="1100" spc="-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θ</a:t>
            </a:r>
            <a:r>
              <a:rPr dirty="0" sz="1100" spc="25" i="1">
                <a:latin typeface="Arial"/>
                <a:cs typeface="Arial"/>
              </a:rPr>
              <a:t> </a:t>
            </a:r>
            <a:r>
              <a:rPr dirty="0" sz="1100" spc="200" i="1">
                <a:latin typeface="Arial"/>
                <a:cs typeface="Arial"/>
              </a:rPr>
              <a:t>&lt;</a:t>
            </a:r>
            <a:r>
              <a:rPr dirty="0" sz="1100" spc="-5" i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0</a:t>
            </a:r>
            <a:r>
              <a:rPr dirty="0" sz="1100" i="1">
                <a:latin typeface="Arial"/>
                <a:cs typeface="Arial"/>
              </a:rPr>
              <a:t>.</a:t>
            </a:r>
            <a:r>
              <a:rPr dirty="0" sz="1100">
                <a:latin typeface="Arial"/>
                <a:cs typeface="Arial"/>
              </a:rPr>
              <a:t>9)?</a:t>
            </a:r>
            <a:r>
              <a:rPr dirty="0" sz="1100" spc="6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0 or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1?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dirty="0" sz="800" b="1">
                <a:latin typeface="Arial"/>
                <a:cs typeface="Arial"/>
              </a:rPr>
              <a:t>Sujit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Sahu:</a:t>
            </a:r>
            <a:r>
              <a:rPr dirty="0" sz="800" spc="30" b="1"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0000FF"/>
                </a:solidFill>
                <a:latin typeface="Arial"/>
                <a:cs typeface="Arial"/>
              </a:rPr>
              <a:t>sujitsahu.com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60</a:t>
            </a:fld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2024-04-30T16:01:04Z</dcterms:created>
  <dcterms:modified xsi:type="dcterms:W3CDTF">2024-04-30T16:01:04Z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2024-04-30T00:00:00Z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2024-04-30T00:00:00Z</vt:filetime>
  </property>
  <property fmtid="{D5CDD505-2E9C-101B-9397-08002B2CF9AE}" pid="5" name="PTEX.Fullbanner">
    <vt:lpwstr>This is pdfTeX, Version 3.141592653-2.6-1.40.22 (TeX Live 2022/dev/Debian) kpathsea version 6.3.4/dev</vt:lpwstr>
  </property>
  <property fmtid="{D5CDD505-2E9C-101B-9397-08002B2CF9AE}" pid="6" name="Producer">
    <vt:lpwstr>pdfTeX-1.40.22</vt:lpwstr>
  </property>
</Properties>
</file>